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handoutMasterIdLst>
    <p:handoutMasterId r:id="rId36"/>
  </p:handoutMasterIdLst>
  <p:sldIdLst>
    <p:sldId id="277" r:id="rId2"/>
    <p:sldId id="280" r:id="rId3"/>
    <p:sldId id="282" r:id="rId4"/>
    <p:sldId id="278" r:id="rId5"/>
    <p:sldId id="279" r:id="rId6"/>
    <p:sldId id="292" r:id="rId7"/>
    <p:sldId id="284" r:id="rId8"/>
    <p:sldId id="283" r:id="rId9"/>
    <p:sldId id="285" r:id="rId10"/>
    <p:sldId id="286" r:id="rId11"/>
    <p:sldId id="287" r:id="rId12"/>
    <p:sldId id="288" r:id="rId13"/>
    <p:sldId id="289" r:id="rId14"/>
    <p:sldId id="290" r:id="rId15"/>
    <p:sldId id="291" r:id="rId16"/>
    <p:sldId id="293" r:id="rId17"/>
    <p:sldId id="294" r:id="rId18"/>
    <p:sldId id="295" r:id="rId19"/>
    <p:sldId id="297" r:id="rId20"/>
    <p:sldId id="298" r:id="rId21"/>
    <p:sldId id="299" r:id="rId22"/>
    <p:sldId id="300" r:id="rId23"/>
    <p:sldId id="301" r:id="rId24"/>
    <p:sldId id="302" r:id="rId25"/>
    <p:sldId id="303" r:id="rId26"/>
    <p:sldId id="305" r:id="rId27"/>
    <p:sldId id="306" r:id="rId28"/>
    <p:sldId id="307" r:id="rId29"/>
    <p:sldId id="296" r:id="rId30"/>
    <p:sldId id="275" r:id="rId31"/>
    <p:sldId id="271" r:id="rId32"/>
    <p:sldId id="308" r:id="rId33"/>
    <p:sldId id="270" r:id="rId34"/>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資料" id="{261209BE-1F97-4058-884E-84826EAB6EF8}">
          <p14:sldIdLst>
            <p14:sldId id="277"/>
            <p14:sldId id="280"/>
            <p14:sldId id="282"/>
            <p14:sldId id="278"/>
            <p14:sldId id="279"/>
            <p14:sldId id="292"/>
            <p14:sldId id="284"/>
            <p14:sldId id="283"/>
            <p14:sldId id="285"/>
            <p14:sldId id="286"/>
            <p14:sldId id="287"/>
            <p14:sldId id="288"/>
            <p14:sldId id="289"/>
            <p14:sldId id="290"/>
            <p14:sldId id="291"/>
            <p14:sldId id="293"/>
            <p14:sldId id="294"/>
            <p14:sldId id="295"/>
            <p14:sldId id="297"/>
            <p14:sldId id="298"/>
            <p14:sldId id="299"/>
            <p14:sldId id="300"/>
            <p14:sldId id="301"/>
            <p14:sldId id="302"/>
            <p14:sldId id="303"/>
            <p14:sldId id="305"/>
            <p14:sldId id="306"/>
            <p14:sldId id="307"/>
            <p14:sldId id="296"/>
          </p14:sldIdLst>
        </p14:section>
        <p14:section name="付録" id="{7390B58B-ADF6-4009-814D-C485611FB613}">
          <p14:sldIdLst>
            <p14:sldId id="275"/>
            <p14:sldId id="271"/>
            <p14:sldId id="308"/>
            <p14:sldId id="270"/>
          </p14:sldIdLst>
        </p14:section>
      </p14:sectionLst>
    </p:ext>
    <p:ext uri="{EFAFB233-063F-42B5-8137-9DF3F51BA10A}">
      <p15:sldGuideLst xmlns:p15="http://schemas.microsoft.com/office/powerpoint/2012/main">
        <p15:guide id="1" orient="horz" pos="2160" userDrawn="1">
          <p15:clr>
            <a:srgbClr val="A4A3A4"/>
          </p15:clr>
        </p15:guide>
        <p15:guide id="2" pos="2744"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F9D4FE"/>
    <a:srgbClr val="FFFFFF"/>
    <a:srgbClr val="FFFFCC"/>
    <a:srgbClr val="EFECE3"/>
    <a:srgbClr val="000000"/>
    <a:srgbClr val="DD344C"/>
    <a:srgbClr val="29567B"/>
    <a:srgbClr val="C30F15"/>
    <a:srgbClr val="1D1B1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63" autoAdjust="0"/>
    <p:restoredTop sz="92649" autoAdjust="0"/>
  </p:normalViewPr>
  <p:slideViewPr>
    <p:cSldViewPr snapToGrid="0">
      <p:cViewPr varScale="1">
        <p:scale>
          <a:sx n="158" d="100"/>
          <a:sy n="158" d="100"/>
        </p:scale>
        <p:origin x="1700" y="76"/>
      </p:cViewPr>
      <p:guideLst>
        <p:guide orient="horz" pos="2160"/>
        <p:guide pos="2744"/>
      </p:guideLst>
    </p:cSldViewPr>
  </p:slideViewPr>
  <p:notesTextViewPr>
    <p:cViewPr>
      <p:scale>
        <a:sx n="100" d="100"/>
        <a:sy n="100" d="100"/>
      </p:scale>
      <p:origin x="0" y="0"/>
    </p:cViewPr>
  </p:notesTextViewPr>
  <p:sorterViewPr>
    <p:cViewPr>
      <p:scale>
        <a:sx n="100" d="100"/>
        <a:sy n="100" d="100"/>
      </p:scale>
      <p:origin x="0" y="-126"/>
    </p:cViewPr>
  </p:sorterViewPr>
  <p:notesViewPr>
    <p:cSldViewPr snapToGrid="0" showGuides="1">
      <p:cViewPr varScale="1">
        <p:scale>
          <a:sx n="62" d="100"/>
          <a:sy n="62" d="100"/>
        </p:scale>
        <p:origin x="3154"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8B491498-C8EF-88E2-23F7-7D12052BC1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C0109C08-6CEB-573B-3589-056B98D0E96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45C5233-36FB-417F-A328-3199FE5AEA6D}" type="datetimeFigureOut">
              <a:rPr kumimoji="1" lang="ja-JP" altLang="en-US" smtClean="0"/>
              <a:t>2026/3/9</a:t>
            </a:fld>
            <a:endParaRPr kumimoji="1" lang="ja-JP" altLang="en-US"/>
          </a:p>
        </p:txBody>
      </p:sp>
      <p:sp>
        <p:nvSpPr>
          <p:cNvPr id="4" name="フッター プレースホルダー 3">
            <a:extLst>
              <a:ext uri="{FF2B5EF4-FFF2-40B4-BE49-F238E27FC236}">
                <a16:creationId xmlns:a16="http://schemas.microsoft.com/office/drawing/2014/main" id="{638A2CF2-7E1D-41C4-4145-00F8BCA84C9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3EDD8B5C-2B7E-D817-CE1C-212F48A9C8D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FA6BD77-E7C0-45C6-B1A9-2EDEB945E368}" type="slidenum">
              <a:rPr kumimoji="1" lang="ja-JP" altLang="en-US" smtClean="0"/>
              <a:t>‹#›</a:t>
            </a:fld>
            <a:endParaRPr kumimoji="1" lang="ja-JP" altLang="en-US"/>
          </a:p>
        </p:txBody>
      </p:sp>
    </p:spTree>
    <p:extLst>
      <p:ext uri="{BB962C8B-B14F-4D97-AF65-F5344CB8AC3E}">
        <p14:creationId xmlns:p14="http://schemas.microsoft.com/office/powerpoint/2010/main" val="2060832792"/>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575276-59B3-4FAF-B5D3-7CA69E1CA552}" type="datetimeFigureOut">
              <a:rPr kumimoji="1" lang="ja-JP" altLang="en-US" smtClean="0"/>
              <a:t>2026/3/9</a:t>
            </a:fld>
            <a:endParaRPr kumimoji="1" lang="ja-JP" altLang="en-US"/>
          </a:p>
        </p:txBody>
      </p:sp>
      <p:sp>
        <p:nvSpPr>
          <p:cNvPr id="4" name="スライド イメージ プレースホルダー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D28A4C-6EF5-4767-8676-BA9266CC8394}" type="slidenum">
              <a:rPr kumimoji="1" lang="ja-JP" altLang="en-US" smtClean="0"/>
              <a:t>‹#›</a:t>
            </a:fld>
            <a:endParaRPr kumimoji="1" lang="ja-JP" altLang="en-US"/>
          </a:p>
        </p:txBody>
      </p:sp>
    </p:spTree>
    <p:extLst>
      <p:ext uri="{BB962C8B-B14F-4D97-AF65-F5344CB8AC3E}">
        <p14:creationId xmlns:p14="http://schemas.microsoft.com/office/powerpoint/2010/main" val="184351999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altLang="ja-JP" sz="800" dirty="0"/>
              <a:t>.</a:t>
            </a:r>
          </a:p>
          <a:p>
            <a:r>
              <a:rPr lang="en-US" altLang="ja-JP" sz="800" dirty="0"/>
              <a:t>├── .env</a:t>
            </a:r>
          </a:p>
          <a:p>
            <a:r>
              <a:rPr lang="en-US" altLang="ja-JP" sz="800" dirty="0"/>
              <a:t>├── requirements.txt</a:t>
            </a:r>
          </a:p>
          <a:p>
            <a:r>
              <a:rPr lang="en-US" altLang="ja-JP" sz="800" dirty="0"/>
              <a:t>├── start_api_server.sh</a:t>
            </a:r>
          </a:p>
          <a:p>
            <a:r>
              <a:rPr lang="en-US" altLang="ja-JP" sz="800" dirty="0"/>
              <a:t>├── start_init_db.sh</a:t>
            </a:r>
          </a:p>
          <a:p>
            <a:r>
              <a:rPr lang="en-US" altLang="ja-JP" sz="800" dirty="0"/>
              <a:t>├── start_web_server.sh</a:t>
            </a:r>
          </a:p>
          <a:p>
            <a:r>
              <a:rPr lang="en-US" altLang="ja-JP" sz="800" dirty="0"/>
              <a:t>├── start_worker.sh</a:t>
            </a:r>
          </a:p>
          <a:p>
            <a:r>
              <a:rPr lang="en-US" altLang="ja-JP" sz="800" dirty="0"/>
              <a:t>│</a:t>
            </a:r>
          </a:p>
          <a:p>
            <a:r>
              <a:rPr lang="en-US" altLang="ja-JP" sz="800" dirty="0"/>
              <a:t>├── app</a:t>
            </a:r>
          </a:p>
          <a:p>
            <a:r>
              <a:rPr lang="en-US" altLang="ja-JP" sz="800" dirty="0"/>
              <a:t>│   ├── __init__.py</a:t>
            </a:r>
          </a:p>
          <a:p>
            <a:r>
              <a:rPr lang="en-US" altLang="ja-JP" sz="800" dirty="0"/>
              <a:t>│   ├── main.py</a:t>
            </a:r>
          </a:p>
          <a:p>
            <a:r>
              <a:rPr lang="en-US" altLang="ja-JP" sz="800" dirty="0"/>
              <a:t>│   ├── </a:t>
            </a:r>
            <a:r>
              <a:rPr lang="en-US" altLang="ja-JP" sz="800" dirty="0" err="1"/>
              <a:t>api</a:t>
            </a:r>
            <a:endParaRPr lang="en-US" altLang="ja-JP" sz="800" dirty="0"/>
          </a:p>
          <a:p>
            <a:r>
              <a:rPr lang="en-US" altLang="ja-JP" sz="800" dirty="0"/>
              <a:t>│   │   ├── __init__.py</a:t>
            </a:r>
          </a:p>
          <a:p>
            <a:r>
              <a:rPr lang="en-US" altLang="ja-JP" sz="800" dirty="0"/>
              <a:t>│   │   ├── attendance.py</a:t>
            </a:r>
          </a:p>
          <a:p>
            <a:r>
              <a:rPr lang="en-US" altLang="ja-JP" sz="800" dirty="0"/>
              <a:t>│   │   ├── card.py</a:t>
            </a:r>
          </a:p>
          <a:p>
            <a:r>
              <a:rPr lang="en-US" altLang="ja-JP" sz="800" dirty="0"/>
              <a:t>│   │   └── user.py</a:t>
            </a:r>
          </a:p>
          <a:p>
            <a:r>
              <a:rPr lang="en-US" altLang="ja-JP" sz="800" dirty="0"/>
              <a:t>│   ├── hardware</a:t>
            </a:r>
          </a:p>
          <a:p>
            <a:r>
              <a:rPr lang="en-US" altLang="ja-JP" sz="800" dirty="0"/>
              <a:t>│   │   └── card_reader.py</a:t>
            </a:r>
          </a:p>
          <a:p>
            <a:r>
              <a:rPr lang="en-US" altLang="ja-JP" sz="800" dirty="0"/>
              <a:t>│   ├── schemas</a:t>
            </a:r>
          </a:p>
          <a:p>
            <a:r>
              <a:rPr lang="en-US" altLang="ja-JP" sz="800" dirty="0"/>
              <a:t>│   │   ├── __init__.py</a:t>
            </a:r>
          </a:p>
          <a:p>
            <a:r>
              <a:rPr lang="en-US" altLang="ja-JP" sz="800" dirty="0"/>
              <a:t>│   │   ├── attendance.py</a:t>
            </a:r>
          </a:p>
          <a:p>
            <a:r>
              <a:rPr lang="en-US" altLang="ja-JP" sz="800" dirty="0"/>
              <a:t>│   │   └── user.py</a:t>
            </a:r>
          </a:p>
          <a:p>
            <a:r>
              <a:rPr lang="en-US" altLang="ja-JP" sz="800" dirty="0"/>
              <a:t>│   └── services</a:t>
            </a:r>
          </a:p>
          <a:p>
            <a:r>
              <a:rPr lang="en-US" altLang="ja-JP" sz="800" dirty="0"/>
              <a:t>│       └── card_service.py</a:t>
            </a:r>
          </a:p>
          <a:p>
            <a:r>
              <a:rPr lang="en-US" altLang="ja-JP" sz="800" dirty="0"/>
              <a:t>│</a:t>
            </a:r>
          </a:p>
          <a:p>
            <a:r>
              <a:rPr lang="en-US" altLang="ja-JP" sz="800" dirty="0"/>
              <a:t>├── data</a:t>
            </a:r>
          </a:p>
          <a:p>
            <a:r>
              <a:rPr lang="en-US" altLang="ja-JP" sz="800" dirty="0"/>
              <a:t>│   ├── .init_db.py</a:t>
            </a:r>
          </a:p>
          <a:p>
            <a:r>
              <a:rPr lang="en-US" altLang="ja-JP" sz="800" dirty="0"/>
              <a:t>│   └── </a:t>
            </a:r>
            <a:r>
              <a:rPr lang="en-US" altLang="ja-JP" sz="800" dirty="0" err="1"/>
              <a:t>tasks.db</a:t>
            </a:r>
            <a:endParaRPr lang="en-US" altLang="ja-JP" sz="800" dirty="0"/>
          </a:p>
          <a:p>
            <a:r>
              <a:rPr lang="en-US" altLang="ja-JP" sz="800" dirty="0"/>
              <a:t>│</a:t>
            </a:r>
          </a:p>
          <a:p>
            <a:r>
              <a:rPr lang="en-US" altLang="ja-JP" sz="800" dirty="0"/>
              <a:t>├── logs</a:t>
            </a:r>
          </a:p>
          <a:p>
            <a:r>
              <a:rPr lang="en-US" altLang="ja-JP" sz="800" dirty="0"/>
              <a:t>│   └── *.log</a:t>
            </a:r>
          </a:p>
          <a:p>
            <a:r>
              <a:rPr lang="en-US" altLang="ja-JP" sz="800" dirty="0"/>
              <a:t>│</a:t>
            </a:r>
          </a:p>
          <a:p>
            <a:r>
              <a:rPr lang="en-US" altLang="ja-JP" sz="800" dirty="0"/>
              <a:t>├── shared</a:t>
            </a:r>
          </a:p>
          <a:p>
            <a:r>
              <a:rPr lang="en-US" altLang="ja-JP" sz="800" dirty="0"/>
              <a:t>│   ├── __init__.py</a:t>
            </a:r>
          </a:p>
          <a:p>
            <a:r>
              <a:rPr lang="en-US" altLang="ja-JP" sz="800" dirty="0"/>
              <a:t>│   ├── api_client.py</a:t>
            </a:r>
          </a:p>
          <a:p>
            <a:r>
              <a:rPr lang="en-US" altLang="ja-JP" sz="800" dirty="0"/>
              <a:t>│   ├── aws_client.py</a:t>
            </a:r>
          </a:p>
          <a:p>
            <a:r>
              <a:rPr lang="en-US" altLang="ja-JP" sz="800" dirty="0"/>
              <a:t>│   ├── codec.py</a:t>
            </a:r>
          </a:p>
          <a:p>
            <a:r>
              <a:rPr lang="en-US" altLang="ja-JP" sz="800" dirty="0"/>
              <a:t>│   ├── cognito_client.py</a:t>
            </a:r>
          </a:p>
          <a:p>
            <a:r>
              <a:rPr lang="en-US" altLang="ja-JP" sz="800" dirty="0"/>
              <a:t>│   ├── config.py</a:t>
            </a:r>
          </a:p>
          <a:p>
            <a:r>
              <a:rPr lang="en-US" altLang="ja-JP" sz="800" dirty="0"/>
              <a:t>│   ├── error_handler.py</a:t>
            </a:r>
          </a:p>
          <a:p>
            <a:r>
              <a:rPr lang="en-US" altLang="ja-JP" sz="800" dirty="0"/>
              <a:t>│   ├── sm_client.py</a:t>
            </a:r>
          </a:p>
          <a:p>
            <a:r>
              <a:rPr lang="en-US" altLang="ja-JP" sz="800" dirty="0"/>
              <a:t>│   └── task_queue.py</a:t>
            </a:r>
          </a:p>
          <a:p>
            <a:r>
              <a:rPr lang="en-US" altLang="ja-JP" sz="800" dirty="0"/>
              <a:t>│</a:t>
            </a:r>
          </a:p>
          <a:p>
            <a:r>
              <a:rPr lang="en-US" altLang="ja-JP" sz="800" dirty="0"/>
              <a:t>├── web</a:t>
            </a:r>
          </a:p>
          <a:p>
            <a:r>
              <a:rPr lang="en-US" altLang="ja-JP" sz="800" dirty="0"/>
              <a:t>│   └── frontend</a:t>
            </a:r>
          </a:p>
          <a:p>
            <a:r>
              <a:rPr lang="en-US" altLang="ja-JP" sz="800" dirty="0"/>
              <a:t>│       </a:t>
            </a:r>
            <a:r>
              <a:rPr lang="ja-JP" altLang="en-US" sz="800" dirty="0"/>
              <a:t>  </a:t>
            </a:r>
            <a:r>
              <a:rPr lang="en-US" altLang="ja-JP" sz="800" dirty="0"/>
              <a:t>├── .env</a:t>
            </a:r>
          </a:p>
          <a:p>
            <a:r>
              <a:rPr lang="en-US" altLang="ja-JP" sz="800" dirty="0"/>
              <a:t>│         └── </a:t>
            </a:r>
            <a:r>
              <a:rPr lang="en-US" altLang="ja-JP" sz="800" dirty="0" err="1"/>
              <a:t>src</a:t>
            </a:r>
            <a:endParaRPr lang="en-US" altLang="ja-JP" sz="800" dirty="0"/>
          </a:p>
          <a:p>
            <a:r>
              <a:rPr lang="en-US" altLang="ja-JP" sz="800" dirty="0"/>
              <a:t>│            ├── App.css</a:t>
            </a:r>
          </a:p>
          <a:p>
            <a:r>
              <a:rPr lang="en-US" altLang="ja-JP" sz="800" dirty="0"/>
              <a:t>│            ├── </a:t>
            </a:r>
            <a:r>
              <a:rPr lang="en-US" altLang="ja-JP" sz="800" dirty="0" err="1"/>
              <a:t>App.tsx</a:t>
            </a:r>
            <a:endParaRPr lang="en-US" altLang="ja-JP" sz="800" dirty="0"/>
          </a:p>
          <a:p>
            <a:r>
              <a:rPr lang="en-US" altLang="ja-JP" sz="800" dirty="0"/>
              <a:t>│            ├── index.css</a:t>
            </a:r>
          </a:p>
          <a:p>
            <a:r>
              <a:rPr lang="en-US" altLang="ja-JP" sz="800" dirty="0"/>
              <a:t>│            ├── </a:t>
            </a:r>
            <a:r>
              <a:rPr lang="en-US" altLang="ja-JP" sz="800" dirty="0" err="1"/>
              <a:t>index.tsx</a:t>
            </a:r>
            <a:endParaRPr lang="en-US" altLang="ja-JP" sz="800" dirty="0"/>
          </a:p>
          <a:p>
            <a:r>
              <a:rPr lang="en-US" altLang="ja-JP" sz="800" dirty="0"/>
              <a:t>│            ├── </a:t>
            </a:r>
            <a:r>
              <a:rPr lang="en-US" altLang="ja-JP" sz="800" dirty="0" err="1"/>
              <a:t>api</a:t>
            </a:r>
            <a:endParaRPr lang="en-US" altLang="ja-JP" sz="800" dirty="0"/>
          </a:p>
          <a:p>
            <a:r>
              <a:rPr lang="en-US" altLang="ja-JP" sz="800" dirty="0"/>
              <a:t>│            │   ├── </a:t>
            </a:r>
            <a:r>
              <a:rPr lang="en-US" altLang="ja-JP" sz="800" dirty="0" err="1"/>
              <a:t>attendance.ts</a:t>
            </a:r>
            <a:endParaRPr lang="en-US" altLang="ja-JP" sz="800" dirty="0"/>
          </a:p>
          <a:p>
            <a:r>
              <a:rPr lang="en-US" altLang="ja-JP" sz="800" dirty="0"/>
              <a:t>│            │   ├── </a:t>
            </a:r>
            <a:r>
              <a:rPr lang="en-US" altLang="ja-JP" sz="800" dirty="0" err="1"/>
              <a:t>cardReader.ts</a:t>
            </a:r>
            <a:endParaRPr lang="en-US" altLang="ja-JP" sz="800" dirty="0"/>
          </a:p>
          <a:p>
            <a:r>
              <a:rPr lang="en-US" altLang="ja-JP" sz="800" dirty="0"/>
              <a:t>│            │   └── </a:t>
            </a:r>
            <a:r>
              <a:rPr lang="en-US" altLang="ja-JP" sz="800" dirty="0" err="1"/>
              <a:t>user.ts</a:t>
            </a:r>
            <a:endParaRPr lang="en-US" altLang="ja-JP" sz="800" dirty="0"/>
          </a:p>
          <a:p>
            <a:r>
              <a:rPr lang="en-US" altLang="ja-JP" sz="800" dirty="0"/>
              <a:t>│            ├── hooks</a:t>
            </a:r>
          </a:p>
          <a:p>
            <a:r>
              <a:rPr lang="en-US" altLang="ja-JP" sz="800" dirty="0"/>
              <a:t>│            │   ├── </a:t>
            </a:r>
            <a:r>
              <a:rPr lang="en-US" altLang="ja-JP" sz="800" dirty="0" err="1"/>
              <a:t>useCardReader.ts</a:t>
            </a:r>
            <a:endParaRPr lang="en-US" altLang="ja-JP" sz="800" dirty="0"/>
          </a:p>
          <a:p>
            <a:r>
              <a:rPr lang="en-US" altLang="ja-JP" sz="800" dirty="0"/>
              <a:t>│            │   ├── </a:t>
            </a:r>
            <a:r>
              <a:rPr lang="en-US" altLang="ja-JP" sz="800" dirty="0" err="1"/>
              <a:t>useCurrentTime.ts</a:t>
            </a:r>
            <a:endParaRPr lang="en-US" altLang="ja-JP" sz="800" dirty="0"/>
          </a:p>
          <a:p>
            <a:r>
              <a:rPr lang="en-US" altLang="ja-JP" sz="800" dirty="0"/>
              <a:t>│            │   ├── </a:t>
            </a:r>
            <a:r>
              <a:rPr lang="en-US" altLang="ja-JP" sz="800" dirty="0" err="1"/>
              <a:t>useRegisterAttendance.ts</a:t>
            </a:r>
            <a:endParaRPr lang="en-US" altLang="ja-JP" sz="800" dirty="0"/>
          </a:p>
          <a:p>
            <a:r>
              <a:rPr lang="en-US" altLang="ja-JP" sz="800" dirty="0"/>
              <a:t>│            │   ├── </a:t>
            </a:r>
            <a:r>
              <a:rPr lang="en-US" altLang="ja-JP" sz="800" dirty="0" err="1"/>
              <a:t>useRegisterUser.ts</a:t>
            </a:r>
            <a:endParaRPr lang="en-US" altLang="ja-JP" sz="800" dirty="0"/>
          </a:p>
          <a:p>
            <a:r>
              <a:rPr lang="en-US" altLang="ja-JP" sz="800" dirty="0"/>
              <a:t>│            │   └── </a:t>
            </a:r>
            <a:r>
              <a:rPr lang="en-US" altLang="ja-JP" sz="800" dirty="0" err="1"/>
              <a:t>useTimeOfDay.ts</a:t>
            </a:r>
            <a:endParaRPr lang="en-US" altLang="ja-JP" sz="800" dirty="0"/>
          </a:p>
          <a:p>
            <a:r>
              <a:rPr lang="en-US" altLang="ja-JP" sz="800" dirty="0"/>
              <a:t>│            └── pages</a:t>
            </a:r>
          </a:p>
          <a:p>
            <a:r>
              <a:rPr lang="en-US" altLang="ja-JP" sz="800" dirty="0"/>
              <a:t>│                  ├── </a:t>
            </a:r>
            <a:r>
              <a:rPr lang="en-US" altLang="ja-JP" sz="800" dirty="0" err="1"/>
              <a:t>HomePage</a:t>
            </a:r>
            <a:endParaRPr lang="en-US" altLang="ja-JP" sz="800" dirty="0"/>
          </a:p>
          <a:p>
            <a:r>
              <a:rPr lang="en-US" altLang="ja-JP" sz="800" dirty="0"/>
              <a:t>│                  │   ├── HomePage.css</a:t>
            </a:r>
          </a:p>
          <a:p>
            <a:r>
              <a:rPr lang="en-US" altLang="ja-JP" sz="800" dirty="0"/>
              <a:t>│                  │   └── </a:t>
            </a:r>
            <a:r>
              <a:rPr lang="en-US" altLang="ja-JP" sz="800" dirty="0" err="1"/>
              <a:t>HomePage.tsx</a:t>
            </a:r>
            <a:endParaRPr lang="en-US" altLang="ja-JP" sz="800" dirty="0"/>
          </a:p>
          <a:p>
            <a:r>
              <a:rPr lang="en-US" altLang="ja-JP" sz="800" dirty="0"/>
              <a:t>│                  ├── </a:t>
            </a:r>
            <a:r>
              <a:rPr lang="en-US" altLang="ja-JP" sz="800" dirty="0" err="1"/>
              <a:t>RegisterAttendance</a:t>
            </a:r>
            <a:endParaRPr lang="en-US" altLang="ja-JP" sz="800" dirty="0"/>
          </a:p>
          <a:p>
            <a:r>
              <a:rPr lang="en-US" altLang="ja-JP" sz="800" dirty="0"/>
              <a:t>│                  │   ├── AttendanceCardWaitPage.css</a:t>
            </a:r>
          </a:p>
          <a:p>
            <a:r>
              <a:rPr lang="en-US" altLang="ja-JP" sz="800" dirty="0"/>
              <a:t>│                  │   └── </a:t>
            </a:r>
            <a:r>
              <a:rPr lang="en-US" altLang="ja-JP" sz="800" dirty="0" err="1"/>
              <a:t>AttendanceCardWaitPage.tsx</a:t>
            </a:r>
            <a:endParaRPr lang="en-US" altLang="ja-JP" sz="800" dirty="0"/>
          </a:p>
          <a:p>
            <a:r>
              <a:rPr lang="en-US" altLang="ja-JP" sz="800" dirty="0"/>
              <a:t>│                  └── </a:t>
            </a:r>
            <a:r>
              <a:rPr lang="en-US" altLang="ja-JP" sz="800" dirty="0" err="1"/>
              <a:t>RegisterUser</a:t>
            </a:r>
            <a:endParaRPr lang="en-US" altLang="ja-JP" sz="800" dirty="0"/>
          </a:p>
          <a:p>
            <a:r>
              <a:rPr lang="en-US" altLang="ja-JP" sz="800" dirty="0"/>
              <a:t>│                        ├── UserCardWaitPage.css</a:t>
            </a:r>
          </a:p>
          <a:p>
            <a:r>
              <a:rPr lang="en-US" altLang="ja-JP" sz="800" dirty="0"/>
              <a:t>│                        ├── </a:t>
            </a:r>
            <a:r>
              <a:rPr lang="en-US" altLang="ja-JP" sz="800" dirty="0" err="1"/>
              <a:t>UserCardWaitPage.tsx</a:t>
            </a:r>
            <a:endParaRPr lang="en-US" altLang="ja-JP" sz="800" dirty="0"/>
          </a:p>
          <a:p>
            <a:r>
              <a:rPr lang="en-US" altLang="ja-JP" sz="800" dirty="0"/>
              <a:t>│                        ├── UserSelectPage.css</a:t>
            </a:r>
          </a:p>
          <a:p>
            <a:r>
              <a:rPr lang="en-US" altLang="ja-JP" sz="800" dirty="0"/>
              <a:t>│                        └── </a:t>
            </a:r>
            <a:r>
              <a:rPr lang="en-US" altLang="ja-JP" sz="800" dirty="0" err="1"/>
              <a:t>UserSelectPage.tsx</a:t>
            </a:r>
            <a:endParaRPr lang="en-US" altLang="ja-JP" sz="800" dirty="0"/>
          </a:p>
          <a:p>
            <a:r>
              <a:rPr lang="en-US" altLang="ja-JP" sz="800" dirty="0"/>
              <a:t>│</a:t>
            </a:r>
            <a:endParaRPr lang="en-US" altLang="ja-JP" sz="800" b="1" dirty="0"/>
          </a:p>
          <a:p>
            <a:r>
              <a:rPr lang="en-US" altLang="ja-JP" sz="800" dirty="0"/>
              <a:t>└── worker</a:t>
            </a:r>
          </a:p>
          <a:p>
            <a:r>
              <a:rPr lang="en-US" altLang="ja-JP" sz="800" dirty="0"/>
              <a:t>    ├── __init__.py</a:t>
            </a:r>
          </a:p>
          <a:p>
            <a:r>
              <a:rPr lang="en-US" altLang="ja-JP" sz="800" dirty="0"/>
              <a:t>    ├── task_handler.py</a:t>
            </a:r>
          </a:p>
          <a:p>
            <a:r>
              <a:rPr lang="en-US" altLang="ja-JP" sz="800" dirty="0"/>
              <a:t>    └── worker_runner.py</a:t>
            </a:r>
          </a:p>
          <a:p>
            <a:endParaRPr kumimoji="1" lang="ja-JP" altLang="en-US" dirty="0"/>
          </a:p>
        </p:txBody>
      </p:sp>
      <p:sp>
        <p:nvSpPr>
          <p:cNvPr id="4" name="スライド番号プレースホルダー 3"/>
          <p:cNvSpPr>
            <a:spLocks noGrp="1"/>
          </p:cNvSpPr>
          <p:nvPr>
            <p:ph type="sldNum" sz="quarter" idx="5"/>
          </p:nvPr>
        </p:nvSpPr>
        <p:spPr/>
        <p:txBody>
          <a:bodyPr/>
          <a:lstStyle/>
          <a:p>
            <a:fld id="{2ED28A4C-6EF5-4767-8676-BA9266CC8394}" type="slidenum">
              <a:rPr kumimoji="1" lang="ja-JP" altLang="en-US" smtClean="0"/>
              <a:t>18</a:t>
            </a:fld>
            <a:endParaRPr kumimoji="1" lang="ja-JP" altLang="en-US"/>
          </a:p>
        </p:txBody>
      </p:sp>
    </p:spTree>
    <p:extLst>
      <p:ext uri="{BB962C8B-B14F-4D97-AF65-F5344CB8AC3E}">
        <p14:creationId xmlns:p14="http://schemas.microsoft.com/office/powerpoint/2010/main" val="42568021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C68BCF-C836-0E26-FE1D-972B9099518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25CBAD5-A5E1-C293-1D8D-D67D9691D55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1E04D81-0602-73A9-7EDB-44CCB161EB1C}"/>
              </a:ext>
            </a:extLst>
          </p:cNvPr>
          <p:cNvSpPr>
            <a:spLocks noGrp="1"/>
          </p:cNvSpPr>
          <p:nvPr>
            <p:ph type="body" idx="1"/>
          </p:nvPr>
        </p:nvSpPr>
        <p:spPr/>
        <p:txBody>
          <a:bodyPr/>
          <a:lstStyle/>
          <a:p>
            <a:r>
              <a:rPr lang="en-US" altLang="ja-JP" sz="800" dirty="0"/>
              <a:t>.</a:t>
            </a:r>
          </a:p>
          <a:p>
            <a:r>
              <a:rPr lang="en-US" altLang="ja-JP" sz="800" dirty="0"/>
              <a:t>├── .env</a:t>
            </a:r>
          </a:p>
          <a:p>
            <a:r>
              <a:rPr lang="en-US" altLang="ja-JP" sz="800" dirty="0"/>
              <a:t>├── requirements.txt</a:t>
            </a:r>
          </a:p>
          <a:p>
            <a:r>
              <a:rPr lang="en-US" altLang="ja-JP" sz="800" dirty="0"/>
              <a:t>├── start_api_server.sh</a:t>
            </a:r>
          </a:p>
          <a:p>
            <a:r>
              <a:rPr lang="en-US" altLang="ja-JP" sz="800" dirty="0"/>
              <a:t>├── start_init_db.sh</a:t>
            </a:r>
          </a:p>
          <a:p>
            <a:r>
              <a:rPr lang="en-US" altLang="ja-JP" sz="800" dirty="0"/>
              <a:t>├── start_web_server.sh</a:t>
            </a:r>
          </a:p>
          <a:p>
            <a:r>
              <a:rPr lang="en-US" altLang="ja-JP" sz="800" dirty="0"/>
              <a:t>├── start_worker.sh</a:t>
            </a:r>
          </a:p>
          <a:p>
            <a:r>
              <a:rPr lang="en-US" altLang="ja-JP" sz="800" dirty="0"/>
              <a:t>│</a:t>
            </a:r>
          </a:p>
          <a:p>
            <a:r>
              <a:rPr lang="en-US" altLang="ja-JP" sz="800" dirty="0"/>
              <a:t>├── app</a:t>
            </a:r>
          </a:p>
          <a:p>
            <a:r>
              <a:rPr lang="en-US" altLang="ja-JP" sz="800" dirty="0"/>
              <a:t>│   ├── __init__.py</a:t>
            </a:r>
          </a:p>
          <a:p>
            <a:r>
              <a:rPr lang="en-US" altLang="ja-JP" sz="800" dirty="0"/>
              <a:t>│   ├── main.py</a:t>
            </a:r>
          </a:p>
          <a:p>
            <a:r>
              <a:rPr lang="en-US" altLang="ja-JP" sz="800" dirty="0"/>
              <a:t>│   ├── </a:t>
            </a:r>
            <a:r>
              <a:rPr lang="en-US" altLang="ja-JP" sz="800" dirty="0" err="1"/>
              <a:t>api</a:t>
            </a:r>
            <a:endParaRPr lang="en-US" altLang="ja-JP" sz="800" dirty="0"/>
          </a:p>
          <a:p>
            <a:r>
              <a:rPr lang="en-US" altLang="ja-JP" sz="800" dirty="0"/>
              <a:t>│   │   ├── __init__.py</a:t>
            </a:r>
          </a:p>
          <a:p>
            <a:r>
              <a:rPr lang="en-US" altLang="ja-JP" sz="800" dirty="0"/>
              <a:t>│   │   ├── attendance.py</a:t>
            </a:r>
          </a:p>
          <a:p>
            <a:r>
              <a:rPr lang="en-US" altLang="ja-JP" sz="800" dirty="0"/>
              <a:t>│   │   ├── card.py</a:t>
            </a:r>
          </a:p>
          <a:p>
            <a:r>
              <a:rPr lang="en-US" altLang="ja-JP" sz="800" dirty="0"/>
              <a:t>│   │   └── user.py</a:t>
            </a:r>
          </a:p>
          <a:p>
            <a:r>
              <a:rPr lang="en-US" altLang="ja-JP" sz="800" dirty="0"/>
              <a:t>│   ├── hardware</a:t>
            </a:r>
          </a:p>
          <a:p>
            <a:r>
              <a:rPr lang="en-US" altLang="ja-JP" sz="800" dirty="0"/>
              <a:t>│   │   └── card_reader.py</a:t>
            </a:r>
          </a:p>
          <a:p>
            <a:r>
              <a:rPr lang="en-US" altLang="ja-JP" sz="800" dirty="0"/>
              <a:t>│   ├── schemas</a:t>
            </a:r>
          </a:p>
          <a:p>
            <a:r>
              <a:rPr lang="en-US" altLang="ja-JP" sz="800" dirty="0"/>
              <a:t>│   │   ├── __init__.py</a:t>
            </a:r>
          </a:p>
          <a:p>
            <a:r>
              <a:rPr lang="en-US" altLang="ja-JP" sz="800" dirty="0"/>
              <a:t>│   │   ├── attendance.py</a:t>
            </a:r>
          </a:p>
          <a:p>
            <a:r>
              <a:rPr lang="en-US" altLang="ja-JP" sz="800" dirty="0"/>
              <a:t>│   │   └── user.py</a:t>
            </a:r>
          </a:p>
          <a:p>
            <a:r>
              <a:rPr lang="en-US" altLang="ja-JP" sz="800" dirty="0"/>
              <a:t>│   └── services</a:t>
            </a:r>
          </a:p>
          <a:p>
            <a:r>
              <a:rPr lang="en-US" altLang="ja-JP" sz="800" dirty="0"/>
              <a:t>│       └── card_service.py</a:t>
            </a:r>
          </a:p>
          <a:p>
            <a:r>
              <a:rPr lang="en-US" altLang="ja-JP" sz="800" dirty="0"/>
              <a:t>│</a:t>
            </a:r>
          </a:p>
          <a:p>
            <a:r>
              <a:rPr lang="en-US" altLang="ja-JP" sz="800" dirty="0"/>
              <a:t>├── data</a:t>
            </a:r>
          </a:p>
          <a:p>
            <a:r>
              <a:rPr lang="en-US" altLang="ja-JP" sz="800" dirty="0"/>
              <a:t>│   ├── .init_db.py</a:t>
            </a:r>
          </a:p>
          <a:p>
            <a:r>
              <a:rPr lang="en-US" altLang="ja-JP" sz="800" dirty="0"/>
              <a:t>│   └── </a:t>
            </a:r>
            <a:r>
              <a:rPr lang="en-US" altLang="ja-JP" sz="800" dirty="0" err="1"/>
              <a:t>tasks.db</a:t>
            </a:r>
            <a:endParaRPr lang="en-US" altLang="ja-JP" sz="800" dirty="0"/>
          </a:p>
          <a:p>
            <a:r>
              <a:rPr lang="en-US" altLang="ja-JP" sz="800" dirty="0"/>
              <a:t>│</a:t>
            </a:r>
          </a:p>
          <a:p>
            <a:r>
              <a:rPr lang="en-US" altLang="ja-JP" sz="800" dirty="0"/>
              <a:t>├── logs</a:t>
            </a:r>
          </a:p>
          <a:p>
            <a:r>
              <a:rPr lang="en-US" altLang="ja-JP" sz="800" dirty="0"/>
              <a:t>│   └── *.log</a:t>
            </a:r>
          </a:p>
          <a:p>
            <a:r>
              <a:rPr lang="en-US" altLang="ja-JP" sz="800" dirty="0"/>
              <a:t>│</a:t>
            </a:r>
          </a:p>
          <a:p>
            <a:r>
              <a:rPr lang="en-US" altLang="ja-JP" sz="800" dirty="0"/>
              <a:t>├── shared</a:t>
            </a:r>
          </a:p>
          <a:p>
            <a:r>
              <a:rPr lang="en-US" altLang="ja-JP" sz="800" dirty="0"/>
              <a:t>│   ├── __init__.py</a:t>
            </a:r>
          </a:p>
          <a:p>
            <a:r>
              <a:rPr lang="en-US" altLang="ja-JP" sz="800" dirty="0"/>
              <a:t>│   ├── api_client.py</a:t>
            </a:r>
          </a:p>
          <a:p>
            <a:r>
              <a:rPr lang="en-US" altLang="ja-JP" sz="800" dirty="0"/>
              <a:t>│   ├── aws_client.py</a:t>
            </a:r>
          </a:p>
          <a:p>
            <a:r>
              <a:rPr lang="en-US" altLang="ja-JP" sz="800" dirty="0"/>
              <a:t>│   ├── codec.py</a:t>
            </a:r>
          </a:p>
          <a:p>
            <a:r>
              <a:rPr lang="en-US" altLang="ja-JP" sz="800" dirty="0"/>
              <a:t>│   ├── cognito_client.py</a:t>
            </a:r>
          </a:p>
          <a:p>
            <a:r>
              <a:rPr lang="en-US" altLang="ja-JP" sz="800" dirty="0"/>
              <a:t>│   ├── config.py</a:t>
            </a:r>
          </a:p>
          <a:p>
            <a:r>
              <a:rPr lang="en-US" altLang="ja-JP" sz="800" dirty="0"/>
              <a:t>│   ├── error_handler.py</a:t>
            </a:r>
          </a:p>
          <a:p>
            <a:r>
              <a:rPr lang="en-US" altLang="ja-JP" sz="800" dirty="0"/>
              <a:t>│   ├── sm_client.py</a:t>
            </a:r>
          </a:p>
          <a:p>
            <a:r>
              <a:rPr lang="en-US" altLang="ja-JP" sz="800" dirty="0"/>
              <a:t>│   └── task_queue.py</a:t>
            </a:r>
          </a:p>
          <a:p>
            <a:r>
              <a:rPr lang="en-US" altLang="ja-JP" sz="800" dirty="0"/>
              <a:t>│</a:t>
            </a:r>
          </a:p>
          <a:p>
            <a:r>
              <a:rPr lang="en-US" altLang="ja-JP" sz="800" dirty="0"/>
              <a:t>├── web</a:t>
            </a:r>
          </a:p>
          <a:p>
            <a:r>
              <a:rPr lang="en-US" altLang="ja-JP" sz="800" dirty="0"/>
              <a:t>│   └── frontend</a:t>
            </a:r>
          </a:p>
          <a:p>
            <a:r>
              <a:rPr lang="en-US" altLang="ja-JP" sz="800" dirty="0"/>
              <a:t>│       </a:t>
            </a:r>
            <a:r>
              <a:rPr lang="ja-JP" altLang="en-US" sz="800" dirty="0"/>
              <a:t>  </a:t>
            </a:r>
            <a:r>
              <a:rPr lang="en-US" altLang="ja-JP" sz="800" dirty="0"/>
              <a:t>├── .env</a:t>
            </a:r>
          </a:p>
          <a:p>
            <a:r>
              <a:rPr lang="en-US" altLang="ja-JP" sz="800" dirty="0"/>
              <a:t>│         └── </a:t>
            </a:r>
            <a:r>
              <a:rPr lang="en-US" altLang="ja-JP" sz="800" dirty="0" err="1"/>
              <a:t>src</a:t>
            </a:r>
            <a:endParaRPr lang="en-US" altLang="ja-JP" sz="800" dirty="0"/>
          </a:p>
          <a:p>
            <a:r>
              <a:rPr lang="en-US" altLang="ja-JP" sz="800" dirty="0"/>
              <a:t>│            ├── App.css</a:t>
            </a:r>
          </a:p>
          <a:p>
            <a:r>
              <a:rPr lang="en-US" altLang="ja-JP" sz="800" dirty="0"/>
              <a:t>│            ├── </a:t>
            </a:r>
            <a:r>
              <a:rPr lang="en-US" altLang="ja-JP" sz="800" dirty="0" err="1"/>
              <a:t>App.tsx</a:t>
            </a:r>
            <a:endParaRPr lang="en-US" altLang="ja-JP" sz="800" dirty="0"/>
          </a:p>
          <a:p>
            <a:r>
              <a:rPr lang="en-US" altLang="ja-JP" sz="800" dirty="0"/>
              <a:t>│            ├── index.css</a:t>
            </a:r>
          </a:p>
          <a:p>
            <a:r>
              <a:rPr lang="en-US" altLang="ja-JP" sz="800" dirty="0"/>
              <a:t>│            ├── </a:t>
            </a:r>
            <a:r>
              <a:rPr lang="en-US" altLang="ja-JP" sz="800" dirty="0" err="1"/>
              <a:t>index.tsx</a:t>
            </a:r>
            <a:endParaRPr lang="en-US" altLang="ja-JP" sz="800" dirty="0"/>
          </a:p>
          <a:p>
            <a:r>
              <a:rPr lang="en-US" altLang="ja-JP" sz="800" dirty="0"/>
              <a:t>│            ├── </a:t>
            </a:r>
            <a:r>
              <a:rPr lang="en-US" altLang="ja-JP" sz="800" dirty="0" err="1"/>
              <a:t>api</a:t>
            </a:r>
            <a:endParaRPr lang="en-US" altLang="ja-JP" sz="800" dirty="0"/>
          </a:p>
          <a:p>
            <a:r>
              <a:rPr lang="en-US" altLang="ja-JP" sz="800" dirty="0"/>
              <a:t>│            │   ├── </a:t>
            </a:r>
            <a:r>
              <a:rPr lang="en-US" altLang="ja-JP" sz="800" dirty="0" err="1"/>
              <a:t>attendance.ts</a:t>
            </a:r>
            <a:endParaRPr lang="en-US" altLang="ja-JP" sz="800" dirty="0"/>
          </a:p>
          <a:p>
            <a:r>
              <a:rPr lang="en-US" altLang="ja-JP" sz="800" dirty="0"/>
              <a:t>│            │   ├── </a:t>
            </a:r>
            <a:r>
              <a:rPr lang="en-US" altLang="ja-JP" sz="800" dirty="0" err="1"/>
              <a:t>cardReader.ts</a:t>
            </a:r>
            <a:endParaRPr lang="en-US" altLang="ja-JP" sz="800" dirty="0"/>
          </a:p>
          <a:p>
            <a:r>
              <a:rPr lang="en-US" altLang="ja-JP" sz="800" dirty="0"/>
              <a:t>│            │   └── </a:t>
            </a:r>
            <a:r>
              <a:rPr lang="en-US" altLang="ja-JP" sz="800" dirty="0" err="1"/>
              <a:t>user.ts</a:t>
            </a:r>
            <a:endParaRPr lang="en-US" altLang="ja-JP" sz="800" dirty="0"/>
          </a:p>
          <a:p>
            <a:r>
              <a:rPr lang="en-US" altLang="ja-JP" sz="800" dirty="0"/>
              <a:t>│            ├── hooks</a:t>
            </a:r>
          </a:p>
          <a:p>
            <a:r>
              <a:rPr lang="en-US" altLang="ja-JP" sz="800" dirty="0"/>
              <a:t>│            │   ├── </a:t>
            </a:r>
            <a:r>
              <a:rPr lang="en-US" altLang="ja-JP" sz="800" dirty="0" err="1"/>
              <a:t>useCardReader.ts</a:t>
            </a:r>
            <a:endParaRPr lang="en-US" altLang="ja-JP" sz="800" dirty="0"/>
          </a:p>
          <a:p>
            <a:r>
              <a:rPr lang="en-US" altLang="ja-JP" sz="800" dirty="0"/>
              <a:t>│            │   ├── </a:t>
            </a:r>
            <a:r>
              <a:rPr lang="en-US" altLang="ja-JP" sz="800" dirty="0" err="1"/>
              <a:t>useCurrentTime.ts</a:t>
            </a:r>
            <a:endParaRPr lang="en-US" altLang="ja-JP" sz="800" dirty="0"/>
          </a:p>
          <a:p>
            <a:r>
              <a:rPr lang="en-US" altLang="ja-JP" sz="800" dirty="0"/>
              <a:t>│            │   ├── </a:t>
            </a:r>
            <a:r>
              <a:rPr lang="en-US" altLang="ja-JP" sz="800" dirty="0" err="1"/>
              <a:t>useRegisterAttendance.ts</a:t>
            </a:r>
            <a:endParaRPr lang="en-US" altLang="ja-JP" sz="800" dirty="0"/>
          </a:p>
          <a:p>
            <a:r>
              <a:rPr lang="en-US" altLang="ja-JP" sz="800" dirty="0"/>
              <a:t>│            │   ├── </a:t>
            </a:r>
            <a:r>
              <a:rPr lang="en-US" altLang="ja-JP" sz="800" dirty="0" err="1"/>
              <a:t>useRegisterUser.ts</a:t>
            </a:r>
            <a:endParaRPr lang="en-US" altLang="ja-JP" sz="800" dirty="0"/>
          </a:p>
          <a:p>
            <a:r>
              <a:rPr lang="en-US" altLang="ja-JP" sz="800" dirty="0"/>
              <a:t>│            │   └── </a:t>
            </a:r>
            <a:r>
              <a:rPr lang="en-US" altLang="ja-JP" sz="800" dirty="0" err="1"/>
              <a:t>useTimeOfDay.ts</a:t>
            </a:r>
            <a:endParaRPr lang="en-US" altLang="ja-JP" sz="800" dirty="0"/>
          </a:p>
          <a:p>
            <a:r>
              <a:rPr lang="en-US" altLang="ja-JP" sz="800" dirty="0"/>
              <a:t>│            └── pages</a:t>
            </a:r>
          </a:p>
          <a:p>
            <a:r>
              <a:rPr lang="en-US" altLang="ja-JP" sz="800" dirty="0"/>
              <a:t>│                  ├── </a:t>
            </a:r>
            <a:r>
              <a:rPr lang="en-US" altLang="ja-JP" sz="800" dirty="0" err="1"/>
              <a:t>HomePage</a:t>
            </a:r>
            <a:endParaRPr lang="en-US" altLang="ja-JP" sz="800" dirty="0"/>
          </a:p>
          <a:p>
            <a:r>
              <a:rPr lang="en-US" altLang="ja-JP" sz="800" dirty="0"/>
              <a:t>│                  │   ├── HomePage.css</a:t>
            </a:r>
          </a:p>
          <a:p>
            <a:r>
              <a:rPr lang="en-US" altLang="ja-JP" sz="800" dirty="0"/>
              <a:t>│                  │   └── </a:t>
            </a:r>
            <a:r>
              <a:rPr lang="en-US" altLang="ja-JP" sz="800" dirty="0" err="1"/>
              <a:t>HomePage.tsx</a:t>
            </a:r>
            <a:endParaRPr lang="en-US" altLang="ja-JP" sz="800" dirty="0"/>
          </a:p>
          <a:p>
            <a:r>
              <a:rPr lang="en-US" altLang="ja-JP" sz="800" dirty="0"/>
              <a:t>│                  ├── </a:t>
            </a:r>
            <a:r>
              <a:rPr lang="en-US" altLang="ja-JP" sz="800" dirty="0" err="1"/>
              <a:t>RegisterAttendance</a:t>
            </a:r>
            <a:endParaRPr lang="en-US" altLang="ja-JP" sz="800" dirty="0"/>
          </a:p>
          <a:p>
            <a:r>
              <a:rPr lang="en-US" altLang="ja-JP" sz="800" dirty="0"/>
              <a:t>│                  │   ├── AttendanceCardWaitPage.css</a:t>
            </a:r>
          </a:p>
          <a:p>
            <a:r>
              <a:rPr lang="en-US" altLang="ja-JP" sz="800" dirty="0"/>
              <a:t>│                  │   └── </a:t>
            </a:r>
            <a:r>
              <a:rPr lang="en-US" altLang="ja-JP" sz="800" dirty="0" err="1"/>
              <a:t>AttendanceCardWaitPage.tsx</a:t>
            </a:r>
            <a:endParaRPr lang="en-US" altLang="ja-JP" sz="800" dirty="0"/>
          </a:p>
          <a:p>
            <a:r>
              <a:rPr lang="en-US" altLang="ja-JP" sz="800" dirty="0"/>
              <a:t>│                  └── </a:t>
            </a:r>
            <a:r>
              <a:rPr lang="en-US" altLang="ja-JP" sz="800" dirty="0" err="1"/>
              <a:t>RegisterUser</a:t>
            </a:r>
            <a:endParaRPr lang="en-US" altLang="ja-JP" sz="800" dirty="0"/>
          </a:p>
          <a:p>
            <a:r>
              <a:rPr lang="en-US" altLang="ja-JP" sz="800" dirty="0"/>
              <a:t>│                        ├── UserCardWaitPage.css</a:t>
            </a:r>
          </a:p>
          <a:p>
            <a:r>
              <a:rPr lang="en-US" altLang="ja-JP" sz="800" dirty="0"/>
              <a:t>│                        ├── </a:t>
            </a:r>
            <a:r>
              <a:rPr lang="en-US" altLang="ja-JP" sz="800" dirty="0" err="1"/>
              <a:t>UserCardWaitPage.tsx</a:t>
            </a:r>
            <a:endParaRPr lang="en-US" altLang="ja-JP" sz="800" dirty="0"/>
          </a:p>
          <a:p>
            <a:r>
              <a:rPr lang="en-US" altLang="ja-JP" sz="800" dirty="0"/>
              <a:t>│                        ├── UserSelectPage.css</a:t>
            </a:r>
          </a:p>
          <a:p>
            <a:r>
              <a:rPr lang="en-US" altLang="ja-JP" sz="800" dirty="0"/>
              <a:t>│                        └── </a:t>
            </a:r>
            <a:r>
              <a:rPr lang="en-US" altLang="ja-JP" sz="800" dirty="0" err="1"/>
              <a:t>UserSelectPage.tsx</a:t>
            </a:r>
            <a:endParaRPr lang="en-US" altLang="ja-JP" sz="800" dirty="0"/>
          </a:p>
          <a:p>
            <a:r>
              <a:rPr lang="en-US" altLang="ja-JP" sz="800" dirty="0"/>
              <a:t>│</a:t>
            </a:r>
            <a:endParaRPr lang="en-US" altLang="ja-JP" sz="800" b="1" dirty="0"/>
          </a:p>
          <a:p>
            <a:r>
              <a:rPr lang="en-US" altLang="ja-JP" sz="800" dirty="0"/>
              <a:t>└── worker</a:t>
            </a:r>
          </a:p>
          <a:p>
            <a:r>
              <a:rPr lang="en-US" altLang="ja-JP" sz="800" dirty="0"/>
              <a:t>    ├── __init__.py</a:t>
            </a:r>
          </a:p>
          <a:p>
            <a:r>
              <a:rPr lang="en-US" altLang="ja-JP" sz="800" dirty="0"/>
              <a:t>    ├── task_handler.py</a:t>
            </a:r>
          </a:p>
          <a:p>
            <a:r>
              <a:rPr lang="en-US" altLang="ja-JP" sz="800" dirty="0"/>
              <a:t>    └── worker_runner.py</a:t>
            </a:r>
          </a:p>
          <a:p>
            <a:endParaRPr kumimoji="1" lang="ja-JP" altLang="en-US" dirty="0"/>
          </a:p>
        </p:txBody>
      </p:sp>
      <p:sp>
        <p:nvSpPr>
          <p:cNvPr id="4" name="スライド番号プレースホルダー 3">
            <a:extLst>
              <a:ext uri="{FF2B5EF4-FFF2-40B4-BE49-F238E27FC236}">
                <a16:creationId xmlns:a16="http://schemas.microsoft.com/office/drawing/2014/main" id="{0F082FEE-7D5E-4742-2880-3A068E2798D5}"/>
              </a:ext>
            </a:extLst>
          </p:cNvPr>
          <p:cNvSpPr>
            <a:spLocks noGrp="1"/>
          </p:cNvSpPr>
          <p:nvPr>
            <p:ph type="sldNum" sz="quarter" idx="5"/>
          </p:nvPr>
        </p:nvSpPr>
        <p:spPr/>
        <p:txBody>
          <a:bodyPr/>
          <a:lstStyle/>
          <a:p>
            <a:fld id="{2ED28A4C-6EF5-4767-8676-BA9266CC8394}" type="slidenum">
              <a:rPr kumimoji="1" lang="ja-JP" altLang="en-US" smtClean="0"/>
              <a:t>19</a:t>
            </a:fld>
            <a:endParaRPr kumimoji="1" lang="ja-JP" altLang="en-US"/>
          </a:p>
        </p:txBody>
      </p:sp>
    </p:spTree>
    <p:extLst>
      <p:ext uri="{BB962C8B-B14F-4D97-AF65-F5344CB8AC3E}">
        <p14:creationId xmlns:p14="http://schemas.microsoft.com/office/powerpoint/2010/main" val="42198532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D095B-6B19-6397-133E-BE508244D9C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E912AEF-57FF-0FBE-8EBF-BAD2F92658A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7DBA557-A607-FC97-F05D-1AF4CC212DF0}"/>
              </a:ext>
            </a:extLst>
          </p:cNvPr>
          <p:cNvSpPr>
            <a:spLocks noGrp="1"/>
          </p:cNvSpPr>
          <p:nvPr>
            <p:ph type="body" idx="1"/>
          </p:nvPr>
        </p:nvSpPr>
        <p:spPr/>
        <p:txBody>
          <a:bodyPr/>
          <a:lstStyle/>
          <a:p>
            <a:r>
              <a:rPr lang="en-US" altLang="ja-JP" sz="800" dirty="0"/>
              <a:t>.</a:t>
            </a:r>
          </a:p>
          <a:p>
            <a:r>
              <a:rPr lang="en-US" altLang="ja-JP" sz="800" dirty="0"/>
              <a:t>├── .env</a:t>
            </a:r>
          </a:p>
          <a:p>
            <a:r>
              <a:rPr lang="en-US" altLang="ja-JP" sz="800" dirty="0"/>
              <a:t>├── requirements.txt</a:t>
            </a:r>
          </a:p>
          <a:p>
            <a:r>
              <a:rPr lang="en-US" altLang="ja-JP" sz="800" dirty="0"/>
              <a:t>├── start_api_server.sh</a:t>
            </a:r>
          </a:p>
          <a:p>
            <a:r>
              <a:rPr lang="en-US" altLang="ja-JP" sz="800" dirty="0"/>
              <a:t>├── start_init_db.sh</a:t>
            </a:r>
          </a:p>
          <a:p>
            <a:r>
              <a:rPr lang="en-US" altLang="ja-JP" sz="800" dirty="0"/>
              <a:t>├── start_web_server.sh</a:t>
            </a:r>
          </a:p>
          <a:p>
            <a:r>
              <a:rPr lang="en-US" altLang="ja-JP" sz="800" dirty="0"/>
              <a:t>├── start_worker.sh</a:t>
            </a:r>
          </a:p>
          <a:p>
            <a:r>
              <a:rPr lang="en-US" altLang="ja-JP" sz="800" dirty="0"/>
              <a:t>│</a:t>
            </a:r>
          </a:p>
          <a:p>
            <a:r>
              <a:rPr lang="en-US" altLang="ja-JP" sz="800" dirty="0"/>
              <a:t>├── app</a:t>
            </a:r>
          </a:p>
          <a:p>
            <a:r>
              <a:rPr lang="en-US" altLang="ja-JP" sz="800" dirty="0"/>
              <a:t>│   ├── __init__.py</a:t>
            </a:r>
          </a:p>
          <a:p>
            <a:r>
              <a:rPr lang="en-US" altLang="ja-JP" sz="800" dirty="0"/>
              <a:t>│   ├── main.py</a:t>
            </a:r>
          </a:p>
          <a:p>
            <a:r>
              <a:rPr lang="en-US" altLang="ja-JP" sz="800" dirty="0"/>
              <a:t>│   ├── </a:t>
            </a:r>
            <a:r>
              <a:rPr lang="en-US" altLang="ja-JP" sz="800" dirty="0" err="1"/>
              <a:t>api</a:t>
            </a:r>
            <a:endParaRPr lang="en-US" altLang="ja-JP" sz="800" dirty="0"/>
          </a:p>
          <a:p>
            <a:r>
              <a:rPr lang="en-US" altLang="ja-JP" sz="800" dirty="0"/>
              <a:t>│   │   ├── __init__.py</a:t>
            </a:r>
          </a:p>
          <a:p>
            <a:r>
              <a:rPr lang="en-US" altLang="ja-JP" sz="800" dirty="0"/>
              <a:t>│   │   ├── attendance.py</a:t>
            </a:r>
          </a:p>
          <a:p>
            <a:r>
              <a:rPr lang="en-US" altLang="ja-JP" sz="800" dirty="0"/>
              <a:t>│   │   ├── card.py</a:t>
            </a:r>
          </a:p>
          <a:p>
            <a:r>
              <a:rPr lang="en-US" altLang="ja-JP" sz="800" dirty="0"/>
              <a:t>│   │   └── user.py</a:t>
            </a:r>
          </a:p>
          <a:p>
            <a:r>
              <a:rPr lang="en-US" altLang="ja-JP" sz="800" dirty="0"/>
              <a:t>│   ├── hardware</a:t>
            </a:r>
          </a:p>
          <a:p>
            <a:r>
              <a:rPr lang="en-US" altLang="ja-JP" sz="800" dirty="0"/>
              <a:t>│   │   └── card_reader.py</a:t>
            </a:r>
          </a:p>
          <a:p>
            <a:r>
              <a:rPr lang="en-US" altLang="ja-JP" sz="800" dirty="0"/>
              <a:t>│   ├── schemas</a:t>
            </a:r>
          </a:p>
          <a:p>
            <a:r>
              <a:rPr lang="en-US" altLang="ja-JP" sz="800" dirty="0"/>
              <a:t>│   │   ├── __init__.py</a:t>
            </a:r>
          </a:p>
          <a:p>
            <a:r>
              <a:rPr lang="en-US" altLang="ja-JP" sz="800" dirty="0"/>
              <a:t>│   │   ├── attendance.py</a:t>
            </a:r>
          </a:p>
          <a:p>
            <a:r>
              <a:rPr lang="en-US" altLang="ja-JP" sz="800" dirty="0"/>
              <a:t>│   │   └── user.py</a:t>
            </a:r>
          </a:p>
          <a:p>
            <a:r>
              <a:rPr lang="en-US" altLang="ja-JP" sz="800" dirty="0"/>
              <a:t>│   └── services</a:t>
            </a:r>
          </a:p>
          <a:p>
            <a:r>
              <a:rPr lang="en-US" altLang="ja-JP" sz="800" dirty="0"/>
              <a:t>│       └── card_service.py</a:t>
            </a:r>
          </a:p>
          <a:p>
            <a:r>
              <a:rPr lang="en-US" altLang="ja-JP" sz="800" dirty="0"/>
              <a:t>│</a:t>
            </a:r>
          </a:p>
          <a:p>
            <a:r>
              <a:rPr lang="en-US" altLang="ja-JP" sz="800" dirty="0"/>
              <a:t>├── data</a:t>
            </a:r>
          </a:p>
          <a:p>
            <a:r>
              <a:rPr lang="en-US" altLang="ja-JP" sz="800" dirty="0"/>
              <a:t>│   ├── .init_db.py</a:t>
            </a:r>
          </a:p>
          <a:p>
            <a:r>
              <a:rPr lang="en-US" altLang="ja-JP" sz="800" dirty="0"/>
              <a:t>│   └── </a:t>
            </a:r>
            <a:r>
              <a:rPr lang="en-US" altLang="ja-JP" sz="800" dirty="0" err="1"/>
              <a:t>tasks.db</a:t>
            </a:r>
            <a:endParaRPr lang="en-US" altLang="ja-JP" sz="800" dirty="0"/>
          </a:p>
          <a:p>
            <a:r>
              <a:rPr lang="en-US" altLang="ja-JP" sz="800" dirty="0"/>
              <a:t>│</a:t>
            </a:r>
          </a:p>
          <a:p>
            <a:r>
              <a:rPr lang="en-US" altLang="ja-JP" sz="800" dirty="0"/>
              <a:t>├── logs</a:t>
            </a:r>
          </a:p>
          <a:p>
            <a:r>
              <a:rPr lang="en-US" altLang="ja-JP" sz="800" dirty="0"/>
              <a:t>│   └── *.log</a:t>
            </a:r>
          </a:p>
          <a:p>
            <a:r>
              <a:rPr lang="en-US" altLang="ja-JP" sz="800" dirty="0"/>
              <a:t>│</a:t>
            </a:r>
          </a:p>
          <a:p>
            <a:r>
              <a:rPr lang="en-US" altLang="ja-JP" sz="800" dirty="0"/>
              <a:t>├── shared</a:t>
            </a:r>
          </a:p>
          <a:p>
            <a:r>
              <a:rPr lang="en-US" altLang="ja-JP" sz="800" dirty="0"/>
              <a:t>│   ├── __init__.py</a:t>
            </a:r>
          </a:p>
          <a:p>
            <a:r>
              <a:rPr lang="en-US" altLang="ja-JP" sz="800" dirty="0"/>
              <a:t>│   ├── api_client.py</a:t>
            </a:r>
          </a:p>
          <a:p>
            <a:r>
              <a:rPr lang="en-US" altLang="ja-JP" sz="800" dirty="0"/>
              <a:t>│   ├── aws_client.py</a:t>
            </a:r>
          </a:p>
          <a:p>
            <a:r>
              <a:rPr lang="en-US" altLang="ja-JP" sz="800" dirty="0"/>
              <a:t>│   ├── codec.py</a:t>
            </a:r>
          </a:p>
          <a:p>
            <a:r>
              <a:rPr lang="en-US" altLang="ja-JP" sz="800" dirty="0"/>
              <a:t>│   ├── cognito_client.py</a:t>
            </a:r>
          </a:p>
          <a:p>
            <a:r>
              <a:rPr lang="en-US" altLang="ja-JP" sz="800" dirty="0"/>
              <a:t>│   ├── config.py</a:t>
            </a:r>
          </a:p>
          <a:p>
            <a:r>
              <a:rPr lang="en-US" altLang="ja-JP" sz="800" dirty="0"/>
              <a:t>│   ├── error_handler.py</a:t>
            </a:r>
          </a:p>
          <a:p>
            <a:r>
              <a:rPr lang="en-US" altLang="ja-JP" sz="800" dirty="0"/>
              <a:t>│   ├── sm_client.py</a:t>
            </a:r>
          </a:p>
          <a:p>
            <a:r>
              <a:rPr lang="en-US" altLang="ja-JP" sz="800" dirty="0"/>
              <a:t>│   └── task_queue.py</a:t>
            </a:r>
          </a:p>
          <a:p>
            <a:r>
              <a:rPr lang="en-US" altLang="ja-JP" sz="800" dirty="0"/>
              <a:t>│</a:t>
            </a:r>
          </a:p>
          <a:p>
            <a:r>
              <a:rPr lang="en-US" altLang="ja-JP" sz="800" dirty="0"/>
              <a:t>├── web</a:t>
            </a:r>
          </a:p>
          <a:p>
            <a:r>
              <a:rPr lang="en-US" altLang="ja-JP" sz="800" dirty="0"/>
              <a:t>│   └── frontend</a:t>
            </a:r>
          </a:p>
          <a:p>
            <a:r>
              <a:rPr lang="en-US" altLang="ja-JP" sz="800" dirty="0"/>
              <a:t>│       </a:t>
            </a:r>
            <a:r>
              <a:rPr lang="ja-JP" altLang="en-US" sz="800" dirty="0"/>
              <a:t>  </a:t>
            </a:r>
            <a:r>
              <a:rPr lang="en-US" altLang="ja-JP" sz="800" dirty="0"/>
              <a:t>├── .env</a:t>
            </a:r>
          </a:p>
          <a:p>
            <a:r>
              <a:rPr lang="en-US" altLang="ja-JP" sz="800" dirty="0"/>
              <a:t>│         └── </a:t>
            </a:r>
            <a:r>
              <a:rPr lang="en-US" altLang="ja-JP" sz="800" dirty="0" err="1"/>
              <a:t>src</a:t>
            </a:r>
            <a:endParaRPr lang="en-US" altLang="ja-JP" sz="800" dirty="0"/>
          </a:p>
          <a:p>
            <a:r>
              <a:rPr lang="en-US" altLang="ja-JP" sz="800" dirty="0"/>
              <a:t>│            ├── App.css</a:t>
            </a:r>
          </a:p>
          <a:p>
            <a:r>
              <a:rPr lang="en-US" altLang="ja-JP" sz="800" dirty="0"/>
              <a:t>│            ├── </a:t>
            </a:r>
            <a:r>
              <a:rPr lang="en-US" altLang="ja-JP" sz="800" dirty="0" err="1"/>
              <a:t>App.tsx</a:t>
            </a:r>
            <a:endParaRPr lang="en-US" altLang="ja-JP" sz="800" dirty="0"/>
          </a:p>
          <a:p>
            <a:r>
              <a:rPr lang="en-US" altLang="ja-JP" sz="800" dirty="0"/>
              <a:t>│            ├── index.css</a:t>
            </a:r>
          </a:p>
          <a:p>
            <a:r>
              <a:rPr lang="en-US" altLang="ja-JP" sz="800" dirty="0"/>
              <a:t>│            ├── </a:t>
            </a:r>
            <a:r>
              <a:rPr lang="en-US" altLang="ja-JP" sz="800" dirty="0" err="1"/>
              <a:t>index.tsx</a:t>
            </a:r>
            <a:endParaRPr lang="en-US" altLang="ja-JP" sz="800" dirty="0"/>
          </a:p>
          <a:p>
            <a:r>
              <a:rPr lang="en-US" altLang="ja-JP" sz="800" dirty="0"/>
              <a:t>│            ├── </a:t>
            </a:r>
            <a:r>
              <a:rPr lang="en-US" altLang="ja-JP" sz="800" dirty="0" err="1"/>
              <a:t>api</a:t>
            </a:r>
            <a:endParaRPr lang="en-US" altLang="ja-JP" sz="800" dirty="0"/>
          </a:p>
          <a:p>
            <a:r>
              <a:rPr lang="en-US" altLang="ja-JP" sz="800" dirty="0"/>
              <a:t>│            │   ├── </a:t>
            </a:r>
            <a:r>
              <a:rPr lang="en-US" altLang="ja-JP" sz="800" dirty="0" err="1"/>
              <a:t>attendance.ts</a:t>
            </a:r>
            <a:endParaRPr lang="en-US" altLang="ja-JP" sz="800" dirty="0"/>
          </a:p>
          <a:p>
            <a:r>
              <a:rPr lang="en-US" altLang="ja-JP" sz="800" dirty="0"/>
              <a:t>│            │   ├── </a:t>
            </a:r>
            <a:r>
              <a:rPr lang="en-US" altLang="ja-JP" sz="800" dirty="0" err="1"/>
              <a:t>cardReader.ts</a:t>
            </a:r>
            <a:endParaRPr lang="en-US" altLang="ja-JP" sz="800" dirty="0"/>
          </a:p>
          <a:p>
            <a:r>
              <a:rPr lang="en-US" altLang="ja-JP" sz="800" dirty="0"/>
              <a:t>│            │   └── </a:t>
            </a:r>
            <a:r>
              <a:rPr lang="en-US" altLang="ja-JP" sz="800" dirty="0" err="1"/>
              <a:t>user.ts</a:t>
            </a:r>
            <a:endParaRPr lang="en-US" altLang="ja-JP" sz="800" dirty="0"/>
          </a:p>
          <a:p>
            <a:r>
              <a:rPr lang="en-US" altLang="ja-JP" sz="800" dirty="0"/>
              <a:t>│            ├── hooks</a:t>
            </a:r>
          </a:p>
          <a:p>
            <a:r>
              <a:rPr lang="en-US" altLang="ja-JP" sz="800" dirty="0"/>
              <a:t>│            │   ├── </a:t>
            </a:r>
            <a:r>
              <a:rPr lang="en-US" altLang="ja-JP" sz="800" dirty="0" err="1"/>
              <a:t>useCardReader.ts</a:t>
            </a:r>
            <a:endParaRPr lang="en-US" altLang="ja-JP" sz="800" dirty="0"/>
          </a:p>
          <a:p>
            <a:r>
              <a:rPr lang="en-US" altLang="ja-JP" sz="800" dirty="0"/>
              <a:t>│            │   ├── </a:t>
            </a:r>
            <a:r>
              <a:rPr lang="en-US" altLang="ja-JP" sz="800" dirty="0" err="1"/>
              <a:t>useCurrentTime.ts</a:t>
            </a:r>
            <a:endParaRPr lang="en-US" altLang="ja-JP" sz="800" dirty="0"/>
          </a:p>
          <a:p>
            <a:r>
              <a:rPr lang="en-US" altLang="ja-JP" sz="800" dirty="0"/>
              <a:t>│            │   ├── </a:t>
            </a:r>
            <a:r>
              <a:rPr lang="en-US" altLang="ja-JP" sz="800" dirty="0" err="1"/>
              <a:t>useRegisterAttendance.ts</a:t>
            </a:r>
            <a:endParaRPr lang="en-US" altLang="ja-JP" sz="800" dirty="0"/>
          </a:p>
          <a:p>
            <a:r>
              <a:rPr lang="en-US" altLang="ja-JP" sz="800" dirty="0"/>
              <a:t>│            │   ├── </a:t>
            </a:r>
            <a:r>
              <a:rPr lang="en-US" altLang="ja-JP" sz="800" dirty="0" err="1"/>
              <a:t>useRegisterUser.ts</a:t>
            </a:r>
            <a:endParaRPr lang="en-US" altLang="ja-JP" sz="800" dirty="0"/>
          </a:p>
          <a:p>
            <a:r>
              <a:rPr lang="en-US" altLang="ja-JP" sz="800" dirty="0"/>
              <a:t>│            │   └── </a:t>
            </a:r>
            <a:r>
              <a:rPr lang="en-US" altLang="ja-JP" sz="800" dirty="0" err="1"/>
              <a:t>useTimeOfDay.ts</a:t>
            </a:r>
            <a:endParaRPr lang="en-US" altLang="ja-JP" sz="800" dirty="0"/>
          </a:p>
          <a:p>
            <a:r>
              <a:rPr lang="en-US" altLang="ja-JP" sz="800" dirty="0"/>
              <a:t>│            └── pages</a:t>
            </a:r>
          </a:p>
          <a:p>
            <a:r>
              <a:rPr lang="en-US" altLang="ja-JP" sz="800" dirty="0"/>
              <a:t>│                  ├── </a:t>
            </a:r>
            <a:r>
              <a:rPr lang="en-US" altLang="ja-JP" sz="800" dirty="0" err="1"/>
              <a:t>HomePage</a:t>
            </a:r>
            <a:endParaRPr lang="en-US" altLang="ja-JP" sz="800" dirty="0"/>
          </a:p>
          <a:p>
            <a:r>
              <a:rPr lang="en-US" altLang="ja-JP" sz="800" dirty="0"/>
              <a:t>│                  │   ├── HomePage.css</a:t>
            </a:r>
          </a:p>
          <a:p>
            <a:r>
              <a:rPr lang="en-US" altLang="ja-JP" sz="800" dirty="0"/>
              <a:t>│                  │   └── </a:t>
            </a:r>
            <a:r>
              <a:rPr lang="en-US" altLang="ja-JP" sz="800" dirty="0" err="1"/>
              <a:t>HomePage.tsx</a:t>
            </a:r>
            <a:endParaRPr lang="en-US" altLang="ja-JP" sz="800" dirty="0"/>
          </a:p>
          <a:p>
            <a:r>
              <a:rPr lang="en-US" altLang="ja-JP" sz="800" dirty="0"/>
              <a:t>│                  ├── </a:t>
            </a:r>
            <a:r>
              <a:rPr lang="en-US" altLang="ja-JP" sz="800" dirty="0" err="1"/>
              <a:t>RegisterAttendance</a:t>
            </a:r>
            <a:endParaRPr lang="en-US" altLang="ja-JP" sz="800" dirty="0"/>
          </a:p>
          <a:p>
            <a:r>
              <a:rPr lang="en-US" altLang="ja-JP" sz="800" dirty="0"/>
              <a:t>│                  │   ├── AttendanceCardWaitPage.css</a:t>
            </a:r>
          </a:p>
          <a:p>
            <a:r>
              <a:rPr lang="en-US" altLang="ja-JP" sz="800" dirty="0"/>
              <a:t>│                  │   └── </a:t>
            </a:r>
            <a:r>
              <a:rPr lang="en-US" altLang="ja-JP" sz="800" dirty="0" err="1"/>
              <a:t>AttendanceCardWaitPage.tsx</a:t>
            </a:r>
            <a:endParaRPr lang="en-US" altLang="ja-JP" sz="800" dirty="0"/>
          </a:p>
          <a:p>
            <a:r>
              <a:rPr lang="en-US" altLang="ja-JP" sz="800" dirty="0"/>
              <a:t>│                  └── </a:t>
            </a:r>
            <a:r>
              <a:rPr lang="en-US" altLang="ja-JP" sz="800" dirty="0" err="1"/>
              <a:t>RegisterUser</a:t>
            </a:r>
            <a:endParaRPr lang="en-US" altLang="ja-JP" sz="800" dirty="0"/>
          </a:p>
          <a:p>
            <a:r>
              <a:rPr lang="en-US" altLang="ja-JP" sz="800" dirty="0"/>
              <a:t>│                        ├── UserCardWaitPage.css</a:t>
            </a:r>
          </a:p>
          <a:p>
            <a:r>
              <a:rPr lang="en-US" altLang="ja-JP" sz="800" dirty="0"/>
              <a:t>│                        ├── </a:t>
            </a:r>
            <a:r>
              <a:rPr lang="en-US" altLang="ja-JP" sz="800" dirty="0" err="1"/>
              <a:t>UserCardWaitPage.tsx</a:t>
            </a:r>
            <a:endParaRPr lang="en-US" altLang="ja-JP" sz="800" dirty="0"/>
          </a:p>
          <a:p>
            <a:r>
              <a:rPr lang="en-US" altLang="ja-JP" sz="800" dirty="0"/>
              <a:t>│                        ├── UserSelectPage.css</a:t>
            </a:r>
          </a:p>
          <a:p>
            <a:r>
              <a:rPr lang="en-US" altLang="ja-JP" sz="800" dirty="0"/>
              <a:t>│                        └── </a:t>
            </a:r>
            <a:r>
              <a:rPr lang="en-US" altLang="ja-JP" sz="800" dirty="0" err="1"/>
              <a:t>UserSelectPage.tsx</a:t>
            </a:r>
            <a:endParaRPr lang="en-US" altLang="ja-JP" sz="800" dirty="0"/>
          </a:p>
          <a:p>
            <a:r>
              <a:rPr lang="en-US" altLang="ja-JP" sz="800" dirty="0"/>
              <a:t>│</a:t>
            </a:r>
            <a:endParaRPr lang="en-US" altLang="ja-JP" sz="800" b="1" dirty="0"/>
          </a:p>
          <a:p>
            <a:r>
              <a:rPr lang="en-US" altLang="ja-JP" sz="800" dirty="0"/>
              <a:t>└── worker</a:t>
            </a:r>
          </a:p>
          <a:p>
            <a:r>
              <a:rPr lang="en-US" altLang="ja-JP" sz="800" dirty="0"/>
              <a:t>    ├── __init__.py</a:t>
            </a:r>
          </a:p>
          <a:p>
            <a:r>
              <a:rPr lang="en-US" altLang="ja-JP" sz="800" dirty="0"/>
              <a:t>    ├── task_handler.py</a:t>
            </a:r>
          </a:p>
          <a:p>
            <a:r>
              <a:rPr lang="en-US" altLang="ja-JP" sz="800" dirty="0"/>
              <a:t>    └── worker_runner.py</a:t>
            </a:r>
          </a:p>
          <a:p>
            <a:endParaRPr kumimoji="1" lang="ja-JP" altLang="en-US" dirty="0"/>
          </a:p>
        </p:txBody>
      </p:sp>
      <p:sp>
        <p:nvSpPr>
          <p:cNvPr id="4" name="スライド番号プレースホルダー 3">
            <a:extLst>
              <a:ext uri="{FF2B5EF4-FFF2-40B4-BE49-F238E27FC236}">
                <a16:creationId xmlns:a16="http://schemas.microsoft.com/office/drawing/2014/main" id="{3C378F74-ABD0-0E1E-EB33-1E73EA145D38}"/>
              </a:ext>
            </a:extLst>
          </p:cNvPr>
          <p:cNvSpPr>
            <a:spLocks noGrp="1"/>
          </p:cNvSpPr>
          <p:nvPr>
            <p:ph type="sldNum" sz="quarter" idx="5"/>
          </p:nvPr>
        </p:nvSpPr>
        <p:spPr/>
        <p:txBody>
          <a:bodyPr/>
          <a:lstStyle/>
          <a:p>
            <a:fld id="{2ED28A4C-6EF5-4767-8676-BA9266CC8394}" type="slidenum">
              <a:rPr kumimoji="1" lang="ja-JP" altLang="en-US" smtClean="0"/>
              <a:t>20</a:t>
            </a:fld>
            <a:endParaRPr kumimoji="1" lang="ja-JP" altLang="en-US"/>
          </a:p>
        </p:txBody>
      </p:sp>
    </p:spTree>
    <p:extLst>
      <p:ext uri="{BB962C8B-B14F-4D97-AF65-F5344CB8AC3E}">
        <p14:creationId xmlns:p14="http://schemas.microsoft.com/office/powerpoint/2010/main" val="6566208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18CE8-B616-10FB-D39B-62CD7DC182D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7275EE8-8E61-FDFB-31E1-D1B6D3F14F8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0A19005-39CB-9C75-DA65-E19F59EFFCE8}"/>
              </a:ext>
            </a:extLst>
          </p:cNvPr>
          <p:cNvSpPr>
            <a:spLocks noGrp="1"/>
          </p:cNvSpPr>
          <p:nvPr>
            <p:ph type="body" idx="1"/>
          </p:nvPr>
        </p:nvSpPr>
        <p:spPr/>
        <p:txBody>
          <a:bodyPr/>
          <a:lstStyle/>
          <a:p>
            <a:r>
              <a:rPr lang="en-US" altLang="ja-JP" sz="800" dirty="0"/>
              <a:t>.</a:t>
            </a:r>
          </a:p>
          <a:p>
            <a:r>
              <a:rPr lang="en-US" altLang="ja-JP" sz="800" dirty="0"/>
              <a:t>├── .env</a:t>
            </a:r>
          </a:p>
          <a:p>
            <a:r>
              <a:rPr lang="en-US" altLang="ja-JP" sz="800" dirty="0"/>
              <a:t>├── requirements.txt</a:t>
            </a:r>
          </a:p>
          <a:p>
            <a:r>
              <a:rPr lang="en-US" altLang="ja-JP" sz="800" dirty="0"/>
              <a:t>├── start_api_server.sh</a:t>
            </a:r>
          </a:p>
          <a:p>
            <a:r>
              <a:rPr lang="en-US" altLang="ja-JP" sz="800" dirty="0"/>
              <a:t>├── start_init_db.sh</a:t>
            </a:r>
          </a:p>
          <a:p>
            <a:r>
              <a:rPr lang="en-US" altLang="ja-JP" sz="800" dirty="0"/>
              <a:t>├── start_web_server.sh</a:t>
            </a:r>
          </a:p>
          <a:p>
            <a:r>
              <a:rPr lang="en-US" altLang="ja-JP" sz="800" dirty="0"/>
              <a:t>├── start_worker.sh</a:t>
            </a:r>
          </a:p>
          <a:p>
            <a:r>
              <a:rPr lang="en-US" altLang="ja-JP" sz="800" dirty="0"/>
              <a:t>│</a:t>
            </a:r>
          </a:p>
          <a:p>
            <a:r>
              <a:rPr lang="en-US" altLang="ja-JP" sz="800" dirty="0"/>
              <a:t>├── app</a:t>
            </a:r>
          </a:p>
          <a:p>
            <a:r>
              <a:rPr lang="en-US" altLang="ja-JP" sz="800" dirty="0"/>
              <a:t>│   ├── __init__.py</a:t>
            </a:r>
          </a:p>
          <a:p>
            <a:r>
              <a:rPr lang="en-US" altLang="ja-JP" sz="800" dirty="0"/>
              <a:t>│   ├── main.py</a:t>
            </a:r>
          </a:p>
          <a:p>
            <a:r>
              <a:rPr lang="en-US" altLang="ja-JP" sz="800" dirty="0"/>
              <a:t>│   ├── </a:t>
            </a:r>
            <a:r>
              <a:rPr lang="en-US" altLang="ja-JP" sz="800" dirty="0" err="1"/>
              <a:t>api</a:t>
            </a:r>
            <a:endParaRPr lang="en-US" altLang="ja-JP" sz="800" dirty="0"/>
          </a:p>
          <a:p>
            <a:r>
              <a:rPr lang="en-US" altLang="ja-JP" sz="800" dirty="0"/>
              <a:t>│   │   ├── __init__.py</a:t>
            </a:r>
          </a:p>
          <a:p>
            <a:r>
              <a:rPr lang="en-US" altLang="ja-JP" sz="800" dirty="0"/>
              <a:t>│   │   ├── attendance.py</a:t>
            </a:r>
          </a:p>
          <a:p>
            <a:r>
              <a:rPr lang="en-US" altLang="ja-JP" sz="800" dirty="0"/>
              <a:t>│   │   ├── card.py</a:t>
            </a:r>
          </a:p>
          <a:p>
            <a:r>
              <a:rPr lang="en-US" altLang="ja-JP" sz="800" dirty="0"/>
              <a:t>│   │   └── user.py</a:t>
            </a:r>
          </a:p>
          <a:p>
            <a:r>
              <a:rPr lang="en-US" altLang="ja-JP" sz="800" dirty="0"/>
              <a:t>│   ├── hardware</a:t>
            </a:r>
          </a:p>
          <a:p>
            <a:r>
              <a:rPr lang="en-US" altLang="ja-JP" sz="800" dirty="0"/>
              <a:t>│   │   └── card_reader.py</a:t>
            </a:r>
          </a:p>
          <a:p>
            <a:r>
              <a:rPr lang="en-US" altLang="ja-JP" sz="800" dirty="0"/>
              <a:t>│   ├── schemas</a:t>
            </a:r>
          </a:p>
          <a:p>
            <a:r>
              <a:rPr lang="en-US" altLang="ja-JP" sz="800" dirty="0"/>
              <a:t>│   │   ├── __init__.py</a:t>
            </a:r>
          </a:p>
          <a:p>
            <a:r>
              <a:rPr lang="en-US" altLang="ja-JP" sz="800" dirty="0"/>
              <a:t>│   │   ├── attendance.py</a:t>
            </a:r>
          </a:p>
          <a:p>
            <a:r>
              <a:rPr lang="en-US" altLang="ja-JP" sz="800" dirty="0"/>
              <a:t>│   │   └── user.py</a:t>
            </a:r>
          </a:p>
          <a:p>
            <a:r>
              <a:rPr lang="en-US" altLang="ja-JP" sz="800" dirty="0"/>
              <a:t>│   └── services</a:t>
            </a:r>
          </a:p>
          <a:p>
            <a:r>
              <a:rPr lang="en-US" altLang="ja-JP" sz="800" dirty="0"/>
              <a:t>│       └── card_service.py</a:t>
            </a:r>
          </a:p>
          <a:p>
            <a:r>
              <a:rPr lang="en-US" altLang="ja-JP" sz="800" dirty="0"/>
              <a:t>│</a:t>
            </a:r>
          </a:p>
          <a:p>
            <a:r>
              <a:rPr lang="en-US" altLang="ja-JP" sz="800" dirty="0"/>
              <a:t>├── data</a:t>
            </a:r>
          </a:p>
          <a:p>
            <a:r>
              <a:rPr lang="en-US" altLang="ja-JP" sz="800" dirty="0"/>
              <a:t>│   ├── .init_db.py</a:t>
            </a:r>
          </a:p>
          <a:p>
            <a:r>
              <a:rPr lang="en-US" altLang="ja-JP" sz="800" dirty="0"/>
              <a:t>│   └── </a:t>
            </a:r>
            <a:r>
              <a:rPr lang="en-US" altLang="ja-JP" sz="800" dirty="0" err="1"/>
              <a:t>tasks.db</a:t>
            </a:r>
            <a:endParaRPr lang="en-US" altLang="ja-JP" sz="800" dirty="0"/>
          </a:p>
          <a:p>
            <a:r>
              <a:rPr lang="en-US" altLang="ja-JP" sz="800" dirty="0"/>
              <a:t>│</a:t>
            </a:r>
          </a:p>
          <a:p>
            <a:r>
              <a:rPr lang="en-US" altLang="ja-JP" sz="800" dirty="0"/>
              <a:t>├── logs</a:t>
            </a:r>
          </a:p>
          <a:p>
            <a:r>
              <a:rPr lang="en-US" altLang="ja-JP" sz="800" dirty="0"/>
              <a:t>│   └── *.log</a:t>
            </a:r>
          </a:p>
          <a:p>
            <a:r>
              <a:rPr lang="en-US" altLang="ja-JP" sz="800" dirty="0"/>
              <a:t>│</a:t>
            </a:r>
          </a:p>
          <a:p>
            <a:r>
              <a:rPr lang="en-US" altLang="ja-JP" sz="800" dirty="0"/>
              <a:t>├── shared</a:t>
            </a:r>
          </a:p>
          <a:p>
            <a:r>
              <a:rPr lang="en-US" altLang="ja-JP" sz="800" dirty="0"/>
              <a:t>│   ├── __init__.py</a:t>
            </a:r>
          </a:p>
          <a:p>
            <a:r>
              <a:rPr lang="en-US" altLang="ja-JP" sz="800" dirty="0"/>
              <a:t>│   ├── api_client.py</a:t>
            </a:r>
          </a:p>
          <a:p>
            <a:r>
              <a:rPr lang="en-US" altLang="ja-JP" sz="800" dirty="0"/>
              <a:t>│   ├── aws_client.py</a:t>
            </a:r>
          </a:p>
          <a:p>
            <a:r>
              <a:rPr lang="en-US" altLang="ja-JP" sz="800" dirty="0"/>
              <a:t>│   ├── codec.py</a:t>
            </a:r>
          </a:p>
          <a:p>
            <a:r>
              <a:rPr lang="en-US" altLang="ja-JP" sz="800" dirty="0"/>
              <a:t>│   ├── cognito_client.py</a:t>
            </a:r>
          </a:p>
          <a:p>
            <a:r>
              <a:rPr lang="en-US" altLang="ja-JP" sz="800" dirty="0"/>
              <a:t>│   ├── config.py</a:t>
            </a:r>
          </a:p>
          <a:p>
            <a:r>
              <a:rPr lang="en-US" altLang="ja-JP" sz="800" dirty="0"/>
              <a:t>│   ├── error_handler.py</a:t>
            </a:r>
          </a:p>
          <a:p>
            <a:r>
              <a:rPr lang="en-US" altLang="ja-JP" sz="800" dirty="0"/>
              <a:t>│   ├── sm_client.py</a:t>
            </a:r>
          </a:p>
          <a:p>
            <a:r>
              <a:rPr lang="en-US" altLang="ja-JP" sz="800" dirty="0"/>
              <a:t>│   └── task_queue.py</a:t>
            </a:r>
          </a:p>
          <a:p>
            <a:r>
              <a:rPr lang="en-US" altLang="ja-JP" sz="800" dirty="0"/>
              <a:t>│</a:t>
            </a:r>
          </a:p>
          <a:p>
            <a:r>
              <a:rPr lang="en-US" altLang="ja-JP" sz="800" dirty="0"/>
              <a:t>├── web</a:t>
            </a:r>
          </a:p>
          <a:p>
            <a:r>
              <a:rPr lang="en-US" altLang="ja-JP" sz="800" dirty="0"/>
              <a:t>│   └── frontend</a:t>
            </a:r>
          </a:p>
          <a:p>
            <a:r>
              <a:rPr lang="en-US" altLang="ja-JP" sz="800" dirty="0"/>
              <a:t>│       </a:t>
            </a:r>
            <a:r>
              <a:rPr lang="ja-JP" altLang="en-US" sz="800" dirty="0"/>
              <a:t>  </a:t>
            </a:r>
            <a:r>
              <a:rPr lang="en-US" altLang="ja-JP" sz="800" dirty="0"/>
              <a:t>├── .env</a:t>
            </a:r>
          </a:p>
          <a:p>
            <a:r>
              <a:rPr lang="en-US" altLang="ja-JP" sz="800" dirty="0"/>
              <a:t>│         └── </a:t>
            </a:r>
            <a:r>
              <a:rPr lang="en-US" altLang="ja-JP" sz="800" dirty="0" err="1"/>
              <a:t>src</a:t>
            </a:r>
            <a:endParaRPr lang="en-US" altLang="ja-JP" sz="800" dirty="0"/>
          </a:p>
          <a:p>
            <a:r>
              <a:rPr lang="en-US" altLang="ja-JP" sz="800" dirty="0"/>
              <a:t>│            ├── App.css</a:t>
            </a:r>
          </a:p>
          <a:p>
            <a:r>
              <a:rPr lang="en-US" altLang="ja-JP" sz="800" dirty="0"/>
              <a:t>│            ├── </a:t>
            </a:r>
            <a:r>
              <a:rPr lang="en-US" altLang="ja-JP" sz="800" dirty="0" err="1"/>
              <a:t>App.tsx</a:t>
            </a:r>
            <a:endParaRPr lang="en-US" altLang="ja-JP" sz="800" dirty="0"/>
          </a:p>
          <a:p>
            <a:r>
              <a:rPr lang="en-US" altLang="ja-JP" sz="800" dirty="0"/>
              <a:t>│            ├── index.css</a:t>
            </a:r>
          </a:p>
          <a:p>
            <a:r>
              <a:rPr lang="en-US" altLang="ja-JP" sz="800" dirty="0"/>
              <a:t>│            ├── </a:t>
            </a:r>
            <a:r>
              <a:rPr lang="en-US" altLang="ja-JP" sz="800" dirty="0" err="1"/>
              <a:t>index.tsx</a:t>
            </a:r>
            <a:endParaRPr lang="en-US" altLang="ja-JP" sz="800" dirty="0"/>
          </a:p>
          <a:p>
            <a:r>
              <a:rPr lang="en-US" altLang="ja-JP" sz="800" dirty="0"/>
              <a:t>│            ├── </a:t>
            </a:r>
            <a:r>
              <a:rPr lang="en-US" altLang="ja-JP" sz="800" dirty="0" err="1"/>
              <a:t>api</a:t>
            </a:r>
            <a:endParaRPr lang="en-US" altLang="ja-JP" sz="800" dirty="0"/>
          </a:p>
          <a:p>
            <a:r>
              <a:rPr lang="en-US" altLang="ja-JP" sz="800" dirty="0"/>
              <a:t>│            │   ├── </a:t>
            </a:r>
            <a:r>
              <a:rPr lang="en-US" altLang="ja-JP" sz="800" dirty="0" err="1"/>
              <a:t>attendance.ts</a:t>
            </a:r>
            <a:endParaRPr lang="en-US" altLang="ja-JP" sz="800" dirty="0"/>
          </a:p>
          <a:p>
            <a:r>
              <a:rPr lang="en-US" altLang="ja-JP" sz="800" dirty="0"/>
              <a:t>│            │   ├── </a:t>
            </a:r>
            <a:r>
              <a:rPr lang="en-US" altLang="ja-JP" sz="800" dirty="0" err="1"/>
              <a:t>cardReader.ts</a:t>
            </a:r>
            <a:endParaRPr lang="en-US" altLang="ja-JP" sz="800" dirty="0"/>
          </a:p>
          <a:p>
            <a:r>
              <a:rPr lang="en-US" altLang="ja-JP" sz="800" dirty="0"/>
              <a:t>│            │   └── </a:t>
            </a:r>
            <a:r>
              <a:rPr lang="en-US" altLang="ja-JP" sz="800" dirty="0" err="1"/>
              <a:t>user.ts</a:t>
            </a:r>
            <a:endParaRPr lang="en-US" altLang="ja-JP" sz="800" dirty="0"/>
          </a:p>
          <a:p>
            <a:r>
              <a:rPr lang="en-US" altLang="ja-JP" sz="800" dirty="0"/>
              <a:t>│            ├── hooks</a:t>
            </a:r>
          </a:p>
          <a:p>
            <a:r>
              <a:rPr lang="en-US" altLang="ja-JP" sz="800" dirty="0"/>
              <a:t>│            │   ├── </a:t>
            </a:r>
            <a:r>
              <a:rPr lang="en-US" altLang="ja-JP" sz="800" dirty="0" err="1"/>
              <a:t>useCardReader.ts</a:t>
            </a:r>
            <a:endParaRPr lang="en-US" altLang="ja-JP" sz="800" dirty="0"/>
          </a:p>
          <a:p>
            <a:r>
              <a:rPr lang="en-US" altLang="ja-JP" sz="800" dirty="0"/>
              <a:t>│            │   ├── </a:t>
            </a:r>
            <a:r>
              <a:rPr lang="en-US" altLang="ja-JP" sz="800" dirty="0" err="1"/>
              <a:t>useCurrentTime.ts</a:t>
            </a:r>
            <a:endParaRPr lang="en-US" altLang="ja-JP" sz="800" dirty="0"/>
          </a:p>
          <a:p>
            <a:r>
              <a:rPr lang="en-US" altLang="ja-JP" sz="800" dirty="0"/>
              <a:t>│            │   ├── </a:t>
            </a:r>
            <a:r>
              <a:rPr lang="en-US" altLang="ja-JP" sz="800" dirty="0" err="1"/>
              <a:t>useRegisterAttendance.ts</a:t>
            </a:r>
            <a:endParaRPr lang="en-US" altLang="ja-JP" sz="800" dirty="0"/>
          </a:p>
          <a:p>
            <a:r>
              <a:rPr lang="en-US" altLang="ja-JP" sz="800" dirty="0"/>
              <a:t>│            │   ├── </a:t>
            </a:r>
            <a:r>
              <a:rPr lang="en-US" altLang="ja-JP" sz="800" dirty="0" err="1"/>
              <a:t>useRegisterUser.ts</a:t>
            </a:r>
            <a:endParaRPr lang="en-US" altLang="ja-JP" sz="800" dirty="0"/>
          </a:p>
          <a:p>
            <a:r>
              <a:rPr lang="en-US" altLang="ja-JP" sz="800" dirty="0"/>
              <a:t>│            │   └── </a:t>
            </a:r>
            <a:r>
              <a:rPr lang="en-US" altLang="ja-JP" sz="800" dirty="0" err="1"/>
              <a:t>useTimeOfDay.ts</a:t>
            </a:r>
            <a:endParaRPr lang="en-US" altLang="ja-JP" sz="800" dirty="0"/>
          </a:p>
          <a:p>
            <a:r>
              <a:rPr lang="en-US" altLang="ja-JP" sz="800" dirty="0"/>
              <a:t>│            └── pages</a:t>
            </a:r>
          </a:p>
          <a:p>
            <a:r>
              <a:rPr lang="en-US" altLang="ja-JP" sz="800" dirty="0"/>
              <a:t>│                  ├── </a:t>
            </a:r>
            <a:r>
              <a:rPr lang="en-US" altLang="ja-JP" sz="800" dirty="0" err="1"/>
              <a:t>HomePage</a:t>
            </a:r>
            <a:endParaRPr lang="en-US" altLang="ja-JP" sz="800" dirty="0"/>
          </a:p>
          <a:p>
            <a:r>
              <a:rPr lang="en-US" altLang="ja-JP" sz="800" dirty="0"/>
              <a:t>│                  │   ├── HomePage.css</a:t>
            </a:r>
          </a:p>
          <a:p>
            <a:r>
              <a:rPr lang="en-US" altLang="ja-JP" sz="800" dirty="0"/>
              <a:t>│                  │   └── </a:t>
            </a:r>
            <a:r>
              <a:rPr lang="en-US" altLang="ja-JP" sz="800" dirty="0" err="1"/>
              <a:t>HomePage.tsx</a:t>
            </a:r>
            <a:endParaRPr lang="en-US" altLang="ja-JP" sz="800" dirty="0"/>
          </a:p>
          <a:p>
            <a:r>
              <a:rPr lang="en-US" altLang="ja-JP" sz="800" dirty="0"/>
              <a:t>│                  ├── </a:t>
            </a:r>
            <a:r>
              <a:rPr lang="en-US" altLang="ja-JP" sz="800" dirty="0" err="1"/>
              <a:t>RegisterAttendance</a:t>
            </a:r>
            <a:endParaRPr lang="en-US" altLang="ja-JP" sz="800" dirty="0"/>
          </a:p>
          <a:p>
            <a:r>
              <a:rPr lang="en-US" altLang="ja-JP" sz="800" dirty="0"/>
              <a:t>│                  │   ├── AttendanceCardWaitPage.css</a:t>
            </a:r>
          </a:p>
          <a:p>
            <a:r>
              <a:rPr lang="en-US" altLang="ja-JP" sz="800" dirty="0"/>
              <a:t>│                  │   └── </a:t>
            </a:r>
            <a:r>
              <a:rPr lang="en-US" altLang="ja-JP" sz="800" dirty="0" err="1"/>
              <a:t>AttendanceCardWaitPage.tsx</a:t>
            </a:r>
            <a:endParaRPr lang="en-US" altLang="ja-JP" sz="800" dirty="0"/>
          </a:p>
          <a:p>
            <a:r>
              <a:rPr lang="en-US" altLang="ja-JP" sz="800" dirty="0"/>
              <a:t>│                  └── </a:t>
            </a:r>
            <a:r>
              <a:rPr lang="en-US" altLang="ja-JP" sz="800" dirty="0" err="1"/>
              <a:t>RegisterUser</a:t>
            </a:r>
            <a:endParaRPr lang="en-US" altLang="ja-JP" sz="800" dirty="0"/>
          </a:p>
          <a:p>
            <a:r>
              <a:rPr lang="en-US" altLang="ja-JP" sz="800" dirty="0"/>
              <a:t>│                        ├── UserCardWaitPage.css</a:t>
            </a:r>
          </a:p>
          <a:p>
            <a:r>
              <a:rPr lang="en-US" altLang="ja-JP" sz="800" dirty="0"/>
              <a:t>│                        ├── </a:t>
            </a:r>
            <a:r>
              <a:rPr lang="en-US" altLang="ja-JP" sz="800" dirty="0" err="1"/>
              <a:t>UserCardWaitPage.tsx</a:t>
            </a:r>
            <a:endParaRPr lang="en-US" altLang="ja-JP" sz="800" dirty="0"/>
          </a:p>
          <a:p>
            <a:r>
              <a:rPr lang="en-US" altLang="ja-JP" sz="800" dirty="0"/>
              <a:t>│                        ├── UserSelectPage.css</a:t>
            </a:r>
          </a:p>
          <a:p>
            <a:r>
              <a:rPr lang="en-US" altLang="ja-JP" sz="800" dirty="0"/>
              <a:t>│                        └── </a:t>
            </a:r>
            <a:r>
              <a:rPr lang="en-US" altLang="ja-JP" sz="800" dirty="0" err="1"/>
              <a:t>UserSelectPage.tsx</a:t>
            </a:r>
            <a:endParaRPr lang="en-US" altLang="ja-JP" sz="800" dirty="0"/>
          </a:p>
          <a:p>
            <a:r>
              <a:rPr lang="en-US" altLang="ja-JP" sz="800" dirty="0"/>
              <a:t>│</a:t>
            </a:r>
            <a:endParaRPr lang="en-US" altLang="ja-JP" sz="800" b="1" dirty="0"/>
          </a:p>
          <a:p>
            <a:r>
              <a:rPr lang="en-US" altLang="ja-JP" sz="800" dirty="0"/>
              <a:t>└── worker</a:t>
            </a:r>
          </a:p>
          <a:p>
            <a:r>
              <a:rPr lang="en-US" altLang="ja-JP" sz="800" dirty="0"/>
              <a:t>    ├── __init__.py</a:t>
            </a:r>
          </a:p>
          <a:p>
            <a:r>
              <a:rPr lang="en-US" altLang="ja-JP" sz="800" dirty="0"/>
              <a:t>    ├── task_handler.py</a:t>
            </a:r>
          </a:p>
          <a:p>
            <a:r>
              <a:rPr lang="en-US" altLang="ja-JP" sz="800" dirty="0"/>
              <a:t>    └── worker_runner.py</a:t>
            </a:r>
          </a:p>
          <a:p>
            <a:endParaRPr kumimoji="1" lang="ja-JP" altLang="en-US" dirty="0"/>
          </a:p>
        </p:txBody>
      </p:sp>
      <p:sp>
        <p:nvSpPr>
          <p:cNvPr id="4" name="スライド番号プレースホルダー 3">
            <a:extLst>
              <a:ext uri="{FF2B5EF4-FFF2-40B4-BE49-F238E27FC236}">
                <a16:creationId xmlns:a16="http://schemas.microsoft.com/office/drawing/2014/main" id="{0CA6F728-8C7A-0DF6-C66E-4EA37338F2D8}"/>
              </a:ext>
            </a:extLst>
          </p:cNvPr>
          <p:cNvSpPr>
            <a:spLocks noGrp="1"/>
          </p:cNvSpPr>
          <p:nvPr>
            <p:ph type="sldNum" sz="quarter" idx="5"/>
          </p:nvPr>
        </p:nvSpPr>
        <p:spPr/>
        <p:txBody>
          <a:bodyPr/>
          <a:lstStyle/>
          <a:p>
            <a:fld id="{2ED28A4C-6EF5-4767-8676-BA9266CC8394}" type="slidenum">
              <a:rPr kumimoji="1" lang="ja-JP" altLang="en-US" smtClean="0"/>
              <a:t>21</a:t>
            </a:fld>
            <a:endParaRPr kumimoji="1" lang="ja-JP" altLang="en-US"/>
          </a:p>
        </p:txBody>
      </p:sp>
    </p:spTree>
    <p:extLst>
      <p:ext uri="{BB962C8B-B14F-4D97-AF65-F5344CB8AC3E}">
        <p14:creationId xmlns:p14="http://schemas.microsoft.com/office/powerpoint/2010/main" val="30316162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052FC-7433-2F34-D51E-C6C8B009C30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B22B5B2-FE00-5B3D-9541-31AA4CF191A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FD68861-B8F6-E26A-0414-9614446F5A56}"/>
              </a:ext>
            </a:extLst>
          </p:cNvPr>
          <p:cNvSpPr>
            <a:spLocks noGrp="1"/>
          </p:cNvSpPr>
          <p:nvPr>
            <p:ph type="body" idx="1"/>
          </p:nvPr>
        </p:nvSpPr>
        <p:spPr/>
        <p:txBody>
          <a:bodyPr/>
          <a:lstStyle/>
          <a:p>
            <a:r>
              <a:rPr lang="en-US" altLang="ja-JP" sz="800" dirty="0"/>
              <a:t>.</a:t>
            </a:r>
          </a:p>
          <a:p>
            <a:r>
              <a:rPr lang="en-US" altLang="ja-JP" sz="800" dirty="0"/>
              <a:t>├── .env</a:t>
            </a:r>
          </a:p>
          <a:p>
            <a:r>
              <a:rPr lang="en-US" altLang="ja-JP" sz="800" dirty="0"/>
              <a:t>├── requirements.txt</a:t>
            </a:r>
          </a:p>
          <a:p>
            <a:r>
              <a:rPr lang="en-US" altLang="ja-JP" sz="800" dirty="0"/>
              <a:t>├── start_api_server.sh</a:t>
            </a:r>
          </a:p>
          <a:p>
            <a:r>
              <a:rPr lang="en-US" altLang="ja-JP" sz="800" dirty="0"/>
              <a:t>├── start_init_db.sh</a:t>
            </a:r>
          </a:p>
          <a:p>
            <a:r>
              <a:rPr lang="en-US" altLang="ja-JP" sz="800" dirty="0"/>
              <a:t>├── start_web_server.sh</a:t>
            </a:r>
          </a:p>
          <a:p>
            <a:r>
              <a:rPr lang="en-US" altLang="ja-JP" sz="800" dirty="0"/>
              <a:t>├── start_worker.sh</a:t>
            </a:r>
          </a:p>
          <a:p>
            <a:r>
              <a:rPr lang="en-US" altLang="ja-JP" sz="800" dirty="0"/>
              <a:t>│</a:t>
            </a:r>
          </a:p>
          <a:p>
            <a:r>
              <a:rPr lang="en-US" altLang="ja-JP" sz="800" dirty="0"/>
              <a:t>├── app</a:t>
            </a:r>
          </a:p>
          <a:p>
            <a:r>
              <a:rPr lang="en-US" altLang="ja-JP" sz="800" dirty="0"/>
              <a:t>│   ├── __init__.py</a:t>
            </a:r>
          </a:p>
          <a:p>
            <a:r>
              <a:rPr lang="en-US" altLang="ja-JP" sz="800" dirty="0"/>
              <a:t>│   ├── main.py</a:t>
            </a:r>
          </a:p>
          <a:p>
            <a:r>
              <a:rPr lang="en-US" altLang="ja-JP" sz="800" dirty="0"/>
              <a:t>│   ├── </a:t>
            </a:r>
            <a:r>
              <a:rPr lang="en-US" altLang="ja-JP" sz="800" dirty="0" err="1"/>
              <a:t>api</a:t>
            </a:r>
            <a:endParaRPr lang="en-US" altLang="ja-JP" sz="800" dirty="0"/>
          </a:p>
          <a:p>
            <a:r>
              <a:rPr lang="en-US" altLang="ja-JP" sz="800" dirty="0"/>
              <a:t>│   │   ├── __init__.py</a:t>
            </a:r>
          </a:p>
          <a:p>
            <a:r>
              <a:rPr lang="en-US" altLang="ja-JP" sz="800" dirty="0"/>
              <a:t>│   │   ├── attendance.py</a:t>
            </a:r>
          </a:p>
          <a:p>
            <a:r>
              <a:rPr lang="en-US" altLang="ja-JP" sz="800" dirty="0"/>
              <a:t>│   │   ├── card.py</a:t>
            </a:r>
          </a:p>
          <a:p>
            <a:r>
              <a:rPr lang="en-US" altLang="ja-JP" sz="800" dirty="0"/>
              <a:t>│   │   └── user.py</a:t>
            </a:r>
          </a:p>
          <a:p>
            <a:r>
              <a:rPr lang="en-US" altLang="ja-JP" sz="800" dirty="0"/>
              <a:t>│   ├── hardware</a:t>
            </a:r>
          </a:p>
          <a:p>
            <a:r>
              <a:rPr lang="en-US" altLang="ja-JP" sz="800" dirty="0"/>
              <a:t>│   │   └── card_reader.py</a:t>
            </a:r>
          </a:p>
          <a:p>
            <a:r>
              <a:rPr lang="en-US" altLang="ja-JP" sz="800" dirty="0"/>
              <a:t>│   ├── schemas</a:t>
            </a:r>
          </a:p>
          <a:p>
            <a:r>
              <a:rPr lang="en-US" altLang="ja-JP" sz="800" dirty="0"/>
              <a:t>│   │   ├── __init__.py</a:t>
            </a:r>
          </a:p>
          <a:p>
            <a:r>
              <a:rPr lang="en-US" altLang="ja-JP" sz="800" dirty="0"/>
              <a:t>│   │   ├── attendance.py</a:t>
            </a:r>
          </a:p>
          <a:p>
            <a:r>
              <a:rPr lang="en-US" altLang="ja-JP" sz="800" dirty="0"/>
              <a:t>│   │   └── user.py</a:t>
            </a:r>
          </a:p>
          <a:p>
            <a:r>
              <a:rPr lang="en-US" altLang="ja-JP" sz="800" dirty="0"/>
              <a:t>│   └── services</a:t>
            </a:r>
          </a:p>
          <a:p>
            <a:r>
              <a:rPr lang="en-US" altLang="ja-JP" sz="800" dirty="0"/>
              <a:t>│       └── card_service.py</a:t>
            </a:r>
          </a:p>
          <a:p>
            <a:r>
              <a:rPr lang="en-US" altLang="ja-JP" sz="800" dirty="0"/>
              <a:t>│</a:t>
            </a:r>
          </a:p>
          <a:p>
            <a:r>
              <a:rPr lang="en-US" altLang="ja-JP" sz="800" dirty="0"/>
              <a:t>├── data</a:t>
            </a:r>
          </a:p>
          <a:p>
            <a:r>
              <a:rPr lang="en-US" altLang="ja-JP" sz="800" dirty="0"/>
              <a:t>│   ├── .init_db.py</a:t>
            </a:r>
          </a:p>
          <a:p>
            <a:r>
              <a:rPr lang="en-US" altLang="ja-JP" sz="800" dirty="0"/>
              <a:t>│   └── </a:t>
            </a:r>
            <a:r>
              <a:rPr lang="en-US" altLang="ja-JP" sz="800" dirty="0" err="1"/>
              <a:t>tasks.db</a:t>
            </a:r>
            <a:endParaRPr lang="en-US" altLang="ja-JP" sz="800" dirty="0"/>
          </a:p>
          <a:p>
            <a:r>
              <a:rPr lang="en-US" altLang="ja-JP" sz="800" dirty="0"/>
              <a:t>│</a:t>
            </a:r>
          </a:p>
          <a:p>
            <a:r>
              <a:rPr lang="en-US" altLang="ja-JP" sz="800" dirty="0"/>
              <a:t>├── logs</a:t>
            </a:r>
          </a:p>
          <a:p>
            <a:r>
              <a:rPr lang="en-US" altLang="ja-JP" sz="800" dirty="0"/>
              <a:t>│   └── *.log</a:t>
            </a:r>
          </a:p>
          <a:p>
            <a:r>
              <a:rPr lang="en-US" altLang="ja-JP" sz="800" dirty="0"/>
              <a:t>│</a:t>
            </a:r>
          </a:p>
          <a:p>
            <a:r>
              <a:rPr lang="en-US" altLang="ja-JP" sz="800" dirty="0"/>
              <a:t>├── shared</a:t>
            </a:r>
          </a:p>
          <a:p>
            <a:r>
              <a:rPr lang="en-US" altLang="ja-JP" sz="800" dirty="0"/>
              <a:t>│   ├── __init__.py</a:t>
            </a:r>
          </a:p>
          <a:p>
            <a:r>
              <a:rPr lang="en-US" altLang="ja-JP" sz="800" dirty="0"/>
              <a:t>│   ├── api_client.py</a:t>
            </a:r>
          </a:p>
          <a:p>
            <a:r>
              <a:rPr lang="en-US" altLang="ja-JP" sz="800" dirty="0"/>
              <a:t>│   ├── aws_client.py</a:t>
            </a:r>
          </a:p>
          <a:p>
            <a:r>
              <a:rPr lang="en-US" altLang="ja-JP" sz="800" dirty="0"/>
              <a:t>│   ├── codec.py</a:t>
            </a:r>
          </a:p>
          <a:p>
            <a:r>
              <a:rPr lang="en-US" altLang="ja-JP" sz="800" dirty="0"/>
              <a:t>│   ├── cognito_client.py</a:t>
            </a:r>
          </a:p>
          <a:p>
            <a:r>
              <a:rPr lang="en-US" altLang="ja-JP" sz="800" dirty="0"/>
              <a:t>│   ├── config.py</a:t>
            </a:r>
          </a:p>
          <a:p>
            <a:r>
              <a:rPr lang="en-US" altLang="ja-JP" sz="800" dirty="0"/>
              <a:t>│   ├── error_handler.py</a:t>
            </a:r>
          </a:p>
          <a:p>
            <a:r>
              <a:rPr lang="en-US" altLang="ja-JP" sz="800" dirty="0"/>
              <a:t>│   ├── sm_client.py</a:t>
            </a:r>
          </a:p>
          <a:p>
            <a:r>
              <a:rPr lang="en-US" altLang="ja-JP" sz="800" dirty="0"/>
              <a:t>│   └── task_queue.py</a:t>
            </a:r>
          </a:p>
          <a:p>
            <a:r>
              <a:rPr lang="en-US" altLang="ja-JP" sz="800" dirty="0"/>
              <a:t>│</a:t>
            </a:r>
          </a:p>
          <a:p>
            <a:r>
              <a:rPr lang="en-US" altLang="ja-JP" sz="800" dirty="0"/>
              <a:t>├── web</a:t>
            </a:r>
          </a:p>
          <a:p>
            <a:r>
              <a:rPr lang="en-US" altLang="ja-JP" sz="800" dirty="0"/>
              <a:t>│   └── frontend</a:t>
            </a:r>
          </a:p>
          <a:p>
            <a:r>
              <a:rPr lang="en-US" altLang="ja-JP" sz="800" dirty="0"/>
              <a:t>│       </a:t>
            </a:r>
            <a:r>
              <a:rPr lang="ja-JP" altLang="en-US" sz="800" dirty="0"/>
              <a:t>  </a:t>
            </a:r>
            <a:r>
              <a:rPr lang="en-US" altLang="ja-JP" sz="800" dirty="0"/>
              <a:t>├── .env</a:t>
            </a:r>
          </a:p>
          <a:p>
            <a:r>
              <a:rPr lang="en-US" altLang="ja-JP" sz="800" dirty="0"/>
              <a:t>│         └── </a:t>
            </a:r>
            <a:r>
              <a:rPr lang="en-US" altLang="ja-JP" sz="800" dirty="0" err="1"/>
              <a:t>src</a:t>
            </a:r>
            <a:endParaRPr lang="en-US" altLang="ja-JP" sz="800" dirty="0"/>
          </a:p>
          <a:p>
            <a:r>
              <a:rPr lang="en-US" altLang="ja-JP" sz="800" dirty="0"/>
              <a:t>│            ├── App.css</a:t>
            </a:r>
          </a:p>
          <a:p>
            <a:r>
              <a:rPr lang="en-US" altLang="ja-JP" sz="800" dirty="0"/>
              <a:t>│            ├── </a:t>
            </a:r>
            <a:r>
              <a:rPr lang="en-US" altLang="ja-JP" sz="800" dirty="0" err="1"/>
              <a:t>App.tsx</a:t>
            </a:r>
            <a:endParaRPr lang="en-US" altLang="ja-JP" sz="800" dirty="0"/>
          </a:p>
          <a:p>
            <a:r>
              <a:rPr lang="en-US" altLang="ja-JP" sz="800" dirty="0"/>
              <a:t>│            ├── index.css</a:t>
            </a:r>
          </a:p>
          <a:p>
            <a:r>
              <a:rPr lang="en-US" altLang="ja-JP" sz="800" dirty="0"/>
              <a:t>│            ├── </a:t>
            </a:r>
            <a:r>
              <a:rPr lang="en-US" altLang="ja-JP" sz="800" dirty="0" err="1"/>
              <a:t>index.tsx</a:t>
            </a:r>
            <a:endParaRPr lang="en-US" altLang="ja-JP" sz="800" dirty="0"/>
          </a:p>
          <a:p>
            <a:r>
              <a:rPr lang="en-US" altLang="ja-JP" sz="800" dirty="0"/>
              <a:t>│            ├── </a:t>
            </a:r>
            <a:r>
              <a:rPr lang="en-US" altLang="ja-JP" sz="800" dirty="0" err="1"/>
              <a:t>api</a:t>
            </a:r>
            <a:endParaRPr lang="en-US" altLang="ja-JP" sz="800" dirty="0"/>
          </a:p>
          <a:p>
            <a:r>
              <a:rPr lang="en-US" altLang="ja-JP" sz="800" dirty="0"/>
              <a:t>│            │   ├── </a:t>
            </a:r>
            <a:r>
              <a:rPr lang="en-US" altLang="ja-JP" sz="800" dirty="0" err="1"/>
              <a:t>attendance.ts</a:t>
            </a:r>
            <a:endParaRPr lang="en-US" altLang="ja-JP" sz="800" dirty="0"/>
          </a:p>
          <a:p>
            <a:r>
              <a:rPr lang="en-US" altLang="ja-JP" sz="800" dirty="0"/>
              <a:t>│            │   ├── </a:t>
            </a:r>
            <a:r>
              <a:rPr lang="en-US" altLang="ja-JP" sz="800" dirty="0" err="1"/>
              <a:t>cardReader.ts</a:t>
            </a:r>
            <a:endParaRPr lang="en-US" altLang="ja-JP" sz="800" dirty="0"/>
          </a:p>
          <a:p>
            <a:r>
              <a:rPr lang="en-US" altLang="ja-JP" sz="800" dirty="0"/>
              <a:t>│            │   └── </a:t>
            </a:r>
            <a:r>
              <a:rPr lang="en-US" altLang="ja-JP" sz="800" dirty="0" err="1"/>
              <a:t>user.ts</a:t>
            </a:r>
            <a:endParaRPr lang="en-US" altLang="ja-JP" sz="800" dirty="0"/>
          </a:p>
          <a:p>
            <a:r>
              <a:rPr lang="en-US" altLang="ja-JP" sz="800" dirty="0"/>
              <a:t>│            ├── hooks</a:t>
            </a:r>
          </a:p>
          <a:p>
            <a:r>
              <a:rPr lang="en-US" altLang="ja-JP" sz="800" dirty="0"/>
              <a:t>│            │   ├── </a:t>
            </a:r>
            <a:r>
              <a:rPr lang="en-US" altLang="ja-JP" sz="800" dirty="0" err="1"/>
              <a:t>useCardReader.ts</a:t>
            </a:r>
            <a:endParaRPr lang="en-US" altLang="ja-JP" sz="800" dirty="0"/>
          </a:p>
          <a:p>
            <a:r>
              <a:rPr lang="en-US" altLang="ja-JP" sz="800" dirty="0"/>
              <a:t>│            │   ├── </a:t>
            </a:r>
            <a:r>
              <a:rPr lang="en-US" altLang="ja-JP" sz="800" dirty="0" err="1"/>
              <a:t>useCurrentTime.ts</a:t>
            </a:r>
            <a:endParaRPr lang="en-US" altLang="ja-JP" sz="800" dirty="0"/>
          </a:p>
          <a:p>
            <a:r>
              <a:rPr lang="en-US" altLang="ja-JP" sz="800" dirty="0"/>
              <a:t>│            │   ├── </a:t>
            </a:r>
            <a:r>
              <a:rPr lang="en-US" altLang="ja-JP" sz="800" dirty="0" err="1"/>
              <a:t>useRegisterAttendance.ts</a:t>
            </a:r>
            <a:endParaRPr lang="en-US" altLang="ja-JP" sz="800" dirty="0"/>
          </a:p>
          <a:p>
            <a:r>
              <a:rPr lang="en-US" altLang="ja-JP" sz="800" dirty="0"/>
              <a:t>│            │   ├── </a:t>
            </a:r>
            <a:r>
              <a:rPr lang="en-US" altLang="ja-JP" sz="800" dirty="0" err="1"/>
              <a:t>useRegisterUser.ts</a:t>
            </a:r>
            <a:endParaRPr lang="en-US" altLang="ja-JP" sz="800" dirty="0"/>
          </a:p>
          <a:p>
            <a:r>
              <a:rPr lang="en-US" altLang="ja-JP" sz="800" dirty="0"/>
              <a:t>│            │   └── </a:t>
            </a:r>
            <a:r>
              <a:rPr lang="en-US" altLang="ja-JP" sz="800" dirty="0" err="1"/>
              <a:t>useTimeOfDay.ts</a:t>
            </a:r>
            <a:endParaRPr lang="en-US" altLang="ja-JP" sz="800" dirty="0"/>
          </a:p>
          <a:p>
            <a:r>
              <a:rPr lang="en-US" altLang="ja-JP" sz="800" dirty="0"/>
              <a:t>│            └── pages</a:t>
            </a:r>
          </a:p>
          <a:p>
            <a:r>
              <a:rPr lang="en-US" altLang="ja-JP" sz="800" dirty="0"/>
              <a:t>│                  ├── </a:t>
            </a:r>
            <a:r>
              <a:rPr lang="en-US" altLang="ja-JP" sz="800" dirty="0" err="1"/>
              <a:t>HomePage</a:t>
            </a:r>
            <a:endParaRPr lang="en-US" altLang="ja-JP" sz="800" dirty="0"/>
          </a:p>
          <a:p>
            <a:r>
              <a:rPr lang="en-US" altLang="ja-JP" sz="800" dirty="0"/>
              <a:t>│                  │   ├── HomePage.css</a:t>
            </a:r>
          </a:p>
          <a:p>
            <a:r>
              <a:rPr lang="en-US" altLang="ja-JP" sz="800" dirty="0"/>
              <a:t>│                  │   └── </a:t>
            </a:r>
            <a:r>
              <a:rPr lang="en-US" altLang="ja-JP" sz="800" dirty="0" err="1"/>
              <a:t>HomePage.tsx</a:t>
            </a:r>
            <a:endParaRPr lang="en-US" altLang="ja-JP" sz="800" dirty="0"/>
          </a:p>
          <a:p>
            <a:r>
              <a:rPr lang="en-US" altLang="ja-JP" sz="800" dirty="0"/>
              <a:t>│                  ├── </a:t>
            </a:r>
            <a:r>
              <a:rPr lang="en-US" altLang="ja-JP" sz="800" dirty="0" err="1"/>
              <a:t>RegisterAttendance</a:t>
            </a:r>
            <a:endParaRPr lang="en-US" altLang="ja-JP" sz="800" dirty="0"/>
          </a:p>
          <a:p>
            <a:r>
              <a:rPr lang="en-US" altLang="ja-JP" sz="800" dirty="0"/>
              <a:t>│                  │   ├── AttendanceCardWaitPage.css</a:t>
            </a:r>
          </a:p>
          <a:p>
            <a:r>
              <a:rPr lang="en-US" altLang="ja-JP" sz="800" dirty="0"/>
              <a:t>│                  │   └── </a:t>
            </a:r>
            <a:r>
              <a:rPr lang="en-US" altLang="ja-JP" sz="800" dirty="0" err="1"/>
              <a:t>AttendanceCardWaitPage.tsx</a:t>
            </a:r>
            <a:endParaRPr lang="en-US" altLang="ja-JP" sz="800" dirty="0"/>
          </a:p>
          <a:p>
            <a:r>
              <a:rPr lang="en-US" altLang="ja-JP" sz="800" dirty="0"/>
              <a:t>│                  └── </a:t>
            </a:r>
            <a:r>
              <a:rPr lang="en-US" altLang="ja-JP" sz="800" dirty="0" err="1"/>
              <a:t>RegisterUser</a:t>
            </a:r>
            <a:endParaRPr lang="en-US" altLang="ja-JP" sz="800" dirty="0"/>
          </a:p>
          <a:p>
            <a:r>
              <a:rPr lang="en-US" altLang="ja-JP" sz="800" dirty="0"/>
              <a:t>│                        ├── UserCardWaitPage.css</a:t>
            </a:r>
          </a:p>
          <a:p>
            <a:r>
              <a:rPr lang="en-US" altLang="ja-JP" sz="800" dirty="0"/>
              <a:t>│                        ├── </a:t>
            </a:r>
            <a:r>
              <a:rPr lang="en-US" altLang="ja-JP" sz="800" dirty="0" err="1"/>
              <a:t>UserCardWaitPage.tsx</a:t>
            </a:r>
            <a:endParaRPr lang="en-US" altLang="ja-JP" sz="800" dirty="0"/>
          </a:p>
          <a:p>
            <a:r>
              <a:rPr lang="en-US" altLang="ja-JP" sz="800" dirty="0"/>
              <a:t>│                        ├── UserSelectPage.css</a:t>
            </a:r>
          </a:p>
          <a:p>
            <a:r>
              <a:rPr lang="en-US" altLang="ja-JP" sz="800" dirty="0"/>
              <a:t>│                        └── </a:t>
            </a:r>
            <a:r>
              <a:rPr lang="en-US" altLang="ja-JP" sz="800" dirty="0" err="1"/>
              <a:t>UserSelectPage.tsx</a:t>
            </a:r>
            <a:endParaRPr lang="en-US" altLang="ja-JP" sz="800" dirty="0"/>
          </a:p>
          <a:p>
            <a:r>
              <a:rPr lang="en-US" altLang="ja-JP" sz="800" dirty="0"/>
              <a:t>│</a:t>
            </a:r>
            <a:endParaRPr lang="en-US" altLang="ja-JP" sz="800" b="1" dirty="0"/>
          </a:p>
          <a:p>
            <a:r>
              <a:rPr lang="en-US" altLang="ja-JP" sz="800" dirty="0"/>
              <a:t>└── worker</a:t>
            </a:r>
          </a:p>
          <a:p>
            <a:r>
              <a:rPr lang="en-US" altLang="ja-JP" sz="800" dirty="0"/>
              <a:t>    ├── __init__.py</a:t>
            </a:r>
          </a:p>
          <a:p>
            <a:r>
              <a:rPr lang="en-US" altLang="ja-JP" sz="800" dirty="0"/>
              <a:t>    ├── task_handler.py</a:t>
            </a:r>
          </a:p>
          <a:p>
            <a:r>
              <a:rPr lang="en-US" altLang="ja-JP" sz="800" dirty="0"/>
              <a:t>    └── worker_runner.py</a:t>
            </a:r>
          </a:p>
          <a:p>
            <a:endParaRPr kumimoji="1" lang="ja-JP" altLang="en-US" dirty="0"/>
          </a:p>
        </p:txBody>
      </p:sp>
      <p:sp>
        <p:nvSpPr>
          <p:cNvPr id="4" name="スライド番号プレースホルダー 3">
            <a:extLst>
              <a:ext uri="{FF2B5EF4-FFF2-40B4-BE49-F238E27FC236}">
                <a16:creationId xmlns:a16="http://schemas.microsoft.com/office/drawing/2014/main" id="{2F76C879-1C81-B880-0BEA-D69C76DAC8AE}"/>
              </a:ext>
            </a:extLst>
          </p:cNvPr>
          <p:cNvSpPr>
            <a:spLocks noGrp="1"/>
          </p:cNvSpPr>
          <p:nvPr>
            <p:ph type="sldNum" sz="quarter" idx="5"/>
          </p:nvPr>
        </p:nvSpPr>
        <p:spPr/>
        <p:txBody>
          <a:bodyPr/>
          <a:lstStyle/>
          <a:p>
            <a:fld id="{2ED28A4C-6EF5-4767-8676-BA9266CC8394}" type="slidenum">
              <a:rPr kumimoji="1" lang="ja-JP" altLang="en-US" smtClean="0"/>
              <a:t>22</a:t>
            </a:fld>
            <a:endParaRPr kumimoji="1" lang="ja-JP" altLang="en-US"/>
          </a:p>
        </p:txBody>
      </p:sp>
    </p:spTree>
    <p:extLst>
      <p:ext uri="{BB962C8B-B14F-4D97-AF65-F5344CB8AC3E}">
        <p14:creationId xmlns:p14="http://schemas.microsoft.com/office/powerpoint/2010/main" val="29998944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99688-E1F4-BDC9-B71A-24C8E8C0C37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B28C138-D1F5-F181-85DF-7BB30E34E9D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51C4B88-F9E7-853B-1839-CADB153BDB5A}"/>
              </a:ext>
            </a:extLst>
          </p:cNvPr>
          <p:cNvSpPr>
            <a:spLocks noGrp="1"/>
          </p:cNvSpPr>
          <p:nvPr>
            <p:ph type="body" idx="1"/>
          </p:nvPr>
        </p:nvSpPr>
        <p:spPr/>
        <p:txBody>
          <a:bodyPr/>
          <a:lstStyle/>
          <a:p>
            <a:r>
              <a:rPr lang="en-US" altLang="ja-JP" sz="800" dirty="0"/>
              <a:t>.</a:t>
            </a:r>
          </a:p>
          <a:p>
            <a:r>
              <a:rPr lang="en-US" altLang="ja-JP" sz="800" dirty="0"/>
              <a:t>├── .env</a:t>
            </a:r>
          </a:p>
          <a:p>
            <a:r>
              <a:rPr lang="en-US" altLang="ja-JP" sz="800" dirty="0"/>
              <a:t>├── requirements.txt</a:t>
            </a:r>
          </a:p>
          <a:p>
            <a:r>
              <a:rPr lang="en-US" altLang="ja-JP" sz="800" dirty="0"/>
              <a:t>├── start_api_server.sh</a:t>
            </a:r>
          </a:p>
          <a:p>
            <a:r>
              <a:rPr lang="en-US" altLang="ja-JP" sz="800" dirty="0"/>
              <a:t>├── start_init_db.sh</a:t>
            </a:r>
          </a:p>
          <a:p>
            <a:r>
              <a:rPr lang="en-US" altLang="ja-JP" sz="800" dirty="0"/>
              <a:t>├── start_web_server.sh</a:t>
            </a:r>
          </a:p>
          <a:p>
            <a:r>
              <a:rPr lang="en-US" altLang="ja-JP" sz="800" dirty="0"/>
              <a:t>├── start_worker.sh</a:t>
            </a:r>
          </a:p>
          <a:p>
            <a:r>
              <a:rPr lang="en-US" altLang="ja-JP" sz="800" dirty="0"/>
              <a:t>│</a:t>
            </a:r>
          </a:p>
          <a:p>
            <a:r>
              <a:rPr lang="en-US" altLang="ja-JP" sz="800" dirty="0"/>
              <a:t>├── app</a:t>
            </a:r>
          </a:p>
          <a:p>
            <a:r>
              <a:rPr lang="en-US" altLang="ja-JP" sz="800" dirty="0"/>
              <a:t>│   ├── __init__.py</a:t>
            </a:r>
          </a:p>
          <a:p>
            <a:r>
              <a:rPr lang="en-US" altLang="ja-JP" sz="800" dirty="0"/>
              <a:t>│   ├── main.py</a:t>
            </a:r>
          </a:p>
          <a:p>
            <a:r>
              <a:rPr lang="en-US" altLang="ja-JP" sz="800" dirty="0"/>
              <a:t>│   ├── </a:t>
            </a:r>
            <a:r>
              <a:rPr lang="en-US" altLang="ja-JP" sz="800" dirty="0" err="1"/>
              <a:t>api</a:t>
            </a:r>
            <a:endParaRPr lang="en-US" altLang="ja-JP" sz="800" dirty="0"/>
          </a:p>
          <a:p>
            <a:r>
              <a:rPr lang="en-US" altLang="ja-JP" sz="800" dirty="0"/>
              <a:t>│   │   ├── __init__.py</a:t>
            </a:r>
          </a:p>
          <a:p>
            <a:r>
              <a:rPr lang="en-US" altLang="ja-JP" sz="800" dirty="0"/>
              <a:t>│   │   ├── attendance.py</a:t>
            </a:r>
          </a:p>
          <a:p>
            <a:r>
              <a:rPr lang="en-US" altLang="ja-JP" sz="800" dirty="0"/>
              <a:t>│   │   ├── card.py</a:t>
            </a:r>
          </a:p>
          <a:p>
            <a:r>
              <a:rPr lang="en-US" altLang="ja-JP" sz="800" dirty="0"/>
              <a:t>│   │   └── user.py</a:t>
            </a:r>
          </a:p>
          <a:p>
            <a:r>
              <a:rPr lang="en-US" altLang="ja-JP" sz="800" dirty="0"/>
              <a:t>│   ├── hardware</a:t>
            </a:r>
          </a:p>
          <a:p>
            <a:r>
              <a:rPr lang="en-US" altLang="ja-JP" sz="800" dirty="0"/>
              <a:t>│   │   └── card_reader.py</a:t>
            </a:r>
          </a:p>
          <a:p>
            <a:r>
              <a:rPr lang="en-US" altLang="ja-JP" sz="800" dirty="0"/>
              <a:t>│   ├── schemas</a:t>
            </a:r>
          </a:p>
          <a:p>
            <a:r>
              <a:rPr lang="en-US" altLang="ja-JP" sz="800" dirty="0"/>
              <a:t>│   │   ├── __init__.py</a:t>
            </a:r>
          </a:p>
          <a:p>
            <a:r>
              <a:rPr lang="en-US" altLang="ja-JP" sz="800" dirty="0"/>
              <a:t>│   │   ├── attendance.py</a:t>
            </a:r>
          </a:p>
          <a:p>
            <a:r>
              <a:rPr lang="en-US" altLang="ja-JP" sz="800" dirty="0"/>
              <a:t>│   │   └── user.py</a:t>
            </a:r>
          </a:p>
          <a:p>
            <a:r>
              <a:rPr lang="en-US" altLang="ja-JP" sz="800" dirty="0"/>
              <a:t>│   └── services</a:t>
            </a:r>
          </a:p>
          <a:p>
            <a:r>
              <a:rPr lang="en-US" altLang="ja-JP" sz="800" dirty="0"/>
              <a:t>│       └── card_service.py</a:t>
            </a:r>
          </a:p>
          <a:p>
            <a:r>
              <a:rPr lang="en-US" altLang="ja-JP" sz="800" dirty="0"/>
              <a:t>│</a:t>
            </a:r>
          </a:p>
          <a:p>
            <a:r>
              <a:rPr lang="en-US" altLang="ja-JP" sz="800" dirty="0"/>
              <a:t>├── data</a:t>
            </a:r>
          </a:p>
          <a:p>
            <a:r>
              <a:rPr lang="en-US" altLang="ja-JP" sz="800" dirty="0"/>
              <a:t>│   ├── .init_db.py</a:t>
            </a:r>
          </a:p>
          <a:p>
            <a:r>
              <a:rPr lang="en-US" altLang="ja-JP" sz="800" dirty="0"/>
              <a:t>│   └── </a:t>
            </a:r>
            <a:r>
              <a:rPr lang="en-US" altLang="ja-JP" sz="800" dirty="0" err="1"/>
              <a:t>tasks.db</a:t>
            </a:r>
            <a:endParaRPr lang="en-US" altLang="ja-JP" sz="800" dirty="0"/>
          </a:p>
          <a:p>
            <a:r>
              <a:rPr lang="en-US" altLang="ja-JP" sz="800" dirty="0"/>
              <a:t>│</a:t>
            </a:r>
          </a:p>
          <a:p>
            <a:r>
              <a:rPr lang="en-US" altLang="ja-JP" sz="800" dirty="0"/>
              <a:t>├── logs</a:t>
            </a:r>
          </a:p>
          <a:p>
            <a:r>
              <a:rPr lang="en-US" altLang="ja-JP" sz="800" dirty="0"/>
              <a:t>│   └── *.log</a:t>
            </a:r>
          </a:p>
          <a:p>
            <a:r>
              <a:rPr lang="en-US" altLang="ja-JP" sz="800" dirty="0"/>
              <a:t>│</a:t>
            </a:r>
          </a:p>
          <a:p>
            <a:r>
              <a:rPr lang="en-US" altLang="ja-JP" sz="800" dirty="0"/>
              <a:t>├── shared</a:t>
            </a:r>
          </a:p>
          <a:p>
            <a:r>
              <a:rPr lang="en-US" altLang="ja-JP" sz="800" dirty="0"/>
              <a:t>│   ├── __init__.py</a:t>
            </a:r>
          </a:p>
          <a:p>
            <a:r>
              <a:rPr lang="en-US" altLang="ja-JP" sz="800" dirty="0"/>
              <a:t>│   ├── api_client.py</a:t>
            </a:r>
          </a:p>
          <a:p>
            <a:r>
              <a:rPr lang="en-US" altLang="ja-JP" sz="800" dirty="0"/>
              <a:t>│   ├── aws_client.py</a:t>
            </a:r>
          </a:p>
          <a:p>
            <a:r>
              <a:rPr lang="en-US" altLang="ja-JP" sz="800" dirty="0"/>
              <a:t>│   ├── codec.py</a:t>
            </a:r>
          </a:p>
          <a:p>
            <a:r>
              <a:rPr lang="en-US" altLang="ja-JP" sz="800" dirty="0"/>
              <a:t>│   ├── cognito_client.py</a:t>
            </a:r>
          </a:p>
          <a:p>
            <a:r>
              <a:rPr lang="en-US" altLang="ja-JP" sz="800" dirty="0"/>
              <a:t>│   ├── config.py</a:t>
            </a:r>
          </a:p>
          <a:p>
            <a:r>
              <a:rPr lang="en-US" altLang="ja-JP" sz="800" dirty="0"/>
              <a:t>│   ├── error_handler.py</a:t>
            </a:r>
          </a:p>
          <a:p>
            <a:r>
              <a:rPr lang="en-US" altLang="ja-JP" sz="800" dirty="0"/>
              <a:t>│   ├── sm_client.py</a:t>
            </a:r>
          </a:p>
          <a:p>
            <a:r>
              <a:rPr lang="en-US" altLang="ja-JP" sz="800" dirty="0"/>
              <a:t>│   └── task_queue.py</a:t>
            </a:r>
          </a:p>
          <a:p>
            <a:r>
              <a:rPr lang="en-US" altLang="ja-JP" sz="800" dirty="0"/>
              <a:t>│</a:t>
            </a:r>
          </a:p>
          <a:p>
            <a:r>
              <a:rPr lang="en-US" altLang="ja-JP" sz="800" dirty="0"/>
              <a:t>├── web</a:t>
            </a:r>
          </a:p>
          <a:p>
            <a:r>
              <a:rPr lang="en-US" altLang="ja-JP" sz="800" dirty="0"/>
              <a:t>│   └── frontend</a:t>
            </a:r>
          </a:p>
          <a:p>
            <a:r>
              <a:rPr lang="en-US" altLang="ja-JP" sz="800" dirty="0"/>
              <a:t>│       </a:t>
            </a:r>
            <a:r>
              <a:rPr lang="ja-JP" altLang="en-US" sz="800" dirty="0"/>
              <a:t>  </a:t>
            </a:r>
            <a:r>
              <a:rPr lang="en-US" altLang="ja-JP" sz="800" dirty="0"/>
              <a:t>├── .env</a:t>
            </a:r>
          </a:p>
          <a:p>
            <a:r>
              <a:rPr lang="en-US" altLang="ja-JP" sz="800" dirty="0"/>
              <a:t>│         └── </a:t>
            </a:r>
            <a:r>
              <a:rPr lang="en-US" altLang="ja-JP" sz="800" dirty="0" err="1"/>
              <a:t>src</a:t>
            </a:r>
            <a:endParaRPr lang="en-US" altLang="ja-JP" sz="800" dirty="0"/>
          </a:p>
          <a:p>
            <a:r>
              <a:rPr lang="en-US" altLang="ja-JP" sz="800" dirty="0"/>
              <a:t>│            ├── App.css</a:t>
            </a:r>
          </a:p>
          <a:p>
            <a:r>
              <a:rPr lang="en-US" altLang="ja-JP" sz="800" dirty="0"/>
              <a:t>│            ├── </a:t>
            </a:r>
            <a:r>
              <a:rPr lang="en-US" altLang="ja-JP" sz="800" dirty="0" err="1"/>
              <a:t>App.tsx</a:t>
            </a:r>
            <a:endParaRPr lang="en-US" altLang="ja-JP" sz="800" dirty="0"/>
          </a:p>
          <a:p>
            <a:r>
              <a:rPr lang="en-US" altLang="ja-JP" sz="800" dirty="0"/>
              <a:t>│            ├── index.css</a:t>
            </a:r>
          </a:p>
          <a:p>
            <a:r>
              <a:rPr lang="en-US" altLang="ja-JP" sz="800" dirty="0"/>
              <a:t>│            ├── </a:t>
            </a:r>
            <a:r>
              <a:rPr lang="en-US" altLang="ja-JP" sz="800" dirty="0" err="1"/>
              <a:t>index.tsx</a:t>
            </a:r>
            <a:endParaRPr lang="en-US" altLang="ja-JP" sz="800" dirty="0"/>
          </a:p>
          <a:p>
            <a:r>
              <a:rPr lang="en-US" altLang="ja-JP" sz="800" dirty="0"/>
              <a:t>│            ├── </a:t>
            </a:r>
            <a:r>
              <a:rPr lang="en-US" altLang="ja-JP" sz="800" dirty="0" err="1"/>
              <a:t>api</a:t>
            </a:r>
            <a:endParaRPr lang="en-US" altLang="ja-JP" sz="800" dirty="0"/>
          </a:p>
          <a:p>
            <a:r>
              <a:rPr lang="en-US" altLang="ja-JP" sz="800" dirty="0"/>
              <a:t>│            │   ├── </a:t>
            </a:r>
            <a:r>
              <a:rPr lang="en-US" altLang="ja-JP" sz="800" dirty="0" err="1"/>
              <a:t>attendance.ts</a:t>
            </a:r>
            <a:endParaRPr lang="en-US" altLang="ja-JP" sz="800" dirty="0"/>
          </a:p>
          <a:p>
            <a:r>
              <a:rPr lang="en-US" altLang="ja-JP" sz="800" dirty="0"/>
              <a:t>│            │   ├── </a:t>
            </a:r>
            <a:r>
              <a:rPr lang="en-US" altLang="ja-JP" sz="800" dirty="0" err="1"/>
              <a:t>cardReader.ts</a:t>
            </a:r>
            <a:endParaRPr lang="en-US" altLang="ja-JP" sz="800" dirty="0"/>
          </a:p>
          <a:p>
            <a:r>
              <a:rPr lang="en-US" altLang="ja-JP" sz="800" dirty="0"/>
              <a:t>│            │   └── </a:t>
            </a:r>
            <a:r>
              <a:rPr lang="en-US" altLang="ja-JP" sz="800" dirty="0" err="1"/>
              <a:t>user.ts</a:t>
            </a:r>
            <a:endParaRPr lang="en-US" altLang="ja-JP" sz="800" dirty="0"/>
          </a:p>
          <a:p>
            <a:r>
              <a:rPr lang="en-US" altLang="ja-JP" sz="800" dirty="0"/>
              <a:t>│            ├── hooks</a:t>
            </a:r>
          </a:p>
          <a:p>
            <a:r>
              <a:rPr lang="en-US" altLang="ja-JP" sz="800" dirty="0"/>
              <a:t>│            │   ├── </a:t>
            </a:r>
            <a:r>
              <a:rPr lang="en-US" altLang="ja-JP" sz="800" dirty="0" err="1"/>
              <a:t>useCardReader.ts</a:t>
            </a:r>
            <a:endParaRPr lang="en-US" altLang="ja-JP" sz="800" dirty="0"/>
          </a:p>
          <a:p>
            <a:r>
              <a:rPr lang="en-US" altLang="ja-JP" sz="800" dirty="0"/>
              <a:t>│            │   ├── </a:t>
            </a:r>
            <a:r>
              <a:rPr lang="en-US" altLang="ja-JP" sz="800" dirty="0" err="1"/>
              <a:t>useCurrentTime.ts</a:t>
            </a:r>
            <a:endParaRPr lang="en-US" altLang="ja-JP" sz="800" dirty="0"/>
          </a:p>
          <a:p>
            <a:r>
              <a:rPr lang="en-US" altLang="ja-JP" sz="800" dirty="0"/>
              <a:t>│            │   ├── </a:t>
            </a:r>
            <a:r>
              <a:rPr lang="en-US" altLang="ja-JP" sz="800" dirty="0" err="1"/>
              <a:t>useRegisterAttendance.ts</a:t>
            </a:r>
            <a:endParaRPr lang="en-US" altLang="ja-JP" sz="800" dirty="0"/>
          </a:p>
          <a:p>
            <a:r>
              <a:rPr lang="en-US" altLang="ja-JP" sz="800" dirty="0"/>
              <a:t>│            │   ├── </a:t>
            </a:r>
            <a:r>
              <a:rPr lang="en-US" altLang="ja-JP" sz="800" dirty="0" err="1"/>
              <a:t>useRegisterUser.ts</a:t>
            </a:r>
            <a:endParaRPr lang="en-US" altLang="ja-JP" sz="800" dirty="0"/>
          </a:p>
          <a:p>
            <a:r>
              <a:rPr lang="en-US" altLang="ja-JP" sz="800" dirty="0"/>
              <a:t>│            │   └── </a:t>
            </a:r>
            <a:r>
              <a:rPr lang="en-US" altLang="ja-JP" sz="800" dirty="0" err="1"/>
              <a:t>useTimeOfDay.ts</a:t>
            </a:r>
            <a:endParaRPr lang="en-US" altLang="ja-JP" sz="800" dirty="0"/>
          </a:p>
          <a:p>
            <a:r>
              <a:rPr lang="en-US" altLang="ja-JP" sz="800" dirty="0"/>
              <a:t>│            └── pages</a:t>
            </a:r>
          </a:p>
          <a:p>
            <a:r>
              <a:rPr lang="en-US" altLang="ja-JP" sz="800" dirty="0"/>
              <a:t>│                  ├── </a:t>
            </a:r>
            <a:r>
              <a:rPr lang="en-US" altLang="ja-JP" sz="800" dirty="0" err="1"/>
              <a:t>HomePage</a:t>
            </a:r>
            <a:endParaRPr lang="en-US" altLang="ja-JP" sz="800" dirty="0"/>
          </a:p>
          <a:p>
            <a:r>
              <a:rPr lang="en-US" altLang="ja-JP" sz="800" dirty="0"/>
              <a:t>│                  │   ├── HomePage.css</a:t>
            </a:r>
          </a:p>
          <a:p>
            <a:r>
              <a:rPr lang="en-US" altLang="ja-JP" sz="800" dirty="0"/>
              <a:t>│                  │   └── </a:t>
            </a:r>
            <a:r>
              <a:rPr lang="en-US" altLang="ja-JP" sz="800" dirty="0" err="1"/>
              <a:t>HomePage.tsx</a:t>
            </a:r>
            <a:endParaRPr lang="en-US" altLang="ja-JP" sz="800" dirty="0"/>
          </a:p>
          <a:p>
            <a:r>
              <a:rPr lang="en-US" altLang="ja-JP" sz="800" dirty="0"/>
              <a:t>│                  ├── </a:t>
            </a:r>
            <a:r>
              <a:rPr lang="en-US" altLang="ja-JP" sz="800" dirty="0" err="1"/>
              <a:t>RegisterAttendance</a:t>
            </a:r>
            <a:endParaRPr lang="en-US" altLang="ja-JP" sz="800" dirty="0"/>
          </a:p>
          <a:p>
            <a:r>
              <a:rPr lang="en-US" altLang="ja-JP" sz="800" dirty="0"/>
              <a:t>│                  │   ├── AttendanceCardWaitPage.css</a:t>
            </a:r>
          </a:p>
          <a:p>
            <a:r>
              <a:rPr lang="en-US" altLang="ja-JP" sz="800" dirty="0"/>
              <a:t>│                  │   └── </a:t>
            </a:r>
            <a:r>
              <a:rPr lang="en-US" altLang="ja-JP" sz="800" dirty="0" err="1"/>
              <a:t>AttendanceCardWaitPage.tsx</a:t>
            </a:r>
            <a:endParaRPr lang="en-US" altLang="ja-JP" sz="800" dirty="0"/>
          </a:p>
          <a:p>
            <a:r>
              <a:rPr lang="en-US" altLang="ja-JP" sz="800" dirty="0"/>
              <a:t>│                  └── </a:t>
            </a:r>
            <a:r>
              <a:rPr lang="en-US" altLang="ja-JP" sz="800" dirty="0" err="1"/>
              <a:t>RegisterUser</a:t>
            </a:r>
            <a:endParaRPr lang="en-US" altLang="ja-JP" sz="800" dirty="0"/>
          </a:p>
          <a:p>
            <a:r>
              <a:rPr lang="en-US" altLang="ja-JP" sz="800" dirty="0"/>
              <a:t>│                        ├── UserCardWaitPage.css</a:t>
            </a:r>
          </a:p>
          <a:p>
            <a:r>
              <a:rPr lang="en-US" altLang="ja-JP" sz="800" dirty="0"/>
              <a:t>│                        ├── </a:t>
            </a:r>
            <a:r>
              <a:rPr lang="en-US" altLang="ja-JP" sz="800" dirty="0" err="1"/>
              <a:t>UserCardWaitPage.tsx</a:t>
            </a:r>
            <a:endParaRPr lang="en-US" altLang="ja-JP" sz="800" dirty="0"/>
          </a:p>
          <a:p>
            <a:r>
              <a:rPr lang="en-US" altLang="ja-JP" sz="800" dirty="0"/>
              <a:t>│                        ├── UserSelectPage.css</a:t>
            </a:r>
          </a:p>
          <a:p>
            <a:r>
              <a:rPr lang="en-US" altLang="ja-JP" sz="800" dirty="0"/>
              <a:t>│                        └── </a:t>
            </a:r>
            <a:r>
              <a:rPr lang="en-US" altLang="ja-JP" sz="800" dirty="0" err="1"/>
              <a:t>UserSelectPage.tsx</a:t>
            </a:r>
            <a:endParaRPr lang="en-US" altLang="ja-JP" sz="800" dirty="0"/>
          </a:p>
          <a:p>
            <a:r>
              <a:rPr lang="en-US" altLang="ja-JP" sz="800" dirty="0"/>
              <a:t>│</a:t>
            </a:r>
            <a:endParaRPr lang="en-US" altLang="ja-JP" sz="800" b="1" dirty="0"/>
          </a:p>
          <a:p>
            <a:r>
              <a:rPr lang="en-US" altLang="ja-JP" sz="800" dirty="0"/>
              <a:t>└── worker</a:t>
            </a:r>
          </a:p>
          <a:p>
            <a:r>
              <a:rPr lang="en-US" altLang="ja-JP" sz="800" dirty="0"/>
              <a:t>    ├── __init__.py</a:t>
            </a:r>
          </a:p>
          <a:p>
            <a:r>
              <a:rPr lang="en-US" altLang="ja-JP" sz="800" dirty="0"/>
              <a:t>    ├── task_handler.py</a:t>
            </a:r>
          </a:p>
          <a:p>
            <a:r>
              <a:rPr lang="en-US" altLang="ja-JP" sz="800" dirty="0"/>
              <a:t>    └── worker_runner.py</a:t>
            </a:r>
          </a:p>
          <a:p>
            <a:endParaRPr kumimoji="1" lang="ja-JP" altLang="en-US" dirty="0"/>
          </a:p>
        </p:txBody>
      </p:sp>
      <p:sp>
        <p:nvSpPr>
          <p:cNvPr id="4" name="スライド番号プレースホルダー 3">
            <a:extLst>
              <a:ext uri="{FF2B5EF4-FFF2-40B4-BE49-F238E27FC236}">
                <a16:creationId xmlns:a16="http://schemas.microsoft.com/office/drawing/2014/main" id="{D7132B2B-C184-D4DC-2285-8A000E2562CC}"/>
              </a:ext>
            </a:extLst>
          </p:cNvPr>
          <p:cNvSpPr>
            <a:spLocks noGrp="1"/>
          </p:cNvSpPr>
          <p:nvPr>
            <p:ph type="sldNum" sz="quarter" idx="5"/>
          </p:nvPr>
        </p:nvSpPr>
        <p:spPr/>
        <p:txBody>
          <a:bodyPr/>
          <a:lstStyle/>
          <a:p>
            <a:fld id="{2ED28A4C-6EF5-4767-8676-BA9266CC8394}" type="slidenum">
              <a:rPr kumimoji="1" lang="ja-JP" altLang="en-US" smtClean="0"/>
              <a:t>23</a:t>
            </a:fld>
            <a:endParaRPr kumimoji="1" lang="ja-JP" altLang="en-US"/>
          </a:p>
        </p:txBody>
      </p:sp>
    </p:spTree>
    <p:extLst>
      <p:ext uri="{BB962C8B-B14F-4D97-AF65-F5344CB8AC3E}">
        <p14:creationId xmlns:p14="http://schemas.microsoft.com/office/powerpoint/2010/main" val="20022459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80C0B-7B65-893A-29D0-D4A2F2FF192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F58DF91-0C9B-438A-EFCF-369166C6E0C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CA44502-10A7-6F65-9A02-690F296E4B69}"/>
              </a:ext>
            </a:extLst>
          </p:cNvPr>
          <p:cNvSpPr>
            <a:spLocks noGrp="1"/>
          </p:cNvSpPr>
          <p:nvPr>
            <p:ph type="body" idx="1"/>
          </p:nvPr>
        </p:nvSpPr>
        <p:spPr/>
        <p:txBody>
          <a:bodyPr/>
          <a:lstStyle/>
          <a:p>
            <a:r>
              <a:rPr lang="en-US" altLang="ja-JP" sz="800" dirty="0"/>
              <a:t>.</a:t>
            </a:r>
          </a:p>
          <a:p>
            <a:r>
              <a:rPr lang="en-US" altLang="ja-JP" sz="800" dirty="0"/>
              <a:t>├── .env</a:t>
            </a:r>
          </a:p>
          <a:p>
            <a:r>
              <a:rPr lang="en-US" altLang="ja-JP" sz="800" dirty="0"/>
              <a:t>├── requirements.txt</a:t>
            </a:r>
          </a:p>
          <a:p>
            <a:r>
              <a:rPr lang="en-US" altLang="ja-JP" sz="800" dirty="0"/>
              <a:t>├── start_api_server.sh</a:t>
            </a:r>
          </a:p>
          <a:p>
            <a:r>
              <a:rPr lang="en-US" altLang="ja-JP" sz="800" dirty="0"/>
              <a:t>├── start_init_db.sh</a:t>
            </a:r>
          </a:p>
          <a:p>
            <a:r>
              <a:rPr lang="en-US" altLang="ja-JP" sz="800" dirty="0"/>
              <a:t>├── start_web_server.sh</a:t>
            </a:r>
          </a:p>
          <a:p>
            <a:r>
              <a:rPr lang="en-US" altLang="ja-JP" sz="800" dirty="0"/>
              <a:t>├── start_worker.sh</a:t>
            </a:r>
          </a:p>
          <a:p>
            <a:r>
              <a:rPr lang="en-US" altLang="ja-JP" sz="800" dirty="0"/>
              <a:t>│</a:t>
            </a:r>
          </a:p>
          <a:p>
            <a:r>
              <a:rPr lang="en-US" altLang="ja-JP" sz="800" dirty="0"/>
              <a:t>├── app</a:t>
            </a:r>
          </a:p>
          <a:p>
            <a:r>
              <a:rPr lang="en-US" altLang="ja-JP" sz="800" dirty="0"/>
              <a:t>│   ├── __init__.py</a:t>
            </a:r>
          </a:p>
          <a:p>
            <a:r>
              <a:rPr lang="en-US" altLang="ja-JP" sz="800" dirty="0"/>
              <a:t>│   ├── main.py</a:t>
            </a:r>
          </a:p>
          <a:p>
            <a:r>
              <a:rPr lang="en-US" altLang="ja-JP" sz="800" dirty="0"/>
              <a:t>│   ├── </a:t>
            </a:r>
            <a:r>
              <a:rPr lang="en-US" altLang="ja-JP" sz="800" dirty="0" err="1"/>
              <a:t>api</a:t>
            </a:r>
            <a:endParaRPr lang="en-US" altLang="ja-JP" sz="800" dirty="0"/>
          </a:p>
          <a:p>
            <a:r>
              <a:rPr lang="en-US" altLang="ja-JP" sz="800" dirty="0"/>
              <a:t>│   │   ├── __init__.py</a:t>
            </a:r>
          </a:p>
          <a:p>
            <a:r>
              <a:rPr lang="en-US" altLang="ja-JP" sz="800" dirty="0"/>
              <a:t>│   │   ├── attendance.py</a:t>
            </a:r>
          </a:p>
          <a:p>
            <a:r>
              <a:rPr lang="en-US" altLang="ja-JP" sz="800" dirty="0"/>
              <a:t>│   │   ├── card.py</a:t>
            </a:r>
          </a:p>
          <a:p>
            <a:r>
              <a:rPr lang="en-US" altLang="ja-JP" sz="800" dirty="0"/>
              <a:t>│   │   └── user.py</a:t>
            </a:r>
          </a:p>
          <a:p>
            <a:r>
              <a:rPr lang="en-US" altLang="ja-JP" sz="800" dirty="0"/>
              <a:t>│   ├── hardware</a:t>
            </a:r>
          </a:p>
          <a:p>
            <a:r>
              <a:rPr lang="en-US" altLang="ja-JP" sz="800" dirty="0"/>
              <a:t>│   │   └── card_reader.py</a:t>
            </a:r>
          </a:p>
          <a:p>
            <a:r>
              <a:rPr lang="en-US" altLang="ja-JP" sz="800" dirty="0"/>
              <a:t>│   ├── schemas</a:t>
            </a:r>
          </a:p>
          <a:p>
            <a:r>
              <a:rPr lang="en-US" altLang="ja-JP" sz="800" dirty="0"/>
              <a:t>│   │   ├── __init__.py</a:t>
            </a:r>
          </a:p>
          <a:p>
            <a:r>
              <a:rPr lang="en-US" altLang="ja-JP" sz="800" dirty="0"/>
              <a:t>│   │   ├── attendance.py</a:t>
            </a:r>
          </a:p>
          <a:p>
            <a:r>
              <a:rPr lang="en-US" altLang="ja-JP" sz="800" dirty="0"/>
              <a:t>│   │   └── user.py</a:t>
            </a:r>
          </a:p>
          <a:p>
            <a:r>
              <a:rPr lang="en-US" altLang="ja-JP" sz="800" dirty="0"/>
              <a:t>│   └── services</a:t>
            </a:r>
          </a:p>
          <a:p>
            <a:r>
              <a:rPr lang="en-US" altLang="ja-JP" sz="800" dirty="0"/>
              <a:t>│       └── card_service.py</a:t>
            </a:r>
          </a:p>
          <a:p>
            <a:r>
              <a:rPr lang="en-US" altLang="ja-JP" sz="800" dirty="0"/>
              <a:t>│</a:t>
            </a:r>
          </a:p>
          <a:p>
            <a:r>
              <a:rPr lang="en-US" altLang="ja-JP" sz="800" dirty="0"/>
              <a:t>├── data</a:t>
            </a:r>
          </a:p>
          <a:p>
            <a:r>
              <a:rPr lang="en-US" altLang="ja-JP" sz="800" dirty="0"/>
              <a:t>│   ├── .init_db.py</a:t>
            </a:r>
          </a:p>
          <a:p>
            <a:r>
              <a:rPr lang="en-US" altLang="ja-JP" sz="800" dirty="0"/>
              <a:t>│   └── </a:t>
            </a:r>
            <a:r>
              <a:rPr lang="en-US" altLang="ja-JP" sz="800" dirty="0" err="1"/>
              <a:t>tasks.db</a:t>
            </a:r>
            <a:endParaRPr lang="en-US" altLang="ja-JP" sz="800" dirty="0"/>
          </a:p>
          <a:p>
            <a:r>
              <a:rPr lang="en-US" altLang="ja-JP" sz="800" dirty="0"/>
              <a:t>│</a:t>
            </a:r>
          </a:p>
          <a:p>
            <a:r>
              <a:rPr lang="en-US" altLang="ja-JP" sz="800" dirty="0"/>
              <a:t>├── logs</a:t>
            </a:r>
          </a:p>
          <a:p>
            <a:r>
              <a:rPr lang="en-US" altLang="ja-JP" sz="800" dirty="0"/>
              <a:t>│   └── *.log</a:t>
            </a:r>
          </a:p>
          <a:p>
            <a:r>
              <a:rPr lang="en-US" altLang="ja-JP" sz="800" dirty="0"/>
              <a:t>│</a:t>
            </a:r>
          </a:p>
          <a:p>
            <a:r>
              <a:rPr lang="en-US" altLang="ja-JP" sz="800" dirty="0"/>
              <a:t>├── shared</a:t>
            </a:r>
          </a:p>
          <a:p>
            <a:r>
              <a:rPr lang="en-US" altLang="ja-JP" sz="800" dirty="0"/>
              <a:t>│   ├── __init__.py</a:t>
            </a:r>
          </a:p>
          <a:p>
            <a:r>
              <a:rPr lang="en-US" altLang="ja-JP" sz="800" dirty="0"/>
              <a:t>│   ├── api_client.py</a:t>
            </a:r>
          </a:p>
          <a:p>
            <a:r>
              <a:rPr lang="en-US" altLang="ja-JP" sz="800" dirty="0"/>
              <a:t>│   ├── aws_client.py</a:t>
            </a:r>
          </a:p>
          <a:p>
            <a:r>
              <a:rPr lang="en-US" altLang="ja-JP" sz="800" dirty="0"/>
              <a:t>│   ├── codec.py</a:t>
            </a:r>
          </a:p>
          <a:p>
            <a:r>
              <a:rPr lang="en-US" altLang="ja-JP" sz="800" dirty="0"/>
              <a:t>│   ├── cognito_client.py</a:t>
            </a:r>
          </a:p>
          <a:p>
            <a:r>
              <a:rPr lang="en-US" altLang="ja-JP" sz="800" dirty="0"/>
              <a:t>│   ├── config.py</a:t>
            </a:r>
          </a:p>
          <a:p>
            <a:r>
              <a:rPr lang="en-US" altLang="ja-JP" sz="800" dirty="0"/>
              <a:t>│   ├── error_handler.py</a:t>
            </a:r>
          </a:p>
          <a:p>
            <a:r>
              <a:rPr lang="en-US" altLang="ja-JP" sz="800" dirty="0"/>
              <a:t>│   ├── sm_client.py</a:t>
            </a:r>
          </a:p>
          <a:p>
            <a:r>
              <a:rPr lang="en-US" altLang="ja-JP" sz="800" dirty="0"/>
              <a:t>│   └── task_queue.py</a:t>
            </a:r>
          </a:p>
          <a:p>
            <a:r>
              <a:rPr lang="en-US" altLang="ja-JP" sz="800" dirty="0"/>
              <a:t>│</a:t>
            </a:r>
          </a:p>
          <a:p>
            <a:r>
              <a:rPr lang="en-US" altLang="ja-JP" sz="800" dirty="0"/>
              <a:t>├── web</a:t>
            </a:r>
          </a:p>
          <a:p>
            <a:r>
              <a:rPr lang="en-US" altLang="ja-JP" sz="800" dirty="0"/>
              <a:t>│   └── frontend</a:t>
            </a:r>
          </a:p>
          <a:p>
            <a:r>
              <a:rPr lang="en-US" altLang="ja-JP" sz="800" dirty="0"/>
              <a:t>│       </a:t>
            </a:r>
            <a:r>
              <a:rPr lang="ja-JP" altLang="en-US" sz="800" dirty="0"/>
              <a:t>  </a:t>
            </a:r>
            <a:r>
              <a:rPr lang="en-US" altLang="ja-JP" sz="800" dirty="0"/>
              <a:t>├── .env</a:t>
            </a:r>
          </a:p>
          <a:p>
            <a:r>
              <a:rPr lang="en-US" altLang="ja-JP" sz="800" dirty="0"/>
              <a:t>│         └── </a:t>
            </a:r>
            <a:r>
              <a:rPr lang="en-US" altLang="ja-JP" sz="800" dirty="0" err="1"/>
              <a:t>src</a:t>
            </a:r>
            <a:endParaRPr lang="en-US" altLang="ja-JP" sz="800" dirty="0"/>
          </a:p>
          <a:p>
            <a:r>
              <a:rPr lang="en-US" altLang="ja-JP" sz="800" dirty="0"/>
              <a:t>│            ├── App.css</a:t>
            </a:r>
          </a:p>
          <a:p>
            <a:r>
              <a:rPr lang="en-US" altLang="ja-JP" sz="800" dirty="0"/>
              <a:t>│            ├── </a:t>
            </a:r>
            <a:r>
              <a:rPr lang="en-US" altLang="ja-JP" sz="800" dirty="0" err="1"/>
              <a:t>App.tsx</a:t>
            </a:r>
            <a:endParaRPr lang="en-US" altLang="ja-JP" sz="800" dirty="0"/>
          </a:p>
          <a:p>
            <a:r>
              <a:rPr lang="en-US" altLang="ja-JP" sz="800" dirty="0"/>
              <a:t>│            ├── index.css</a:t>
            </a:r>
          </a:p>
          <a:p>
            <a:r>
              <a:rPr lang="en-US" altLang="ja-JP" sz="800" dirty="0"/>
              <a:t>│            ├── </a:t>
            </a:r>
            <a:r>
              <a:rPr lang="en-US" altLang="ja-JP" sz="800" dirty="0" err="1"/>
              <a:t>index.tsx</a:t>
            </a:r>
            <a:endParaRPr lang="en-US" altLang="ja-JP" sz="800" dirty="0"/>
          </a:p>
          <a:p>
            <a:r>
              <a:rPr lang="en-US" altLang="ja-JP" sz="800" dirty="0"/>
              <a:t>│            ├── </a:t>
            </a:r>
            <a:r>
              <a:rPr lang="en-US" altLang="ja-JP" sz="800" dirty="0" err="1"/>
              <a:t>api</a:t>
            </a:r>
            <a:endParaRPr lang="en-US" altLang="ja-JP" sz="800" dirty="0"/>
          </a:p>
          <a:p>
            <a:r>
              <a:rPr lang="en-US" altLang="ja-JP" sz="800" dirty="0"/>
              <a:t>│            │   ├── </a:t>
            </a:r>
            <a:r>
              <a:rPr lang="en-US" altLang="ja-JP" sz="800" dirty="0" err="1"/>
              <a:t>attendance.ts</a:t>
            </a:r>
            <a:endParaRPr lang="en-US" altLang="ja-JP" sz="800" dirty="0"/>
          </a:p>
          <a:p>
            <a:r>
              <a:rPr lang="en-US" altLang="ja-JP" sz="800" dirty="0"/>
              <a:t>│            │   ├── </a:t>
            </a:r>
            <a:r>
              <a:rPr lang="en-US" altLang="ja-JP" sz="800" dirty="0" err="1"/>
              <a:t>cardReader.ts</a:t>
            </a:r>
            <a:endParaRPr lang="en-US" altLang="ja-JP" sz="800" dirty="0"/>
          </a:p>
          <a:p>
            <a:r>
              <a:rPr lang="en-US" altLang="ja-JP" sz="800" dirty="0"/>
              <a:t>│            │   └── </a:t>
            </a:r>
            <a:r>
              <a:rPr lang="en-US" altLang="ja-JP" sz="800" dirty="0" err="1"/>
              <a:t>user.ts</a:t>
            </a:r>
            <a:endParaRPr lang="en-US" altLang="ja-JP" sz="800" dirty="0"/>
          </a:p>
          <a:p>
            <a:r>
              <a:rPr lang="en-US" altLang="ja-JP" sz="800" dirty="0"/>
              <a:t>│            ├── hooks</a:t>
            </a:r>
          </a:p>
          <a:p>
            <a:r>
              <a:rPr lang="en-US" altLang="ja-JP" sz="800" dirty="0"/>
              <a:t>│            │   ├── </a:t>
            </a:r>
            <a:r>
              <a:rPr lang="en-US" altLang="ja-JP" sz="800" dirty="0" err="1"/>
              <a:t>useCardReader.ts</a:t>
            </a:r>
            <a:endParaRPr lang="en-US" altLang="ja-JP" sz="800" dirty="0"/>
          </a:p>
          <a:p>
            <a:r>
              <a:rPr lang="en-US" altLang="ja-JP" sz="800" dirty="0"/>
              <a:t>│            │   ├── </a:t>
            </a:r>
            <a:r>
              <a:rPr lang="en-US" altLang="ja-JP" sz="800" dirty="0" err="1"/>
              <a:t>useCurrentTime.ts</a:t>
            </a:r>
            <a:endParaRPr lang="en-US" altLang="ja-JP" sz="800" dirty="0"/>
          </a:p>
          <a:p>
            <a:r>
              <a:rPr lang="en-US" altLang="ja-JP" sz="800" dirty="0"/>
              <a:t>│            │   ├── </a:t>
            </a:r>
            <a:r>
              <a:rPr lang="en-US" altLang="ja-JP" sz="800" dirty="0" err="1"/>
              <a:t>useRegisterAttendance.ts</a:t>
            </a:r>
            <a:endParaRPr lang="en-US" altLang="ja-JP" sz="800" dirty="0"/>
          </a:p>
          <a:p>
            <a:r>
              <a:rPr lang="en-US" altLang="ja-JP" sz="800" dirty="0"/>
              <a:t>│            │   ├── </a:t>
            </a:r>
            <a:r>
              <a:rPr lang="en-US" altLang="ja-JP" sz="800" dirty="0" err="1"/>
              <a:t>useRegisterUser.ts</a:t>
            </a:r>
            <a:endParaRPr lang="en-US" altLang="ja-JP" sz="800" dirty="0"/>
          </a:p>
          <a:p>
            <a:r>
              <a:rPr lang="en-US" altLang="ja-JP" sz="800" dirty="0"/>
              <a:t>│            │   └── </a:t>
            </a:r>
            <a:r>
              <a:rPr lang="en-US" altLang="ja-JP" sz="800" dirty="0" err="1"/>
              <a:t>useTimeOfDay.ts</a:t>
            </a:r>
            <a:endParaRPr lang="en-US" altLang="ja-JP" sz="800" dirty="0"/>
          </a:p>
          <a:p>
            <a:r>
              <a:rPr lang="en-US" altLang="ja-JP" sz="800" dirty="0"/>
              <a:t>│            └── pages</a:t>
            </a:r>
          </a:p>
          <a:p>
            <a:r>
              <a:rPr lang="en-US" altLang="ja-JP" sz="800" dirty="0"/>
              <a:t>│                  ├── </a:t>
            </a:r>
            <a:r>
              <a:rPr lang="en-US" altLang="ja-JP" sz="800" dirty="0" err="1"/>
              <a:t>HomePage</a:t>
            </a:r>
            <a:endParaRPr lang="en-US" altLang="ja-JP" sz="800" dirty="0"/>
          </a:p>
          <a:p>
            <a:r>
              <a:rPr lang="en-US" altLang="ja-JP" sz="800" dirty="0"/>
              <a:t>│                  │   ├── HomePage.css</a:t>
            </a:r>
          </a:p>
          <a:p>
            <a:r>
              <a:rPr lang="en-US" altLang="ja-JP" sz="800" dirty="0"/>
              <a:t>│                  │   └── </a:t>
            </a:r>
            <a:r>
              <a:rPr lang="en-US" altLang="ja-JP" sz="800" dirty="0" err="1"/>
              <a:t>HomePage.tsx</a:t>
            </a:r>
            <a:endParaRPr lang="en-US" altLang="ja-JP" sz="800" dirty="0"/>
          </a:p>
          <a:p>
            <a:r>
              <a:rPr lang="en-US" altLang="ja-JP" sz="800" dirty="0"/>
              <a:t>│                  ├── </a:t>
            </a:r>
            <a:r>
              <a:rPr lang="en-US" altLang="ja-JP" sz="800" dirty="0" err="1"/>
              <a:t>RegisterAttendance</a:t>
            </a:r>
            <a:endParaRPr lang="en-US" altLang="ja-JP" sz="800" dirty="0"/>
          </a:p>
          <a:p>
            <a:r>
              <a:rPr lang="en-US" altLang="ja-JP" sz="800" dirty="0"/>
              <a:t>│                  │   ├── AttendanceCardWaitPage.css</a:t>
            </a:r>
          </a:p>
          <a:p>
            <a:r>
              <a:rPr lang="en-US" altLang="ja-JP" sz="800" dirty="0"/>
              <a:t>│                  │   └── </a:t>
            </a:r>
            <a:r>
              <a:rPr lang="en-US" altLang="ja-JP" sz="800" dirty="0" err="1"/>
              <a:t>AttendanceCardWaitPage.tsx</a:t>
            </a:r>
            <a:endParaRPr lang="en-US" altLang="ja-JP" sz="800" dirty="0"/>
          </a:p>
          <a:p>
            <a:r>
              <a:rPr lang="en-US" altLang="ja-JP" sz="800" dirty="0"/>
              <a:t>│                  └── </a:t>
            </a:r>
            <a:r>
              <a:rPr lang="en-US" altLang="ja-JP" sz="800" dirty="0" err="1"/>
              <a:t>RegisterUser</a:t>
            </a:r>
            <a:endParaRPr lang="en-US" altLang="ja-JP" sz="800" dirty="0"/>
          </a:p>
          <a:p>
            <a:r>
              <a:rPr lang="en-US" altLang="ja-JP" sz="800" dirty="0"/>
              <a:t>│                        ├── UserCardWaitPage.css</a:t>
            </a:r>
          </a:p>
          <a:p>
            <a:r>
              <a:rPr lang="en-US" altLang="ja-JP" sz="800" dirty="0"/>
              <a:t>│                        ├── </a:t>
            </a:r>
            <a:r>
              <a:rPr lang="en-US" altLang="ja-JP" sz="800" dirty="0" err="1"/>
              <a:t>UserCardWaitPage.tsx</a:t>
            </a:r>
            <a:endParaRPr lang="en-US" altLang="ja-JP" sz="800" dirty="0"/>
          </a:p>
          <a:p>
            <a:r>
              <a:rPr lang="en-US" altLang="ja-JP" sz="800" dirty="0"/>
              <a:t>│                        ├── UserSelectPage.css</a:t>
            </a:r>
          </a:p>
          <a:p>
            <a:r>
              <a:rPr lang="en-US" altLang="ja-JP" sz="800" dirty="0"/>
              <a:t>│                        └── </a:t>
            </a:r>
            <a:r>
              <a:rPr lang="en-US" altLang="ja-JP" sz="800" dirty="0" err="1"/>
              <a:t>UserSelectPage.tsx</a:t>
            </a:r>
            <a:endParaRPr lang="en-US" altLang="ja-JP" sz="800" dirty="0"/>
          </a:p>
          <a:p>
            <a:r>
              <a:rPr lang="en-US" altLang="ja-JP" sz="800" dirty="0"/>
              <a:t>│</a:t>
            </a:r>
            <a:endParaRPr lang="en-US" altLang="ja-JP" sz="800" b="1" dirty="0"/>
          </a:p>
          <a:p>
            <a:r>
              <a:rPr lang="en-US" altLang="ja-JP" sz="800" dirty="0"/>
              <a:t>└── worker</a:t>
            </a:r>
          </a:p>
          <a:p>
            <a:r>
              <a:rPr lang="en-US" altLang="ja-JP" sz="800" dirty="0"/>
              <a:t>    ├── __init__.py</a:t>
            </a:r>
          </a:p>
          <a:p>
            <a:r>
              <a:rPr lang="en-US" altLang="ja-JP" sz="800" dirty="0"/>
              <a:t>    ├── task_handler.py</a:t>
            </a:r>
          </a:p>
          <a:p>
            <a:r>
              <a:rPr lang="en-US" altLang="ja-JP" sz="800" dirty="0"/>
              <a:t>    └── worker_runner.py</a:t>
            </a:r>
          </a:p>
          <a:p>
            <a:endParaRPr kumimoji="1" lang="ja-JP" altLang="en-US" dirty="0"/>
          </a:p>
        </p:txBody>
      </p:sp>
      <p:sp>
        <p:nvSpPr>
          <p:cNvPr id="4" name="スライド番号プレースホルダー 3">
            <a:extLst>
              <a:ext uri="{FF2B5EF4-FFF2-40B4-BE49-F238E27FC236}">
                <a16:creationId xmlns:a16="http://schemas.microsoft.com/office/drawing/2014/main" id="{08DA8D46-D972-9376-4C54-DAD7C6762587}"/>
              </a:ext>
            </a:extLst>
          </p:cNvPr>
          <p:cNvSpPr>
            <a:spLocks noGrp="1"/>
          </p:cNvSpPr>
          <p:nvPr>
            <p:ph type="sldNum" sz="quarter" idx="5"/>
          </p:nvPr>
        </p:nvSpPr>
        <p:spPr/>
        <p:txBody>
          <a:bodyPr/>
          <a:lstStyle/>
          <a:p>
            <a:fld id="{2ED28A4C-6EF5-4767-8676-BA9266CC8394}" type="slidenum">
              <a:rPr kumimoji="1" lang="ja-JP" altLang="en-US" smtClean="0"/>
              <a:t>24</a:t>
            </a:fld>
            <a:endParaRPr kumimoji="1" lang="ja-JP" altLang="en-US"/>
          </a:p>
        </p:txBody>
      </p:sp>
    </p:spTree>
    <p:extLst>
      <p:ext uri="{BB962C8B-B14F-4D97-AF65-F5344CB8AC3E}">
        <p14:creationId xmlns:p14="http://schemas.microsoft.com/office/powerpoint/2010/main" val="39668178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E130E6-70C9-4234-36CF-5900D44AC7E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85E0099-F275-D8E1-9DF1-59C006E41D7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21EFEC6-D3D4-32B6-DF7D-E0F4B92A933C}"/>
              </a:ext>
            </a:extLst>
          </p:cNvPr>
          <p:cNvSpPr>
            <a:spLocks noGrp="1"/>
          </p:cNvSpPr>
          <p:nvPr>
            <p:ph type="body" idx="1"/>
          </p:nvPr>
        </p:nvSpPr>
        <p:spPr/>
        <p:txBody>
          <a:bodyPr/>
          <a:lstStyle/>
          <a:p>
            <a:r>
              <a:rPr lang="en-US" altLang="ja-JP" sz="800" dirty="0"/>
              <a:t>.</a:t>
            </a:r>
          </a:p>
          <a:p>
            <a:r>
              <a:rPr lang="en-US" altLang="ja-JP" sz="800" dirty="0"/>
              <a:t>├── .env</a:t>
            </a:r>
          </a:p>
          <a:p>
            <a:r>
              <a:rPr lang="en-US" altLang="ja-JP" sz="800" dirty="0"/>
              <a:t>├── requirements.txt</a:t>
            </a:r>
          </a:p>
          <a:p>
            <a:r>
              <a:rPr lang="en-US" altLang="ja-JP" sz="800" dirty="0"/>
              <a:t>├── start_api_server.sh</a:t>
            </a:r>
          </a:p>
          <a:p>
            <a:r>
              <a:rPr lang="en-US" altLang="ja-JP" sz="800" dirty="0"/>
              <a:t>├── start_init_db.sh</a:t>
            </a:r>
          </a:p>
          <a:p>
            <a:r>
              <a:rPr lang="en-US" altLang="ja-JP" sz="800" dirty="0"/>
              <a:t>├── start_web_server.sh</a:t>
            </a:r>
          </a:p>
          <a:p>
            <a:r>
              <a:rPr lang="en-US" altLang="ja-JP" sz="800" dirty="0"/>
              <a:t>├── start_worker.sh</a:t>
            </a:r>
          </a:p>
          <a:p>
            <a:r>
              <a:rPr lang="en-US" altLang="ja-JP" sz="800" dirty="0"/>
              <a:t>│</a:t>
            </a:r>
          </a:p>
          <a:p>
            <a:r>
              <a:rPr lang="en-US" altLang="ja-JP" sz="800" dirty="0"/>
              <a:t>├── app</a:t>
            </a:r>
          </a:p>
          <a:p>
            <a:r>
              <a:rPr lang="en-US" altLang="ja-JP" sz="800" dirty="0"/>
              <a:t>│   ├── __init__.py</a:t>
            </a:r>
          </a:p>
          <a:p>
            <a:r>
              <a:rPr lang="en-US" altLang="ja-JP" sz="800" dirty="0"/>
              <a:t>│   ├── main.py</a:t>
            </a:r>
          </a:p>
          <a:p>
            <a:r>
              <a:rPr lang="en-US" altLang="ja-JP" sz="800" dirty="0"/>
              <a:t>│   ├── </a:t>
            </a:r>
            <a:r>
              <a:rPr lang="en-US" altLang="ja-JP" sz="800" dirty="0" err="1"/>
              <a:t>api</a:t>
            </a:r>
            <a:endParaRPr lang="en-US" altLang="ja-JP" sz="800" dirty="0"/>
          </a:p>
          <a:p>
            <a:r>
              <a:rPr lang="en-US" altLang="ja-JP" sz="800" dirty="0"/>
              <a:t>│   │   ├── __init__.py</a:t>
            </a:r>
          </a:p>
          <a:p>
            <a:r>
              <a:rPr lang="en-US" altLang="ja-JP" sz="800" dirty="0"/>
              <a:t>│   │   ├── attendance.py</a:t>
            </a:r>
          </a:p>
          <a:p>
            <a:r>
              <a:rPr lang="en-US" altLang="ja-JP" sz="800" dirty="0"/>
              <a:t>│   │   ├── card.py</a:t>
            </a:r>
          </a:p>
          <a:p>
            <a:r>
              <a:rPr lang="en-US" altLang="ja-JP" sz="800" dirty="0"/>
              <a:t>│   │   └── user.py</a:t>
            </a:r>
          </a:p>
          <a:p>
            <a:r>
              <a:rPr lang="en-US" altLang="ja-JP" sz="800" dirty="0"/>
              <a:t>│   ├── hardware</a:t>
            </a:r>
          </a:p>
          <a:p>
            <a:r>
              <a:rPr lang="en-US" altLang="ja-JP" sz="800" dirty="0"/>
              <a:t>│   │   └── card_reader.py</a:t>
            </a:r>
          </a:p>
          <a:p>
            <a:r>
              <a:rPr lang="en-US" altLang="ja-JP" sz="800" dirty="0"/>
              <a:t>│   ├── schemas</a:t>
            </a:r>
          </a:p>
          <a:p>
            <a:r>
              <a:rPr lang="en-US" altLang="ja-JP" sz="800" dirty="0"/>
              <a:t>│   │   ├── __init__.py</a:t>
            </a:r>
          </a:p>
          <a:p>
            <a:r>
              <a:rPr lang="en-US" altLang="ja-JP" sz="800" dirty="0"/>
              <a:t>│   │   ├── attendance.py</a:t>
            </a:r>
          </a:p>
          <a:p>
            <a:r>
              <a:rPr lang="en-US" altLang="ja-JP" sz="800" dirty="0"/>
              <a:t>│   │   └── user.py</a:t>
            </a:r>
          </a:p>
          <a:p>
            <a:r>
              <a:rPr lang="en-US" altLang="ja-JP" sz="800" dirty="0"/>
              <a:t>│   └── services</a:t>
            </a:r>
          </a:p>
          <a:p>
            <a:r>
              <a:rPr lang="en-US" altLang="ja-JP" sz="800" dirty="0"/>
              <a:t>│       └── card_service.py</a:t>
            </a:r>
          </a:p>
          <a:p>
            <a:r>
              <a:rPr lang="en-US" altLang="ja-JP" sz="800" dirty="0"/>
              <a:t>│</a:t>
            </a:r>
          </a:p>
          <a:p>
            <a:r>
              <a:rPr lang="en-US" altLang="ja-JP" sz="800" dirty="0"/>
              <a:t>├── data</a:t>
            </a:r>
          </a:p>
          <a:p>
            <a:r>
              <a:rPr lang="en-US" altLang="ja-JP" sz="800" dirty="0"/>
              <a:t>│   ├── .init_db.py</a:t>
            </a:r>
          </a:p>
          <a:p>
            <a:r>
              <a:rPr lang="en-US" altLang="ja-JP" sz="800" dirty="0"/>
              <a:t>│   └── </a:t>
            </a:r>
            <a:r>
              <a:rPr lang="en-US" altLang="ja-JP" sz="800" dirty="0" err="1"/>
              <a:t>tasks.db</a:t>
            </a:r>
            <a:endParaRPr lang="en-US" altLang="ja-JP" sz="800" dirty="0"/>
          </a:p>
          <a:p>
            <a:r>
              <a:rPr lang="en-US" altLang="ja-JP" sz="800" dirty="0"/>
              <a:t>│</a:t>
            </a:r>
          </a:p>
          <a:p>
            <a:r>
              <a:rPr lang="en-US" altLang="ja-JP" sz="800" dirty="0"/>
              <a:t>├── logs</a:t>
            </a:r>
          </a:p>
          <a:p>
            <a:r>
              <a:rPr lang="en-US" altLang="ja-JP" sz="800" dirty="0"/>
              <a:t>│   └── *.log</a:t>
            </a:r>
          </a:p>
          <a:p>
            <a:r>
              <a:rPr lang="en-US" altLang="ja-JP" sz="800" dirty="0"/>
              <a:t>│</a:t>
            </a:r>
          </a:p>
          <a:p>
            <a:r>
              <a:rPr lang="en-US" altLang="ja-JP" sz="800" dirty="0"/>
              <a:t>├── shared</a:t>
            </a:r>
          </a:p>
          <a:p>
            <a:r>
              <a:rPr lang="en-US" altLang="ja-JP" sz="800" dirty="0"/>
              <a:t>│   ├── __init__.py</a:t>
            </a:r>
          </a:p>
          <a:p>
            <a:r>
              <a:rPr lang="en-US" altLang="ja-JP" sz="800" dirty="0"/>
              <a:t>│   ├── api_client.py</a:t>
            </a:r>
          </a:p>
          <a:p>
            <a:r>
              <a:rPr lang="en-US" altLang="ja-JP" sz="800" dirty="0"/>
              <a:t>│   ├── aws_client.py</a:t>
            </a:r>
          </a:p>
          <a:p>
            <a:r>
              <a:rPr lang="en-US" altLang="ja-JP" sz="800" dirty="0"/>
              <a:t>│   ├── codec.py</a:t>
            </a:r>
          </a:p>
          <a:p>
            <a:r>
              <a:rPr lang="en-US" altLang="ja-JP" sz="800" dirty="0"/>
              <a:t>│   ├── cognito_client.py</a:t>
            </a:r>
          </a:p>
          <a:p>
            <a:r>
              <a:rPr lang="en-US" altLang="ja-JP" sz="800" dirty="0"/>
              <a:t>│   ├── config.py</a:t>
            </a:r>
          </a:p>
          <a:p>
            <a:r>
              <a:rPr lang="en-US" altLang="ja-JP" sz="800" dirty="0"/>
              <a:t>│   ├── error_handler.py</a:t>
            </a:r>
          </a:p>
          <a:p>
            <a:r>
              <a:rPr lang="en-US" altLang="ja-JP" sz="800" dirty="0"/>
              <a:t>│   ├── sm_client.py</a:t>
            </a:r>
          </a:p>
          <a:p>
            <a:r>
              <a:rPr lang="en-US" altLang="ja-JP" sz="800" dirty="0"/>
              <a:t>│   └── task_queue.py</a:t>
            </a:r>
          </a:p>
          <a:p>
            <a:r>
              <a:rPr lang="en-US" altLang="ja-JP" sz="800" dirty="0"/>
              <a:t>│</a:t>
            </a:r>
          </a:p>
          <a:p>
            <a:r>
              <a:rPr lang="en-US" altLang="ja-JP" sz="800" dirty="0"/>
              <a:t>├── web</a:t>
            </a:r>
          </a:p>
          <a:p>
            <a:r>
              <a:rPr lang="en-US" altLang="ja-JP" sz="800" dirty="0"/>
              <a:t>│   └── frontend</a:t>
            </a:r>
          </a:p>
          <a:p>
            <a:r>
              <a:rPr lang="en-US" altLang="ja-JP" sz="800" dirty="0"/>
              <a:t>│       </a:t>
            </a:r>
            <a:r>
              <a:rPr lang="ja-JP" altLang="en-US" sz="800" dirty="0"/>
              <a:t>  </a:t>
            </a:r>
            <a:r>
              <a:rPr lang="en-US" altLang="ja-JP" sz="800" dirty="0"/>
              <a:t>├── .env</a:t>
            </a:r>
          </a:p>
          <a:p>
            <a:r>
              <a:rPr lang="en-US" altLang="ja-JP" sz="800" dirty="0"/>
              <a:t>│         └── </a:t>
            </a:r>
            <a:r>
              <a:rPr lang="en-US" altLang="ja-JP" sz="800" dirty="0" err="1"/>
              <a:t>src</a:t>
            </a:r>
            <a:endParaRPr lang="en-US" altLang="ja-JP" sz="800" dirty="0"/>
          </a:p>
          <a:p>
            <a:r>
              <a:rPr lang="en-US" altLang="ja-JP" sz="800" dirty="0"/>
              <a:t>│            ├── App.css</a:t>
            </a:r>
          </a:p>
          <a:p>
            <a:r>
              <a:rPr lang="en-US" altLang="ja-JP" sz="800" dirty="0"/>
              <a:t>│            ├── </a:t>
            </a:r>
            <a:r>
              <a:rPr lang="en-US" altLang="ja-JP" sz="800" dirty="0" err="1"/>
              <a:t>App.tsx</a:t>
            </a:r>
            <a:endParaRPr lang="en-US" altLang="ja-JP" sz="800" dirty="0"/>
          </a:p>
          <a:p>
            <a:r>
              <a:rPr lang="en-US" altLang="ja-JP" sz="800" dirty="0"/>
              <a:t>│            ├── index.css</a:t>
            </a:r>
          </a:p>
          <a:p>
            <a:r>
              <a:rPr lang="en-US" altLang="ja-JP" sz="800" dirty="0"/>
              <a:t>│            ├── </a:t>
            </a:r>
            <a:r>
              <a:rPr lang="en-US" altLang="ja-JP" sz="800" dirty="0" err="1"/>
              <a:t>index.tsx</a:t>
            </a:r>
            <a:endParaRPr lang="en-US" altLang="ja-JP" sz="800" dirty="0"/>
          </a:p>
          <a:p>
            <a:r>
              <a:rPr lang="en-US" altLang="ja-JP" sz="800" dirty="0"/>
              <a:t>│            ├── </a:t>
            </a:r>
            <a:r>
              <a:rPr lang="en-US" altLang="ja-JP" sz="800" dirty="0" err="1"/>
              <a:t>api</a:t>
            </a:r>
            <a:endParaRPr lang="en-US" altLang="ja-JP" sz="800" dirty="0"/>
          </a:p>
          <a:p>
            <a:r>
              <a:rPr lang="en-US" altLang="ja-JP" sz="800" dirty="0"/>
              <a:t>│            │   ├── </a:t>
            </a:r>
            <a:r>
              <a:rPr lang="en-US" altLang="ja-JP" sz="800" dirty="0" err="1"/>
              <a:t>attendance.ts</a:t>
            </a:r>
            <a:endParaRPr lang="en-US" altLang="ja-JP" sz="800" dirty="0"/>
          </a:p>
          <a:p>
            <a:r>
              <a:rPr lang="en-US" altLang="ja-JP" sz="800" dirty="0"/>
              <a:t>│            │   ├── </a:t>
            </a:r>
            <a:r>
              <a:rPr lang="en-US" altLang="ja-JP" sz="800" dirty="0" err="1"/>
              <a:t>cardReader.ts</a:t>
            </a:r>
            <a:endParaRPr lang="en-US" altLang="ja-JP" sz="800" dirty="0"/>
          </a:p>
          <a:p>
            <a:r>
              <a:rPr lang="en-US" altLang="ja-JP" sz="800" dirty="0"/>
              <a:t>│            │   └── </a:t>
            </a:r>
            <a:r>
              <a:rPr lang="en-US" altLang="ja-JP" sz="800" dirty="0" err="1"/>
              <a:t>user.ts</a:t>
            </a:r>
            <a:endParaRPr lang="en-US" altLang="ja-JP" sz="800" dirty="0"/>
          </a:p>
          <a:p>
            <a:r>
              <a:rPr lang="en-US" altLang="ja-JP" sz="800" dirty="0"/>
              <a:t>│            ├── hooks</a:t>
            </a:r>
          </a:p>
          <a:p>
            <a:r>
              <a:rPr lang="en-US" altLang="ja-JP" sz="800" dirty="0"/>
              <a:t>│            │   ├── </a:t>
            </a:r>
            <a:r>
              <a:rPr lang="en-US" altLang="ja-JP" sz="800" dirty="0" err="1"/>
              <a:t>useCardReader.ts</a:t>
            </a:r>
            <a:endParaRPr lang="en-US" altLang="ja-JP" sz="800" dirty="0"/>
          </a:p>
          <a:p>
            <a:r>
              <a:rPr lang="en-US" altLang="ja-JP" sz="800" dirty="0"/>
              <a:t>│            │   ├── </a:t>
            </a:r>
            <a:r>
              <a:rPr lang="en-US" altLang="ja-JP" sz="800" dirty="0" err="1"/>
              <a:t>useCurrentTime.ts</a:t>
            </a:r>
            <a:endParaRPr lang="en-US" altLang="ja-JP" sz="800" dirty="0"/>
          </a:p>
          <a:p>
            <a:r>
              <a:rPr lang="en-US" altLang="ja-JP" sz="800" dirty="0"/>
              <a:t>│            │   ├── </a:t>
            </a:r>
            <a:r>
              <a:rPr lang="en-US" altLang="ja-JP" sz="800" dirty="0" err="1"/>
              <a:t>useRegisterAttendance.ts</a:t>
            </a:r>
            <a:endParaRPr lang="en-US" altLang="ja-JP" sz="800" dirty="0"/>
          </a:p>
          <a:p>
            <a:r>
              <a:rPr lang="en-US" altLang="ja-JP" sz="800" dirty="0"/>
              <a:t>│            │   ├── </a:t>
            </a:r>
            <a:r>
              <a:rPr lang="en-US" altLang="ja-JP" sz="800" dirty="0" err="1"/>
              <a:t>useRegisterUser.ts</a:t>
            </a:r>
            <a:endParaRPr lang="en-US" altLang="ja-JP" sz="800" dirty="0"/>
          </a:p>
          <a:p>
            <a:r>
              <a:rPr lang="en-US" altLang="ja-JP" sz="800" dirty="0"/>
              <a:t>│            │   └── </a:t>
            </a:r>
            <a:r>
              <a:rPr lang="en-US" altLang="ja-JP" sz="800" dirty="0" err="1"/>
              <a:t>useTimeOfDay.ts</a:t>
            </a:r>
            <a:endParaRPr lang="en-US" altLang="ja-JP" sz="800" dirty="0"/>
          </a:p>
          <a:p>
            <a:r>
              <a:rPr lang="en-US" altLang="ja-JP" sz="800" dirty="0"/>
              <a:t>│            └── pages</a:t>
            </a:r>
          </a:p>
          <a:p>
            <a:r>
              <a:rPr lang="en-US" altLang="ja-JP" sz="800" dirty="0"/>
              <a:t>│                  ├── </a:t>
            </a:r>
            <a:r>
              <a:rPr lang="en-US" altLang="ja-JP" sz="800" dirty="0" err="1"/>
              <a:t>HomePage</a:t>
            </a:r>
            <a:endParaRPr lang="en-US" altLang="ja-JP" sz="800" dirty="0"/>
          </a:p>
          <a:p>
            <a:r>
              <a:rPr lang="en-US" altLang="ja-JP" sz="800" dirty="0"/>
              <a:t>│                  │   ├── HomePage.css</a:t>
            </a:r>
          </a:p>
          <a:p>
            <a:r>
              <a:rPr lang="en-US" altLang="ja-JP" sz="800" dirty="0"/>
              <a:t>│                  │   └── </a:t>
            </a:r>
            <a:r>
              <a:rPr lang="en-US" altLang="ja-JP" sz="800" dirty="0" err="1"/>
              <a:t>HomePage.tsx</a:t>
            </a:r>
            <a:endParaRPr lang="en-US" altLang="ja-JP" sz="800" dirty="0"/>
          </a:p>
          <a:p>
            <a:r>
              <a:rPr lang="en-US" altLang="ja-JP" sz="800" dirty="0"/>
              <a:t>│                  ├── </a:t>
            </a:r>
            <a:r>
              <a:rPr lang="en-US" altLang="ja-JP" sz="800" dirty="0" err="1"/>
              <a:t>RegisterAttendance</a:t>
            </a:r>
            <a:endParaRPr lang="en-US" altLang="ja-JP" sz="800" dirty="0"/>
          </a:p>
          <a:p>
            <a:r>
              <a:rPr lang="en-US" altLang="ja-JP" sz="800" dirty="0"/>
              <a:t>│                  │   ├── AttendanceCardWaitPage.css</a:t>
            </a:r>
          </a:p>
          <a:p>
            <a:r>
              <a:rPr lang="en-US" altLang="ja-JP" sz="800" dirty="0"/>
              <a:t>│                  │   └── </a:t>
            </a:r>
            <a:r>
              <a:rPr lang="en-US" altLang="ja-JP" sz="800" dirty="0" err="1"/>
              <a:t>AttendanceCardWaitPage.tsx</a:t>
            </a:r>
            <a:endParaRPr lang="en-US" altLang="ja-JP" sz="800" dirty="0"/>
          </a:p>
          <a:p>
            <a:r>
              <a:rPr lang="en-US" altLang="ja-JP" sz="800" dirty="0"/>
              <a:t>│                  └── </a:t>
            </a:r>
            <a:r>
              <a:rPr lang="en-US" altLang="ja-JP" sz="800" dirty="0" err="1"/>
              <a:t>RegisterUser</a:t>
            </a:r>
            <a:endParaRPr lang="en-US" altLang="ja-JP" sz="800" dirty="0"/>
          </a:p>
          <a:p>
            <a:r>
              <a:rPr lang="en-US" altLang="ja-JP" sz="800" dirty="0"/>
              <a:t>│                        ├── UserCardWaitPage.css</a:t>
            </a:r>
          </a:p>
          <a:p>
            <a:r>
              <a:rPr lang="en-US" altLang="ja-JP" sz="800" dirty="0"/>
              <a:t>│                        ├── </a:t>
            </a:r>
            <a:r>
              <a:rPr lang="en-US" altLang="ja-JP" sz="800" dirty="0" err="1"/>
              <a:t>UserCardWaitPage.tsx</a:t>
            </a:r>
            <a:endParaRPr lang="en-US" altLang="ja-JP" sz="800" dirty="0"/>
          </a:p>
          <a:p>
            <a:r>
              <a:rPr lang="en-US" altLang="ja-JP" sz="800" dirty="0"/>
              <a:t>│                        ├── UserSelectPage.css</a:t>
            </a:r>
          </a:p>
          <a:p>
            <a:r>
              <a:rPr lang="en-US" altLang="ja-JP" sz="800" dirty="0"/>
              <a:t>│                        └── </a:t>
            </a:r>
            <a:r>
              <a:rPr lang="en-US" altLang="ja-JP" sz="800" dirty="0" err="1"/>
              <a:t>UserSelectPage.tsx</a:t>
            </a:r>
            <a:endParaRPr lang="en-US" altLang="ja-JP" sz="800" dirty="0"/>
          </a:p>
          <a:p>
            <a:r>
              <a:rPr lang="en-US" altLang="ja-JP" sz="800" dirty="0"/>
              <a:t>│</a:t>
            </a:r>
            <a:endParaRPr lang="en-US" altLang="ja-JP" sz="800" b="1" dirty="0"/>
          </a:p>
          <a:p>
            <a:r>
              <a:rPr lang="en-US" altLang="ja-JP" sz="800" dirty="0"/>
              <a:t>└── worker</a:t>
            </a:r>
          </a:p>
          <a:p>
            <a:r>
              <a:rPr lang="en-US" altLang="ja-JP" sz="800" dirty="0"/>
              <a:t>    ├── __init__.py</a:t>
            </a:r>
          </a:p>
          <a:p>
            <a:r>
              <a:rPr lang="en-US" altLang="ja-JP" sz="800" dirty="0"/>
              <a:t>    ├── task_handler.py</a:t>
            </a:r>
          </a:p>
          <a:p>
            <a:r>
              <a:rPr lang="en-US" altLang="ja-JP" sz="800" dirty="0"/>
              <a:t>    └── worker_runner.py</a:t>
            </a:r>
          </a:p>
          <a:p>
            <a:endParaRPr kumimoji="1" lang="ja-JP" altLang="en-US" dirty="0"/>
          </a:p>
        </p:txBody>
      </p:sp>
      <p:sp>
        <p:nvSpPr>
          <p:cNvPr id="4" name="スライド番号プレースホルダー 3">
            <a:extLst>
              <a:ext uri="{FF2B5EF4-FFF2-40B4-BE49-F238E27FC236}">
                <a16:creationId xmlns:a16="http://schemas.microsoft.com/office/drawing/2014/main" id="{43C3FBCB-9191-DF1F-8EEF-807A6EFDED66}"/>
              </a:ext>
            </a:extLst>
          </p:cNvPr>
          <p:cNvSpPr>
            <a:spLocks noGrp="1"/>
          </p:cNvSpPr>
          <p:nvPr>
            <p:ph type="sldNum" sz="quarter" idx="5"/>
          </p:nvPr>
        </p:nvSpPr>
        <p:spPr/>
        <p:txBody>
          <a:bodyPr/>
          <a:lstStyle/>
          <a:p>
            <a:fld id="{2ED28A4C-6EF5-4767-8676-BA9266CC8394}" type="slidenum">
              <a:rPr kumimoji="1" lang="ja-JP" altLang="en-US" smtClean="0"/>
              <a:t>25</a:t>
            </a:fld>
            <a:endParaRPr kumimoji="1" lang="ja-JP" altLang="en-US"/>
          </a:p>
        </p:txBody>
      </p:sp>
    </p:spTree>
    <p:extLst>
      <p:ext uri="{BB962C8B-B14F-4D97-AF65-F5344CB8AC3E}">
        <p14:creationId xmlns:p14="http://schemas.microsoft.com/office/powerpoint/2010/main" val="30968630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2B2403-9D2D-3775-5469-450657B5636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85FF01C-5556-3F37-94F1-77B171418CC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7C3698B-2A2F-E687-883E-9F7B77D383A1}"/>
              </a:ext>
            </a:extLst>
          </p:cNvPr>
          <p:cNvSpPr>
            <a:spLocks noGrp="1"/>
          </p:cNvSpPr>
          <p:nvPr>
            <p:ph type="body" idx="1"/>
          </p:nvPr>
        </p:nvSpPr>
        <p:spPr/>
        <p:txBody>
          <a:bodyPr/>
          <a:lstStyle/>
          <a:p>
            <a:r>
              <a:rPr lang="en-US" altLang="ja-JP" sz="800" dirty="0"/>
              <a:t>.</a:t>
            </a:r>
          </a:p>
          <a:p>
            <a:r>
              <a:rPr lang="en-US" altLang="ja-JP" sz="800" dirty="0"/>
              <a:t>├── .env</a:t>
            </a:r>
          </a:p>
          <a:p>
            <a:r>
              <a:rPr lang="en-US" altLang="ja-JP" sz="800" dirty="0"/>
              <a:t>├── requirements.txt</a:t>
            </a:r>
          </a:p>
          <a:p>
            <a:r>
              <a:rPr lang="en-US" altLang="ja-JP" sz="800" dirty="0"/>
              <a:t>├── start_api_server.sh</a:t>
            </a:r>
          </a:p>
          <a:p>
            <a:r>
              <a:rPr lang="en-US" altLang="ja-JP" sz="800" dirty="0"/>
              <a:t>├── start_init_db.sh</a:t>
            </a:r>
          </a:p>
          <a:p>
            <a:r>
              <a:rPr lang="en-US" altLang="ja-JP" sz="800" dirty="0"/>
              <a:t>├── start_web_server.sh</a:t>
            </a:r>
          </a:p>
          <a:p>
            <a:r>
              <a:rPr lang="en-US" altLang="ja-JP" sz="800" dirty="0"/>
              <a:t>├── start_worker.sh</a:t>
            </a:r>
          </a:p>
          <a:p>
            <a:r>
              <a:rPr lang="en-US" altLang="ja-JP" sz="800" dirty="0"/>
              <a:t>│</a:t>
            </a:r>
          </a:p>
          <a:p>
            <a:r>
              <a:rPr lang="en-US" altLang="ja-JP" sz="800" dirty="0"/>
              <a:t>├── app</a:t>
            </a:r>
          </a:p>
          <a:p>
            <a:r>
              <a:rPr lang="en-US" altLang="ja-JP" sz="800" dirty="0"/>
              <a:t>│   ├── __init__.py</a:t>
            </a:r>
          </a:p>
          <a:p>
            <a:r>
              <a:rPr lang="en-US" altLang="ja-JP" sz="800" dirty="0"/>
              <a:t>│   ├── main.py</a:t>
            </a:r>
          </a:p>
          <a:p>
            <a:r>
              <a:rPr lang="en-US" altLang="ja-JP" sz="800" dirty="0"/>
              <a:t>│   ├── </a:t>
            </a:r>
            <a:r>
              <a:rPr lang="en-US" altLang="ja-JP" sz="800" dirty="0" err="1"/>
              <a:t>api</a:t>
            </a:r>
            <a:endParaRPr lang="en-US" altLang="ja-JP" sz="800" dirty="0"/>
          </a:p>
          <a:p>
            <a:r>
              <a:rPr lang="en-US" altLang="ja-JP" sz="800" dirty="0"/>
              <a:t>│   │   ├── __init__.py</a:t>
            </a:r>
          </a:p>
          <a:p>
            <a:r>
              <a:rPr lang="en-US" altLang="ja-JP" sz="800" dirty="0"/>
              <a:t>│   │   ├── attendance.py</a:t>
            </a:r>
          </a:p>
          <a:p>
            <a:r>
              <a:rPr lang="en-US" altLang="ja-JP" sz="800" dirty="0"/>
              <a:t>│   │   ├── card.py</a:t>
            </a:r>
          </a:p>
          <a:p>
            <a:r>
              <a:rPr lang="en-US" altLang="ja-JP" sz="800" dirty="0"/>
              <a:t>│   │   └── user.py</a:t>
            </a:r>
          </a:p>
          <a:p>
            <a:r>
              <a:rPr lang="en-US" altLang="ja-JP" sz="800" dirty="0"/>
              <a:t>│   ├── hardware</a:t>
            </a:r>
          </a:p>
          <a:p>
            <a:r>
              <a:rPr lang="en-US" altLang="ja-JP" sz="800" dirty="0"/>
              <a:t>│   │   └── card_reader.py</a:t>
            </a:r>
          </a:p>
          <a:p>
            <a:r>
              <a:rPr lang="en-US" altLang="ja-JP" sz="800" dirty="0"/>
              <a:t>│   ├── schemas</a:t>
            </a:r>
          </a:p>
          <a:p>
            <a:r>
              <a:rPr lang="en-US" altLang="ja-JP" sz="800" dirty="0"/>
              <a:t>│   │   ├── __init__.py</a:t>
            </a:r>
          </a:p>
          <a:p>
            <a:r>
              <a:rPr lang="en-US" altLang="ja-JP" sz="800" dirty="0"/>
              <a:t>│   │   ├── attendance.py</a:t>
            </a:r>
          </a:p>
          <a:p>
            <a:r>
              <a:rPr lang="en-US" altLang="ja-JP" sz="800" dirty="0"/>
              <a:t>│   │   └── user.py</a:t>
            </a:r>
          </a:p>
          <a:p>
            <a:r>
              <a:rPr lang="en-US" altLang="ja-JP" sz="800" dirty="0"/>
              <a:t>│   └── services</a:t>
            </a:r>
          </a:p>
          <a:p>
            <a:r>
              <a:rPr lang="en-US" altLang="ja-JP" sz="800" dirty="0"/>
              <a:t>│       └── card_service.py</a:t>
            </a:r>
          </a:p>
          <a:p>
            <a:r>
              <a:rPr lang="en-US" altLang="ja-JP" sz="800" dirty="0"/>
              <a:t>│</a:t>
            </a:r>
          </a:p>
          <a:p>
            <a:r>
              <a:rPr lang="en-US" altLang="ja-JP" sz="800" dirty="0"/>
              <a:t>├── data</a:t>
            </a:r>
          </a:p>
          <a:p>
            <a:r>
              <a:rPr lang="en-US" altLang="ja-JP" sz="800" dirty="0"/>
              <a:t>│   ├── .init_db.py</a:t>
            </a:r>
          </a:p>
          <a:p>
            <a:r>
              <a:rPr lang="en-US" altLang="ja-JP" sz="800" dirty="0"/>
              <a:t>│   └── </a:t>
            </a:r>
            <a:r>
              <a:rPr lang="en-US" altLang="ja-JP" sz="800" dirty="0" err="1"/>
              <a:t>tasks.db</a:t>
            </a:r>
            <a:endParaRPr lang="en-US" altLang="ja-JP" sz="800" dirty="0"/>
          </a:p>
          <a:p>
            <a:r>
              <a:rPr lang="en-US" altLang="ja-JP" sz="800" dirty="0"/>
              <a:t>│</a:t>
            </a:r>
          </a:p>
          <a:p>
            <a:r>
              <a:rPr lang="en-US" altLang="ja-JP" sz="800" dirty="0"/>
              <a:t>├── logs</a:t>
            </a:r>
          </a:p>
          <a:p>
            <a:r>
              <a:rPr lang="en-US" altLang="ja-JP" sz="800" dirty="0"/>
              <a:t>│   └── *.log</a:t>
            </a:r>
          </a:p>
          <a:p>
            <a:r>
              <a:rPr lang="en-US" altLang="ja-JP" sz="800" dirty="0"/>
              <a:t>│</a:t>
            </a:r>
          </a:p>
          <a:p>
            <a:r>
              <a:rPr lang="en-US" altLang="ja-JP" sz="800" dirty="0"/>
              <a:t>├── shared</a:t>
            </a:r>
          </a:p>
          <a:p>
            <a:r>
              <a:rPr lang="en-US" altLang="ja-JP" sz="800" dirty="0"/>
              <a:t>│   ├── __init__.py</a:t>
            </a:r>
          </a:p>
          <a:p>
            <a:r>
              <a:rPr lang="en-US" altLang="ja-JP" sz="800" dirty="0"/>
              <a:t>│   ├── api_client.py</a:t>
            </a:r>
          </a:p>
          <a:p>
            <a:r>
              <a:rPr lang="en-US" altLang="ja-JP" sz="800" dirty="0"/>
              <a:t>│   ├── aws_client.py</a:t>
            </a:r>
          </a:p>
          <a:p>
            <a:r>
              <a:rPr lang="en-US" altLang="ja-JP" sz="800" dirty="0"/>
              <a:t>│   ├── codec.py</a:t>
            </a:r>
          </a:p>
          <a:p>
            <a:r>
              <a:rPr lang="en-US" altLang="ja-JP" sz="800" dirty="0"/>
              <a:t>│   ├── cognito_client.py</a:t>
            </a:r>
          </a:p>
          <a:p>
            <a:r>
              <a:rPr lang="en-US" altLang="ja-JP" sz="800" dirty="0"/>
              <a:t>│   ├── config.py</a:t>
            </a:r>
          </a:p>
          <a:p>
            <a:r>
              <a:rPr lang="en-US" altLang="ja-JP" sz="800" dirty="0"/>
              <a:t>│   ├── error_handler.py</a:t>
            </a:r>
          </a:p>
          <a:p>
            <a:r>
              <a:rPr lang="en-US" altLang="ja-JP" sz="800" dirty="0"/>
              <a:t>│   ├── sm_client.py</a:t>
            </a:r>
          </a:p>
          <a:p>
            <a:r>
              <a:rPr lang="en-US" altLang="ja-JP" sz="800" dirty="0"/>
              <a:t>│   └── task_queue.py</a:t>
            </a:r>
          </a:p>
          <a:p>
            <a:r>
              <a:rPr lang="en-US" altLang="ja-JP" sz="800" dirty="0"/>
              <a:t>│</a:t>
            </a:r>
          </a:p>
          <a:p>
            <a:r>
              <a:rPr lang="en-US" altLang="ja-JP" sz="800" dirty="0"/>
              <a:t>├── web</a:t>
            </a:r>
          </a:p>
          <a:p>
            <a:r>
              <a:rPr lang="en-US" altLang="ja-JP" sz="800" dirty="0"/>
              <a:t>│   └── frontend</a:t>
            </a:r>
          </a:p>
          <a:p>
            <a:r>
              <a:rPr lang="en-US" altLang="ja-JP" sz="800" dirty="0"/>
              <a:t>│       </a:t>
            </a:r>
            <a:r>
              <a:rPr lang="ja-JP" altLang="en-US" sz="800" dirty="0"/>
              <a:t>  </a:t>
            </a:r>
            <a:r>
              <a:rPr lang="en-US" altLang="ja-JP" sz="800" dirty="0"/>
              <a:t>├── .env</a:t>
            </a:r>
          </a:p>
          <a:p>
            <a:r>
              <a:rPr lang="en-US" altLang="ja-JP" sz="800" dirty="0"/>
              <a:t>│         └── </a:t>
            </a:r>
            <a:r>
              <a:rPr lang="en-US" altLang="ja-JP" sz="800" dirty="0" err="1"/>
              <a:t>src</a:t>
            </a:r>
            <a:endParaRPr lang="en-US" altLang="ja-JP" sz="800" dirty="0"/>
          </a:p>
          <a:p>
            <a:r>
              <a:rPr lang="en-US" altLang="ja-JP" sz="800" dirty="0"/>
              <a:t>│            ├── App.css</a:t>
            </a:r>
          </a:p>
          <a:p>
            <a:r>
              <a:rPr lang="en-US" altLang="ja-JP" sz="800" dirty="0"/>
              <a:t>│            ├── </a:t>
            </a:r>
            <a:r>
              <a:rPr lang="en-US" altLang="ja-JP" sz="800" dirty="0" err="1"/>
              <a:t>App.tsx</a:t>
            </a:r>
            <a:endParaRPr lang="en-US" altLang="ja-JP" sz="800" dirty="0"/>
          </a:p>
          <a:p>
            <a:r>
              <a:rPr lang="en-US" altLang="ja-JP" sz="800" dirty="0"/>
              <a:t>│            ├── index.css</a:t>
            </a:r>
          </a:p>
          <a:p>
            <a:r>
              <a:rPr lang="en-US" altLang="ja-JP" sz="800" dirty="0"/>
              <a:t>│            ├── </a:t>
            </a:r>
            <a:r>
              <a:rPr lang="en-US" altLang="ja-JP" sz="800" dirty="0" err="1"/>
              <a:t>index.tsx</a:t>
            </a:r>
            <a:endParaRPr lang="en-US" altLang="ja-JP" sz="800" dirty="0"/>
          </a:p>
          <a:p>
            <a:r>
              <a:rPr lang="en-US" altLang="ja-JP" sz="800" dirty="0"/>
              <a:t>│            ├── </a:t>
            </a:r>
            <a:r>
              <a:rPr lang="en-US" altLang="ja-JP" sz="800" dirty="0" err="1"/>
              <a:t>api</a:t>
            </a:r>
            <a:endParaRPr lang="en-US" altLang="ja-JP" sz="800" dirty="0"/>
          </a:p>
          <a:p>
            <a:r>
              <a:rPr lang="en-US" altLang="ja-JP" sz="800" dirty="0"/>
              <a:t>│            │   ├── </a:t>
            </a:r>
            <a:r>
              <a:rPr lang="en-US" altLang="ja-JP" sz="800" dirty="0" err="1"/>
              <a:t>attendance.ts</a:t>
            </a:r>
            <a:endParaRPr lang="en-US" altLang="ja-JP" sz="800" dirty="0"/>
          </a:p>
          <a:p>
            <a:r>
              <a:rPr lang="en-US" altLang="ja-JP" sz="800" dirty="0"/>
              <a:t>│            │   ├── </a:t>
            </a:r>
            <a:r>
              <a:rPr lang="en-US" altLang="ja-JP" sz="800" dirty="0" err="1"/>
              <a:t>cardReader.ts</a:t>
            </a:r>
            <a:endParaRPr lang="en-US" altLang="ja-JP" sz="800" dirty="0"/>
          </a:p>
          <a:p>
            <a:r>
              <a:rPr lang="en-US" altLang="ja-JP" sz="800" dirty="0"/>
              <a:t>│            │   └── </a:t>
            </a:r>
            <a:r>
              <a:rPr lang="en-US" altLang="ja-JP" sz="800" dirty="0" err="1"/>
              <a:t>user.ts</a:t>
            </a:r>
            <a:endParaRPr lang="en-US" altLang="ja-JP" sz="800" dirty="0"/>
          </a:p>
          <a:p>
            <a:r>
              <a:rPr lang="en-US" altLang="ja-JP" sz="800" dirty="0"/>
              <a:t>│            ├── hooks</a:t>
            </a:r>
          </a:p>
          <a:p>
            <a:r>
              <a:rPr lang="en-US" altLang="ja-JP" sz="800" dirty="0"/>
              <a:t>│            │   ├── </a:t>
            </a:r>
            <a:r>
              <a:rPr lang="en-US" altLang="ja-JP" sz="800" dirty="0" err="1"/>
              <a:t>useCardReader.ts</a:t>
            </a:r>
            <a:endParaRPr lang="en-US" altLang="ja-JP" sz="800" dirty="0"/>
          </a:p>
          <a:p>
            <a:r>
              <a:rPr lang="en-US" altLang="ja-JP" sz="800" dirty="0"/>
              <a:t>│            │   ├── </a:t>
            </a:r>
            <a:r>
              <a:rPr lang="en-US" altLang="ja-JP" sz="800" dirty="0" err="1"/>
              <a:t>useCurrentTime.ts</a:t>
            </a:r>
            <a:endParaRPr lang="en-US" altLang="ja-JP" sz="800" dirty="0"/>
          </a:p>
          <a:p>
            <a:r>
              <a:rPr lang="en-US" altLang="ja-JP" sz="800" dirty="0"/>
              <a:t>│            │   ├── </a:t>
            </a:r>
            <a:r>
              <a:rPr lang="en-US" altLang="ja-JP" sz="800" dirty="0" err="1"/>
              <a:t>useRegisterAttendance.ts</a:t>
            </a:r>
            <a:endParaRPr lang="en-US" altLang="ja-JP" sz="800" dirty="0"/>
          </a:p>
          <a:p>
            <a:r>
              <a:rPr lang="en-US" altLang="ja-JP" sz="800" dirty="0"/>
              <a:t>│            │   ├── </a:t>
            </a:r>
            <a:r>
              <a:rPr lang="en-US" altLang="ja-JP" sz="800" dirty="0" err="1"/>
              <a:t>useRegisterUser.ts</a:t>
            </a:r>
            <a:endParaRPr lang="en-US" altLang="ja-JP" sz="800" dirty="0"/>
          </a:p>
          <a:p>
            <a:r>
              <a:rPr lang="en-US" altLang="ja-JP" sz="800" dirty="0"/>
              <a:t>│            │   └── </a:t>
            </a:r>
            <a:r>
              <a:rPr lang="en-US" altLang="ja-JP" sz="800" dirty="0" err="1"/>
              <a:t>useTimeOfDay.ts</a:t>
            </a:r>
            <a:endParaRPr lang="en-US" altLang="ja-JP" sz="800" dirty="0"/>
          </a:p>
          <a:p>
            <a:r>
              <a:rPr lang="en-US" altLang="ja-JP" sz="800" dirty="0"/>
              <a:t>│            └── pages</a:t>
            </a:r>
          </a:p>
          <a:p>
            <a:r>
              <a:rPr lang="en-US" altLang="ja-JP" sz="800" dirty="0"/>
              <a:t>│                  ├── </a:t>
            </a:r>
            <a:r>
              <a:rPr lang="en-US" altLang="ja-JP" sz="800" dirty="0" err="1"/>
              <a:t>HomePage</a:t>
            </a:r>
            <a:endParaRPr lang="en-US" altLang="ja-JP" sz="800" dirty="0"/>
          </a:p>
          <a:p>
            <a:r>
              <a:rPr lang="en-US" altLang="ja-JP" sz="800" dirty="0"/>
              <a:t>│                  │   ├── HomePage.css</a:t>
            </a:r>
          </a:p>
          <a:p>
            <a:r>
              <a:rPr lang="en-US" altLang="ja-JP" sz="800" dirty="0"/>
              <a:t>│                  │   └── </a:t>
            </a:r>
            <a:r>
              <a:rPr lang="en-US" altLang="ja-JP" sz="800" dirty="0" err="1"/>
              <a:t>HomePage.tsx</a:t>
            </a:r>
            <a:endParaRPr lang="en-US" altLang="ja-JP" sz="800" dirty="0"/>
          </a:p>
          <a:p>
            <a:r>
              <a:rPr lang="en-US" altLang="ja-JP" sz="800" dirty="0"/>
              <a:t>│                  ├── </a:t>
            </a:r>
            <a:r>
              <a:rPr lang="en-US" altLang="ja-JP" sz="800" dirty="0" err="1"/>
              <a:t>RegisterAttendance</a:t>
            </a:r>
            <a:endParaRPr lang="en-US" altLang="ja-JP" sz="800" dirty="0"/>
          </a:p>
          <a:p>
            <a:r>
              <a:rPr lang="en-US" altLang="ja-JP" sz="800" dirty="0"/>
              <a:t>│                  │   ├── AttendanceCardWaitPage.css</a:t>
            </a:r>
          </a:p>
          <a:p>
            <a:r>
              <a:rPr lang="en-US" altLang="ja-JP" sz="800" dirty="0"/>
              <a:t>│                  │   └── </a:t>
            </a:r>
            <a:r>
              <a:rPr lang="en-US" altLang="ja-JP" sz="800" dirty="0" err="1"/>
              <a:t>AttendanceCardWaitPage.tsx</a:t>
            </a:r>
            <a:endParaRPr lang="en-US" altLang="ja-JP" sz="800" dirty="0"/>
          </a:p>
          <a:p>
            <a:r>
              <a:rPr lang="en-US" altLang="ja-JP" sz="800" dirty="0"/>
              <a:t>│                  └── </a:t>
            </a:r>
            <a:r>
              <a:rPr lang="en-US" altLang="ja-JP" sz="800" dirty="0" err="1"/>
              <a:t>RegisterUser</a:t>
            </a:r>
            <a:endParaRPr lang="en-US" altLang="ja-JP" sz="800" dirty="0"/>
          </a:p>
          <a:p>
            <a:r>
              <a:rPr lang="en-US" altLang="ja-JP" sz="800" dirty="0"/>
              <a:t>│                        ├── UserCardWaitPage.css</a:t>
            </a:r>
          </a:p>
          <a:p>
            <a:r>
              <a:rPr lang="en-US" altLang="ja-JP" sz="800" dirty="0"/>
              <a:t>│                        ├── </a:t>
            </a:r>
            <a:r>
              <a:rPr lang="en-US" altLang="ja-JP" sz="800" dirty="0" err="1"/>
              <a:t>UserCardWaitPage.tsx</a:t>
            </a:r>
            <a:endParaRPr lang="en-US" altLang="ja-JP" sz="800" dirty="0"/>
          </a:p>
          <a:p>
            <a:r>
              <a:rPr lang="en-US" altLang="ja-JP" sz="800" dirty="0"/>
              <a:t>│                        ├── UserSelectPage.css</a:t>
            </a:r>
          </a:p>
          <a:p>
            <a:r>
              <a:rPr lang="en-US" altLang="ja-JP" sz="800" dirty="0"/>
              <a:t>│                        └── </a:t>
            </a:r>
            <a:r>
              <a:rPr lang="en-US" altLang="ja-JP" sz="800" dirty="0" err="1"/>
              <a:t>UserSelectPage.tsx</a:t>
            </a:r>
            <a:endParaRPr lang="en-US" altLang="ja-JP" sz="800" dirty="0"/>
          </a:p>
          <a:p>
            <a:r>
              <a:rPr lang="en-US" altLang="ja-JP" sz="800" dirty="0"/>
              <a:t>│</a:t>
            </a:r>
            <a:endParaRPr lang="en-US" altLang="ja-JP" sz="800" b="1" dirty="0"/>
          </a:p>
          <a:p>
            <a:r>
              <a:rPr lang="en-US" altLang="ja-JP" sz="800" dirty="0"/>
              <a:t>└── worker</a:t>
            </a:r>
          </a:p>
          <a:p>
            <a:r>
              <a:rPr lang="en-US" altLang="ja-JP" sz="800" dirty="0"/>
              <a:t>    ├── __init__.py</a:t>
            </a:r>
          </a:p>
          <a:p>
            <a:r>
              <a:rPr lang="en-US" altLang="ja-JP" sz="800" dirty="0"/>
              <a:t>    ├── task_handler.py</a:t>
            </a:r>
          </a:p>
          <a:p>
            <a:r>
              <a:rPr lang="en-US" altLang="ja-JP" sz="800" dirty="0"/>
              <a:t>    └── worker_runner.py</a:t>
            </a:r>
          </a:p>
          <a:p>
            <a:endParaRPr kumimoji="1" lang="ja-JP" altLang="en-US" dirty="0"/>
          </a:p>
        </p:txBody>
      </p:sp>
      <p:sp>
        <p:nvSpPr>
          <p:cNvPr id="4" name="スライド番号プレースホルダー 3">
            <a:extLst>
              <a:ext uri="{FF2B5EF4-FFF2-40B4-BE49-F238E27FC236}">
                <a16:creationId xmlns:a16="http://schemas.microsoft.com/office/drawing/2014/main" id="{3B8E6EA1-69CA-044B-8BDE-D3C99D04587D}"/>
              </a:ext>
            </a:extLst>
          </p:cNvPr>
          <p:cNvSpPr>
            <a:spLocks noGrp="1"/>
          </p:cNvSpPr>
          <p:nvPr>
            <p:ph type="sldNum" sz="quarter" idx="5"/>
          </p:nvPr>
        </p:nvSpPr>
        <p:spPr/>
        <p:txBody>
          <a:bodyPr/>
          <a:lstStyle/>
          <a:p>
            <a:fld id="{2ED28A4C-6EF5-4767-8676-BA9266CC8394}" type="slidenum">
              <a:rPr kumimoji="1" lang="ja-JP" altLang="en-US" smtClean="0"/>
              <a:t>26</a:t>
            </a:fld>
            <a:endParaRPr kumimoji="1" lang="ja-JP" altLang="en-US"/>
          </a:p>
        </p:txBody>
      </p:sp>
    </p:spTree>
    <p:extLst>
      <p:ext uri="{BB962C8B-B14F-4D97-AF65-F5344CB8AC3E}">
        <p14:creationId xmlns:p14="http://schemas.microsoft.com/office/powerpoint/2010/main" val="9223799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561C80-74E9-1202-0B54-EFE1A3E70E1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0744388-1A8C-0D13-FE1D-2C96EE50DB0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50BB480-2532-F963-D86C-C568CA2DD3C3}"/>
              </a:ext>
            </a:extLst>
          </p:cNvPr>
          <p:cNvSpPr>
            <a:spLocks noGrp="1"/>
          </p:cNvSpPr>
          <p:nvPr>
            <p:ph type="body" idx="1"/>
          </p:nvPr>
        </p:nvSpPr>
        <p:spPr/>
        <p:txBody>
          <a:bodyPr/>
          <a:lstStyle/>
          <a:p>
            <a:r>
              <a:rPr lang="en-US" altLang="ja-JP" sz="800" dirty="0"/>
              <a:t>.</a:t>
            </a:r>
          </a:p>
          <a:p>
            <a:r>
              <a:rPr lang="en-US" altLang="ja-JP" sz="800" dirty="0"/>
              <a:t>├── .env</a:t>
            </a:r>
          </a:p>
          <a:p>
            <a:r>
              <a:rPr lang="en-US" altLang="ja-JP" sz="800" dirty="0"/>
              <a:t>├── requirements.txt</a:t>
            </a:r>
          </a:p>
          <a:p>
            <a:r>
              <a:rPr lang="en-US" altLang="ja-JP" sz="800" dirty="0"/>
              <a:t>├── start_api_server.sh</a:t>
            </a:r>
          </a:p>
          <a:p>
            <a:r>
              <a:rPr lang="en-US" altLang="ja-JP" sz="800" dirty="0"/>
              <a:t>├── start_init_db.sh</a:t>
            </a:r>
          </a:p>
          <a:p>
            <a:r>
              <a:rPr lang="en-US" altLang="ja-JP" sz="800" dirty="0"/>
              <a:t>├── start_web_server.sh</a:t>
            </a:r>
          </a:p>
          <a:p>
            <a:r>
              <a:rPr lang="en-US" altLang="ja-JP" sz="800" dirty="0"/>
              <a:t>├── start_worker.sh</a:t>
            </a:r>
          </a:p>
          <a:p>
            <a:r>
              <a:rPr lang="en-US" altLang="ja-JP" sz="800" dirty="0"/>
              <a:t>│</a:t>
            </a:r>
          </a:p>
          <a:p>
            <a:r>
              <a:rPr lang="en-US" altLang="ja-JP" sz="800" dirty="0"/>
              <a:t>├── app</a:t>
            </a:r>
          </a:p>
          <a:p>
            <a:r>
              <a:rPr lang="en-US" altLang="ja-JP" sz="800" dirty="0"/>
              <a:t>│   ├── __init__.py</a:t>
            </a:r>
          </a:p>
          <a:p>
            <a:r>
              <a:rPr lang="en-US" altLang="ja-JP" sz="800" dirty="0"/>
              <a:t>│   ├── main.py</a:t>
            </a:r>
          </a:p>
          <a:p>
            <a:r>
              <a:rPr lang="en-US" altLang="ja-JP" sz="800" dirty="0"/>
              <a:t>│   ├── </a:t>
            </a:r>
            <a:r>
              <a:rPr lang="en-US" altLang="ja-JP" sz="800" dirty="0" err="1"/>
              <a:t>api</a:t>
            </a:r>
            <a:endParaRPr lang="en-US" altLang="ja-JP" sz="800" dirty="0"/>
          </a:p>
          <a:p>
            <a:r>
              <a:rPr lang="en-US" altLang="ja-JP" sz="800" dirty="0"/>
              <a:t>│   │   ├── __init__.py</a:t>
            </a:r>
          </a:p>
          <a:p>
            <a:r>
              <a:rPr lang="en-US" altLang="ja-JP" sz="800" dirty="0"/>
              <a:t>│   │   ├── attendance.py</a:t>
            </a:r>
          </a:p>
          <a:p>
            <a:r>
              <a:rPr lang="en-US" altLang="ja-JP" sz="800" dirty="0"/>
              <a:t>│   │   ├── card.py</a:t>
            </a:r>
          </a:p>
          <a:p>
            <a:r>
              <a:rPr lang="en-US" altLang="ja-JP" sz="800" dirty="0"/>
              <a:t>│   │   └── user.py</a:t>
            </a:r>
          </a:p>
          <a:p>
            <a:r>
              <a:rPr lang="en-US" altLang="ja-JP" sz="800" dirty="0"/>
              <a:t>│   ├── hardware</a:t>
            </a:r>
          </a:p>
          <a:p>
            <a:r>
              <a:rPr lang="en-US" altLang="ja-JP" sz="800" dirty="0"/>
              <a:t>│   │   └── card_reader.py</a:t>
            </a:r>
          </a:p>
          <a:p>
            <a:r>
              <a:rPr lang="en-US" altLang="ja-JP" sz="800" dirty="0"/>
              <a:t>│   ├── schemas</a:t>
            </a:r>
          </a:p>
          <a:p>
            <a:r>
              <a:rPr lang="en-US" altLang="ja-JP" sz="800" dirty="0"/>
              <a:t>│   │   ├── __init__.py</a:t>
            </a:r>
          </a:p>
          <a:p>
            <a:r>
              <a:rPr lang="en-US" altLang="ja-JP" sz="800" dirty="0"/>
              <a:t>│   │   ├── attendance.py</a:t>
            </a:r>
          </a:p>
          <a:p>
            <a:r>
              <a:rPr lang="en-US" altLang="ja-JP" sz="800" dirty="0"/>
              <a:t>│   │   └── user.py</a:t>
            </a:r>
          </a:p>
          <a:p>
            <a:r>
              <a:rPr lang="en-US" altLang="ja-JP" sz="800" dirty="0"/>
              <a:t>│   └── services</a:t>
            </a:r>
          </a:p>
          <a:p>
            <a:r>
              <a:rPr lang="en-US" altLang="ja-JP" sz="800" dirty="0"/>
              <a:t>│       └── card_service.py</a:t>
            </a:r>
          </a:p>
          <a:p>
            <a:r>
              <a:rPr lang="en-US" altLang="ja-JP" sz="800" dirty="0"/>
              <a:t>│</a:t>
            </a:r>
          </a:p>
          <a:p>
            <a:r>
              <a:rPr lang="en-US" altLang="ja-JP" sz="800" dirty="0"/>
              <a:t>├── data</a:t>
            </a:r>
          </a:p>
          <a:p>
            <a:r>
              <a:rPr lang="en-US" altLang="ja-JP" sz="800" dirty="0"/>
              <a:t>│   ├── .init_db.py</a:t>
            </a:r>
          </a:p>
          <a:p>
            <a:r>
              <a:rPr lang="en-US" altLang="ja-JP" sz="800" dirty="0"/>
              <a:t>│   └── </a:t>
            </a:r>
            <a:r>
              <a:rPr lang="en-US" altLang="ja-JP" sz="800" dirty="0" err="1"/>
              <a:t>tasks.db</a:t>
            </a:r>
            <a:endParaRPr lang="en-US" altLang="ja-JP" sz="800" dirty="0"/>
          </a:p>
          <a:p>
            <a:r>
              <a:rPr lang="en-US" altLang="ja-JP" sz="800" dirty="0"/>
              <a:t>│</a:t>
            </a:r>
          </a:p>
          <a:p>
            <a:r>
              <a:rPr lang="en-US" altLang="ja-JP" sz="800" dirty="0"/>
              <a:t>├── logs</a:t>
            </a:r>
          </a:p>
          <a:p>
            <a:r>
              <a:rPr lang="en-US" altLang="ja-JP" sz="800" dirty="0"/>
              <a:t>│   └── *.log</a:t>
            </a:r>
          </a:p>
          <a:p>
            <a:r>
              <a:rPr lang="en-US" altLang="ja-JP" sz="800" dirty="0"/>
              <a:t>│</a:t>
            </a:r>
          </a:p>
          <a:p>
            <a:r>
              <a:rPr lang="en-US" altLang="ja-JP" sz="800" dirty="0"/>
              <a:t>├── shared</a:t>
            </a:r>
          </a:p>
          <a:p>
            <a:r>
              <a:rPr lang="en-US" altLang="ja-JP" sz="800" dirty="0"/>
              <a:t>│   ├── __init__.py</a:t>
            </a:r>
          </a:p>
          <a:p>
            <a:r>
              <a:rPr lang="en-US" altLang="ja-JP" sz="800" dirty="0"/>
              <a:t>│   ├── api_client.py</a:t>
            </a:r>
          </a:p>
          <a:p>
            <a:r>
              <a:rPr lang="en-US" altLang="ja-JP" sz="800" dirty="0"/>
              <a:t>│   ├── aws_client.py</a:t>
            </a:r>
          </a:p>
          <a:p>
            <a:r>
              <a:rPr lang="en-US" altLang="ja-JP" sz="800" dirty="0"/>
              <a:t>│   ├── codec.py</a:t>
            </a:r>
          </a:p>
          <a:p>
            <a:r>
              <a:rPr lang="en-US" altLang="ja-JP" sz="800" dirty="0"/>
              <a:t>│   ├── cognito_client.py</a:t>
            </a:r>
          </a:p>
          <a:p>
            <a:r>
              <a:rPr lang="en-US" altLang="ja-JP" sz="800" dirty="0"/>
              <a:t>│   ├── config.py</a:t>
            </a:r>
          </a:p>
          <a:p>
            <a:r>
              <a:rPr lang="en-US" altLang="ja-JP" sz="800" dirty="0"/>
              <a:t>│   ├── error_handler.py</a:t>
            </a:r>
          </a:p>
          <a:p>
            <a:r>
              <a:rPr lang="en-US" altLang="ja-JP" sz="800" dirty="0"/>
              <a:t>│   ├── sm_client.py</a:t>
            </a:r>
          </a:p>
          <a:p>
            <a:r>
              <a:rPr lang="en-US" altLang="ja-JP" sz="800" dirty="0"/>
              <a:t>│   └── task_queue.py</a:t>
            </a:r>
          </a:p>
          <a:p>
            <a:r>
              <a:rPr lang="en-US" altLang="ja-JP" sz="800" dirty="0"/>
              <a:t>│</a:t>
            </a:r>
          </a:p>
          <a:p>
            <a:r>
              <a:rPr lang="en-US" altLang="ja-JP" sz="800" dirty="0"/>
              <a:t>├── web</a:t>
            </a:r>
          </a:p>
          <a:p>
            <a:r>
              <a:rPr lang="en-US" altLang="ja-JP" sz="800" dirty="0"/>
              <a:t>│   └── frontend</a:t>
            </a:r>
          </a:p>
          <a:p>
            <a:r>
              <a:rPr lang="en-US" altLang="ja-JP" sz="800" dirty="0"/>
              <a:t>│       </a:t>
            </a:r>
            <a:r>
              <a:rPr lang="ja-JP" altLang="en-US" sz="800" dirty="0"/>
              <a:t>  </a:t>
            </a:r>
            <a:r>
              <a:rPr lang="en-US" altLang="ja-JP" sz="800" dirty="0"/>
              <a:t>├── .env</a:t>
            </a:r>
          </a:p>
          <a:p>
            <a:r>
              <a:rPr lang="en-US" altLang="ja-JP" sz="800" dirty="0"/>
              <a:t>│         └── </a:t>
            </a:r>
            <a:r>
              <a:rPr lang="en-US" altLang="ja-JP" sz="800" dirty="0" err="1"/>
              <a:t>src</a:t>
            </a:r>
            <a:endParaRPr lang="en-US" altLang="ja-JP" sz="800" dirty="0"/>
          </a:p>
          <a:p>
            <a:r>
              <a:rPr lang="en-US" altLang="ja-JP" sz="800" dirty="0"/>
              <a:t>│            ├── App.css</a:t>
            </a:r>
          </a:p>
          <a:p>
            <a:r>
              <a:rPr lang="en-US" altLang="ja-JP" sz="800" dirty="0"/>
              <a:t>│            ├── </a:t>
            </a:r>
            <a:r>
              <a:rPr lang="en-US" altLang="ja-JP" sz="800" dirty="0" err="1"/>
              <a:t>App.tsx</a:t>
            </a:r>
            <a:endParaRPr lang="en-US" altLang="ja-JP" sz="800" dirty="0"/>
          </a:p>
          <a:p>
            <a:r>
              <a:rPr lang="en-US" altLang="ja-JP" sz="800" dirty="0"/>
              <a:t>│            ├── index.css</a:t>
            </a:r>
          </a:p>
          <a:p>
            <a:r>
              <a:rPr lang="en-US" altLang="ja-JP" sz="800" dirty="0"/>
              <a:t>│            ├── </a:t>
            </a:r>
            <a:r>
              <a:rPr lang="en-US" altLang="ja-JP" sz="800" dirty="0" err="1"/>
              <a:t>index.tsx</a:t>
            </a:r>
            <a:endParaRPr lang="en-US" altLang="ja-JP" sz="800" dirty="0"/>
          </a:p>
          <a:p>
            <a:r>
              <a:rPr lang="en-US" altLang="ja-JP" sz="800" dirty="0"/>
              <a:t>│            ├── </a:t>
            </a:r>
            <a:r>
              <a:rPr lang="en-US" altLang="ja-JP" sz="800" dirty="0" err="1"/>
              <a:t>api</a:t>
            </a:r>
            <a:endParaRPr lang="en-US" altLang="ja-JP" sz="800" dirty="0"/>
          </a:p>
          <a:p>
            <a:r>
              <a:rPr lang="en-US" altLang="ja-JP" sz="800" dirty="0"/>
              <a:t>│            │   ├── </a:t>
            </a:r>
            <a:r>
              <a:rPr lang="en-US" altLang="ja-JP" sz="800" dirty="0" err="1"/>
              <a:t>attendance.ts</a:t>
            </a:r>
            <a:endParaRPr lang="en-US" altLang="ja-JP" sz="800" dirty="0"/>
          </a:p>
          <a:p>
            <a:r>
              <a:rPr lang="en-US" altLang="ja-JP" sz="800" dirty="0"/>
              <a:t>│            │   ├── </a:t>
            </a:r>
            <a:r>
              <a:rPr lang="en-US" altLang="ja-JP" sz="800" dirty="0" err="1"/>
              <a:t>cardReader.ts</a:t>
            </a:r>
            <a:endParaRPr lang="en-US" altLang="ja-JP" sz="800" dirty="0"/>
          </a:p>
          <a:p>
            <a:r>
              <a:rPr lang="en-US" altLang="ja-JP" sz="800" dirty="0"/>
              <a:t>│            │   └── </a:t>
            </a:r>
            <a:r>
              <a:rPr lang="en-US" altLang="ja-JP" sz="800" dirty="0" err="1"/>
              <a:t>user.ts</a:t>
            </a:r>
            <a:endParaRPr lang="en-US" altLang="ja-JP" sz="800" dirty="0"/>
          </a:p>
          <a:p>
            <a:r>
              <a:rPr lang="en-US" altLang="ja-JP" sz="800" dirty="0"/>
              <a:t>│            ├── hooks</a:t>
            </a:r>
          </a:p>
          <a:p>
            <a:r>
              <a:rPr lang="en-US" altLang="ja-JP" sz="800" dirty="0"/>
              <a:t>│            │   ├── </a:t>
            </a:r>
            <a:r>
              <a:rPr lang="en-US" altLang="ja-JP" sz="800" dirty="0" err="1"/>
              <a:t>useCardReader.ts</a:t>
            </a:r>
            <a:endParaRPr lang="en-US" altLang="ja-JP" sz="800" dirty="0"/>
          </a:p>
          <a:p>
            <a:r>
              <a:rPr lang="en-US" altLang="ja-JP" sz="800" dirty="0"/>
              <a:t>│            │   ├── </a:t>
            </a:r>
            <a:r>
              <a:rPr lang="en-US" altLang="ja-JP" sz="800" dirty="0" err="1"/>
              <a:t>useCurrentTime.ts</a:t>
            </a:r>
            <a:endParaRPr lang="en-US" altLang="ja-JP" sz="800" dirty="0"/>
          </a:p>
          <a:p>
            <a:r>
              <a:rPr lang="en-US" altLang="ja-JP" sz="800" dirty="0"/>
              <a:t>│            │   ├── </a:t>
            </a:r>
            <a:r>
              <a:rPr lang="en-US" altLang="ja-JP" sz="800" dirty="0" err="1"/>
              <a:t>useRegisterAttendance.ts</a:t>
            </a:r>
            <a:endParaRPr lang="en-US" altLang="ja-JP" sz="800" dirty="0"/>
          </a:p>
          <a:p>
            <a:r>
              <a:rPr lang="en-US" altLang="ja-JP" sz="800" dirty="0"/>
              <a:t>│            │   ├── </a:t>
            </a:r>
            <a:r>
              <a:rPr lang="en-US" altLang="ja-JP" sz="800" dirty="0" err="1"/>
              <a:t>useRegisterUser.ts</a:t>
            </a:r>
            <a:endParaRPr lang="en-US" altLang="ja-JP" sz="800" dirty="0"/>
          </a:p>
          <a:p>
            <a:r>
              <a:rPr lang="en-US" altLang="ja-JP" sz="800" dirty="0"/>
              <a:t>│            │   └── </a:t>
            </a:r>
            <a:r>
              <a:rPr lang="en-US" altLang="ja-JP" sz="800" dirty="0" err="1"/>
              <a:t>useTimeOfDay.ts</a:t>
            </a:r>
            <a:endParaRPr lang="en-US" altLang="ja-JP" sz="800" dirty="0"/>
          </a:p>
          <a:p>
            <a:r>
              <a:rPr lang="en-US" altLang="ja-JP" sz="800" dirty="0"/>
              <a:t>│            └── pages</a:t>
            </a:r>
          </a:p>
          <a:p>
            <a:r>
              <a:rPr lang="en-US" altLang="ja-JP" sz="800" dirty="0"/>
              <a:t>│                  ├── </a:t>
            </a:r>
            <a:r>
              <a:rPr lang="en-US" altLang="ja-JP" sz="800" dirty="0" err="1"/>
              <a:t>HomePage</a:t>
            </a:r>
            <a:endParaRPr lang="en-US" altLang="ja-JP" sz="800" dirty="0"/>
          </a:p>
          <a:p>
            <a:r>
              <a:rPr lang="en-US" altLang="ja-JP" sz="800" dirty="0"/>
              <a:t>│                  │   ├── HomePage.css</a:t>
            </a:r>
          </a:p>
          <a:p>
            <a:r>
              <a:rPr lang="en-US" altLang="ja-JP" sz="800" dirty="0"/>
              <a:t>│                  │   └── </a:t>
            </a:r>
            <a:r>
              <a:rPr lang="en-US" altLang="ja-JP" sz="800" dirty="0" err="1"/>
              <a:t>HomePage.tsx</a:t>
            </a:r>
            <a:endParaRPr lang="en-US" altLang="ja-JP" sz="800" dirty="0"/>
          </a:p>
          <a:p>
            <a:r>
              <a:rPr lang="en-US" altLang="ja-JP" sz="800" dirty="0"/>
              <a:t>│                  ├── </a:t>
            </a:r>
            <a:r>
              <a:rPr lang="en-US" altLang="ja-JP" sz="800" dirty="0" err="1"/>
              <a:t>RegisterAttendance</a:t>
            </a:r>
            <a:endParaRPr lang="en-US" altLang="ja-JP" sz="800" dirty="0"/>
          </a:p>
          <a:p>
            <a:r>
              <a:rPr lang="en-US" altLang="ja-JP" sz="800" dirty="0"/>
              <a:t>│                  │   ├── AttendanceCardWaitPage.css</a:t>
            </a:r>
          </a:p>
          <a:p>
            <a:r>
              <a:rPr lang="en-US" altLang="ja-JP" sz="800" dirty="0"/>
              <a:t>│                  │   └── </a:t>
            </a:r>
            <a:r>
              <a:rPr lang="en-US" altLang="ja-JP" sz="800" dirty="0" err="1"/>
              <a:t>AttendanceCardWaitPage.tsx</a:t>
            </a:r>
            <a:endParaRPr lang="en-US" altLang="ja-JP" sz="800" dirty="0"/>
          </a:p>
          <a:p>
            <a:r>
              <a:rPr lang="en-US" altLang="ja-JP" sz="800" dirty="0"/>
              <a:t>│                  └── </a:t>
            </a:r>
            <a:r>
              <a:rPr lang="en-US" altLang="ja-JP" sz="800" dirty="0" err="1"/>
              <a:t>RegisterUser</a:t>
            </a:r>
            <a:endParaRPr lang="en-US" altLang="ja-JP" sz="800" dirty="0"/>
          </a:p>
          <a:p>
            <a:r>
              <a:rPr lang="en-US" altLang="ja-JP" sz="800" dirty="0"/>
              <a:t>│                        ├── UserCardWaitPage.css</a:t>
            </a:r>
          </a:p>
          <a:p>
            <a:r>
              <a:rPr lang="en-US" altLang="ja-JP" sz="800" dirty="0"/>
              <a:t>│                        ├── </a:t>
            </a:r>
            <a:r>
              <a:rPr lang="en-US" altLang="ja-JP" sz="800" dirty="0" err="1"/>
              <a:t>UserCardWaitPage.tsx</a:t>
            </a:r>
            <a:endParaRPr lang="en-US" altLang="ja-JP" sz="800" dirty="0"/>
          </a:p>
          <a:p>
            <a:r>
              <a:rPr lang="en-US" altLang="ja-JP" sz="800" dirty="0"/>
              <a:t>│                        ├── UserSelectPage.css</a:t>
            </a:r>
          </a:p>
          <a:p>
            <a:r>
              <a:rPr lang="en-US" altLang="ja-JP" sz="800" dirty="0"/>
              <a:t>│                        └── </a:t>
            </a:r>
            <a:r>
              <a:rPr lang="en-US" altLang="ja-JP" sz="800" dirty="0" err="1"/>
              <a:t>UserSelectPage.tsx</a:t>
            </a:r>
            <a:endParaRPr lang="en-US" altLang="ja-JP" sz="800" dirty="0"/>
          </a:p>
          <a:p>
            <a:r>
              <a:rPr lang="en-US" altLang="ja-JP" sz="800" dirty="0"/>
              <a:t>│</a:t>
            </a:r>
            <a:endParaRPr lang="en-US" altLang="ja-JP" sz="800" b="1" dirty="0"/>
          </a:p>
          <a:p>
            <a:r>
              <a:rPr lang="en-US" altLang="ja-JP" sz="800" dirty="0"/>
              <a:t>└── worker</a:t>
            </a:r>
          </a:p>
          <a:p>
            <a:r>
              <a:rPr lang="en-US" altLang="ja-JP" sz="800" dirty="0"/>
              <a:t>    ├── __init__.py</a:t>
            </a:r>
          </a:p>
          <a:p>
            <a:r>
              <a:rPr lang="en-US" altLang="ja-JP" sz="800" dirty="0"/>
              <a:t>    ├── task_handler.py</a:t>
            </a:r>
          </a:p>
          <a:p>
            <a:r>
              <a:rPr lang="en-US" altLang="ja-JP" sz="800" dirty="0"/>
              <a:t>    └── worker_runner.py</a:t>
            </a:r>
          </a:p>
          <a:p>
            <a:endParaRPr kumimoji="1" lang="ja-JP" altLang="en-US" dirty="0"/>
          </a:p>
        </p:txBody>
      </p:sp>
      <p:sp>
        <p:nvSpPr>
          <p:cNvPr id="4" name="スライド番号プレースホルダー 3">
            <a:extLst>
              <a:ext uri="{FF2B5EF4-FFF2-40B4-BE49-F238E27FC236}">
                <a16:creationId xmlns:a16="http://schemas.microsoft.com/office/drawing/2014/main" id="{16197AA0-65AE-321C-8B28-A99E04023597}"/>
              </a:ext>
            </a:extLst>
          </p:cNvPr>
          <p:cNvSpPr>
            <a:spLocks noGrp="1"/>
          </p:cNvSpPr>
          <p:nvPr>
            <p:ph type="sldNum" sz="quarter" idx="5"/>
          </p:nvPr>
        </p:nvSpPr>
        <p:spPr/>
        <p:txBody>
          <a:bodyPr/>
          <a:lstStyle/>
          <a:p>
            <a:fld id="{2ED28A4C-6EF5-4767-8676-BA9266CC8394}" type="slidenum">
              <a:rPr kumimoji="1" lang="ja-JP" altLang="en-US" smtClean="0"/>
              <a:t>27</a:t>
            </a:fld>
            <a:endParaRPr kumimoji="1" lang="ja-JP" altLang="en-US"/>
          </a:p>
        </p:txBody>
      </p:sp>
    </p:spTree>
    <p:extLst>
      <p:ext uri="{BB962C8B-B14F-4D97-AF65-F5344CB8AC3E}">
        <p14:creationId xmlns:p14="http://schemas.microsoft.com/office/powerpoint/2010/main" val="3275088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E4DBD4-5AE9-D664-F96E-066438D16AD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50E11B0-D88C-9592-27D8-2DDAF003A3C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56213FD-4302-60A3-977D-9DB5DF769EF1}"/>
              </a:ext>
            </a:extLst>
          </p:cNvPr>
          <p:cNvSpPr>
            <a:spLocks noGrp="1"/>
          </p:cNvSpPr>
          <p:nvPr>
            <p:ph type="body" idx="1"/>
          </p:nvPr>
        </p:nvSpPr>
        <p:spPr/>
        <p:txBody>
          <a:bodyPr/>
          <a:lstStyle/>
          <a:p>
            <a:r>
              <a:rPr lang="en-US" altLang="ja-JP" sz="800" dirty="0"/>
              <a:t>.</a:t>
            </a:r>
          </a:p>
          <a:p>
            <a:r>
              <a:rPr lang="en-US" altLang="ja-JP" sz="800" dirty="0"/>
              <a:t>├── .env</a:t>
            </a:r>
          </a:p>
          <a:p>
            <a:r>
              <a:rPr lang="en-US" altLang="ja-JP" sz="800" dirty="0"/>
              <a:t>├── requirements.txt</a:t>
            </a:r>
          </a:p>
          <a:p>
            <a:r>
              <a:rPr lang="en-US" altLang="ja-JP" sz="800" dirty="0"/>
              <a:t>├── start_api_server.sh</a:t>
            </a:r>
          </a:p>
          <a:p>
            <a:r>
              <a:rPr lang="en-US" altLang="ja-JP" sz="800" dirty="0"/>
              <a:t>├── start_init_db.sh</a:t>
            </a:r>
          </a:p>
          <a:p>
            <a:r>
              <a:rPr lang="en-US" altLang="ja-JP" sz="800" dirty="0"/>
              <a:t>├── start_web_server.sh</a:t>
            </a:r>
          </a:p>
          <a:p>
            <a:r>
              <a:rPr lang="en-US" altLang="ja-JP" sz="800" dirty="0"/>
              <a:t>├── start_worker.sh</a:t>
            </a:r>
          </a:p>
          <a:p>
            <a:r>
              <a:rPr lang="en-US" altLang="ja-JP" sz="800" dirty="0"/>
              <a:t>│</a:t>
            </a:r>
          </a:p>
          <a:p>
            <a:r>
              <a:rPr lang="en-US" altLang="ja-JP" sz="800" dirty="0"/>
              <a:t>├── app</a:t>
            </a:r>
          </a:p>
          <a:p>
            <a:r>
              <a:rPr lang="en-US" altLang="ja-JP" sz="800" dirty="0"/>
              <a:t>│   ├── __init__.py</a:t>
            </a:r>
          </a:p>
          <a:p>
            <a:r>
              <a:rPr lang="en-US" altLang="ja-JP" sz="800" dirty="0"/>
              <a:t>│   ├── main.py</a:t>
            </a:r>
          </a:p>
          <a:p>
            <a:r>
              <a:rPr lang="en-US" altLang="ja-JP" sz="800" dirty="0"/>
              <a:t>│   ├── </a:t>
            </a:r>
            <a:r>
              <a:rPr lang="en-US" altLang="ja-JP" sz="800" dirty="0" err="1"/>
              <a:t>api</a:t>
            </a:r>
            <a:endParaRPr lang="en-US" altLang="ja-JP" sz="800" dirty="0"/>
          </a:p>
          <a:p>
            <a:r>
              <a:rPr lang="en-US" altLang="ja-JP" sz="800" dirty="0"/>
              <a:t>│   │   ├── __init__.py</a:t>
            </a:r>
          </a:p>
          <a:p>
            <a:r>
              <a:rPr lang="en-US" altLang="ja-JP" sz="800" dirty="0"/>
              <a:t>│   │   ├── attendance.py</a:t>
            </a:r>
          </a:p>
          <a:p>
            <a:r>
              <a:rPr lang="en-US" altLang="ja-JP" sz="800" dirty="0"/>
              <a:t>│   │   ├── card.py</a:t>
            </a:r>
          </a:p>
          <a:p>
            <a:r>
              <a:rPr lang="en-US" altLang="ja-JP" sz="800" dirty="0"/>
              <a:t>│   │   └── user.py</a:t>
            </a:r>
          </a:p>
          <a:p>
            <a:r>
              <a:rPr lang="en-US" altLang="ja-JP" sz="800" dirty="0"/>
              <a:t>│   ├── hardware</a:t>
            </a:r>
          </a:p>
          <a:p>
            <a:r>
              <a:rPr lang="en-US" altLang="ja-JP" sz="800" dirty="0"/>
              <a:t>│   │   └── card_reader.py</a:t>
            </a:r>
          </a:p>
          <a:p>
            <a:r>
              <a:rPr lang="en-US" altLang="ja-JP" sz="800" dirty="0"/>
              <a:t>│   ├── schemas</a:t>
            </a:r>
          </a:p>
          <a:p>
            <a:r>
              <a:rPr lang="en-US" altLang="ja-JP" sz="800" dirty="0"/>
              <a:t>│   │   ├── __init__.py</a:t>
            </a:r>
          </a:p>
          <a:p>
            <a:r>
              <a:rPr lang="en-US" altLang="ja-JP" sz="800" dirty="0"/>
              <a:t>│   │   ├── attendance.py</a:t>
            </a:r>
          </a:p>
          <a:p>
            <a:r>
              <a:rPr lang="en-US" altLang="ja-JP" sz="800" dirty="0"/>
              <a:t>│   │   └── user.py</a:t>
            </a:r>
          </a:p>
          <a:p>
            <a:r>
              <a:rPr lang="en-US" altLang="ja-JP" sz="800" dirty="0"/>
              <a:t>│   └── services</a:t>
            </a:r>
          </a:p>
          <a:p>
            <a:r>
              <a:rPr lang="en-US" altLang="ja-JP" sz="800" dirty="0"/>
              <a:t>│       └── card_service.py</a:t>
            </a:r>
          </a:p>
          <a:p>
            <a:r>
              <a:rPr lang="en-US" altLang="ja-JP" sz="800" dirty="0"/>
              <a:t>│</a:t>
            </a:r>
          </a:p>
          <a:p>
            <a:r>
              <a:rPr lang="en-US" altLang="ja-JP" sz="800" dirty="0"/>
              <a:t>├── data</a:t>
            </a:r>
          </a:p>
          <a:p>
            <a:r>
              <a:rPr lang="en-US" altLang="ja-JP" sz="800" dirty="0"/>
              <a:t>│   ├── .init_db.py</a:t>
            </a:r>
          </a:p>
          <a:p>
            <a:r>
              <a:rPr lang="en-US" altLang="ja-JP" sz="800" dirty="0"/>
              <a:t>│   └── </a:t>
            </a:r>
            <a:r>
              <a:rPr lang="en-US" altLang="ja-JP" sz="800" dirty="0" err="1"/>
              <a:t>tasks.db</a:t>
            </a:r>
            <a:endParaRPr lang="en-US" altLang="ja-JP" sz="800" dirty="0"/>
          </a:p>
          <a:p>
            <a:r>
              <a:rPr lang="en-US" altLang="ja-JP" sz="800" dirty="0"/>
              <a:t>│</a:t>
            </a:r>
          </a:p>
          <a:p>
            <a:r>
              <a:rPr lang="en-US" altLang="ja-JP" sz="800" dirty="0"/>
              <a:t>├── logs</a:t>
            </a:r>
          </a:p>
          <a:p>
            <a:r>
              <a:rPr lang="en-US" altLang="ja-JP" sz="800" dirty="0"/>
              <a:t>│   └── *.log</a:t>
            </a:r>
          </a:p>
          <a:p>
            <a:r>
              <a:rPr lang="en-US" altLang="ja-JP" sz="800" dirty="0"/>
              <a:t>│</a:t>
            </a:r>
          </a:p>
          <a:p>
            <a:r>
              <a:rPr lang="en-US" altLang="ja-JP" sz="800" dirty="0"/>
              <a:t>├── shared</a:t>
            </a:r>
          </a:p>
          <a:p>
            <a:r>
              <a:rPr lang="en-US" altLang="ja-JP" sz="800" dirty="0"/>
              <a:t>│   ├── __init__.py</a:t>
            </a:r>
          </a:p>
          <a:p>
            <a:r>
              <a:rPr lang="en-US" altLang="ja-JP" sz="800" dirty="0"/>
              <a:t>│   ├── api_client.py</a:t>
            </a:r>
          </a:p>
          <a:p>
            <a:r>
              <a:rPr lang="en-US" altLang="ja-JP" sz="800" dirty="0"/>
              <a:t>│   ├── aws_client.py</a:t>
            </a:r>
          </a:p>
          <a:p>
            <a:r>
              <a:rPr lang="en-US" altLang="ja-JP" sz="800" dirty="0"/>
              <a:t>│   ├── codec.py</a:t>
            </a:r>
          </a:p>
          <a:p>
            <a:r>
              <a:rPr lang="en-US" altLang="ja-JP" sz="800" dirty="0"/>
              <a:t>│   ├── cognito_client.py</a:t>
            </a:r>
          </a:p>
          <a:p>
            <a:r>
              <a:rPr lang="en-US" altLang="ja-JP" sz="800" dirty="0"/>
              <a:t>│   ├── config.py</a:t>
            </a:r>
          </a:p>
          <a:p>
            <a:r>
              <a:rPr lang="en-US" altLang="ja-JP" sz="800" dirty="0"/>
              <a:t>│   ├── error_handler.py</a:t>
            </a:r>
          </a:p>
          <a:p>
            <a:r>
              <a:rPr lang="en-US" altLang="ja-JP" sz="800" dirty="0"/>
              <a:t>│   ├── sm_client.py</a:t>
            </a:r>
          </a:p>
          <a:p>
            <a:r>
              <a:rPr lang="en-US" altLang="ja-JP" sz="800" dirty="0"/>
              <a:t>│   └── task_queue.py</a:t>
            </a:r>
          </a:p>
          <a:p>
            <a:r>
              <a:rPr lang="en-US" altLang="ja-JP" sz="800" dirty="0"/>
              <a:t>│</a:t>
            </a:r>
          </a:p>
          <a:p>
            <a:r>
              <a:rPr lang="en-US" altLang="ja-JP" sz="800" dirty="0"/>
              <a:t>├── web</a:t>
            </a:r>
          </a:p>
          <a:p>
            <a:r>
              <a:rPr lang="en-US" altLang="ja-JP" sz="800" dirty="0"/>
              <a:t>│   └── frontend</a:t>
            </a:r>
          </a:p>
          <a:p>
            <a:r>
              <a:rPr lang="en-US" altLang="ja-JP" sz="800" dirty="0"/>
              <a:t>│       </a:t>
            </a:r>
            <a:r>
              <a:rPr lang="ja-JP" altLang="en-US" sz="800" dirty="0"/>
              <a:t>  </a:t>
            </a:r>
            <a:r>
              <a:rPr lang="en-US" altLang="ja-JP" sz="800" dirty="0"/>
              <a:t>├── .env</a:t>
            </a:r>
          </a:p>
          <a:p>
            <a:r>
              <a:rPr lang="en-US" altLang="ja-JP" sz="800" dirty="0"/>
              <a:t>│         └── </a:t>
            </a:r>
            <a:r>
              <a:rPr lang="en-US" altLang="ja-JP" sz="800" dirty="0" err="1"/>
              <a:t>src</a:t>
            </a:r>
            <a:endParaRPr lang="en-US" altLang="ja-JP" sz="800" dirty="0"/>
          </a:p>
          <a:p>
            <a:r>
              <a:rPr lang="en-US" altLang="ja-JP" sz="800" dirty="0"/>
              <a:t>│            ├── App.css</a:t>
            </a:r>
          </a:p>
          <a:p>
            <a:r>
              <a:rPr lang="en-US" altLang="ja-JP" sz="800" dirty="0"/>
              <a:t>│            ├── </a:t>
            </a:r>
            <a:r>
              <a:rPr lang="en-US" altLang="ja-JP" sz="800" dirty="0" err="1"/>
              <a:t>App.tsx</a:t>
            </a:r>
            <a:endParaRPr lang="en-US" altLang="ja-JP" sz="800" dirty="0"/>
          </a:p>
          <a:p>
            <a:r>
              <a:rPr lang="en-US" altLang="ja-JP" sz="800" dirty="0"/>
              <a:t>│            ├── index.css</a:t>
            </a:r>
          </a:p>
          <a:p>
            <a:r>
              <a:rPr lang="en-US" altLang="ja-JP" sz="800" dirty="0"/>
              <a:t>│            ├── </a:t>
            </a:r>
            <a:r>
              <a:rPr lang="en-US" altLang="ja-JP" sz="800" dirty="0" err="1"/>
              <a:t>index.tsx</a:t>
            </a:r>
            <a:endParaRPr lang="en-US" altLang="ja-JP" sz="800" dirty="0"/>
          </a:p>
          <a:p>
            <a:r>
              <a:rPr lang="en-US" altLang="ja-JP" sz="800" dirty="0"/>
              <a:t>│            ├── </a:t>
            </a:r>
            <a:r>
              <a:rPr lang="en-US" altLang="ja-JP" sz="800" dirty="0" err="1"/>
              <a:t>api</a:t>
            </a:r>
            <a:endParaRPr lang="en-US" altLang="ja-JP" sz="800" dirty="0"/>
          </a:p>
          <a:p>
            <a:r>
              <a:rPr lang="en-US" altLang="ja-JP" sz="800" dirty="0"/>
              <a:t>│            │   ├── </a:t>
            </a:r>
            <a:r>
              <a:rPr lang="en-US" altLang="ja-JP" sz="800" dirty="0" err="1"/>
              <a:t>attendance.ts</a:t>
            </a:r>
            <a:endParaRPr lang="en-US" altLang="ja-JP" sz="800" dirty="0"/>
          </a:p>
          <a:p>
            <a:r>
              <a:rPr lang="en-US" altLang="ja-JP" sz="800" dirty="0"/>
              <a:t>│            │   ├── </a:t>
            </a:r>
            <a:r>
              <a:rPr lang="en-US" altLang="ja-JP" sz="800" dirty="0" err="1"/>
              <a:t>cardReader.ts</a:t>
            </a:r>
            <a:endParaRPr lang="en-US" altLang="ja-JP" sz="800" dirty="0"/>
          </a:p>
          <a:p>
            <a:r>
              <a:rPr lang="en-US" altLang="ja-JP" sz="800" dirty="0"/>
              <a:t>│            │   └── </a:t>
            </a:r>
            <a:r>
              <a:rPr lang="en-US" altLang="ja-JP" sz="800" dirty="0" err="1"/>
              <a:t>user.ts</a:t>
            </a:r>
            <a:endParaRPr lang="en-US" altLang="ja-JP" sz="800" dirty="0"/>
          </a:p>
          <a:p>
            <a:r>
              <a:rPr lang="en-US" altLang="ja-JP" sz="800" dirty="0"/>
              <a:t>│            ├── hooks</a:t>
            </a:r>
          </a:p>
          <a:p>
            <a:r>
              <a:rPr lang="en-US" altLang="ja-JP" sz="800" dirty="0"/>
              <a:t>│            │   ├── </a:t>
            </a:r>
            <a:r>
              <a:rPr lang="en-US" altLang="ja-JP" sz="800" dirty="0" err="1"/>
              <a:t>useCardReader.ts</a:t>
            </a:r>
            <a:endParaRPr lang="en-US" altLang="ja-JP" sz="800" dirty="0"/>
          </a:p>
          <a:p>
            <a:r>
              <a:rPr lang="en-US" altLang="ja-JP" sz="800" dirty="0"/>
              <a:t>│            │   ├── </a:t>
            </a:r>
            <a:r>
              <a:rPr lang="en-US" altLang="ja-JP" sz="800" dirty="0" err="1"/>
              <a:t>useCurrentTime.ts</a:t>
            </a:r>
            <a:endParaRPr lang="en-US" altLang="ja-JP" sz="800" dirty="0"/>
          </a:p>
          <a:p>
            <a:r>
              <a:rPr lang="en-US" altLang="ja-JP" sz="800" dirty="0"/>
              <a:t>│            │   ├── </a:t>
            </a:r>
            <a:r>
              <a:rPr lang="en-US" altLang="ja-JP" sz="800" dirty="0" err="1"/>
              <a:t>useRegisterAttendance.ts</a:t>
            </a:r>
            <a:endParaRPr lang="en-US" altLang="ja-JP" sz="800" dirty="0"/>
          </a:p>
          <a:p>
            <a:r>
              <a:rPr lang="en-US" altLang="ja-JP" sz="800" dirty="0"/>
              <a:t>│            │   ├── </a:t>
            </a:r>
            <a:r>
              <a:rPr lang="en-US" altLang="ja-JP" sz="800" dirty="0" err="1"/>
              <a:t>useRegisterUser.ts</a:t>
            </a:r>
            <a:endParaRPr lang="en-US" altLang="ja-JP" sz="800" dirty="0"/>
          </a:p>
          <a:p>
            <a:r>
              <a:rPr lang="en-US" altLang="ja-JP" sz="800" dirty="0"/>
              <a:t>│            │   └── </a:t>
            </a:r>
            <a:r>
              <a:rPr lang="en-US" altLang="ja-JP" sz="800" dirty="0" err="1"/>
              <a:t>useTimeOfDay.ts</a:t>
            </a:r>
            <a:endParaRPr lang="en-US" altLang="ja-JP" sz="800" dirty="0"/>
          </a:p>
          <a:p>
            <a:r>
              <a:rPr lang="en-US" altLang="ja-JP" sz="800" dirty="0"/>
              <a:t>│            └── pages</a:t>
            </a:r>
          </a:p>
          <a:p>
            <a:r>
              <a:rPr lang="en-US" altLang="ja-JP" sz="800" dirty="0"/>
              <a:t>│                  ├── </a:t>
            </a:r>
            <a:r>
              <a:rPr lang="en-US" altLang="ja-JP" sz="800" dirty="0" err="1"/>
              <a:t>HomePage</a:t>
            </a:r>
            <a:endParaRPr lang="en-US" altLang="ja-JP" sz="800" dirty="0"/>
          </a:p>
          <a:p>
            <a:r>
              <a:rPr lang="en-US" altLang="ja-JP" sz="800" dirty="0"/>
              <a:t>│                  │   ├── HomePage.css</a:t>
            </a:r>
          </a:p>
          <a:p>
            <a:r>
              <a:rPr lang="en-US" altLang="ja-JP" sz="800" dirty="0"/>
              <a:t>│                  │   └── </a:t>
            </a:r>
            <a:r>
              <a:rPr lang="en-US" altLang="ja-JP" sz="800" dirty="0" err="1"/>
              <a:t>HomePage.tsx</a:t>
            </a:r>
            <a:endParaRPr lang="en-US" altLang="ja-JP" sz="800" dirty="0"/>
          </a:p>
          <a:p>
            <a:r>
              <a:rPr lang="en-US" altLang="ja-JP" sz="800" dirty="0"/>
              <a:t>│                  ├── </a:t>
            </a:r>
            <a:r>
              <a:rPr lang="en-US" altLang="ja-JP" sz="800" dirty="0" err="1"/>
              <a:t>RegisterAttendance</a:t>
            </a:r>
            <a:endParaRPr lang="en-US" altLang="ja-JP" sz="800" dirty="0"/>
          </a:p>
          <a:p>
            <a:r>
              <a:rPr lang="en-US" altLang="ja-JP" sz="800" dirty="0"/>
              <a:t>│                  │   ├── AttendanceCardWaitPage.css</a:t>
            </a:r>
          </a:p>
          <a:p>
            <a:r>
              <a:rPr lang="en-US" altLang="ja-JP" sz="800" dirty="0"/>
              <a:t>│                  │   └── </a:t>
            </a:r>
            <a:r>
              <a:rPr lang="en-US" altLang="ja-JP" sz="800" dirty="0" err="1"/>
              <a:t>AttendanceCardWaitPage.tsx</a:t>
            </a:r>
            <a:endParaRPr lang="en-US" altLang="ja-JP" sz="800" dirty="0"/>
          </a:p>
          <a:p>
            <a:r>
              <a:rPr lang="en-US" altLang="ja-JP" sz="800" dirty="0"/>
              <a:t>│                  └── </a:t>
            </a:r>
            <a:r>
              <a:rPr lang="en-US" altLang="ja-JP" sz="800" dirty="0" err="1"/>
              <a:t>RegisterUser</a:t>
            </a:r>
            <a:endParaRPr lang="en-US" altLang="ja-JP" sz="800" dirty="0"/>
          </a:p>
          <a:p>
            <a:r>
              <a:rPr lang="en-US" altLang="ja-JP" sz="800" dirty="0"/>
              <a:t>│                        ├── UserCardWaitPage.css</a:t>
            </a:r>
          </a:p>
          <a:p>
            <a:r>
              <a:rPr lang="en-US" altLang="ja-JP" sz="800" dirty="0"/>
              <a:t>│                        ├── </a:t>
            </a:r>
            <a:r>
              <a:rPr lang="en-US" altLang="ja-JP" sz="800" dirty="0" err="1"/>
              <a:t>UserCardWaitPage.tsx</a:t>
            </a:r>
            <a:endParaRPr lang="en-US" altLang="ja-JP" sz="800" dirty="0"/>
          </a:p>
          <a:p>
            <a:r>
              <a:rPr lang="en-US" altLang="ja-JP" sz="800" dirty="0"/>
              <a:t>│                        ├── UserSelectPage.css</a:t>
            </a:r>
          </a:p>
          <a:p>
            <a:r>
              <a:rPr lang="en-US" altLang="ja-JP" sz="800" dirty="0"/>
              <a:t>│                        └── </a:t>
            </a:r>
            <a:r>
              <a:rPr lang="en-US" altLang="ja-JP" sz="800" dirty="0" err="1"/>
              <a:t>UserSelectPage.tsx</a:t>
            </a:r>
            <a:endParaRPr lang="en-US" altLang="ja-JP" sz="800" dirty="0"/>
          </a:p>
          <a:p>
            <a:r>
              <a:rPr lang="en-US" altLang="ja-JP" sz="800" dirty="0"/>
              <a:t>│</a:t>
            </a:r>
            <a:endParaRPr lang="en-US" altLang="ja-JP" sz="800" b="1" dirty="0"/>
          </a:p>
          <a:p>
            <a:r>
              <a:rPr lang="en-US" altLang="ja-JP" sz="800" dirty="0"/>
              <a:t>└── worker</a:t>
            </a:r>
          </a:p>
          <a:p>
            <a:r>
              <a:rPr lang="en-US" altLang="ja-JP" sz="800" dirty="0"/>
              <a:t>    ├── __init__.py</a:t>
            </a:r>
          </a:p>
          <a:p>
            <a:r>
              <a:rPr lang="en-US" altLang="ja-JP" sz="800" dirty="0"/>
              <a:t>    ├── task_handler.py</a:t>
            </a:r>
          </a:p>
          <a:p>
            <a:r>
              <a:rPr lang="en-US" altLang="ja-JP" sz="800" dirty="0"/>
              <a:t>    └── worker_runner.py</a:t>
            </a:r>
          </a:p>
          <a:p>
            <a:endParaRPr kumimoji="1" lang="ja-JP" altLang="en-US" dirty="0"/>
          </a:p>
        </p:txBody>
      </p:sp>
      <p:sp>
        <p:nvSpPr>
          <p:cNvPr id="4" name="スライド番号プレースホルダー 3">
            <a:extLst>
              <a:ext uri="{FF2B5EF4-FFF2-40B4-BE49-F238E27FC236}">
                <a16:creationId xmlns:a16="http://schemas.microsoft.com/office/drawing/2014/main" id="{720384DA-80D8-3625-0138-74D6870676F5}"/>
              </a:ext>
            </a:extLst>
          </p:cNvPr>
          <p:cNvSpPr>
            <a:spLocks noGrp="1"/>
          </p:cNvSpPr>
          <p:nvPr>
            <p:ph type="sldNum" sz="quarter" idx="5"/>
          </p:nvPr>
        </p:nvSpPr>
        <p:spPr/>
        <p:txBody>
          <a:bodyPr/>
          <a:lstStyle/>
          <a:p>
            <a:fld id="{2ED28A4C-6EF5-4767-8676-BA9266CC8394}" type="slidenum">
              <a:rPr kumimoji="1" lang="ja-JP" altLang="en-US" smtClean="0"/>
              <a:t>28</a:t>
            </a:fld>
            <a:endParaRPr kumimoji="1" lang="ja-JP" altLang="en-US"/>
          </a:p>
        </p:txBody>
      </p:sp>
    </p:spTree>
    <p:extLst>
      <p:ext uri="{BB962C8B-B14F-4D97-AF65-F5344CB8AC3E}">
        <p14:creationId xmlns:p14="http://schemas.microsoft.com/office/powerpoint/2010/main" val="2684831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05078-9826-3079-F4BE-7CD42666100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48A4A89-4DE0-3D9F-31A9-0B7EF0D79D0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75F16B5-571C-9858-96C8-786DDB6F5088}"/>
              </a:ext>
            </a:extLst>
          </p:cNvPr>
          <p:cNvSpPr>
            <a:spLocks noGrp="1"/>
          </p:cNvSpPr>
          <p:nvPr>
            <p:ph type="body" idx="1"/>
          </p:nvPr>
        </p:nvSpPr>
        <p:spPr/>
        <p:txBody>
          <a:bodyPr/>
          <a:lstStyle/>
          <a:p>
            <a:r>
              <a:rPr lang="en-US" altLang="ja-JP" sz="800" dirty="0"/>
              <a:t>.</a:t>
            </a:r>
          </a:p>
          <a:p>
            <a:r>
              <a:rPr lang="en-US" altLang="ja-JP" sz="800" dirty="0"/>
              <a:t>├── .env</a:t>
            </a:r>
          </a:p>
          <a:p>
            <a:r>
              <a:rPr lang="en-US" altLang="ja-JP" sz="800" dirty="0"/>
              <a:t>├── requirements.txt</a:t>
            </a:r>
          </a:p>
          <a:p>
            <a:r>
              <a:rPr lang="en-US" altLang="ja-JP" sz="800" dirty="0"/>
              <a:t>├── start_api_server.sh</a:t>
            </a:r>
          </a:p>
          <a:p>
            <a:r>
              <a:rPr lang="en-US" altLang="ja-JP" sz="800" dirty="0"/>
              <a:t>├── start_init_db.sh</a:t>
            </a:r>
          </a:p>
          <a:p>
            <a:r>
              <a:rPr lang="en-US" altLang="ja-JP" sz="800" dirty="0"/>
              <a:t>├── start_web_server.sh</a:t>
            </a:r>
          </a:p>
          <a:p>
            <a:r>
              <a:rPr lang="en-US" altLang="ja-JP" sz="800" dirty="0"/>
              <a:t>├── start_worker.sh</a:t>
            </a:r>
          </a:p>
          <a:p>
            <a:r>
              <a:rPr lang="en-US" altLang="ja-JP" sz="800" dirty="0"/>
              <a:t>│</a:t>
            </a:r>
          </a:p>
          <a:p>
            <a:r>
              <a:rPr lang="en-US" altLang="ja-JP" sz="800" dirty="0"/>
              <a:t>├── app</a:t>
            </a:r>
          </a:p>
          <a:p>
            <a:r>
              <a:rPr lang="en-US" altLang="ja-JP" sz="800" dirty="0"/>
              <a:t>│   ├── __init__.py</a:t>
            </a:r>
          </a:p>
          <a:p>
            <a:r>
              <a:rPr lang="en-US" altLang="ja-JP" sz="800" dirty="0"/>
              <a:t>│   ├── main.py</a:t>
            </a:r>
          </a:p>
          <a:p>
            <a:r>
              <a:rPr lang="en-US" altLang="ja-JP" sz="800" dirty="0"/>
              <a:t>│   ├── </a:t>
            </a:r>
            <a:r>
              <a:rPr lang="en-US" altLang="ja-JP" sz="800" dirty="0" err="1"/>
              <a:t>api</a:t>
            </a:r>
            <a:endParaRPr lang="en-US" altLang="ja-JP" sz="800" dirty="0"/>
          </a:p>
          <a:p>
            <a:r>
              <a:rPr lang="en-US" altLang="ja-JP" sz="800" dirty="0"/>
              <a:t>│   │   ├── __init__.py</a:t>
            </a:r>
          </a:p>
          <a:p>
            <a:r>
              <a:rPr lang="en-US" altLang="ja-JP" sz="800" dirty="0"/>
              <a:t>│   │   ├── attendance.py</a:t>
            </a:r>
          </a:p>
          <a:p>
            <a:r>
              <a:rPr lang="en-US" altLang="ja-JP" sz="800" dirty="0"/>
              <a:t>│   │   ├── card.py</a:t>
            </a:r>
          </a:p>
          <a:p>
            <a:r>
              <a:rPr lang="en-US" altLang="ja-JP" sz="800" dirty="0"/>
              <a:t>│   │   └── user.py</a:t>
            </a:r>
          </a:p>
          <a:p>
            <a:r>
              <a:rPr lang="en-US" altLang="ja-JP" sz="800" dirty="0"/>
              <a:t>│   ├── hardware</a:t>
            </a:r>
          </a:p>
          <a:p>
            <a:r>
              <a:rPr lang="en-US" altLang="ja-JP" sz="800" dirty="0"/>
              <a:t>│   │   └── card_reader.py</a:t>
            </a:r>
          </a:p>
          <a:p>
            <a:r>
              <a:rPr lang="en-US" altLang="ja-JP" sz="800" dirty="0"/>
              <a:t>│   ├── schemas</a:t>
            </a:r>
          </a:p>
          <a:p>
            <a:r>
              <a:rPr lang="en-US" altLang="ja-JP" sz="800" dirty="0"/>
              <a:t>│   │   ├── __init__.py</a:t>
            </a:r>
          </a:p>
          <a:p>
            <a:r>
              <a:rPr lang="en-US" altLang="ja-JP" sz="800" dirty="0"/>
              <a:t>│   │   ├── attendance.py</a:t>
            </a:r>
          </a:p>
          <a:p>
            <a:r>
              <a:rPr lang="en-US" altLang="ja-JP" sz="800" dirty="0"/>
              <a:t>│   │   └── user.py</a:t>
            </a:r>
          </a:p>
          <a:p>
            <a:r>
              <a:rPr lang="en-US" altLang="ja-JP" sz="800" dirty="0"/>
              <a:t>│   └── services</a:t>
            </a:r>
          </a:p>
          <a:p>
            <a:r>
              <a:rPr lang="en-US" altLang="ja-JP" sz="800" dirty="0"/>
              <a:t>│       └── card_service.py</a:t>
            </a:r>
          </a:p>
          <a:p>
            <a:r>
              <a:rPr lang="en-US" altLang="ja-JP" sz="800" dirty="0"/>
              <a:t>│</a:t>
            </a:r>
          </a:p>
          <a:p>
            <a:r>
              <a:rPr lang="en-US" altLang="ja-JP" sz="800" dirty="0"/>
              <a:t>├── data</a:t>
            </a:r>
          </a:p>
          <a:p>
            <a:r>
              <a:rPr lang="en-US" altLang="ja-JP" sz="800" dirty="0"/>
              <a:t>│   ├── .init_db.py</a:t>
            </a:r>
          </a:p>
          <a:p>
            <a:r>
              <a:rPr lang="en-US" altLang="ja-JP" sz="800" dirty="0"/>
              <a:t>│   └── </a:t>
            </a:r>
            <a:r>
              <a:rPr lang="en-US" altLang="ja-JP" sz="800" dirty="0" err="1"/>
              <a:t>tasks.db</a:t>
            </a:r>
            <a:endParaRPr lang="en-US" altLang="ja-JP" sz="800" dirty="0"/>
          </a:p>
          <a:p>
            <a:r>
              <a:rPr lang="en-US" altLang="ja-JP" sz="800" dirty="0"/>
              <a:t>│</a:t>
            </a:r>
          </a:p>
          <a:p>
            <a:r>
              <a:rPr lang="en-US" altLang="ja-JP" sz="800" dirty="0"/>
              <a:t>├── logs</a:t>
            </a:r>
          </a:p>
          <a:p>
            <a:r>
              <a:rPr lang="en-US" altLang="ja-JP" sz="800" dirty="0"/>
              <a:t>│   └── *.log</a:t>
            </a:r>
          </a:p>
          <a:p>
            <a:r>
              <a:rPr lang="en-US" altLang="ja-JP" sz="800" dirty="0"/>
              <a:t>│</a:t>
            </a:r>
          </a:p>
          <a:p>
            <a:r>
              <a:rPr lang="en-US" altLang="ja-JP" sz="800" dirty="0"/>
              <a:t>├── shared</a:t>
            </a:r>
          </a:p>
          <a:p>
            <a:r>
              <a:rPr lang="en-US" altLang="ja-JP" sz="800" dirty="0"/>
              <a:t>│   ├── __init__.py</a:t>
            </a:r>
          </a:p>
          <a:p>
            <a:r>
              <a:rPr lang="en-US" altLang="ja-JP" sz="800" dirty="0"/>
              <a:t>│   ├── api_client.py</a:t>
            </a:r>
          </a:p>
          <a:p>
            <a:r>
              <a:rPr lang="en-US" altLang="ja-JP" sz="800" dirty="0"/>
              <a:t>│   ├── aws_client.py</a:t>
            </a:r>
          </a:p>
          <a:p>
            <a:r>
              <a:rPr lang="en-US" altLang="ja-JP" sz="800" dirty="0"/>
              <a:t>│   ├── codec.py</a:t>
            </a:r>
          </a:p>
          <a:p>
            <a:r>
              <a:rPr lang="en-US" altLang="ja-JP" sz="800" dirty="0"/>
              <a:t>│   ├── cognito_client.py</a:t>
            </a:r>
          </a:p>
          <a:p>
            <a:r>
              <a:rPr lang="en-US" altLang="ja-JP" sz="800" dirty="0"/>
              <a:t>│   ├── config.py</a:t>
            </a:r>
          </a:p>
          <a:p>
            <a:r>
              <a:rPr lang="en-US" altLang="ja-JP" sz="800" dirty="0"/>
              <a:t>│   ├── error_handler.py</a:t>
            </a:r>
          </a:p>
          <a:p>
            <a:r>
              <a:rPr lang="en-US" altLang="ja-JP" sz="800" dirty="0"/>
              <a:t>│   ├── sm_client.py</a:t>
            </a:r>
          </a:p>
          <a:p>
            <a:r>
              <a:rPr lang="en-US" altLang="ja-JP" sz="800" dirty="0"/>
              <a:t>│   └── task_queue.py</a:t>
            </a:r>
          </a:p>
          <a:p>
            <a:r>
              <a:rPr lang="en-US" altLang="ja-JP" sz="800" dirty="0"/>
              <a:t>│</a:t>
            </a:r>
          </a:p>
          <a:p>
            <a:r>
              <a:rPr lang="en-US" altLang="ja-JP" sz="800" dirty="0"/>
              <a:t>├── web</a:t>
            </a:r>
          </a:p>
          <a:p>
            <a:r>
              <a:rPr lang="en-US" altLang="ja-JP" sz="800" dirty="0"/>
              <a:t>│   └── frontend</a:t>
            </a:r>
          </a:p>
          <a:p>
            <a:r>
              <a:rPr lang="en-US" altLang="ja-JP" sz="800" dirty="0"/>
              <a:t>│       </a:t>
            </a:r>
            <a:r>
              <a:rPr lang="ja-JP" altLang="en-US" sz="800" dirty="0"/>
              <a:t>  </a:t>
            </a:r>
            <a:r>
              <a:rPr lang="en-US" altLang="ja-JP" sz="800" dirty="0"/>
              <a:t>├── .env</a:t>
            </a:r>
          </a:p>
          <a:p>
            <a:r>
              <a:rPr lang="en-US" altLang="ja-JP" sz="800" dirty="0"/>
              <a:t>│         └── </a:t>
            </a:r>
            <a:r>
              <a:rPr lang="en-US" altLang="ja-JP" sz="800" dirty="0" err="1"/>
              <a:t>src</a:t>
            </a:r>
            <a:endParaRPr lang="en-US" altLang="ja-JP" sz="800" dirty="0"/>
          </a:p>
          <a:p>
            <a:r>
              <a:rPr lang="en-US" altLang="ja-JP" sz="800" dirty="0"/>
              <a:t>│            ├── App.css</a:t>
            </a:r>
          </a:p>
          <a:p>
            <a:r>
              <a:rPr lang="en-US" altLang="ja-JP" sz="800" dirty="0"/>
              <a:t>│            ├── </a:t>
            </a:r>
            <a:r>
              <a:rPr lang="en-US" altLang="ja-JP" sz="800" dirty="0" err="1"/>
              <a:t>App.tsx</a:t>
            </a:r>
            <a:endParaRPr lang="en-US" altLang="ja-JP" sz="800" dirty="0"/>
          </a:p>
          <a:p>
            <a:r>
              <a:rPr lang="en-US" altLang="ja-JP" sz="800" dirty="0"/>
              <a:t>│            ├── index.css</a:t>
            </a:r>
          </a:p>
          <a:p>
            <a:r>
              <a:rPr lang="en-US" altLang="ja-JP" sz="800" dirty="0"/>
              <a:t>│            ├── </a:t>
            </a:r>
            <a:r>
              <a:rPr lang="en-US" altLang="ja-JP" sz="800" dirty="0" err="1"/>
              <a:t>index.tsx</a:t>
            </a:r>
            <a:endParaRPr lang="en-US" altLang="ja-JP" sz="800" dirty="0"/>
          </a:p>
          <a:p>
            <a:r>
              <a:rPr lang="en-US" altLang="ja-JP" sz="800" dirty="0"/>
              <a:t>│            ├── </a:t>
            </a:r>
            <a:r>
              <a:rPr lang="en-US" altLang="ja-JP" sz="800" dirty="0" err="1"/>
              <a:t>api</a:t>
            </a:r>
            <a:endParaRPr lang="en-US" altLang="ja-JP" sz="800" dirty="0"/>
          </a:p>
          <a:p>
            <a:r>
              <a:rPr lang="en-US" altLang="ja-JP" sz="800" dirty="0"/>
              <a:t>│            │   ├── </a:t>
            </a:r>
            <a:r>
              <a:rPr lang="en-US" altLang="ja-JP" sz="800" dirty="0" err="1"/>
              <a:t>attendance.ts</a:t>
            </a:r>
            <a:endParaRPr lang="en-US" altLang="ja-JP" sz="800" dirty="0"/>
          </a:p>
          <a:p>
            <a:r>
              <a:rPr lang="en-US" altLang="ja-JP" sz="800" dirty="0"/>
              <a:t>│            │   ├── </a:t>
            </a:r>
            <a:r>
              <a:rPr lang="en-US" altLang="ja-JP" sz="800" dirty="0" err="1"/>
              <a:t>cardReader.ts</a:t>
            </a:r>
            <a:endParaRPr lang="en-US" altLang="ja-JP" sz="800" dirty="0"/>
          </a:p>
          <a:p>
            <a:r>
              <a:rPr lang="en-US" altLang="ja-JP" sz="800" dirty="0"/>
              <a:t>│            │   └── </a:t>
            </a:r>
            <a:r>
              <a:rPr lang="en-US" altLang="ja-JP" sz="800" dirty="0" err="1"/>
              <a:t>user.ts</a:t>
            </a:r>
            <a:endParaRPr lang="en-US" altLang="ja-JP" sz="800" dirty="0"/>
          </a:p>
          <a:p>
            <a:r>
              <a:rPr lang="en-US" altLang="ja-JP" sz="800" dirty="0"/>
              <a:t>│            ├── hooks</a:t>
            </a:r>
          </a:p>
          <a:p>
            <a:r>
              <a:rPr lang="en-US" altLang="ja-JP" sz="800" dirty="0"/>
              <a:t>│            │   ├── </a:t>
            </a:r>
            <a:r>
              <a:rPr lang="en-US" altLang="ja-JP" sz="800" dirty="0" err="1"/>
              <a:t>useCardReader.ts</a:t>
            </a:r>
            <a:endParaRPr lang="en-US" altLang="ja-JP" sz="800" dirty="0"/>
          </a:p>
          <a:p>
            <a:r>
              <a:rPr lang="en-US" altLang="ja-JP" sz="800" dirty="0"/>
              <a:t>│            │   ├── </a:t>
            </a:r>
            <a:r>
              <a:rPr lang="en-US" altLang="ja-JP" sz="800" dirty="0" err="1"/>
              <a:t>useCurrentTime.ts</a:t>
            </a:r>
            <a:endParaRPr lang="en-US" altLang="ja-JP" sz="800" dirty="0"/>
          </a:p>
          <a:p>
            <a:r>
              <a:rPr lang="en-US" altLang="ja-JP" sz="800" dirty="0"/>
              <a:t>│            │   ├── </a:t>
            </a:r>
            <a:r>
              <a:rPr lang="en-US" altLang="ja-JP" sz="800" dirty="0" err="1"/>
              <a:t>useRegisterAttendance.ts</a:t>
            </a:r>
            <a:endParaRPr lang="en-US" altLang="ja-JP" sz="800" dirty="0"/>
          </a:p>
          <a:p>
            <a:r>
              <a:rPr lang="en-US" altLang="ja-JP" sz="800" dirty="0"/>
              <a:t>│            │   ├── </a:t>
            </a:r>
            <a:r>
              <a:rPr lang="en-US" altLang="ja-JP" sz="800" dirty="0" err="1"/>
              <a:t>useRegisterUser.ts</a:t>
            </a:r>
            <a:endParaRPr lang="en-US" altLang="ja-JP" sz="800" dirty="0"/>
          </a:p>
          <a:p>
            <a:r>
              <a:rPr lang="en-US" altLang="ja-JP" sz="800" dirty="0"/>
              <a:t>│            │   └── </a:t>
            </a:r>
            <a:r>
              <a:rPr lang="en-US" altLang="ja-JP" sz="800" dirty="0" err="1"/>
              <a:t>useTimeOfDay.ts</a:t>
            </a:r>
            <a:endParaRPr lang="en-US" altLang="ja-JP" sz="800" dirty="0"/>
          </a:p>
          <a:p>
            <a:r>
              <a:rPr lang="en-US" altLang="ja-JP" sz="800" dirty="0"/>
              <a:t>│            └── pages</a:t>
            </a:r>
          </a:p>
          <a:p>
            <a:r>
              <a:rPr lang="en-US" altLang="ja-JP" sz="800" dirty="0"/>
              <a:t>│                  ├── </a:t>
            </a:r>
            <a:r>
              <a:rPr lang="en-US" altLang="ja-JP" sz="800" dirty="0" err="1"/>
              <a:t>HomePage</a:t>
            </a:r>
            <a:endParaRPr lang="en-US" altLang="ja-JP" sz="800" dirty="0"/>
          </a:p>
          <a:p>
            <a:r>
              <a:rPr lang="en-US" altLang="ja-JP" sz="800" dirty="0"/>
              <a:t>│                  │   ├── HomePage.css</a:t>
            </a:r>
          </a:p>
          <a:p>
            <a:r>
              <a:rPr lang="en-US" altLang="ja-JP" sz="800" dirty="0"/>
              <a:t>│                  │   └── </a:t>
            </a:r>
            <a:r>
              <a:rPr lang="en-US" altLang="ja-JP" sz="800" dirty="0" err="1"/>
              <a:t>HomePage.tsx</a:t>
            </a:r>
            <a:endParaRPr lang="en-US" altLang="ja-JP" sz="800" dirty="0"/>
          </a:p>
          <a:p>
            <a:r>
              <a:rPr lang="en-US" altLang="ja-JP" sz="800" dirty="0"/>
              <a:t>│                  ├── </a:t>
            </a:r>
            <a:r>
              <a:rPr lang="en-US" altLang="ja-JP" sz="800" dirty="0" err="1"/>
              <a:t>RegisterAttendance</a:t>
            </a:r>
            <a:endParaRPr lang="en-US" altLang="ja-JP" sz="800" dirty="0"/>
          </a:p>
          <a:p>
            <a:r>
              <a:rPr lang="en-US" altLang="ja-JP" sz="800" dirty="0"/>
              <a:t>│                  │   ├── AttendanceCardWaitPage.css</a:t>
            </a:r>
          </a:p>
          <a:p>
            <a:r>
              <a:rPr lang="en-US" altLang="ja-JP" sz="800" dirty="0"/>
              <a:t>│                  │   └── </a:t>
            </a:r>
            <a:r>
              <a:rPr lang="en-US" altLang="ja-JP" sz="800" dirty="0" err="1"/>
              <a:t>AttendanceCardWaitPage.tsx</a:t>
            </a:r>
            <a:endParaRPr lang="en-US" altLang="ja-JP" sz="800" dirty="0"/>
          </a:p>
          <a:p>
            <a:r>
              <a:rPr lang="en-US" altLang="ja-JP" sz="800" dirty="0"/>
              <a:t>│                  └── </a:t>
            </a:r>
            <a:r>
              <a:rPr lang="en-US" altLang="ja-JP" sz="800" dirty="0" err="1"/>
              <a:t>RegisterUser</a:t>
            </a:r>
            <a:endParaRPr lang="en-US" altLang="ja-JP" sz="800" dirty="0"/>
          </a:p>
          <a:p>
            <a:r>
              <a:rPr lang="en-US" altLang="ja-JP" sz="800" dirty="0"/>
              <a:t>│                        ├── UserCardWaitPage.css</a:t>
            </a:r>
          </a:p>
          <a:p>
            <a:r>
              <a:rPr lang="en-US" altLang="ja-JP" sz="800" dirty="0"/>
              <a:t>│                        ├── </a:t>
            </a:r>
            <a:r>
              <a:rPr lang="en-US" altLang="ja-JP" sz="800" dirty="0" err="1"/>
              <a:t>UserCardWaitPage.tsx</a:t>
            </a:r>
            <a:endParaRPr lang="en-US" altLang="ja-JP" sz="800" dirty="0"/>
          </a:p>
          <a:p>
            <a:r>
              <a:rPr lang="en-US" altLang="ja-JP" sz="800" dirty="0"/>
              <a:t>│                        ├── UserSelectPage.css</a:t>
            </a:r>
          </a:p>
          <a:p>
            <a:r>
              <a:rPr lang="en-US" altLang="ja-JP" sz="800" dirty="0"/>
              <a:t>│                        └── </a:t>
            </a:r>
            <a:r>
              <a:rPr lang="en-US" altLang="ja-JP" sz="800" dirty="0" err="1"/>
              <a:t>UserSelectPage.tsx</a:t>
            </a:r>
            <a:endParaRPr lang="en-US" altLang="ja-JP" sz="800" dirty="0"/>
          </a:p>
          <a:p>
            <a:r>
              <a:rPr lang="en-US" altLang="ja-JP" sz="800" dirty="0"/>
              <a:t>│</a:t>
            </a:r>
            <a:endParaRPr lang="en-US" altLang="ja-JP" sz="800" b="1" dirty="0"/>
          </a:p>
          <a:p>
            <a:r>
              <a:rPr lang="en-US" altLang="ja-JP" sz="800" dirty="0"/>
              <a:t>└── worker</a:t>
            </a:r>
          </a:p>
          <a:p>
            <a:r>
              <a:rPr lang="en-US" altLang="ja-JP" sz="800" dirty="0"/>
              <a:t>    ├── __init__.py</a:t>
            </a:r>
          </a:p>
          <a:p>
            <a:r>
              <a:rPr lang="en-US" altLang="ja-JP" sz="800" dirty="0"/>
              <a:t>    ├── task_handler.py</a:t>
            </a:r>
          </a:p>
          <a:p>
            <a:r>
              <a:rPr lang="en-US" altLang="ja-JP" sz="800" dirty="0"/>
              <a:t>    └── worker_runner.py</a:t>
            </a:r>
          </a:p>
          <a:p>
            <a:endParaRPr kumimoji="1" lang="ja-JP" altLang="en-US" dirty="0"/>
          </a:p>
        </p:txBody>
      </p:sp>
      <p:sp>
        <p:nvSpPr>
          <p:cNvPr id="4" name="スライド番号プレースホルダー 3">
            <a:extLst>
              <a:ext uri="{FF2B5EF4-FFF2-40B4-BE49-F238E27FC236}">
                <a16:creationId xmlns:a16="http://schemas.microsoft.com/office/drawing/2014/main" id="{D6C2A35F-ED16-721E-EEE4-17DECA149E9D}"/>
              </a:ext>
            </a:extLst>
          </p:cNvPr>
          <p:cNvSpPr>
            <a:spLocks noGrp="1"/>
          </p:cNvSpPr>
          <p:nvPr>
            <p:ph type="sldNum" sz="quarter" idx="5"/>
          </p:nvPr>
        </p:nvSpPr>
        <p:spPr/>
        <p:txBody>
          <a:bodyPr/>
          <a:lstStyle/>
          <a:p>
            <a:fld id="{2ED28A4C-6EF5-4767-8676-BA9266CC8394}" type="slidenum">
              <a:rPr kumimoji="1" lang="ja-JP" altLang="en-US" smtClean="0"/>
              <a:t>29</a:t>
            </a:fld>
            <a:endParaRPr kumimoji="1" lang="ja-JP" altLang="en-US"/>
          </a:p>
        </p:txBody>
      </p:sp>
    </p:spTree>
    <p:extLst>
      <p:ext uri="{BB962C8B-B14F-4D97-AF65-F5344CB8AC3E}">
        <p14:creationId xmlns:p14="http://schemas.microsoft.com/office/powerpoint/2010/main" val="16112090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スライド">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33CBE598-3669-4C1A-9D89-ED0015F71670}"/>
              </a:ext>
            </a:extLst>
          </p:cNvPr>
          <p:cNvSpPr/>
          <p:nvPr userDrawn="1"/>
        </p:nvSpPr>
        <p:spPr>
          <a:xfrm>
            <a:off x="0" y="3437435"/>
            <a:ext cx="9144000" cy="1324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2" name="タイトル 1">
            <a:extLst>
              <a:ext uri="{FF2B5EF4-FFF2-40B4-BE49-F238E27FC236}">
                <a16:creationId xmlns:a16="http://schemas.microsoft.com/office/drawing/2014/main" id="{2285A8D1-3FE3-49DF-BA03-A613038FE087}"/>
              </a:ext>
            </a:extLst>
          </p:cNvPr>
          <p:cNvSpPr>
            <a:spLocks noGrp="1"/>
          </p:cNvSpPr>
          <p:nvPr>
            <p:ph type="title" hasCustomPrompt="1"/>
          </p:nvPr>
        </p:nvSpPr>
        <p:spPr>
          <a:xfrm>
            <a:off x="628650" y="2073414"/>
            <a:ext cx="7886700" cy="1364842"/>
          </a:xfrm>
        </p:spPr>
        <p:txBody>
          <a:bodyPr anchor="b" anchorCtr="0">
            <a:noAutofit/>
          </a:bodyPr>
          <a:lstStyle>
            <a:lvl1pPr algn="ctr">
              <a:defRPr sz="4800" b="1">
                <a:solidFill>
                  <a:schemeClr val="tx1"/>
                </a:solidFill>
              </a:defRPr>
            </a:lvl1pPr>
          </a:lstStyle>
          <a:p>
            <a:r>
              <a:rPr kumimoji="1" lang="ja-JP" altLang="en-US" dirty="0"/>
              <a:t>タイトル</a:t>
            </a:r>
          </a:p>
        </p:txBody>
      </p:sp>
      <p:sp>
        <p:nvSpPr>
          <p:cNvPr id="7" name="テキスト プレースホルダー 3">
            <a:extLst>
              <a:ext uri="{FF2B5EF4-FFF2-40B4-BE49-F238E27FC236}">
                <a16:creationId xmlns:a16="http://schemas.microsoft.com/office/drawing/2014/main" id="{ABB37D6A-2BE2-B125-C52E-D1FB709A83E3}"/>
              </a:ext>
            </a:extLst>
          </p:cNvPr>
          <p:cNvSpPr>
            <a:spLocks noGrp="1"/>
          </p:cNvSpPr>
          <p:nvPr>
            <p:ph type="body" sz="quarter" idx="13" hasCustomPrompt="1"/>
          </p:nvPr>
        </p:nvSpPr>
        <p:spPr>
          <a:xfrm>
            <a:off x="1046956" y="3754151"/>
            <a:ext cx="7050088" cy="1154112"/>
          </a:xfrm>
        </p:spPr>
        <p:txBody>
          <a:bodyPr>
            <a:normAutofit/>
          </a:bodyPr>
          <a:lstStyle>
            <a:lvl1pPr marL="0" indent="0" algn="ctr">
              <a:buNone/>
              <a:defRPr sz="1800" b="0">
                <a:solidFill>
                  <a:schemeClr val="tx1"/>
                </a:solidFill>
              </a:defRPr>
            </a:lvl1pPr>
          </a:lstStyle>
          <a:p>
            <a:pPr lvl="0"/>
            <a:r>
              <a:rPr kumimoji="1" lang="ja-JP" altLang="en-US" dirty="0"/>
              <a:t>サブタイトル</a:t>
            </a:r>
          </a:p>
        </p:txBody>
      </p:sp>
    </p:spTree>
    <p:extLst>
      <p:ext uri="{BB962C8B-B14F-4D97-AF65-F5344CB8AC3E}">
        <p14:creationId xmlns:p14="http://schemas.microsoft.com/office/powerpoint/2010/main" val="3684666218"/>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セクション見出しスライド">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BC271A49-B0CF-20C8-BC85-801D192B7539}"/>
              </a:ext>
            </a:extLst>
          </p:cNvPr>
          <p:cNvSpPr/>
          <p:nvPr userDrawn="1"/>
        </p:nvSpPr>
        <p:spPr>
          <a:xfrm>
            <a:off x="0" y="2337757"/>
            <a:ext cx="9144000" cy="219111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dirty="0"/>
          </a:p>
        </p:txBody>
      </p:sp>
      <p:sp>
        <p:nvSpPr>
          <p:cNvPr id="2" name="タイトル 1">
            <a:extLst>
              <a:ext uri="{FF2B5EF4-FFF2-40B4-BE49-F238E27FC236}">
                <a16:creationId xmlns:a16="http://schemas.microsoft.com/office/drawing/2014/main" id="{C6849A3A-6B96-408E-B522-964E3E5E0FA9}"/>
              </a:ext>
            </a:extLst>
          </p:cNvPr>
          <p:cNvSpPr>
            <a:spLocks noGrp="1"/>
          </p:cNvSpPr>
          <p:nvPr>
            <p:ph type="ctrTitle" hasCustomPrompt="1"/>
          </p:nvPr>
        </p:nvSpPr>
        <p:spPr>
          <a:xfrm>
            <a:off x="478767" y="3199186"/>
            <a:ext cx="6858000" cy="770179"/>
          </a:xfrm>
          <a:noFill/>
          <a:ln>
            <a:noFill/>
          </a:ln>
        </p:spPr>
        <p:txBody>
          <a:bodyPr anchor="t" anchorCtr="0">
            <a:noAutofit/>
          </a:bodyPr>
          <a:lstStyle>
            <a:lvl1pPr algn="l">
              <a:defRPr sz="4800" b="1">
                <a:solidFill>
                  <a:schemeClr val="bg2"/>
                </a:solidFill>
              </a:defRPr>
            </a:lvl1pPr>
          </a:lstStyle>
          <a:p>
            <a:r>
              <a:rPr kumimoji="1" lang="ja-JP" altLang="en-US" dirty="0"/>
              <a:t>セクション名</a:t>
            </a:r>
          </a:p>
        </p:txBody>
      </p:sp>
    </p:spTree>
    <p:extLst>
      <p:ext uri="{BB962C8B-B14F-4D97-AF65-F5344CB8AC3E}">
        <p14:creationId xmlns:p14="http://schemas.microsoft.com/office/powerpoint/2010/main" val="5706516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タイトルスライド②">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7AA235E2-0422-444E-AAD5-73FF27B16078}"/>
              </a:ext>
            </a:extLst>
          </p:cNvPr>
          <p:cNvSpPr/>
          <p:nvPr userDrawn="1"/>
        </p:nvSpPr>
        <p:spPr>
          <a:xfrm>
            <a:off x="0" y="1"/>
            <a:ext cx="9144000" cy="485667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dirty="0"/>
          </a:p>
        </p:txBody>
      </p:sp>
      <p:sp>
        <p:nvSpPr>
          <p:cNvPr id="2" name="タイトル 1">
            <a:extLst>
              <a:ext uri="{FF2B5EF4-FFF2-40B4-BE49-F238E27FC236}">
                <a16:creationId xmlns:a16="http://schemas.microsoft.com/office/drawing/2014/main" id="{C6849A3A-6B96-408E-B522-964E3E5E0FA9}"/>
              </a:ext>
            </a:extLst>
          </p:cNvPr>
          <p:cNvSpPr>
            <a:spLocks noGrp="1"/>
          </p:cNvSpPr>
          <p:nvPr>
            <p:ph type="ctrTitle" hasCustomPrompt="1"/>
          </p:nvPr>
        </p:nvSpPr>
        <p:spPr>
          <a:xfrm>
            <a:off x="409708" y="1819302"/>
            <a:ext cx="8393982" cy="2731492"/>
          </a:xfrm>
          <a:noFill/>
          <a:ln>
            <a:noFill/>
          </a:ln>
        </p:spPr>
        <p:txBody>
          <a:bodyPr anchor="t" anchorCtr="0">
            <a:noAutofit/>
          </a:bodyPr>
          <a:lstStyle>
            <a:lvl1pPr algn="l">
              <a:lnSpc>
                <a:spcPct val="100000"/>
              </a:lnSpc>
              <a:defRPr sz="4000" b="1">
                <a:solidFill>
                  <a:schemeClr val="bg2"/>
                </a:solidFill>
              </a:defRPr>
            </a:lvl1pPr>
          </a:lstStyle>
          <a:p>
            <a:r>
              <a:rPr kumimoji="1" lang="ja-JP" altLang="en-US" dirty="0"/>
              <a:t>タイトル</a:t>
            </a:r>
          </a:p>
        </p:txBody>
      </p:sp>
      <p:sp>
        <p:nvSpPr>
          <p:cNvPr id="3" name="テキスト ボックス 2">
            <a:extLst>
              <a:ext uri="{FF2B5EF4-FFF2-40B4-BE49-F238E27FC236}">
                <a16:creationId xmlns:a16="http://schemas.microsoft.com/office/drawing/2014/main" id="{E1329B34-92D7-2FA1-A28E-CC462C604B2A}"/>
              </a:ext>
            </a:extLst>
          </p:cNvPr>
          <p:cNvSpPr txBox="1"/>
          <p:nvPr userDrawn="1"/>
        </p:nvSpPr>
        <p:spPr>
          <a:xfrm>
            <a:off x="323967" y="5258421"/>
            <a:ext cx="4264966" cy="461665"/>
          </a:xfrm>
          <a:prstGeom prst="rect">
            <a:avLst/>
          </a:prstGeom>
          <a:noFill/>
        </p:spPr>
        <p:txBody>
          <a:bodyPr wrap="square" rtlCol="0">
            <a:spAutoFit/>
          </a:bodyPr>
          <a:lstStyle/>
          <a:p>
            <a:pPr algn="l"/>
            <a:r>
              <a:rPr kumimoji="1" lang="ja-JP" altLang="en-US" sz="2400" b="1" dirty="0">
                <a:solidFill>
                  <a:schemeClr val="tx1"/>
                </a:solidFill>
              </a:rPr>
              <a:t>原田 海斗</a:t>
            </a:r>
            <a:r>
              <a:rPr kumimoji="1" lang="en-US" altLang="ja-JP" sz="2400" b="1" baseline="30000" dirty="0">
                <a:solidFill>
                  <a:schemeClr val="tx1"/>
                </a:solidFill>
              </a:rPr>
              <a:t>1</a:t>
            </a:r>
            <a:r>
              <a:rPr kumimoji="1" lang="ja-JP" altLang="en-US" sz="2400" b="1" dirty="0">
                <a:solidFill>
                  <a:schemeClr val="tx1"/>
                </a:solidFill>
              </a:rPr>
              <a:t>　</a:t>
            </a:r>
            <a:r>
              <a:rPr kumimoji="1" lang="ja-JP" altLang="en-US" sz="2400" b="0" dirty="0">
                <a:solidFill>
                  <a:schemeClr val="tx1"/>
                </a:solidFill>
              </a:rPr>
              <a:t>峰野 博史</a:t>
            </a:r>
            <a:r>
              <a:rPr kumimoji="1" lang="en-US" altLang="ja-JP" sz="2400" b="0" baseline="30000" dirty="0">
                <a:solidFill>
                  <a:schemeClr val="tx1"/>
                </a:solidFill>
              </a:rPr>
              <a:t>2</a:t>
            </a:r>
          </a:p>
        </p:txBody>
      </p:sp>
      <p:sp>
        <p:nvSpPr>
          <p:cNvPr id="5" name="テキスト ボックス 4">
            <a:extLst>
              <a:ext uri="{FF2B5EF4-FFF2-40B4-BE49-F238E27FC236}">
                <a16:creationId xmlns:a16="http://schemas.microsoft.com/office/drawing/2014/main" id="{D4618789-8F27-7D1D-A679-3615B354018A}"/>
              </a:ext>
            </a:extLst>
          </p:cNvPr>
          <p:cNvSpPr txBox="1"/>
          <p:nvPr userDrawn="1"/>
        </p:nvSpPr>
        <p:spPr>
          <a:xfrm>
            <a:off x="323967" y="5806029"/>
            <a:ext cx="8108833" cy="670953"/>
          </a:xfrm>
          <a:prstGeom prst="rect">
            <a:avLst/>
          </a:prstGeom>
          <a:noFill/>
        </p:spPr>
        <p:txBody>
          <a:bodyPr wrap="square">
            <a:spAutoFit/>
          </a:bodyPr>
          <a:lstStyle/>
          <a:p>
            <a:pPr algn="l">
              <a:lnSpc>
                <a:spcPct val="120000"/>
              </a:lnSpc>
            </a:pPr>
            <a:r>
              <a:rPr kumimoji="1" lang="en-US" altLang="ja-JP" sz="1600" baseline="30000" dirty="0">
                <a:solidFill>
                  <a:schemeClr val="tx1"/>
                </a:solidFill>
              </a:rPr>
              <a:t>1</a:t>
            </a:r>
            <a:r>
              <a:rPr kumimoji="1" lang="ja-JP" altLang="en-US" sz="1600" baseline="30000" dirty="0">
                <a:solidFill>
                  <a:schemeClr val="tx1"/>
                </a:solidFill>
              </a:rPr>
              <a:t>　</a:t>
            </a:r>
            <a:r>
              <a:rPr kumimoji="1" lang="ja-JP" altLang="en-US" sz="1600" dirty="0">
                <a:solidFill>
                  <a:schemeClr val="tx1"/>
                </a:solidFill>
              </a:rPr>
              <a:t>静岡大学大学院総合科学技術研究科情報学専攻</a:t>
            </a:r>
          </a:p>
          <a:p>
            <a:pPr algn="l">
              <a:lnSpc>
                <a:spcPct val="120000"/>
              </a:lnSpc>
            </a:pPr>
            <a:r>
              <a:rPr kumimoji="1" lang="en-US" altLang="ja-JP" sz="1600" baseline="30000" dirty="0">
                <a:solidFill>
                  <a:schemeClr val="tx1"/>
                </a:solidFill>
              </a:rPr>
              <a:t>2</a:t>
            </a:r>
            <a:r>
              <a:rPr kumimoji="1" lang="ja-JP" altLang="en-US" sz="1600" baseline="30000" dirty="0">
                <a:solidFill>
                  <a:schemeClr val="tx1"/>
                </a:solidFill>
              </a:rPr>
              <a:t>　</a:t>
            </a:r>
            <a:r>
              <a:rPr kumimoji="1" lang="ja-JP" altLang="en-US" sz="1600" dirty="0">
                <a:solidFill>
                  <a:schemeClr val="tx1"/>
                </a:solidFill>
              </a:rPr>
              <a:t>静岡大学グリーン科学研究所</a:t>
            </a:r>
          </a:p>
        </p:txBody>
      </p:sp>
      <p:sp>
        <p:nvSpPr>
          <p:cNvPr id="6" name="タイトル 1">
            <a:extLst>
              <a:ext uri="{FF2B5EF4-FFF2-40B4-BE49-F238E27FC236}">
                <a16:creationId xmlns:a16="http://schemas.microsoft.com/office/drawing/2014/main" id="{9DF4E400-7844-C063-928A-ECC253CAF397}"/>
              </a:ext>
            </a:extLst>
          </p:cNvPr>
          <p:cNvSpPr txBox="1">
            <a:spLocks/>
          </p:cNvSpPr>
          <p:nvPr userDrawn="1"/>
        </p:nvSpPr>
        <p:spPr>
          <a:xfrm>
            <a:off x="409708" y="873195"/>
            <a:ext cx="8277092" cy="770179"/>
          </a:xfrm>
          <a:prstGeom prst="rect">
            <a:avLst/>
          </a:prstGeom>
          <a:noFill/>
          <a:ln>
            <a:noFill/>
          </a:ln>
        </p:spPr>
        <p:txBody>
          <a:bodyPr vert="horz" lIns="91440" tIns="45720" rIns="91440" bIns="45720" rtlCol="0" anchor="ctr">
            <a:noAutofit/>
          </a:bodyPr>
          <a:lstStyle>
            <a:lvl1pPr algn="ctr" defTabSz="514350" rtl="0" eaLnBrk="1" latinLnBrk="0" hangingPunct="1">
              <a:lnSpc>
                <a:spcPct val="90000"/>
              </a:lnSpc>
              <a:spcBef>
                <a:spcPct val="0"/>
              </a:spcBef>
              <a:buNone/>
              <a:defRPr kumimoji="1" sz="4400" b="1" kern="1200">
                <a:solidFill>
                  <a:schemeClr val="bg2"/>
                </a:solidFill>
                <a:latin typeface="+mj-lt"/>
                <a:ea typeface="+mj-ea"/>
                <a:cs typeface="+mj-cs"/>
              </a:defRPr>
            </a:lvl1pPr>
          </a:lstStyle>
          <a:p>
            <a:pPr algn="l"/>
            <a:r>
              <a:rPr lang="en-US" altLang="ja-JP" sz="1400" b="0" dirty="0"/>
              <a:t>2025</a:t>
            </a:r>
            <a:r>
              <a:rPr lang="ja-JP" altLang="en-US" sz="1400" b="0" dirty="0"/>
              <a:t>年</a:t>
            </a:r>
            <a:r>
              <a:rPr lang="en-US" altLang="ja-JP" sz="1400" b="0" dirty="0"/>
              <a:t>04</a:t>
            </a:r>
            <a:r>
              <a:rPr lang="ja-JP" altLang="en-US" sz="1400" b="0" dirty="0"/>
              <a:t>月</a:t>
            </a:r>
            <a:r>
              <a:rPr lang="en-US" altLang="ja-JP" sz="1400" b="0" dirty="0"/>
              <a:t>05</a:t>
            </a:r>
            <a:r>
              <a:rPr lang="ja-JP" altLang="en-US" sz="1400" b="0" dirty="0"/>
              <a:t>日</a:t>
            </a:r>
            <a:endParaRPr lang="en-US" altLang="ja-JP" sz="1400" b="0" dirty="0"/>
          </a:p>
          <a:p>
            <a:pPr algn="l"/>
            <a:endParaRPr lang="en-US" altLang="ja-JP" sz="500" b="0" dirty="0"/>
          </a:p>
          <a:p>
            <a:pPr algn="l"/>
            <a:r>
              <a:rPr lang="ja-JP" altLang="en-US" sz="2000" b="0" dirty="0"/>
              <a:t>修士構想発表</a:t>
            </a:r>
          </a:p>
        </p:txBody>
      </p:sp>
    </p:spTree>
    <p:extLst>
      <p:ext uri="{BB962C8B-B14F-4D97-AF65-F5344CB8AC3E}">
        <p14:creationId xmlns:p14="http://schemas.microsoft.com/office/powerpoint/2010/main" val="13511522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ベーススライド">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33CBE598-3669-4C1A-9D89-ED0015F71670}"/>
              </a:ext>
            </a:extLst>
          </p:cNvPr>
          <p:cNvSpPr/>
          <p:nvPr userDrawn="1"/>
        </p:nvSpPr>
        <p:spPr>
          <a:xfrm flipH="1">
            <a:off x="228600" y="254794"/>
            <a:ext cx="107950" cy="611750"/>
          </a:xfrm>
          <a:prstGeom prst="rect">
            <a:avLst/>
          </a:prstGeom>
          <a:solidFill>
            <a:srgbClr val="645D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2" name="タイトル 1">
            <a:extLst>
              <a:ext uri="{FF2B5EF4-FFF2-40B4-BE49-F238E27FC236}">
                <a16:creationId xmlns:a16="http://schemas.microsoft.com/office/drawing/2014/main" id="{2285A8D1-3FE3-49DF-BA03-A613038FE087}"/>
              </a:ext>
            </a:extLst>
          </p:cNvPr>
          <p:cNvSpPr>
            <a:spLocks noGrp="1"/>
          </p:cNvSpPr>
          <p:nvPr>
            <p:ph type="title" hasCustomPrompt="1"/>
          </p:nvPr>
        </p:nvSpPr>
        <p:spPr>
          <a:xfrm>
            <a:off x="428625" y="350082"/>
            <a:ext cx="7886700" cy="576787"/>
          </a:xfrm>
        </p:spPr>
        <p:txBody>
          <a:bodyPr>
            <a:noAutofit/>
          </a:bodyPr>
          <a:lstStyle>
            <a:lvl1pPr>
              <a:defRPr sz="3600" b="1">
                <a:solidFill>
                  <a:schemeClr val="tx1"/>
                </a:solidFill>
              </a:defRPr>
            </a:lvl1pPr>
          </a:lstStyle>
          <a:p>
            <a:r>
              <a:rPr kumimoji="1" lang="ja-JP" altLang="en-US" dirty="0"/>
              <a:t>見出し（セクション名）</a:t>
            </a:r>
          </a:p>
        </p:txBody>
      </p:sp>
      <p:sp>
        <p:nvSpPr>
          <p:cNvPr id="5" name="スライド番号プレースホルダー 5">
            <a:extLst>
              <a:ext uri="{FF2B5EF4-FFF2-40B4-BE49-F238E27FC236}">
                <a16:creationId xmlns:a16="http://schemas.microsoft.com/office/drawing/2014/main" id="{693C9F35-04F5-79D6-85F6-B01A2242A187}"/>
              </a:ext>
            </a:extLst>
          </p:cNvPr>
          <p:cNvSpPr txBox="1">
            <a:spLocks/>
          </p:cNvSpPr>
          <p:nvPr userDrawn="1"/>
        </p:nvSpPr>
        <p:spPr>
          <a:xfrm>
            <a:off x="8439832" y="6488197"/>
            <a:ext cx="661038" cy="268292"/>
          </a:xfrm>
          <a:prstGeom prst="rect">
            <a:avLst/>
          </a:prstGeom>
        </p:spPr>
        <p:txBody>
          <a:bodyPr/>
          <a:lstStyle>
            <a:defPPr>
              <a:defRPr lang="ja-JP"/>
            </a:defPPr>
            <a:lvl1pPr marL="0" algn="l" defTabSz="914400" rtl="0" eaLnBrk="1" latinLnBrk="0" hangingPunct="1">
              <a:defRPr kumimoji="1" sz="14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DB8DA878-EEC5-46EB-9433-5965757D031D}" type="slidenum">
              <a:rPr lang="ja-JP" altLang="en-US" sz="1600" b="1" smtClean="0">
                <a:solidFill>
                  <a:schemeClr val="tx1"/>
                </a:solidFill>
              </a:rPr>
              <a:pPr algn="r"/>
              <a:t>‹#›</a:t>
            </a:fld>
            <a:endParaRPr lang="ja-JP" altLang="en-US" sz="1400" b="1" dirty="0">
              <a:solidFill>
                <a:schemeClr val="tx1"/>
              </a:solidFill>
            </a:endParaRPr>
          </a:p>
        </p:txBody>
      </p:sp>
      <p:sp>
        <p:nvSpPr>
          <p:cNvPr id="9" name="コンテンツ プレースホルダー 2">
            <a:extLst>
              <a:ext uri="{FF2B5EF4-FFF2-40B4-BE49-F238E27FC236}">
                <a16:creationId xmlns:a16="http://schemas.microsoft.com/office/drawing/2014/main" id="{D4B0B1DC-0798-6B1F-DB1E-51525DE34378}"/>
              </a:ext>
            </a:extLst>
          </p:cNvPr>
          <p:cNvSpPr>
            <a:spLocks noGrp="1"/>
          </p:cNvSpPr>
          <p:nvPr>
            <p:ph idx="1" hasCustomPrompt="1"/>
          </p:nvPr>
        </p:nvSpPr>
        <p:spPr>
          <a:xfrm>
            <a:off x="361950" y="1101933"/>
            <a:ext cx="7886700" cy="1891371"/>
          </a:xfrm>
        </p:spPr>
        <p:txBody>
          <a:bodyPr>
            <a:normAutofit/>
          </a:bodyPr>
          <a:lstStyle>
            <a:lvl1pPr marL="355600" indent="-355600">
              <a:lnSpc>
                <a:spcPct val="120000"/>
              </a:lnSpc>
              <a:spcBef>
                <a:spcPts val="3000"/>
              </a:spcBef>
              <a:buClr>
                <a:schemeClr val="tx1">
                  <a:lumMod val="75000"/>
                  <a:lumOff val="25000"/>
                </a:schemeClr>
              </a:buClr>
              <a:buSzPct val="90000"/>
              <a:buFont typeface="Wingdings" panose="05000000000000000000" pitchFamily="2" charset="2"/>
              <a:buChar char="n"/>
              <a:tabLst>
                <a:tab pos="355600" algn="l"/>
              </a:tabLst>
              <a:defRPr sz="2400" b="1" u="none">
                <a:solidFill>
                  <a:schemeClr val="tx1"/>
                </a:solidFill>
                <a:latin typeface="+mj-lt"/>
              </a:defRPr>
            </a:lvl1pPr>
            <a:lvl2pPr marL="539750" indent="-282575">
              <a:lnSpc>
                <a:spcPct val="120000"/>
              </a:lnSpc>
              <a:spcBef>
                <a:spcPts val="800"/>
              </a:spcBef>
              <a:buClr>
                <a:schemeClr val="tx1">
                  <a:lumMod val="50000"/>
                  <a:lumOff val="50000"/>
                </a:schemeClr>
              </a:buClr>
              <a:buSzPct val="80000"/>
              <a:buFont typeface="Wingdings" panose="05000000000000000000" pitchFamily="2" charset="2"/>
              <a:buChar char="n"/>
              <a:defRPr sz="1800" b="0">
                <a:solidFill>
                  <a:schemeClr val="tx1"/>
                </a:solidFill>
                <a:latin typeface="+mj-lt"/>
              </a:defRPr>
            </a:lvl2pPr>
            <a:lvl3pPr marL="719138" indent="-204788">
              <a:lnSpc>
                <a:spcPct val="100000"/>
              </a:lnSpc>
              <a:spcBef>
                <a:spcPts val="800"/>
              </a:spcBef>
              <a:buClr>
                <a:schemeClr val="tx1">
                  <a:lumMod val="25000"/>
                  <a:lumOff val="75000"/>
                </a:schemeClr>
              </a:buClr>
              <a:buFont typeface="Wingdings" panose="05000000000000000000" pitchFamily="2" charset="2"/>
              <a:buChar char="n"/>
              <a:defRPr sz="1400" b="0">
                <a:solidFill>
                  <a:schemeClr val="tx1"/>
                </a:solidFill>
                <a:latin typeface="+mj-lt"/>
              </a:defRPr>
            </a:lvl3pPr>
            <a:lvl4pPr marL="942975" indent="-171450">
              <a:lnSpc>
                <a:spcPct val="100000"/>
              </a:lnSpc>
              <a:spcBef>
                <a:spcPts val="800"/>
              </a:spcBef>
              <a:buFont typeface="Wingdings" panose="05000000000000000000" pitchFamily="2" charset="2"/>
              <a:buChar char="n"/>
              <a:defRPr sz="1400" b="0">
                <a:solidFill>
                  <a:schemeClr val="tx1"/>
                </a:solidFill>
                <a:latin typeface="+mj-lt"/>
              </a:defRPr>
            </a:lvl4pPr>
            <a:lvl5pPr marL="1028700" indent="0">
              <a:buNone/>
              <a:defRPr/>
            </a:lvl5pPr>
          </a:lstStyle>
          <a:p>
            <a:pPr lvl="0"/>
            <a:r>
              <a:rPr kumimoji="1" lang="ja-JP" altLang="en-US" dirty="0"/>
              <a:t>第</a:t>
            </a:r>
            <a:r>
              <a:rPr kumimoji="1" lang="en-US" altLang="ja-JP" dirty="0"/>
              <a:t>1</a:t>
            </a:r>
            <a:r>
              <a:rPr kumimoji="1" lang="ja-JP" altLang="en-US" dirty="0"/>
              <a:t>レベル</a:t>
            </a:r>
          </a:p>
          <a:p>
            <a:pPr lvl="1"/>
            <a:r>
              <a:rPr kumimoji="1" lang="ja-JP" altLang="en-US" dirty="0"/>
              <a:t>第</a:t>
            </a:r>
            <a:r>
              <a:rPr kumimoji="1" lang="en-US" altLang="ja-JP" dirty="0"/>
              <a:t>2</a:t>
            </a:r>
            <a:r>
              <a:rPr kumimoji="1" lang="ja-JP" altLang="en-US" dirty="0"/>
              <a:t>レベル</a:t>
            </a:r>
            <a:endParaRPr kumimoji="1" lang="en-US" altLang="ja-JP" dirty="0"/>
          </a:p>
          <a:p>
            <a:pPr lvl="2"/>
            <a:r>
              <a:rPr kumimoji="1" lang="ja-JP" altLang="en-US" dirty="0"/>
              <a:t>第</a:t>
            </a:r>
            <a:r>
              <a:rPr kumimoji="1" lang="en-US" altLang="ja-JP" dirty="0"/>
              <a:t>3</a:t>
            </a:r>
            <a:r>
              <a:rPr kumimoji="1" lang="ja-JP" altLang="en-US" dirty="0"/>
              <a:t>レベル</a:t>
            </a:r>
            <a:endParaRPr kumimoji="1" lang="en-US" altLang="ja-JP" dirty="0"/>
          </a:p>
        </p:txBody>
      </p:sp>
    </p:spTree>
    <p:extLst>
      <p:ext uri="{BB962C8B-B14F-4D97-AF65-F5344CB8AC3E}">
        <p14:creationId xmlns:p14="http://schemas.microsoft.com/office/powerpoint/2010/main" val="127673436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付録スライド">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6DF61822-A89A-8C9A-160D-168DF6AFCE82}"/>
              </a:ext>
            </a:extLst>
          </p:cNvPr>
          <p:cNvSpPr/>
          <p:nvPr userDrawn="1"/>
        </p:nvSpPr>
        <p:spPr>
          <a:xfrm flipH="1">
            <a:off x="228600" y="254794"/>
            <a:ext cx="107950" cy="611750"/>
          </a:xfrm>
          <a:prstGeom prst="rect">
            <a:avLst/>
          </a:prstGeom>
          <a:solidFill>
            <a:srgbClr val="645D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10" name="タイトル 1">
            <a:extLst>
              <a:ext uri="{FF2B5EF4-FFF2-40B4-BE49-F238E27FC236}">
                <a16:creationId xmlns:a16="http://schemas.microsoft.com/office/drawing/2014/main" id="{9B02F407-3B1C-4016-5E8A-EEC95C0D742D}"/>
              </a:ext>
            </a:extLst>
          </p:cNvPr>
          <p:cNvSpPr>
            <a:spLocks noGrp="1"/>
          </p:cNvSpPr>
          <p:nvPr>
            <p:ph type="title" hasCustomPrompt="1"/>
          </p:nvPr>
        </p:nvSpPr>
        <p:spPr>
          <a:xfrm>
            <a:off x="428625" y="350082"/>
            <a:ext cx="7886700" cy="576787"/>
          </a:xfrm>
        </p:spPr>
        <p:txBody>
          <a:bodyPr>
            <a:noAutofit/>
          </a:bodyPr>
          <a:lstStyle>
            <a:lvl1pPr>
              <a:defRPr sz="3600" b="1">
                <a:solidFill>
                  <a:schemeClr val="tx1"/>
                </a:solidFill>
              </a:defRPr>
            </a:lvl1pPr>
          </a:lstStyle>
          <a:p>
            <a:r>
              <a:rPr kumimoji="1" lang="ja-JP" altLang="en-US" dirty="0"/>
              <a:t>付録</a:t>
            </a:r>
          </a:p>
        </p:txBody>
      </p:sp>
      <p:sp>
        <p:nvSpPr>
          <p:cNvPr id="11" name="コンテンツ プレースホルダー 2">
            <a:extLst>
              <a:ext uri="{FF2B5EF4-FFF2-40B4-BE49-F238E27FC236}">
                <a16:creationId xmlns:a16="http://schemas.microsoft.com/office/drawing/2014/main" id="{74DF2BAC-D45D-4CA3-38E8-78DB04DAC3A2}"/>
              </a:ext>
            </a:extLst>
          </p:cNvPr>
          <p:cNvSpPr>
            <a:spLocks noGrp="1"/>
          </p:cNvSpPr>
          <p:nvPr>
            <p:ph idx="1" hasCustomPrompt="1"/>
          </p:nvPr>
        </p:nvSpPr>
        <p:spPr>
          <a:xfrm>
            <a:off x="361950" y="1101933"/>
            <a:ext cx="7886700" cy="1891371"/>
          </a:xfrm>
        </p:spPr>
        <p:txBody>
          <a:bodyPr>
            <a:normAutofit/>
          </a:bodyPr>
          <a:lstStyle>
            <a:lvl1pPr marL="355600" indent="-355600">
              <a:lnSpc>
                <a:spcPct val="120000"/>
              </a:lnSpc>
              <a:spcBef>
                <a:spcPts val="3000"/>
              </a:spcBef>
              <a:buClr>
                <a:schemeClr val="tx1">
                  <a:lumMod val="75000"/>
                  <a:lumOff val="25000"/>
                </a:schemeClr>
              </a:buClr>
              <a:buSzPct val="90000"/>
              <a:buFont typeface="Wingdings" panose="05000000000000000000" pitchFamily="2" charset="2"/>
              <a:buChar char="n"/>
              <a:tabLst>
                <a:tab pos="355600" algn="l"/>
              </a:tabLst>
              <a:defRPr sz="2400" b="1" u="none">
                <a:solidFill>
                  <a:schemeClr val="tx1"/>
                </a:solidFill>
                <a:latin typeface="+mj-lt"/>
              </a:defRPr>
            </a:lvl1pPr>
            <a:lvl2pPr marL="539750" indent="-282575">
              <a:lnSpc>
                <a:spcPct val="120000"/>
              </a:lnSpc>
              <a:spcBef>
                <a:spcPts val="800"/>
              </a:spcBef>
              <a:buClr>
                <a:schemeClr val="tx1">
                  <a:lumMod val="50000"/>
                  <a:lumOff val="50000"/>
                </a:schemeClr>
              </a:buClr>
              <a:buSzPct val="80000"/>
              <a:buFont typeface="Wingdings" panose="05000000000000000000" pitchFamily="2" charset="2"/>
              <a:buChar char="n"/>
              <a:defRPr sz="1800" b="0">
                <a:solidFill>
                  <a:schemeClr val="tx1"/>
                </a:solidFill>
                <a:latin typeface="+mj-lt"/>
              </a:defRPr>
            </a:lvl2pPr>
            <a:lvl3pPr marL="719138" indent="-204788">
              <a:lnSpc>
                <a:spcPct val="100000"/>
              </a:lnSpc>
              <a:spcBef>
                <a:spcPts val="800"/>
              </a:spcBef>
              <a:buClr>
                <a:schemeClr val="tx1">
                  <a:lumMod val="25000"/>
                  <a:lumOff val="75000"/>
                </a:schemeClr>
              </a:buClr>
              <a:buFont typeface="Wingdings" panose="05000000000000000000" pitchFamily="2" charset="2"/>
              <a:buChar char="n"/>
              <a:defRPr sz="1400" b="0">
                <a:solidFill>
                  <a:schemeClr val="tx1"/>
                </a:solidFill>
                <a:latin typeface="+mj-lt"/>
              </a:defRPr>
            </a:lvl3pPr>
            <a:lvl4pPr marL="942975" indent="-171450">
              <a:lnSpc>
                <a:spcPct val="100000"/>
              </a:lnSpc>
              <a:spcBef>
                <a:spcPts val="800"/>
              </a:spcBef>
              <a:buFont typeface="Wingdings" panose="05000000000000000000" pitchFamily="2" charset="2"/>
              <a:buChar char="n"/>
              <a:defRPr sz="1400" b="0">
                <a:solidFill>
                  <a:schemeClr val="tx1"/>
                </a:solidFill>
                <a:latin typeface="+mj-lt"/>
              </a:defRPr>
            </a:lvl4pPr>
            <a:lvl5pPr marL="1028700" indent="0">
              <a:buNone/>
              <a:defRPr/>
            </a:lvl5pPr>
          </a:lstStyle>
          <a:p>
            <a:pPr lvl="0"/>
            <a:r>
              <a:rPr kumimoji="1" lang="ja-JP" altLang="en-US" dirty="0"/>
              <a:t>第</a:t>
            </a:r>
            <a:r>
              <a:rPr kumimoji="1" lang="en-US" altLang="ja-JP" dirty="0"/>
              <a:t>1</a:t>
            </a:r>
            <a:r>
              <a:rPr kumimoji="1" lang="ja-JP" altLang="en-US" dirty="0"/>
              <a:t>レベル</a:t>
            </a:r>
          </a:p>
          <a:p>
            <a:pPr lvl="1"/>
            <a:r>
              <a:rPr kumimoji="1" lang="ja-JP" altLang="en-US" dirty="0"/>
              <a:t>第</a:t>
            </a:r>
            <a:r>
              <a:rPr kumimoji="1" lang="en-US" altLang="ja-JP" dirty="0"/>
              <a:t>2</a:t>
            </a:r>
            <a:r>
              <a:rPr kumimoji="1" lang="ja-JP" altLang="en-US" dirty="0"/>
              <a:t>レベル</a:t>
            </a:r>
            <a:endParaRPr kumimoji="1" lang="en-US" altLang="ja-JP" dirty="0"/>
          </a:p>
          <a:p>
            <a:pPr lvl="2"/>
            <a:r>
              <a:rPr kumimoji="1" lang="ja-JP" altLang="en-US" dirty="0"/>
              <a:t>第</a:t>
            </a:r>
            <a:r>
              <a:rPr kumimoji="1" lang="en-US" altLang="ja-JP" dirty="0"/>
              <a:t>3</a:t>
            </a:r>
            <a:r>
              <a:rPr kumimoji="1" lang="ja-JP" altLang="en-US" dirty="0"/>
              <a:t>レベル</a:t>
            </a:r>
            <a:endParaRPr kumimoji="1" lang="en-US" altLang="ja-JP" dirty="0"/>
          </a:p>
        </p:txBody>
      </p:sp>
    </p:spTree>
    <p:extLst>
      <p:ext uri="{BB962C8B-B14F-4D97-AF65-F5344CB8AC3E}">
        <p14:creationId xmlns:p14="http://schemas.microsoft.com/office/powerpoint/2010/main" val="11939132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白紙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49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部品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8E833CD-A81B-B958-248D-C93CF128F6CA}"/>
              </a:ext>
            </a:extLst>
          </p:cNvPr>
          <p:cNvSpPr>
            <a:spLocks noGrp="1"/>
          </p:cNvSpPr>
          <p:nvPr>
            <p:ph type="title" hasCustomPrompt="1"/>
          </p:nvPr>
        </p:nvSpPr>
        <p:spPr>
          <a:xfrm>
            <a:off x="209550" y="299282"/>
            <a:ext cx="7886700" cy="576787"/>
          </a:xfrm>
        </p:spPr>
        <p:txBody>
          <a:bodyPr>
            <a:noAutofit/>
          </a:bodyPr>
          <a:lstStyle>
            <a:lvl1pPr>
              <a:defRPr sz="4000" b="1">
                <a:solidFill>
                  <a:schemeClr val="tx1"/>
                </a:solidFill>
              </a:defRPr>
            </a:lvl1pPr>
          </a:lstStyle>
          <a:p>
            <a:r>
              <a:rPr kumimoji="1" lang="ja-JP" altLang="en-US" dirty="0"/>
              <a:t>便利ツール</a:t>
            </a:r>
          </a:p>
        </p:txBody>
      </p:sp>
      <p:sp>
        <p:nvSpPr>
          <p:cNvPr id="3" name="正方形/長方形 2">
            <a:extLst>
              <a:ext uri="{FF2B5EF4-FFF2-40B4-BE49-F238E27FC236}">
                <a16:creationId xmlns:a16="http://schemas.microsoft.com/office/drawing/2014/main" id="{434C9B34-BC06-E3A1-12D4-A2EC57EA20D6}"/>
              </a:ext>
            </a:extLst>
          </p:cNvPr>
          <p:cNvSpPr/>
          <p:nvPr userDrawn="1"/>
        </p:nvSpPr>
        <p:spPr>
          <a:xfrm>
            <a:off x="0" y="960120"/>
            <a:ext cx="9144000" cy="1324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4" name="正方形/長方形 3">
            <a:extLst>
              <a:ext uri="{FF2B5EF4-FFF2-40B4-BE49-F238E27FC236}">
                <a16:creationId xmlns:a16="http://schemas.microsoft.com/office/drawing/2014/main" id="{FC6D870A-1AB4-D97A-AB96-26DFC4516B62}"/>
              </a:ext>
            </a:extLst>
          </p:cNvPr>
          <p:cNvSpPr/>
          <p:nvPr userDrawn="1"/>
        </p:nvSpPr>
        <p:spPr>
          <a:xfrm>
            <a:off x="406399" y="1735666"/>
            <a:ext cx="8365068" cy="635001"/>
          </a:xfrm>
          <a:prstGeom prst="rect">
            <a:avLst/>
          </a:prstGeom>
          <a:solidFill>
            <a:srgbClr val="DAD6C4"/>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bIns="0" rtlCol="0" anchor="ctr"/>
          <a:lstStyle/>
          <a:p>
            <a:pPr algn="ctr"/>
            <a:r>
              <a:rPr kumimoji="1" lang="ja-JP" altLang="en-US" b="1" dirty="0">
                <a:solidFill>
                  <a:srgbClr val="1D1B12"/>
                </a:solidFill>
              </a:rPr>
              <a:t>例：〇〇が可能</a:t>
            </a:r>
          </a:p>
        </p:txBody>
      </p:sp>
      <p:sp>
        <p:nvSpPr>
          <p:cNvPr id="5" name="テキスト ボックス 4">
            <a:extLst>
              <a:ext uri="{FF2B5EF4-FFF2-40B4-BE49-F238E27FC236}">
                <a16:creationId xmlns:a16="http://schemas.microsoft.com/office/drawing/2014/main" id="{4713EA69-365E-D19E-59C9-1C8DDB6FB9EC}"/>
              </a:ext>
            </a:extLst>
          </p:cNvPr>
          <p:cNvSpPr txBox="1"/>
          <p:nvPr userDrawn="1"/>
        </p:nvSpPr>
        <p:spPr>
          <a:xfrm>
            <a:off x="209550" y="1261533"/>
            <a:ext cx="3302000" cy="369332"/>
          </a:xfrm>
          <a:prstGeom prst="rect">
            <a:avLst/>
          </a:prstGeom>
          <a:noFill/>
        </p:spPr>
        <p:txBody>
          <a:bodyPr wrap="square" rtlCol="0">
            <a:spAutoFit/>
          </a:bodyPr>
          <a:lstStyle/>
          <a:p>
            <a:r>
              <a:rPr kumimoji="1" lang="ja-JP" altLang="en-US" dirty="0">
                <a:solidFill>
                  <a:schemeClr val="tx1"/>
                </a:solidFill>
              </a:rPr>
              <a:t>・重要なメッセージ表現</a:t>
            </a:r>
          </a:p>
        </p:txBody>
      </p:sp>
      <p:sp>
        <p:nvSpPr>
          <p:cNvPr id="6" name="テキスト ボックス 5">
            <a:extLst>
              <a:ext uri="{FF2B5EF4-FFF2-40B4-BE49-F238E27FC236}">
                <a16:creationId xmlns:a16="http://schemas.microsoft.com/office/drawing/2014/main" id="{9EBBAFB1-D039-FA1B-DCAF-5D7B682B073C}"/>
              </a:ext>
            </a:extLst>
          </p:cNvPr>
          <p:cNvSpPr txBox="1"/>
          <p:nvPr userDrawn="1"/>
        </p:nvSpPr>
        <p:spPr>
          <a:xfrm>
            <a:off x="209550" y="3453917"/>
            <a:ext cx="3302000" cy="369332"/>
          </a:xfrm>
          <a:prstGeom prst="rect">
            <a:avLst/>
          </a:prstGeom>
          <a:noFill/>
        </p:spPr>
        <p:txBody>
          <a:bodyPr wrap="square" rtlCol="0">
            <a:spAutoFit/>
          </a:bodyPr>
          <a:lstStyle/>
          <a:p>
            <a:r>
              <a:rPr kumimoji="1" lang="ja-JP" altLang="en-US" dirty="0">
                <a:solidFill>
                  <a:schemeClr val="tx1"/>
                </a:solidFill>
              </a:rPr>
              <a:t>・矢印表現</a:t>
            </a:r>
          </a:p>
        </p:txBody>
      </p:sp>
      <p:sp>
        <p:nvSpPr>
          <p:cNvPr id="7" name="二等辺三角形 6">
            <a:extLst>
              <a:ext uri="{FF2B5EF4-FFF2-40B4-BE49-F238E27FC236}">
                <a16:creationId xmlns:a16="http://schemas.microsoft.com/office/drawing/2014/main" id="{B01C4BBA-A29A-4A04-7181-D254116664F6}"/>
              </a:ext>
            </a:extLst>
          </p:cNvPr>
          <p:cNvSpPr/>
          <p:nvPr userDrawn="1"/>
        </p:nvSpPr>
        <p:spPr>
          <a:xfrm rot="5400000">
            <a:off x="509334" y="4045249"/>
            <a:ext cx="533102" cy="459570"/>
          </a:xfrm>
          <a:prstGeom prst="triangle">
            <a:avLst/>
          </a:prstGeom>
          <a:solidFill>
            <a:srgbClr val="DAD6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矢印: 右 7">
            <a:extLst>
              <a:ext uri="{FF2B5EF4-FFF2-40B4-BE49-F238E27FC236}">
                <a16:creationId xmlns:a16="http://schemas.microsoft.com/office/drawing/2014/main" id="{91C296B4-463B-11E5-DE83-34EDDA7A1B79}"/>
              </a:ext>
            </a:extLst>
          </p:cNvPr>
          <p:cNvSpPr/>
          <p:nvPr userDrawn="1"/>
        </p:nvSpPr>
        <p:spPr>
          <a:xfrm>
            <a:off x="1263650" y="3952243"/>
            <a:ext cx="459570" cy="645583"/>
          </a:xfrm>
          <a:prstGeom prst="rightArrow">
            <a:avLst/>
          </a:prstGeom>
          <a:solidFill>
            <a:srgbClr val="DAD6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F210129E-9249-C255-5ECA-444EAAF49482}"/>
              </a:ext>
            </a:extLst>
          </p:cNvPr>
          <p:cNvSpPr txBox="1"/>
          <p:nvPr userDrawn="1"/>
        </p:nvSpPr>
        <p:spPr>
          <a:xfrm>
            <a:off x="2571750" y="3453917"/>
            <a:ext cx="3302000" cy="369332"/>
          </a:xfrm>
          <a:prstGeom prst="rect">
            <a:avLst/>
          </a:prstGeom>
          <a:noFill/>
        </p:spPr>
        <p:txBody>
          <a:bodyPr wrap="square" rtlCol="0">
            <a:spAutoFit/>
          </a:bodyPr>
          <a:lstStyle/>
          <a:p>
            <a:r>
              <a:rPr kumimoji="1" lang="ja-JP" altLang="en-US" dirty="0">
                <a:solidFill>
                  <a:schemeClr val="tx1"/>
                </a:solidFill>
              </a:rPr>
              <a:t>・カラーパレット</a:t>
            </a:r>
          </a:p>
        </p:txBody>
      </p:sp>
      <p:sp>
        <p:nvSpPr>
          <p:cNvPr id="10" name="正方形/長方形 9">
            <a:extLst>
              <a:ext uri="{FF2B5EF4-FFF2-40B4-BE49-F238E27FC236}">
                <a16:creationId xmlns:a16="http://schemas.microsoft.com/office/drawing/2014/main" id="{AC972E37-4590-CAFA-A510-1A27ABCD94D4}"/>
              </a:ext>
            </a:extLst>
          </p:cNvPr>
          <p:cNvSpPr/>
          <p:nvPr userDrawn="1"/>
        </p:nvSpPr>
        <p:spPr>
          <a:xfrm>
            <a:off x="2885713" y="3952243"/>
            <a:ext cx="674520" cy="64558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B8C47EF6-01F7-3381-DD99-4B9DF5B6A231}"/>
              </a:ext>
            </a:extLst>
          </p:cNvPr>
          <p:cNvSpPr/>
          <p:nvPr userDrawn="1"/>
        </p:nvSpPr>
        <p:spPr>
          <a:xfrm>
            <a:off x="3815640" y="3952243"/>
            <a:ext cx="674520" cy="64558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4391D515-2F1A-D6F9-08BA-0B51CA564F5D}"/>
              </a:ext>
            </a:extLst>
          </p:cNvPr>
          <p:cNvSpPr/>
          <p:nvPr userDrawn="1"/>
        </p:nvSpPr>
        <p:spPr>
          <a:xfrm>
            <a:off x="4745567" y="3952243"/>
            <a:ext cx="674520" cy="645584"/>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b="1" dirty="0"/>
          </a:p>
        </p:txBody>
      </p:sp>
      <p:sp>
        <p:nvSpPr>
          <p:cNvPr id="13" name="正方形/長方形 12">
            <a:extLst>
              <a:ext uri="{FF2B5EF4-FFF2-40B4-BE49-F238E27FC236}">
                <a16:creationId xmlns:a16="http://schemas.microsoft.com/office/drawing/2014/main" id="{C35FC2CB-B4DC-A473-10D1-404CFE53F2C4}"/>
              </a:ext>
            </a:extLst>
          </p:cNvPr>
          <p:cNvSpPr/>
          <p:nvPr userDrawn="1"/>
        </p:nvSpPr>
        <p:spPr>
          <a:xfrm>
            <a:off x="5675494" y="3952243"/>
            <a:ext cx="674520" cy="645584"/>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0742F89D-E981-AF5F-066A-618AA659FFA1}"/>
              </a:ext>
            </a:extLst>
          </p:cNvPr>
          <p:cNvSpPr/>
          <p:nvPr userDrawn="1"/>
        </p:nvSpPr>
        <p:spPr>
          <a:xfrm>
            <a:off x="6605421" y="3952243"/>
            <a:ext cx="674520" cy="645584"/>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a:extLst>
              <a:ext uri="{FF2B5EF4-FFF2-40B4-BE49-F238E27FC236}">
                <a16:creationId xmlns:a16="http://schemas.microsoft.com/office/drawing/2014/main" id="{67FDBB0A-0067-0C40-623C-C8CD23E42839}"/>
              </a:ext>
            </a:extLst>
          </p:cNvPr>
          <p:cNvSpPr/>
          <p:nvPr userDrawn="1"/>
        </p:nvSpPr>
        <p:spPr>
          <a:xfrm>
            <a:off x="7535348" y="3952243"/>
            <a:ext cx="674520" cy="645584"/>
          </a:xfrm>
          <a:prstGeom prst="rect">
            <a:avLst/>
          </a:prstGeom>
          <a:solidFill>
            <a:srgbClr val="C30F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EA2B02B0-7BB8-77AE-C9D0-9D6B961AFFD1}"/>
              </a:ext>
            </a:extLst>
          </p:cNvPr>
          <p:cNvSpPr txBox="1"/>
          <p:nvPr userDrawn="1"/>
        </p:nvSpPr>
        <p:spPr>
          <a:xfrm>
            <a:off x="209550" y="4933988"/>
            <a:ext cx="3302000" cy="369332"/>
          </a:xfrm>
          <a:prstGeom prst="rect">
            <a:avLst/>
          </a:prstGeom>
          <a:noFill/>
        </p:spPr>
        <p:txBody>
          <a:bodyPr wrap="square" rtlCol="0">
            <a:spAutoFit/>
          </a:bodyPr>
          <a:lstStyle/>
          <a:p>
            <a:r>
              <a:rPr kumimoji="1" lang="ja-JP" altLang="en-US" dirty="0">
                <a:solidFill>
                  <a:schemeClr val="tx1"/>
                </a:solidFill>
              </a:rPr>
              <a:t>・単語説明</a:t>
            </a:r>
          </a:p>
        </p:txBody>
      </p:sp>
      <p:grpSp>
        <p:nvGrpSpPr>
          <p:cNvPr id="22" name="グループ化 21">
            <a:extLst>
              <a:ext uri="{FF2B5EF4-FFF2-40B4-BE49-F238E27FC236}">
                <a16:creationId xmlns:a16="http://schemas.microsoft.com/office/drawing/2014/main" id="{4DC238CE-35FA-22CF-3684-FB93C486BFF8}"/>
              </a:ext>
            </a:extLst>
          </p:cNvPr>
          <p:cNvGrpSpPr/>
          <p:nvPr userDrawn="1"/>
        </p:nvGrpSpPr>
        <p:grpSpPr>
          <a:xfrm>
            <a:off x="406399" y="5464482"/>
            <a:ext cx="8451851" cy="1035839"/>
            <a:chOff x="406398" y="4662228"/>
            <a:chExt cx="8451851" cy="1035839"/>
          </a:xfrm>
        </p:grpSpPr>
        <p:sp>
          <p:nvSpPr>
            <p:cNvPr id="19" name="正方形/長方形 18">
              <a:extLst>
                <a:ext uri="{FF2B5EF4-FFF2-40B4-BE49-F238E27FC236}">
                  <a16:creationId xmlns:a16="http://schemas.microsoft.com/office/drawing/2014/main" id="{16A06CA1-6C0A-A6F1-5E99-21B1A1B6EE11}"/>
                </a:ext>
              </a:extLst>
            </p:cNvPr>
            <p:cNvSpPr/>
            <p:nvPr userDrawn="1"/>
          </p:nvSpPr>
          <p:spPr>
            <a:xfrm>
              <a:off x="406398" y="4662229"/>
              <a:ext cx="8451851" cy="1035838"/>
            </a:xfrm>
            <a:prstGeom prst="rect">
              <a:avLst/>
            </a:prstGeom>
            <a:solidFill>
              <a:schemeClr val="bg2"/>
            </a:solidFill>
            <a:ln w="38100">
              <a:solidFill>
                <a:srgbClr val="1D1B12"/>
              </a:solidFill>
            </a:ln>
          </p:spPr>
          <p:style>
            <a:lnRef idx="2">
              <a:schemeClr val="accent1">
                <a:shade val="15000"/>
              </a:schemeClr>
            </a:lnRef>
            <a:fillRef idx="1">
              <a:schemeClr val="accent1"/>
            </a:fillRef>
            <a:effectRef idx="0">
              <a:schemeClr val="accent1"/>
            </a:effectRef>
            <a:fontRef idx="minor">
              <a:schemeClr val="lt1"/>
            </a:fontRef>
          </p:style>
          <p:txBody>
            <a:bodyPr lIns="0" rIns="0" bIns="0" rtlCol="0" anchor="ctr"/>
            <a:lstStyle/>
            <a:p>
              <a:pPr algn="ctr"/>
              <a:endParaRPr kumimoji="1" lang="ja-JP" altLang="en-US" b="1" dirty="0">
                <a:solidFill>
                  <a:schemeClr val="accent1">
                    <a:lumMod val="50000"/>
                  </a:schemeClr>
                </a:solidFill>
              </a:endParaRPr>
            </a:p>
          </p:txBody>
        </p:sp>
        <p:sp>
          <p:nvSpPr>
            <p:cNvPr id="20" name="正方形/長方形 19">
              <a:extLst>
                <a:ext uri="{FF2B5EF4-FFF2-40B4-BE49-F238E27FC236}">
                  <a16:creationId xmlns:a16="http://schemas.microsoft.com/office/drawing/2014/main" id="{A4BB3A85-C2B0-E714-39AD-0A7B62D96B77}"/>
                </a:ext>
              </a:extLst>
            </p:cNvPr>
            <p:cNvSpPr/>
            <p:nvPr userDrawn="1"/>
          </p:nvSpPr>
          <p:spPr>
            <a:xfrm>
              <a:off x="406399" y="4662228"/>
              <a:ext cx="8451850" cy="380091"/>
            </a:xfrm>
            <a:prstGeom prst="rect">
              <a:avLst/>
            </a:prstGeom>
            <a:solidFill>
              <a:srgbClr val="1D1B12"/>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bIns="0" rtlCol="0" anchor="ctr"/>
            <a:lstStyle/>
            <a:p>
              <a:pPr algn="l"/>
              <a:r>
                <a:rPr kumimoji="1" lang="en-US" altLang="ja-JP" sz="1600" b="1" dirty="0">
                  <a:solidFill>
                    <a:schemeClr val="bg2"/>
                  </a:solidFill>
                </a:rPr>
                <a:t>  </a:t>
              </a:r>
              <a:r>
                <a:rPr kumimoji="1" lang="ja-JP" altLang="en-US" sz="1600" b="1" dirty="0">
                  <a:solidFill>
                    <a:schemeClr val="bg2"/>
                  </a:solidFill>
                </a:rPr>
                <a:t>人工知能（</a:t>
              </a:r>
              <a:r>
                <a:rPr kumimoji="1" lang="en-US" altLang="ja-JP" sz="1600" b="1" dirty="0">
                  <a:solidFill>
                    <a:schemeClr val="bg2"/>
                  </a:solidFill>
                </a:rPr>
                <a:t>AI</a:t>
              </a:r>
              <a:r>
                <a:rPr kumimoji="1" lang="ja-JP" altLang="en-US" sz="1600" b="1" dirty="0">
                  <a:solidFill>
                    <a:schemeClr val="bg2"/>
                  </a:solidFill>
                </a:rPr>
                <a:t>）</a:t>
              </a:r>
              <a:endParaRPr kumimoji="1" lang="ja-JP" altLang="en-US" sz="1600" b="0" dirty="0">
                <a:solidFill>
                  <a:schemeClr val="bg2"/>
                </a:solidFill>
              </a:endParaRPr>
            </a:p>
          </p:txBody>
        </p:sp>
        <p:sp>
          <p:nvSpPr>
            <p:cNvPr id="21" name="テキスト ボックス 20">
              <a:extLst>
                <a:ext uri="{FF2B5EF4-FFF2-40B4-BE49-F238E27FC236}">
                  <a16:creationId xmlns:a16="http://schemas.microsoft.com/office/drawing/2014/main" id="{00371436-5334-533F-79A1-46914ECB1C33}"/>
                </a:ext>
              </a:extLst>
            </p:cNvPr>
            <p:cNvSpPr txBox="1"/>
            <p:nvPr userDrawn="1"/>
          </p:nvSpPr>
          <p:spPr>
            <a:xfrm>
              <a:off x="449789" y="5130396"/>
              <a:ext cx="8365068" cy="523220"/>
            </a:xfrm>
            <a:prstGeom prst="rect">
              <a:avLst/>
            </a:prstGeom>
            <a:noFill/>
          </p:spPr>
          <p:txBody>
            <a:bodyPr wrap="square" rtlCol="0">
              <a:spAutoFit/>
            </a:bodyPr>
            <a:lstStyle/>
            <a:p>
              <a:r>
                <a:rPr lang="ja-JP" altLang="en-US" sz="1400" dirty="0">
                  <a:solidFill>
                    <a:schemeClr val="tx1"/>
                  </a:solidFill>
                </a:rPr>
                <a:t>人間の知的能力をコンピューターで模倣し，学習，推論，問題解決などを行う技術やシステムのこと．機械学習や深層学習といった技術を用いて，大量のデータからパターンを学習し，推論や判断を行う．</a:t>
              </a:r>
              <a:endParaRPr kumimoji="1" lang="ja-JP" altLang="en-US" sz="1400" dirty="0">
                <a:solidFill>
                  <a:schemeClr val="tx1"/>
                </a:solidFill>
              </a:endParaRPr>
            </a:p>
          </p:txBody>
        </p:sp>
      </p:grpSp>
      <p:sp>
        <p:nvSpPr>
          <p:cNvPr id="23" name="正方形/長方形 22">
            <a:extLst>
              <a:ext uri="{FF2B5EF4-FFF2-40B4-BE49-F238E27FC236}">
                <a16:creationId xmlns:a16="http://schemas.microsoft.com/office/drawing/2014/main" id="{483D498A-4F61-C427-4D1D-6303483AD6DF}"/>
              </a:ext>
            </a:extLst>
          </p:cNvPr>
          <p:cNvSpPr/>
          <p:nvPr userDrawn="1"/>
        </p:nvSpPr>
        <p:spPr>
          <a:xfrm>
            <a:off x="406399" y="2633682"/>
            <a:ext cx="8365067" cy="635001"/>
          </a:xfrm>
          <a:prstGeom prst="rect">
            <a:avLst/>
          </a:prstGeom>
          <a:solidFill>
            <a:srgbClr val="DAD6C4"/>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bIns="0" rtlCol="0" anchor="ctr"/>
          <a:lstStyle/>
          <a:p>
            <a:pPr algn="ctr"/>
            <a:r>
              <a:rPr kumimoji="1" lang="ja-JP" altLang="en-US" b="1" dirty="0">
                <a:solidFill>
                  <a:srgbClr val="1D1B12"/>
                </a:solidFill>
              </a:rPr>
              <a:t>例：〇〇と△△で性能が</a:t>
            </a:r>
            <a:r>
              <a:rPr kumimoji="1" lang="en-US" altLang="ja-JP" b="1" dirty="0">
                <a:solidFill>
                  <a:srgbClr val="C30F15"/>
                </a:solidFill>
              </a:rPr>
              <a:t>10%</a:t>
            </a:r>
            <a:r>
              <a:rPr kumimoji="1" lang="ja-JP" altLang="en-US" b="1" dirty="0">
                <a:solidFill>
                  <a:srgbClr val="C30F15"/>
                </a:solidFill>
              </a:rPr>
              <a:t>以上向上</a:t>
            </a:r>
          </a:p>
        </p:txBody>
      </p:sp>
    </p:spTree>
    <p:extLst>
      <p:ext uri="{BB962C8B-B14F-4D97-AF65-F5344CB8AC3E}">
        <p14:creationId xmlns:p14="http://schemas.microsoft.com/office/powerpoint/2010/main" val="1971521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032EAD29-A13C-4512-5BA8-E40AA4160A42}"/>
              </a:ext>
            </a:extLst>
          </p:cNvPr>
          <p:cNvSpPr/>
          <p:nvPr userDrawn="1"/>
        </p:nvSpPr>
        <p:spPr>
          <a:xfrm>
            <a:off x="0" y="0"/>
            <a:ext cx="9144000" cy="6858000"/>
          </a:xfrm>
          <a:prstGeom prst="rect">
            <a:avLst/>
          </a:prstGeom>
          <a:solidFill>
            <a:srgbClr val="EFEC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プレースホルダー 1">
            <a:extLst>
              <a:ext uri="{FF2B5EF4-FFF2-40B4-BE49-F238E27FC236}">
                <a16:creationId xmlns:a16="http://schemas.microsoft.com/office/drawing/2014/main" id="{941F925F-656E-4D32-A9A8-482890AB30DC}"/>
              </a:ext>
            </a:extLst>
          </p:cNvPr>
          <p:cNvSpPr>
            <a:spLocks noGrp="1"/>
          </p:cNvSpPr>
          <p:nvPr>
            <p:ph type="title"/>
          </p:nvPr>
        </p:nvSpPr>
        <p:spPr>
          <a:xfrm>
            <a:off x="628650" y="365129"/>
            <a:ext cx="78867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4E440804-A4B3-42A0-9601-4FC4CFE1D887}"/>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日付プレースホルダー 3">
            <a:extLst>
              <a:ext uri="{FF2B5EF4-FFF2-40B4-BE49-F238E27FC236}">
                <a16:creationId xmlns:a16="http://schemas.microsoft.com/office/drawing/2014/main" id="{F393026C-2042-4FFE-AB4A-33B6E1E3A9A6}"/>
              </a:ext>
            </a:extLst>
          </p:cNvPr>
          <p:cNvSpPr>
            <a:spLocks noGrp="1"/>
          </p:cNvSpPr>
          <p:nvPr>
            <p:ph type="dt" sz="half" idx="2"/>
          </p:nvPr>
        </p:nvSpPr>
        <p:spPr>
          <a:xfrm>
            <a:off x="628650" y="6356357"/>
            <a:ext cx="2057400" cy="365125"/>
          </a:xfrm>
          <a:prstGeom prst="rect">
            <a:avLst/>
          </a:prstGeom>
        </p:spPr>
        <p:txBody>
          <a:bodyPr vert="horz" lIns="91440" tIns="45720" rIns="91440" bIns="45720" rtlCol="0" anchor="ctr"/>
          <a:lstStyle>
            <a:lvl1pPr algn="l">
              <a:defRPr sz="675">
                <a:solidFill>
                  <a:schemeClr val="tx1">
                    <a:tint val="75000"/>
                  </a:schemeClr>
                </a:solidFill>
              </a:defRPr>
            </a:lvl1pPr>
          </a:lstStyle>
          <a:p>
            <a:fld id="{C9D3EA30-463D-4652-BF25-D0372B064A0B}" type="datetimeFigureOut">
              <a:rPr kumimoji="1" lang="ja-JP" altLang="en-US" smtClean="0"/>
              <a:t>2026/3/9</a:t>
            </a:fld>
            <a:endParaRPr kumimoji="1" lang="ja-JP" altLang="en-US"/>
          </a:p>
        </p:txBody>
      </p:sp>
      <p:sp>
        <p:nvSpPr>
          <p:cNvPr id="5" name="フッター プレースホルダー 4">
            <a:extLst>
              <a:ext uri="{FF2B5EF4-FFF2-40B4-BE49-F238E27FC236}">
                <a16:creationId xmlns:a16="http://schemas.microsoft.com/office/drawing/2014/main" id="{FC796A7B-2EE8-4580-A308-DE918E172CA1}"/>
              </a:ext>
            </a:extLst>
          </p:cNvPr>
          <p:cNvSpPr>
            <a:spLocks noGrp="1"/>
          </p:cNvSpPr>
          <p:nvPr>
            <p:ph type="ftr" sz="quarter" idx="3"/>
          </p:nvPr>
        </p:nvSpPr>
        <p:spPr>
          <a:xfrm>
            <a:off x="3028950" y="6356357"/>
            <a:ext cx="3086100" cy="365125"/>
          </a:xfrm>
          <a:prstGeom prst="rect">
            <a:avLst/>
          </a:prstGeom>
        </p:spPr>
        <p:txBody>
          <a:bodyPr vert="horz" lIns="91440" tIns="45720" rIns="91440" bIns="45720" rtlCol="0" anchor="ctr"/>
          <a:lstStyle>
            <a:lvl1pPr algn="ctr">
              <a:defRPr sz="675">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8E404509-4E71-4183-9F31-F097C6D44D02}"/>
              </a:ext>
            </a:extLst>
          </p:cNvPr>
          <p:cNvSpPr>
            <a:spLocks noGrp="1"/>
          </p:cNvSpPr>
          <p:nvPr>
            <p:ph type="sldNum" sz="quarter" idx="4"/>
          </p:nvPr>
        </p:nvSpPr>
        <p:spPr>
          <a:xfrm>
            <a:off x="6457950" y="6356357"/>
            <a:ext cx="2057400" cy="365125"/>
          </a:xfrm>
          <a:prstGeom prst="rect">
            <a:avLst/>
          </a:prstGeom>
        </p:spPr>
        <p:txBody>
          <a:bodyPr vert="horz" lIns="91440" tIns="45720" rIns="91440" bIns="45720" rtlCol="0" anchor="ctr"/>
          <a:lstStyle>
            <a:lvl1pPr algn="r">
              <a:defRPr sz="675">
                <a:solidFill>
                  <a:schemeClr val="tx1">
                    <a:tint val="75000"/>
                  </a:schemeClr>
                </a:solidFill>
              </a:defRPr>
            </a:lvl1pPr>
          </a:lstStyle>
          <a:p>
            <a:fld id="{6FE149BB-D592-474C-B311-D010F7DC56E9}" type="slidenum">
              <a:rPr kumimoji="1" lang="ja-JP" altLang="en-US" smtClean="0"/>
              <a:t>‹#›</a:t>
            </a:fld>
            <a:endParaRPr kumimoji="1" lang="ja-JP" altLang="en-US"/>
          </a:p>
        </p:txBody>
      </p:sp>
    </p:spTree>
    <p:extLst>
      <p:ext uri="{BB962C8B-B14F-4D97-AF65-F5344CB8AC3E}">
        <p14:creationId xmlns:p14="http://schemas.microsoft.com/office/powerpoint/2010/main" val="1823483091"/>
      </p:ext>
    </p:extLst>
  </p:cSld>
  <p:clrMap bg1="dk1" tx1="lt1" bg2="dk2" tx2="lt2" accent1="accent1" accent2="accent2" accent3="accent3" accent4="accent4" accent5="accent5" accent6="accent6" hlink="hlink" folHlink="folHlink"/>
  <p:sldLayoutIdLst>
    <p:sldLayoutId id="2147483666" r:id="rId1"/>
    <p:sldLayoutId id="2147483664" r:id="rId2"/>
    <p:sldLayoutId id="2147483668" r:id="rId3"/>
    <p:sldLayoutId id="2147483662" r:id="rId4"/>
    <p:sldLayoutId id="2147483663" r:id="rId5"/>
    <p:sldLayoutId id="2147483667" r:id="rId6"/>
    <p:sldLayoutId id="2147483665" r:id="rId7"/>
  </p:sldLayoutIdLst>
  <p:txStyles>
    <p:titleStyle>
      <a:lvl1pPr algn="l" defTabSz="514350" rtl="0" eaLnBrk="1" latinLnBrk="0" hangingPunct="1">
        <a:lnSpc>
          <a:spcPct val="90000"/>
        </a:lnSpc>
        <a:spcBef>
          <a:spcPct val="0"/>
        </a:spcBef>
        <a:buNone/>
        <a:defRPr kumimoji="1" sz="2475" kern="1200">
          <a:solidFill>
            <a:schemeClr val="tx1"/>
          </a:solidFill>
          <a:latin typeface="+mj-lt"/>
          <a:ea typeface="+mj-ea"/>
          <a:cs typeface="+mj-cs"/>
        </a:defRPr>
      </a:lvl1pPr>
    </p:titleStyle>
    <p:bodyStyle>
      <a:lvl1pPr marL="128588" indent="-128588" algn="l" defTabSz="514350" rtl="0" eaLnBrk="1" latinLnBrk="0" hangingPunct="1">
        <a:lnSpc>
          <a:spcPct val="90000"/>
        </a:lnSpc>
        <a:spcBef>
          <a:spcPts val="563"/>
        </a:spcBef>
        <a:buFont typeface="Arial" panose="020B0604020202020204" pitchFamily="34" charset="0"/>
        <a:buChar char="•"/>
        <a:defRPr kumimoji="1" sz="1575" kern="1200">
          <a:solidFill>
            <a:schemeClr val="tx1"/>
          </a:solidFill>
          <a:latin typeface="+mn-lt"/>
          <a:ea typeface="+mn-ea"/>
          <a:cs typeface="+mn-cs"/>
        </a:defRPr>
      </a:lvl1pPr>
      <a:lvl2pPr marL="385763" indent="-128588" algn="l" defTabSz="514350" rtl="0" eaLnBrk="1" latinLnBrk="0" hangingPunct="1">
        <a:lnSpc>
          <a:spcPct val="90000"/>
        </a:lnSpc>
        <a:spcBef>
          <a:spcPts val="281"/>
        </a:spcBef>
        <a:buFont typeface="Arial" panose="020B0604020202020204" pitchFamily="34" charset="0"/>
        <a:buChar char="•"/>
        <a:defRPr kumimoji="1" sz="1350" kern="1200">
          <a:solidFill>
            <a:schemeClr val="tx1"/>
          </a:solidFill>
          <a:latin typeface="+mn-lt"/>
          <a:ea typeface="+mn-ea"/>
          <a:cs typeface="+mn-cs"/>
        </a:defRPr>
      </a:lvl2pPr>
      <a:lvl3pPr marL="642938" indent="-128588" algn="l" defTabSz="514350" rtl="0" eaLnBrk="1" latinLnBrk="0" hangingPunct="1">
        <a:lnSpc>
          <a:spcPct val="90000"/>
        </a:lnSpc>
        <a:spcBef>
          <a:spcPts val="281"/>
        </a:spcBef>
        <a:buFont typeface="Arial" panose="020B0604020202020204" pitchFamily="34" charset="0"/>
        <a:buChar char="•"/>
        <a:defRPr kumimoji="1" sz="1125" kern="1200">
          <a:solidFill>
            <a:schemeClr val="tx1"/>
          </a:solidFill>
          <a:latin typeface="+mn-lt"/>
          <a:ea typeface="+mn-ea"/>
          <a:cs typeface="+mn-cs"/>
        </a:defRPr>
      </a:lvl3pPr>
      <a:lvl4pPr marL="900113" indent="-128588" algn="l" defTabSz="514350" rtl="0" eaLnBrk="1" latinLnBrk="0" hangingPunct="1">
        <a:lnSpc>
          <a:spcPct val="90000"/>
        </a:lnSpc>
        <a:spcBef>
          <a:spcPts val="281"/>
        </a:spcBef>
        <a:buFont typeface="Arial" panose="020B0604020202020204" pitchFamily="34" charset="0"/>
        <a:buChar char="•"/>
        <a:defRPr kumimoji="1" sz="1013" kern="1200">
          <a:solidFill>
            <a:schemeClr val="tx1"/>
          </a:solidFill>
          <a:latin typeface="+mn-lt"/>
          <a:ea typeface="+mn-ea"/>
          <a:cs typeface="+mn-cs"/>
        </a:defRPr>
      </a:lvl4pPr>
      <a:lvl5pPr marL="1157288" indent="-128588" algn="l" defTabSz="514350" rtl="0" eaLnBrk="1" latinLnBrk="0" hangingPunct="1">
        <a:lnSpc>
          <a:spcPct val="90000"/>
        </a:lnSpc>
        <a:spcBef>
          <a:spcPts val="281"/>
        </a:spcBef>
        <a:buFont typeface="Arial" panose="020B0604020202020204" pitchFamily="34" charset="0"/>
        <a:buChar char="•"/>
        <a:defRPr kumimoji="1" sz="1013" kern="1200">
          <a:solidFill>
            <a:schemeClr val="tx1"/>
          </a:solidFill>
          <a:latin typeface="+mn-lt"/>
          <a:ea typeface="+mn-ea"/>
          <a:cs typeface="+mn-cs"/>
        </a:defRPr>
      </a:lvl5pPr>
      <a:lvl6pPr marL="1414463" indent="-128588" algn="l" defTabSz="514350" rtl="0" eaLnBrk="1" latinLnBrk="0" hangingPunct="1">
        <a:lnSpc>
          <a:spcPct val="90000"/>
        </a:lnSpc>
        <a:spcBef>
          <a:spcPts val="281"/>
        </a:spcBef>
        <a:buFont typeface="Arial" panose="020B0604020202020204" pitchFamily="34" charset="0"/>
        <a:buChar char="•"/>
        <a:defRPr kumimoji="1" sz="1013" kern="1200">
          <a:solidFill>
            <a:schemeClr val="tx1"/>
          </a:solidFill>
          <a:latin typeface="+mn-lt"/>
          <a:ea typeface="+mn-ea"/>
          <a:cs typeface="+mn-cs"/>
        </a:defRPr>
      </a:lvl6pPr>
      <a:lvl7pPr marL="1671638" indent="-128588" algn="l" defTabSz="514350" rtl="0" eaLnBrk="1" latinLnBrk="0" hangingPunct="1">
        <a:lnSpc>
          <a:spcPct val="90000"/>
        </a:lnSpc>
        <a:spcBef>
          <a:spcPts val="281"/>
        </a:spcBef>
        <a:buFont typeface="Arial" panose="020B0604020202020204" pitchFamily="34" charset="0"/>
        <a:buChar char="•"/>
        <a:defRPr kumimoji="1" sz="1013" kern="1200">
          <a:solidFill>
            <a:schemeClr val="tx1"/>
          </a:solidFill>
          <a:latin typeface="+mn-lt"/>
          <a:ea typeface="+mn-ea"/>
          <a:cs typeface="+mn-cs"/>
        </a:defRPr>
      </a:lvl7pPr>
      <a:lvl8pPr marL="1928813" indent="-128588" algn="l" defTabSz="514350" rtl="0" eaLnBrk="1" latinLnBrk="0" hangingPunct="1">
        <a:lnSpc>
          <a:spcPct val="90000"/>
        </a:lnSpc>
        <a:spcBef>
          <a:spcPts val="281"/>
        </a:spcBef>
        <a:buFont typeface="Arial" panose="020B0604020202020204" pitchFamily="34" charset="0"/>
        <a:buChar char="•"/>
        <a:defRPr kumimoji="1" sz="1013" kern="1200">
          <a:solidFill>
            <a:schemeClr val="tx1"/>
          </a:solidFill>
          <a:latin typeface="+mn-lt"/>
          <a:ea typeface="+mn-ea"/>
          <a:cs typeface="+mn-cs"/>
        </a:defRPr>
      </a:lvl8pPr>
      <a:lvl9pPr marL="2185988" indent="-128588" algn="l" defTabSz="514350" rtl="0" eaLnBrk="1" latinLnBrk="0" hangingPunct="1">
        <a:lnSpc>
          <a:spcPct val="90000"/>
        </a:lnSpc>
        <a:spcBef>
          <a:spcPts val="281"/>
        </a:spcBef>
        <a:buFont typeface="Arial" panose="020B0604020202020204" pitchFamily="34" charset="0"/>
        <a:buChar char="•"/>
        <a:defRPr kumimoji="1" sz="1013" kern="1200">
          <a:solidFill>
            <a:schemeClr val="tx1"/>
          </a:solidFill>
          <a:latin typeface="+mn-lt"/>
          <a:ea typeface="+mn-ea"/>
          <a:cs typeface="+mn-cs"/>
        </a:defRPr>
      </a:lvl9pPr>
    </p:bodyStyle>
    <p:otherStyle>
      <a:defPPr>
        <a:defRPr lang="ja-JP"/>
      </a:defPPr>
      <a:lvl1pPr marL="0" algn="l" defTabSz="514350" rtl="0" eaLnBrk="1" latinLnBrk="0" hangingPunct="1">
        <a:defRPr kumimoji="1" sz="1013" kern="1200">
          <a:solidFill>
            <a:schemeClr val="tx1"/>
          </a:solidFill>
          <a:latin typeface="+mn-lt"/>
          <a:ea typeface="+mn-ea"/>
          <a:cs typeface="+mn-cs"/>
        </a:defRPr>
      </a:lvl1pPr>
      <a:lvl2pPr marL="257175" algn="l" defTabSz="514350" rtl="0" eaLnBrk="1" latinLnBrk="0" hangingPunct="1">
        <a:defRPr kumimoji="1" sz="1013" kern="1200">
          <a:solidFill>
            <a:schemeClr val="tx1"/>
          </a:solidFill>
          <a:latin typeface="+mn-lt"/>
          <a:ea typeface="+mn-ea"/>
          <a:cs typeface="+mn-cs"/>
        </a:defRPr>
      </a:lvl2pPr>
      <a:lvl3pPr marL="514350" algn="l" defTabSz="514350" rtl="0" eaLnBrk="1" latinLnBrk="0" hangingPunct="1">
        <a:defRPr kumimoji="1" sz="1013" kern="1200">
          <a:solidFill>
            <a:schemeClr val="tx1"/>
          </a:solidFill>
          <a:latin typeface="+mn-lt"/>
          <a:ea typeface="+mn-ea"/>
          <a:cs typeface="+mn-cs"/>
        </a:defRPr>
      </a:lvl3pPr>
      <a:lvl4pPr marL="771525" algn="l" defTabSz="514350" rtl="0" eaLnBrk="1" latinLnBrk="0" hangingPunct="1">
        <a:defRPr kumimoji="1" sz="1013" kern="1200">
          <a:solidFill>
            <a:schemeClr val="tx1"/>
          </a:solidFill>
          <a:latin typeface="+mn-lt"/>
          <a:ea typeface="+mn-ea"/>
          <a:cs typeface="+mn-cs"/>
        </a:defRPr>
      </a:lvl4pPr>
      <a:lvl5pPr marL="1028700" algn="l" defTabSz="514350" rtl="0" eaLnBrk="1" latinLnBrk="0" hangingPunct="1">
        <a:defRPr kumimoji="1" sz="1013" kern="1200">
          <a:solidFill>
            <a:schemeClr val="tx1"/>
          </a:solidFill>
          <a:latin typeface="+mn-lt"/>
          <a:ea typeface="+mn-ea"/>
          <a:cs typeface="+mn-cs"/>
        </a:defRPr>
      </a:lvl5pPr>
      <a:lvl6pPr marL="1285875" algn="l" defTabSz="514350" rtl="0" eaLnBrk="1" latinLnBrk="0" hangingPunct="1">
        <a:defRPr kumimoji="1" sz="1013" kern="1200">
          <a:solidFill>
            <a:schemeClr val="tx1"/>
          </a:solidFill>
          <a:latin typeface="+mn-lt"/>
          <a:ea typeface="+mn-ea"/>
          <a:cs typeface="+mn-cs"/>
        </a:defRPr>
      </a:lvl6pPr>
      <a:lvl7pPr marL="1543050" algn="l" defTabSz="514350" rtl="0" eaLnBrk="1" latinLnBrk="0" hangingPunct="1">
        <a:defRPr kumimoji="1" sz="1013" kern="1200">
          <a:solidFill>
            <a:schemeClr val="tx1"/>
          </a:solidFill>
          <a:latin typeface="+mn-lt"/>
          <a:ea typeface="+mn-ea"/>
          <a:cs typeface="+mn-cs"/>
        </a:defRPr>
      </a:lvl7pPr>
      <a:lvl8pPr marL="1800225" algn="l" defTabSz="514350" rtl="0" eaLnBrk="1" latinLnBrk="0" hangingPunct="1">
        <a:defRPr kumimoji="1" sz="1013" kern="1200">
          <a:solidFill>
            <a:schemeClr val="tx1"/>
          </a:solidFill>
          <a:latin typeface="+mn-lt"/>
          <a:ea typeface="+mn-ea"/>
          <a:cs typeface="+mn-cs"/>
        </a:defRPr>
      </a:lvl8pPr>
      <a:lvl9pPr marL="2057400" algn="l" defTabSz="514350" rtl="0" eaLnBrk="1" latinLnBrk="0" hangingPunct="1">
        <a:defRPr kumimoji="1"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svg"/><Relationship Id="rId7" Type="http://schemas.openxmlformats.org/officeDocument/2006/relationships/image" Target="../media/image6.png"/><Relationship Id="rId12" Type="http://schemas.openxmlformats.org/officeDocument/2006/relationships/image" Target="../media/image11.svg"/><Relationship Id="rId2" Type="http://schemas.openxmlformats.org/officeDocument/2006/relationships/image" Target="../media/image1.png"/><Relationship Id="rId1" Type="http://schemas.openxmlformats.org/officeDocument/2006/relationships/slideLayout" Target="../slideLayouts/slideLayout4.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microsoft.com/office/2007/relationships/hdphoto" Target="../media/hdphoto1.wdp"/></Relationships>
</file>

<file path=ppt/slides/_rels/slide3.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png"/><Relationship Id="rId18" Type="http://schemas.openxmlformats.org/officeDocument/2006/relationships/image" Target="../media/image29.png"/><Relationship Id="rId26" Type="http://schemas.openxmlformats.org/officeDocument/2006/relationships/image" Target="../media/image1.png"/><Relationship Id="rId3" Type="http://schemas.openxmlformats.org/officeDocument/2006/relationships/image" Target="../media/image14.svg"/><Relationship Id="rId21" Type="http://schemas.openxmlformats.org/officeDocument/2006/relationships/image" Target="../media/image32.svg"/><Relationship Id="rId7" Type="http://schemas.openxmlformats.org/officeDocument/2006/relationships/image" Target="../media/image18.svg"/><Relationship Id="rId12" Type="http://schemas.openxmlformats.org/officeDocument/2006/relationships/image" Target="../media/image23.png"/><Relationship Id="rId17" Type="http://schemas.openxmlformats.org/officeDocument/2006/relationships/image" Target="../media/image28.svg"/><Relationship Id="rId25" Type="http://schemas.openxmlformats.org/officeDocument/2006/relationships/image" Target="../media/image36.svg"/><Relationship Id="rId2" Type="http://schemas.openxmlformats.org/officeDocument/2006/relationships/image" Target="../media/image13.png"/><Relationship Id="rId16" Type="http://schemas.openxmlformats.org/officeDocument/2006/relationships/image" Target="../media/image27.png"/><Relationship Id="rId20" Type="http://schemas.openxmlformats.org/officeDocument/2006/relationships/image" Target="../media/image31.png"/><Relationship Id="rId29" Type="http://schemas.openxmlformats.org/officeDocument/2006/relationships/image" Target="../media/image4.png"/><Relationship Id="rId1" Type="http://schemas.openxmlformats.org/officeDocument/2006/relationships/slideLayout" Target="../slideLayouts/slideLayout4.xml"/><Relationship Id="rId6" Type="http://schemas.openxmlformats.org/officeDocument/2006/relationships/image" Target="../media/image17.png"/><Relationship Id="rId11" Type="http://schemas.openxmlformats.org/officeDocument/2006/relationships/image" Target="../media/image22.svg"/><Relationship Id="rId24" Type="http://schemas.openxmlformats.org/officeDocument/2006/relationships/image" Target="../media/image35.png"/><Relationship Id="rId5" Type="http://schemas.openxmlformats.org/officeDocument/2006/relationships/image" Target="../media/image16.svg"/><Relationship Id="rId15" Type="http://schemas.openxmlformats.org/officeDocument/2006/relationships/image" Target="../media/image26.svg"/><Relationship Id="rId23" Type="http://schemas.openxmlformats.org/officeDocument/2006/relationships/image" Target="../media/image34.svg"/><Relationship Id="rId28" Type="http://schemas.openxmlformats.org/officeDocument/2006/relationships/image" Target="../media/image5.png"/><Relationship Id="rId10" Type="http://schemas.openxmlformats.org/officeDocument/2006/relationships/image" Target="../media/image21.png"/><Relationship Id="rId19" Type="http://schemas.openxmlformats.org/officeDocument/2006/relationships/image" Target="../media/image30.svg"/><Relationship Id="rId4" Type="http://schemas.openxmlformats.org/officeDocument/2006/relationships/image" Target="../media/image15.png"/><Relationship Id="rId9" Type="http://schemas.openxmlformats.org/officeDocument/2006/relationships/image" Target="../media/image20.svg"/><Relationship Id="rId14" Type="http://schemas.openxmlformats.org/officeDocument/2006/relationships/image" Target="../media/image25.png"/><Relationship Id="rId22" Type="http://schemas.openxmlformats.org/officeDocument/2006/relationships/image" Target="../media/image33.png"/><Relationship Id="rId27" Type="http://schemas.openxmlformats.org/officeDocument/2006/relationships/image" Target="../media/image2.svg"/></Relationships>
</file>

<file path=ppt/slides/_rels/slide4.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0.svg"/><Relationship Id="rId3" Type="http://schemas.openxmlformats.org/officeDocument/2006/relationships/image" Target="../media/image30.svg"/><Relationship Id="rId7" Type="http://schemas.openxmlformats.org/officeDocument/2006/relationships/image" Target="../media/image16.svg"/><Relationship Id="rId12" Type="http://schemas.openxmlformats.org/officeDocument/2006/relationships/image" Target="../media/image19.png"/><Relationship Id="rId17" Type="http://schemas.openxmlformats.org/officeDocument/2006/relationships/image" Target="../media/image14.svg"/><Relationship Id="rId2" Type="http://schemas.openxmlformats.org/officeDocument/2006/relationships/image" Target="../media/image29.png"/><Relationship Id="rId16"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image" Target="../media/image15.png"/><Relationship Id="rId11" Type="http://schemas.openxmlformats.org/officeDocument/2006/relationships/image" Target="../media/image28.svg"/><Relationship Id="rId5" Type="http://schemas.openxmlformats.org/officeDocument/2006/relationships/image" Target="../media/image32.svg"/><Relationship Id="rId15" Type="http://schemas.openxmlformats.org/officeDocument/2006/relationships/image" Target="../media/image22.svg"/><Relationship Id="rId10" Type="http://schemas.openxmlformats.org/officeDocument/2006/relationships/image" Target="../media/image27.png"/><Relationship Id="rId4" Type="http://schemas.openxmlformats.org/officeDocument/2006/relationships/image" Target="../media/image31.png"/><Relationship Id="rId9" Type="http://schemas.openxmlformats.org/officeDocument/2006/relationships/image" Target="../media/image18.svg"/><Relationship Id="rId14" Type="http://schemas.openxmlformats.org/officeDocument/2006/relationships/image" Target="../media/image21.png"/></Relationships>
</file>

<file path=ppt/slides/_rels/slide5.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0.svg"/><Relationship Id="rId3" Type="http://schemas.openxmlformats.org/officeDocument/2006/relationships/image" Target="../media/image30.svg"/><Relationship Id="rId7" Type="http://schemas.openxmlformats.org/officeDocument/2006/relationships/image" Target="../media/image16.svg"/><Relationship Id="rId12" Type="http://schemas.openxmlformats.org/officeDocument/2006/relationships/image" Target="../media/image19.png"/><Relationship Id="rId17" Type="http://schemas.openxmlformats.org/officeDocument/2006/relationships/image" Target="../media/image14.svg"/><Relationship Id="rId2" Type="http://schemas.openxmlformats.org/officeDocument/2006/relationships/image" Target="../media/image29.png"/><Relationship Id="rId16"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image" Target="../media/image15.png"/><Relationship Id="rId11" Type="http://schemas.openxmlformats.org/officeDocument/2006/relationships/image" Target="../media/image28.svg"/><Relationship Id="rId5" Type="http://schemas.openxmlformats.org/officeDocument/2006/relationships/image" Target="../media/image32.svg"/><Relationship Id="rId15" Type="http://schemas.openxmlformats.org/officeDocument/2006/relationships/image" Target="../media/image22.svg"/><Relationship Id="rId10" Type="http://schemas.openxmlformats.org/officeDocument/2006/relationships/image" Target="../media/image27.png"/><Relationship Id="rId4" Type="http://schemas.openxmlformats.org/officeDocument/2006/relationships/image" Target="../media/image31.png"/><Relationship Id="rId9" Type="http://schemas.openxmlformats.org/officeDocument/2006/relationships/image" Target="../media/image18.svg"/><Relationship Id="rId14" Type="http://schemas.openxmlformats.org/officeDocument/2006/relationships/image" Target="../media/image21.png"/></Relationships>
</file>

<file path=ppt/slides/_rels/slide6.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png"/><Relationship Id="rId18" Type="http://schemas.openxmlformats.org/officeDocument/2006/relationships/image" Target="../media/image29.png"/><Relationship Id="rId26" Type="http://schemas.openxmlformats.org/officeDocument/2006/relationships/image" Target="../media/image1.png"/><Relationship Id="rId3" Type="http://schemas.openxmlformats.org/officeDocument/2006/relationships/image" Target="../media/image14.svg"/><Relationship Id="rId21" Type="http://schemas.openxmlformats.org/officeDocument/2006/relationships/image" Target="../media/image32.svg"/><Relationship Id="rId7" Type="http://schemas.openxmlformats.org/officeDocument/2006/relationships/image" Target="../media/image18.svg"/><Relationship Id="rId12" Type="http://schemas.openxmlformats.org/officeDocument/2006/relationships/image" Target="../media/image23.png"/><Relationship Id="rId17" Type="http://schemas.openxmlformats.org/officeDocument/2006/relationships/image" Target="../media/image28.svg"/><Relationship Id="rId25" Type="http://schemas.openxmlformats.org/officeDocument/2006/relationships/image" Target="../media/image36.svg"/><Relationship Id="rId2" Type="http://schemas.openxmlformats.org/officeDocument/2006/relationships/image" Target="../media/image13.png"/><Relationship Id="rId16" Type="http://schemas.openxmlformats.org/officeDocument/2006/relationships/image" Target="../media/image27.png"/><Relationship Id="rId20" Type="http://schemas.openxmlformats.org/officeDocument/2006/relationships/image" Target="../media/image31.png"/><Relationship Id="rId29" Type="http://schemas.openxmlformats.org/officeDocument/2006/relationships/image" Target="../media/image4.png"/><Relationship Id="rId1" Type="http://schemas.openxmlformats.org/officeDocument/2006/relationships/slideLayout" Target="../slideLayouts/slideLayout4.xml"/><Relationship Id="rId6" Type="http://schemas.openxmlformats.org/officeDocument/2006/relationships/image" Target="../media/image17.png"/><Relationship Id="rId11" Type="http://schemas.openxmlformats.org/officeDocument/2006/relationships/image" Target="../media/image22.svg"/><Relationship Id="rId24" Type="http://schemas.openxmlformats.org/officeDocument/2006/relationships/image" Target="../media/image35.png"/><Relationship Id="rId5" Type="http://schemas.openxmlformats.org/officeDocument/2006/relationships/image" Target="../media/image16.svg"/><Relationship Id="rId15" Type="http://schemas.openxmlformats.org/officeDocument/2006/relationships/image" Target="../media/image26.svg"/><Relationship Id="rId23" Type="http://schemas.openxmlformats.org/officeDocument/2006/relationships/image" Target="../media/image34.svg"/><Relationship Id="rId28" Type="http://schemas.openxmlformats.org/officeDocument/2006/relationships/image" Target="../media/image5.png"/><Relationship Id="rId10" Type="http://schemas.openxmlformats.org/officeDocument/2006/relationships/image" Target="../media/image21.png"/><Relationship Id="rId19" Type="http://schemas.openxmlformats.org/officeDocument/2006/relationships/image" Target="../media/image30.svg"/><Relationship Id="rId4" Type="http://schemas.openxmlformats.org/officeDocument/2006/relationships/image" Target="../media/image15.png"/><Relationship Id="rId9" Type="http://schemas.openxmlformats.org/officeDocument/2006/relationships/image" Target="../media/image20.svg"/><Relationship Id="rId14" Type="http://schemas.openxmlformats.org/officeDocument/2006/relationships/image" Target="../media/image25.png"/><Relationship Id="rId22" Type="http://schemas.openxmlformats.org/officeDocument/2006/relationships/image" Target="../media/image33.png"/><Relationship Id="rId27" Type="http://schemas.openxmlformats.org/officeDocument/2006/relationships/image" Target="../media/image2.svg"/></Relationships>
</file>

<file path=ppt/slides/_rels/slide7.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png"/><Relationship Id="rId18" Type="http://schemas.openxmlformats.org/officeDocument/2006/relationships/image" Target="../media/image29.png"/><Relationship Id="rId26" Type="http://schemas.openxmlformats.org/officeDocument/2006/relationships/image" Target="../media/image1.png"/><Relationship Id="rId3" Type="http://schemas.openxmlformats.org/officeDocument/2006/relationships/image" Target="../media/image14.svg"/><Relationship Id="rId21" Type="http://schemas.openxmlformats.org/officeDocument/2006/relationships/image" Target="../media/image32.svg"/><Relationship Id="rId7" Type="http://schemas.openxmlformats.org/officeDocument/2006/relationships/image" Target="../media/image18.svg"/><Relationship Id="rId12" Type="http://schemas.openxmlformats.org/officeDocument/2006/relationships/image" Target="../media/image23.png"/><Relationship Id="rId17" Type="http://schemas.openxmlformats.org/officeDocument/2006/relationships/image" Target="../media/image28.svg"/><Relationship Id="rId25" Type="http://schemas.openxmlformats.org/officeDocument/2006/relationships/image" Target="../media/image36.svg"/><Relationship Id="rId2" Type="http://schemas.openxmlformats.org/officeDocument/2006/relationships/image" Target="../media/image13.png"/><Relationship Id="rId16" Type="http://schemas.openxmlformats.org/officeDocument/2006/relationships/image" Target="../media/image27.png"/><Relationship Id="rId20" Type="http://schemas.openxmlformats.org/officeDocument/2006/relationships/image" Target="../media/image31.png"/><Relationship Id="rId1" Type="http://schemas.openxmlformats.org/officeDocument/2006/relationships/slideLayout" Target="../slideLayouts/slideLayout4.xml"/><Relationship Id="rId6" Type="http://schemas.openxmlformats.org/officeDocument/2006/relationships/image" Target="../media/image17.png"/><Relationship Id="rId11" Type="http://schemas.openxmlformats.org/officeDocument/2006/relationships/image" Target="../media/image22.svg"/><Relationship Id="rId24" Type="http://schemas.openxmlformats.org/officeDocument/2006/relationships/image" Target="../media/image35.png"/><Relationship Id="rId5" Type="http://schemas.openxmlformats.org/officeDocument/2006/relationships/image" Target="../media/image16.svg"/><Relationship Id="rId15" Type="http://schemas.openxmlformats.org/officeDocument/2006/relationships/image" Target="../media/image26.svg"/><Relationship Id="rId23" Type="http://schemas.openxmlformats.org/officeDocument/2006/relationships/image" Target="../media/image34.svg"/><Relationship Id="rId28" Type="http://schemas.openxmlformats.org/officeDocument/2006/relationships/image" Target="../media/image4.png"/><Relationship Id="rId10" Type="http://schemas.openxmlformats.org/officeDocument/2006/relationships/image" Target="../media/image21.png"/><Relationship Id="rId19" Type="http://schemas.openxmlformats.org/officeDocument/2006/relationships/image" Target="../media/image30.svg"/><Relationship Id="rId4" Type="http://schemas.openxmlformats.org/officeDocument/2006/relationships/image" Target="../media/image15.png"/><Relationship Id="rId9" Type="http://schemas.openxmlformats.org/officeDocument/2006/relationships/image" Target="../media/image20.svg"/><Relationship Id="rId14" Type="http://schemas.openxmlformats.org/officeDocument/2006/relationships/image" Target="../media/image25.png"/><Relationship Id="rId22" Type="http://schemas.openxmlformats.org/officeDocument/2006/relationships/image" Target="../media/image33.png"/><Relationship Id="rId27" Type="http://schemas.openxmlformats.org/officeDocument/2006/relationships/image" Target="../media/image2.svg"/></Relationships>
</file>

<file path=ppt/slides/_rels/slide8.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36.svg"/><Relationship Id="rId3" Type="http://schemas.openxmlformats.org/officeDocument/2006/relationships/image" Target="../media/image14.svg"/><Relationship Id="rId7" Type="http://schemas.openxmlformats.org/officeDocument/2006/relationships/image" Target="../media/image18.svg"/><Relationship Id="rId12" Type="http://schemas.openxmlformats.org/officeDocument/2006/relationships/image" Target="../media/image35.png"/><Relationship Id="rId2" Type="http://schemas.openxmlformats.org/officeDocument/2006/relationships/image" Target="../media/image13.png"/><Relationship Id="rId16" Type="http://schemas.openxmlformats.org/officeDocument/2006/relationships/image" Target="../media/image4.png"/><Relationship Id="rId1" Type="http://schemas.openxmlformats.org/officeDocument/2006/relationships/slideLayout" Target="../slideLayouts/slideLayout4.xml"/><Relationship Id="rId6" Type="http://schemas.openxmlformats.org/officeDocument/2006/relationships/image" Target="../media/image17.png"/><Relationship Id="rId11" Type="http://schemas.openxmlformats.org/officeDocument/2006/relationships/image" Target="../media/image26.svg"/><Relationship Id="rId5" Type="http://schemas.openxmlformats.org/officeDocument/2006/relationships/image" Target="../media/image16.svg"/><Relationship Id="rId15" Type="http://schemas.openxmlformats.org/officeDocument/2006/relationships/image" Target="../media/image2.svg"/><Relationship Id="rId10" Type="http://schemas.openxmlformats.org/officeDocument/2006/relationships/image" Target="../media/image25.png"/><Relationship Id="rId4" Type="http://schemas.openxmlformats.org/officeDocument/2006/relationships/image" Target="../media/image15.png"/><Relationship Id="rId9" Type="http://schemas.openxmlformats.org/officeDocument/2006/relationships/image" Target="../media/image24.png"/><Relationship Id="rId14" Type="http://schemas.openxmlformats.org/officeDocument/2006/relationships/image" Target="../media/image1.png"/></Relationships>
</file>

<file path=ppt/slides/_rels/slide9.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30.svg"/><Relationship Id="rId18" Type="http://schemas.openxmlformats.org/officeDocument/2006/relationships/image" Target="../media/image4.png"/><Relationship Id="rId3" Type="http://schemas.openxmlformats.org/officeDocument/2006/relationships/image" Target="../media/image14.svg"/><Relationship Id="rId7" Type="http://schemas.openxmlformats.org/officeDocument/2006/relationships/image" Target="../media/image18.svg"/><Relationship Id="rId12" Type="http://schemas.openxmlformats.org/officeDocument/2006/relationships/image" Target="../media/image29.png"/><Relationship Id="rId17" Type="http://schemas.openxmlformats.org/officeDocument/2006/relationships/image" Target="../media/image2.svg"/><Relationship Id="rId2" Type="http://schemas.openxmlformats.org/officeDocument/2006/relationships/image" Target="../media/image13.png"/><Relationship Id="rId16" Type="http://schemas.openxmlformats.org/officeDocument/2006/relationships/image" Target="../media/image1.png"/><Relationship Id="rId1" Type="http://schemas.openxmlformats.org/officeDocument/2006/relationships/slideLayout" Target="../slideLayouts/slideLayout4.xml"/><Relationship Id="rId6" Type="http://schemas.openxmlformats.org/officeDocument/2006/relationships/image" Target="../media/image17.png"/><Relationship Id="rId11" Type="http://schemas.openxmlformats.org/officeDocument/2006/relationships/image" Target="../media/image26.svg"/><Relationship Id="rId5" Type="http://schemas.openxmlformats.org/officeDocument/2006/relationships/image" Target="../media/image16.svg"/><Relationship Id="rId15" Type="http://schemas.openxmlformats.org/officeDocument/2006/relationships/image" Target="../media/image36.svg"/><Relationship Id="rId10" Type="http://schemas.openxmlformats.org/officeDocument/2006/relationships/image" Target="../media/image25.png"/><Relationship Id="rId4" Type="http://schemas.openxmlformats.org/officeDocument/2006/relationships/image" Target="../media/image15.png"/><Relationship Id="rId9" Type="http://schemas.openxmlformats.org/officeDocument/2006/relationships/image" Target="../media/image24.png"/><Relationship Id="rId14" Type="http://schemas.openxmlformats.org/officeDocument/2006/relationships/image" Target="../media/image35.png"/></Relationships>
</file>

<file path=ppt/slides/_rels/slide10.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30.svg"/><Relationship Id="rId18" Type="http://schemas.openxmlformats.org/officeDocument/2006/relationships/image" Target="../media/image4.png"/><Relationship Id="rId3" Type="http://schemas.openxmlformats.org/officeDocument/2006/relationships/image" Target="../media/image14.svg"/><Relationship Id="rId7" Type="http://schemas.openxmlformats.org/officeDocument/2006/relationships/image" Target="../media/image18.svg"/><Relationship Id="rId12" Type="http://schemas.openxmlformats.org/officeDocument/2006/relationships/image" Target="../media/image29.png"/><Relationship Id="rId17" Type="http://schemas.openxmlformats.org/officeDocument/2006/relationships/image" Target="../media/image2.svg"/><Relationship Id="rId2" Type="http://schemas.openxmlformats.org/officeDocument/2006/relationships/image" Target="../media/image13.png"/><Relationship Id="rId16" Type="http://schemas.openxmlformats.org/officeDocument/2006/relationships/image" Target="../media/image1.png"/><Relationship Id="rId1" Type="http://schemas.openxmlformats.org/officeDocument/2006/relationships/slideLayout" Target="../slideLayouts/slideLayout4.xml"/><Relationship Id="rId6" Type="http://schemas.openxmlformats.org/officeDocument/2006/relationships/image" Target="../media/image17.png"/><Relationship Id="rId11" Type="http://schemas.openxmlformats.org/officeDocument/2006/relationships/image" Target="../media/image26.svg"/><Relationship Id="rId5" Type="http://schemas.openxmlformats.org/officeDocument/2006/relationships/image" Target="../media/image16.svg"/><Relationship Id="rId15" Type="http://schemas.openxmlformats.org/officeDocument/2006/relationships/image" Target="../media/image36.svg"/><Relationship Id="rId10" Type="http://schemas.openxmlformats.org/officeDocument/2006/relationships/image" Target="../media/image25.png"/><Relationship Id="rId4" Type="http://schemas.openxmlformats.org/officeDocument/2006/relationships/image" Target="../media/image15.png"/><Relationship Id="rId9" Type="http://schemas.openxmlformats.org/officeDocument/2006/relationships/image" Target="../media/image24.png"/><Relationship Id="rId14" Type="http://schemas.openxmlformats.org/officeDocument/2006/relationships/image" Target="../media/image35.png"/></Relationships>
</file>

<file path=ppt/slides/_rels/slide11.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svg"/><Relationship Id="rId18" Type="http://schemas.openxmlformats.org/officeDocument/2006/relationships/image" Target="../media/image1.png"/><Relationship Id="rId3" Type="http://schemas.openxmlformats.org/officeDocument/2006/relationships/image" Target="../media/image14.svg"/><Relationship Id="rId21" Type="http://schemas.openxmlformats.org/officeDocument/2006/relationships/image" Target="../media/image37.png"/><Relationship Id="rId7" Type="http://schemas.openxmlformats.org/officeDocument/2006/relationships/image" Target="../media/image18.svg"/><Relationship Id="rId12" Type="http://schemas.openxmlformats.org/officeDocument/2006/relationships/image" Target="../media/image25.png"/><Relationship Id="rId17" Type="http://schemas.openxmlformats.org/officeDocument/2006/relationships/image" Target="../media/image36.svg"/><Relationship Id="rId2" Type="http://schemas.openxmlformats.org/officeDocument/2006/relationships/image" Target="../media/image13.png"/><Relationship Id="rId16" Type="http://schemas.openxmlformats.org/officeDocument/2006/relationships/image" Target="../media/image35.png"/><Relationship Id="rId20" Type="http://schemas.openxmlformats.org/officeDocument/2006/relationships/image" Target="../media/image4.png"/><Relationship Id="rId1" Type="http://schemas.openxmlformats.org/officeDocument/2006/relationships/slideLayout" Target="../slideLayouts/slideLayout4.xml"/><Relationship Id="rId6" Type="http://schemas.openxmlformats.org/officeDocument/2006/relationships/image" Target="../media/image17.png"/><Relationship Id="rId11" Type="http://schemas.openxmlformats.org/officeDocument/2006/relationships/image" Target="../media/image24.png"/><Relationship Id="rId5" Type="http://schemas.openxmlformats.org/officeDocument/2006/relationships/image" Target="../media/image16.svg"/><Relationship Id="rId15" Type="http://schemas.openxmlformats.org/officeDocument/2006/relationships/image" Target="../media/image30.svg"/><Relationship Id="rId10" Type="http://schemas.openxmlformats.org/officeDocument/2006/relationships/image" Target="../media/image23.png"/><Relationship Id="rId19" Type="http://schemas.openxmlformats.org/officeDocument/2006/relationships/image" Target="../media/image2.svg"/><Relationship Id="rId4" Type="http://schemas.openxmlformats.org/officeDocument/2006/relationships/image" Target="../media/image15.png"/><Relationship Id="rId9" Type="http://schemas.openxmlformats.org/officeDocument/2006/relationships/image" Target="../media/image22.svg"/><Relationship Id="rId14" Type="http://schemas.openxmlformats.org/officeDocument/2006/relationships/image" Target="../media/image29.png"/><Relationship Id="rId22" Type="http://schemas.openxmlformats.org/officeDocument/2006/relationships/image" Target="../media/image38.svg"/></Relationships>
</file>

<file path=ppt/slides/_rels/slide12.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svg"/><Relationship Id="rId18" Type="http://schemas.openxmlformats.org/officeDocument/2006/relationships/image" Target="../media/image33.png"/><Relationship Id="rId3" Type="http://schemas.openxmlformats.org/officeDocument/2006/relationships/image" Target="../media/image14.svg"/><Relationship Id="rId21" Type="http://schemas.openxmlformats.org/officeDocument/2006/relationships/image" Target="../media/image36.svg"/><Relationship Id="rId7" Type="http://schemas.openxmlformats.org/officeDocument/2006/relationships/image" Target="../media/image18.svg"/><Relationship Id="rId12" Type="http://schemas.openxmlformats.org/officeDocument/2006/relationships/image" Target="../media/image25.png"/><Relationship Id="rId17" Type="http://schemas.openxmlformats.org/officeDocument/2006/relationships/image" Target="../media/image32.svg"/><Relationship Id="rId2" Type="http://schemas.openxmlformats.org/officeDocument/2006/relationships/image" Target="../media/image13.png"/><Relationship Id="rId16" Type="http://schemas.openxmlformats.org/officeDocument/2006/relationships/image" Target="../media/image31.png"/><Relationship Id="rId20" Type="http://schemas.openxmlformats.org/officeDocument/2006/relationships/image" Target="../media/image35.png"/><Relationship Id="rId1" Type="http://schemas.openxmlformats.org/officeDocument/2006/relationships/slideLayout" Target="../slideLayouts/slideLayout4.xml"/><Relationship Id="rId6" Type="http://schemas.openxmlformats.org/officeDocument/2006/relationships/image" Target="../media/image17.png"/><Relationship Id="rId11" Type="http://schemas.openxmlformats.org/officeDocument/2006/relationships/image" Target="../media/image24.png"/><Relationship Id="rId24" Type="http://schemas.openxmlformats.org/officeDocument/2006/relationships/image" Target="../media/image4.png"/><Relationship Id="rId5" Type="http://schemas.openxmlformats.org/officeDocument/2006/relationships/image" Target="../media/image16.svg"/><Relationship Id="rId15" Type="http://schemas.openxmlformats.org/officeDocument/2006/relationships/image" Target="../media/image30.svg"/><Relationship Id="rId23" Type="http://schemas.openxmlformats.org/officeDocument/2006/relationships/image" Target="../media/image2.svg"/><Relationship Id="rId10" Type="http://schemas.openxmlformats.org/officeDocument/2006/relationships/image" Target="../media/image23.png"/><Relationship Id="rId19" Type="http://schemas.openxmlformats.org/officeDocument/2006/relationships/image" Target="../media/image34.svg"/><Relationship Id="rId4" Type="http://schemas.openxmlformats.org/officeDocument/2006/relationships/image" Target="../media/image15.png"/><Relationship Id="rId9" Type="http://schemas.openxmlformats.org/officeDocument/2006/relationships/image" Target="../media/image22.svg"/><Relationship Id="rId14" Type="http://schemas.openxmlformats.org/officeDocument/2006/relationships/image" Target="../media/image29.png"/><Relationship Id="rId22"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png"/><Relationship Id="rId18" Type="http://schemas.openxmlformats.org/officeDocument/2006/relationships/image" Target="../media/image31.png"/><Relationship Id="rId26" Type="http://schemas.openxmlformats.org/officeDocument/2006/relationships/image" Target="../media/image4.png"/><Relationship Id="rId3" Type="http://schemas.openxmlformats.org/officeDocument/2006/relationships/image" Target="../media/image14.svg"/><Relationship Id="rId21" Type="http://schemas.openxmlformats.org/officeDocument/2006/relationships/image" Target="../media/image34.svg"/><Relationship Id="rId7" Type="http://schemas.openxmlformats.org/officeDocument/2006/relationships/image" Target="../media/image18.svg"/><Relationship Id="rId12" Type="http://schemas.openxmlformats.org/officeDocument/2006/relationships/image" Target="../media/image23.png"/><Relationship Id="rId17" Type="http://schemas.openxmlformats.org/officeDocument/2006/relationships/image" Target="../media/image30.svg"/><Relationship Id="rId25" Type="http://schemas.openxmlformats.org/officeDocument/2006/relationships/image" Target="../media/image2.svg"/><Relationship Id="rId2" Type="http://schemas.openxmlformats.org/officeDocument/2006/relationships/image" Target="../media/image13.png"/><Relationship Id="rId16" Type="http://schemas.openxmlformats.org/officeDocument/2006/relationships/image" Target="../media/image29.png"/><Relationship Id="rId20" Type="http://schemas.openxmlformats.org/officeDocument/2006/relationships/image" Target="../media/image33.png"/><Relationship Id="rId1" Type="http://schemas.openxmlformats.org/officeDocument/2006/relationships/slideLayout" Target="../slideLayouts/slideLayout4.xml"/><Relationship Id="rId6" Type="http://schemas.openxmlformats.org/officeDocument/2006/relationships/image" Target="../media/image17.png"/><Relationship Id="rId11" Type="http://schemas.openxmlformats.org/officeDocument/2006/relationships/image" Target="../media/image22.svg"/><Relationship Id="rId24" Type="http://schemas.openxmlformats.org/officeDocument/2006/relationships/image" Target="../media/image1.png"/><Relationship Id="rId5" Type="http://schemas.openxmlformats.org/officeDocument/2006/relationships/image" Target="../media/image16.svg"/><Relationship Id="rId15" Type="http://schemas.openxmlformats.org/officeDocument/2006/relationships/image" Target="../media/image26.svg"/><Relationship Id="rId23" Type="http://schemas.openxmlformats.org/officeDocument/2006/relationships/image" Target="../media/image36.svg"/><Relationship Id="rId10" Type="http://schemas.openxmlformats.org/officeDocument/2006/relationships/image" Target="../media/image21.png"/><Relationship Id="rId19" Type="http://schemas.openxmlformats.org/officeDocument/2006/relationships/image" Target="../media/image32.svg"/><Relationship Id="rId4" Type="http://schemas.openxmlformats.org/officeDocument/2006/relationships/image" Target="../media/image15.png"/><Relationship Id="rId9" Type="http://schemas.openxmlformats.org/officeDocument/2006/relationships/image" Target="../media/image20.svg"/><Relationship Id="rId14" Type="http://schemas.openxmlformats.org/officeDocument/2006/relationships/image" Target="../media/image25.png"/><Relationship Id="rId22" Type="http://schemas.openxmlformats.org/officeDocument/2006/relationships/image" Target="../media/image35.png"/></Relationships>
</file>

<file path=ppt/slides/_rels/slide14.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png"/><Relationship Id="rId18" Type="http://schemas.openxmlformats.org/officeDocument/2006/relationships/image" Target="../media/image31.png"/><Relationship Id="rId26" Type="http://schemas.openxmlformats.org/officeDocument/2006/relationships/image" Target="../media/image4.png"/><Relationship Id="rId3" Type="http://schemas.openxmlformats.org/officeDocument/2006/relationships/image" Target="../media/image14.svg"/><Relationship Id="rId21" Type="http://schemas.openxmlformats.org/officeDocument/2006/relationships/image" Target="../media/image34.svg"/><Relationship Id="rId7" Type="http://schemas.openxmlformats.org/officeDocument/2006/relationships/image" Target="../media/image18.svg"/><Relationship Id="rId12" Type="http://schemas.openxmlformats.org/officeDocument/2006/relationships/image" Target="../media/image23.png"/><Relationship Id="rId17" Type="http://schemas.openxmlformats.org/officeDocument/2006/relationships/image" Target="../media/image30.svg"/><Relationship Id="rId25" Type="http://schemas.openxmlformats.org/officeDocument/2006/relationships/image" Target="../media/image2.svg"/><Relationship Id="rId2" Type="http://schemas.openxmlformats.org/officeDocument/2006/relationships/image" Target="../media/image13.png"/><Relationship Id="rId16" Type="http://schemas.openxmlformats.org/officeDocument/2006/relationships/image" Target="../media/image29.png"/><Relationship Id="rId20" Type="http://schemas.openxmlformats.org/officeDocument/2006/relationships/image" Target="../media/image33.png"/><Relationship Id="rId1" Type="http://schemas.openxmlformats.org/officeDocument/2006/relationships/slideLayout" Target="../slideLayouts/slideLayout4.xml"/><Relationship Id="rId6" Type="http://schemas.openxmlformats.org/officeDocument/2006/relationships/image" Target="../media/image17.png"/><Relationship Id="rId11" Type="http://schemas.openxmlformats.org/officeDocument/2006/relationships/image" Target="../media/image22.svg"/><Relationship Id="rId24" Type="http://schemas.openxmlformats.org/officeDocument/2006/relationships/image" Target="../media/image1.png"/><Relationship Id="rId5" Type="http://schemas.openxmlformats.org/officeDocument/2006/relationships/image" Target="../media/image16.svg"/><Relationship Id="rId15" Type="http://schemas.openxmlformats.org/officeDocument/2006/relationships/image" Target="../media/image26.svg"/><Relationship Id="rId23" Type="http://schemas.openxmlformats.org/officeDocument/2006/relationships/image" Target="../media/image36.svg"/><Relationship Id="rId10" Type="http://schemas.openxmlformats.org/officeDocument/2006/relationships/image" Target="../media/image21.png"/><Relationship Id="rId19" Type="http://schemas.openxmlformats.org/officeDocument/2006/relationships/image" Target="../media/image32.svg"/><Relationship Id="rId4" Type="http://schemas.openxmlformats.org/officeDocument/2006/relationships/image" Target="../media/image15.png"/><Relationship Id="rId9" Type="http://schemas.openxmlformats.org/officeDocument/2006/relationships/image" Target="../media/image20.svg"/><Relationship Id="rId14" Type="http://schemas.openxmlformats.org/officeDocument/2006/relationships/image" Target="../media/image25.png"/><Relationship Id="rId22" Type="http://schemas.openxmlformats.org/officeDocument/2006/relationships/image" Target="../media/image35.png"/></Relationships>
</file>

<file path=ppt/slides/_rels/slide15.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png"/><Relationship Id="rId18" Type="http://schemas.openxmlformats.org/officeDocument/2006/relationships/image" Target="../media/image29.png"/><Relationship Id="rId26" Type="http://schemas.openxmlformats.org/officeDocument/2006/relationships/image" Target="../media/image1.png"/><Relationship Id="rId3" Type="http://schemas.openxmlformats.org/officeDocument/2006/relationships/image" Target="../media/image14.svg"/><Relationship Id="rId21" Type="http://schemas.openxmlformats.org/officeDocument/2006/relationships/image" Target="../media/image32.svg"/><Relationship Id="rId7" Type="http://schemas.openxmlformats.org/officeDocument/2006/relationships/image" Target="../media/image18.svg"/><Relationship Id="rId12" Type="http://schemas.openxmlformats.org/officeDocument/2006/relationships/image" Target="../media/image23.png"/><Relationship Id="rId17" Type="http://schemas.openxmlformats.org/officeDocument/2006/relationships/image" Target="../media/image28.svg"/><Relationship Id="rId25" Type="http://schemas.openxmlformats.org/officeDocument/2006/relationships/image" Target="../media/image36.svg"/><Relationship Id="rId2" Type="http://schemas.openxmlformats.org/officeDocument/2006/relationships/image" Target="../media/image13.png"/><Relationship Id="rId16" Type="http://schemas.openxmlformats.org/officeDocument/2006/relationships/image" Target="../media/image27.png"/><Relationship Id="rId20" Type="http://schemas.openxmlformats.org/officeDocument/2006/relationships/image" Target="../media/image31.png"/><Relationship Id="rId1" Type="http://schemas.openxmlformats.org/officeDocument/2006/relationships/slideLayout" Target="../slideLayouts/slideLayout4.xml"/><Relationship Id="rId6" Type="http://schemas.openxmlformats.org/officeDocument/2006/relationships/image" Target="../media/image17.png"/><Relationship Id="rId11" Type="http://schemas.openxmlformats.org/officeDocument/2006/relationships/image" Target="../media/image22.svg"/><Relationship Id="rId24" Type="http://schemas.openxmlformats.org/officeDocument/2006/relationships/image" Target="../media/image35.png"/><Relationship Id="rId5" Type="http://schemas.openxmlformats.org/officeDocument/2006/relationships/image" Target="../media/image16.svg"/><Relationship Id="rId15" Type="http://schemas.openxmlformats.org/officeDocument/2006/relationships/image" Target="../media/image26.svg"/><Relationship Id="rId23" Type="http://schemas.openxmlformats.org/officeDocument/2006/relationships/image" Target="../media/image34.svg"/><Relationship Id="rId28" Type="http://schemas.openxmlformats.org/officeDocument/2006/relationships/image" Target="../media/image4.png"/><Relationship Id="rId10" Type="http://schemas.openxmlformats.org/officeDocument/2006/relationships/image" Target="../media/image21.png"/><Relationship Id="rId19" Type="http://schemas.openxmlformats.org/officeDocument/2006/relationships/image" Target="../media/image30.svg"/><Relationship Id="rId4" Type="http://schemas.openxmlformats.org/officeDocument/2006/relationships/image" Target="../media/image15.png"/><Relationship Id="rId9" Type="http://schemas.openxmlformats.org/officeDocument/2006/relationships/image" Target="../media/image20.svg"/><Relationship Id="rId14" Type="http://schemas.openxmlformats.org/officeDocument/2006/relationships/image" Target="../media/image25.png"/><Relationship Id="rId22" Type="http://schemas.openxmlformats.org/officeDocument/2006/relationships/image" Target="../media/image33.png"/><Relationship Id="rId27" Type="http://schemas.openxmlformats.org/officeDocument/2006/relationships/image" Target="../media/image2.svg"/></Relationships>
</file>

<file path=ppt/slides/_rels/slide16.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png"/><Relationship Id="rId18" Type="http://schemas.openxmlformats.org/officeDocument/2006/relationships/image" Target="../media/image29.png"/><Relationship Id="rId26" Type="http://schemas.openxmlformats.org/officeDocument/2006/relationships/image" Target="../media/image1.png"/><Relationship Id="rId3" Type="http://schemas.openxmlformats.org/officeDocument/2006/relationships/image" Target="../media/image14.svg"/><Relationship Id="rId21" Type="http://schemas.openxmlformats.org/officeDocument/2006/relationships/image" Target="../media/image32.svg"/><Relationship Id="rId7" Type="http://schemas.openxmlformats.org/officeDocument/2006/relationships/image" Target="../media/image18.svg"/><Relationship Id="rId12" Type="http://schemas.openxmlformats.org/officeDocument/2006/relationships/image" Target="../media/image23.png"/><Relationship Id="rId17" Type="http://schemas.openxmlformats.org/officeDocument/2006/relationships/image" Target="../media/image28.svg"/><Relationship Id="rId25" Type="http://schemas.openxmlformats.org/officeDocument/2006/relationships/image" Target="../media/image36.svg"/><Relationship Id="rId2" Type="http://schemas.openxmlformats.org/officeDocument/2006/relationships/image" Target="../media/image13.png"/><Relationship Id="rId16" Type="http://schemas.openxmlformats.org/officeDocument/2006/relationships/image" Target="../media/image27.png"/><Relationship Id="rId20" Type="http://schemas.openxmlformats.org/officeDocument/2006/relationships/image" Target="../media/image31.png"/><Relationship Id="rId29" Type="http://schemas.openxmlformats.org/officeDocument/2006/relationships/image" Target="../media/image4.png"/><Relationship Id="rId1" Type="http://schemas.openxmlformats.org/officeDocument/2006/relationships/slideLayout" Target="../slideLayouts/slideLayout4.xml"/><Relationship Id="rId6" Type="http://schemas.openxmlformats.org/officeDocument/2006/relationships/image" Target="../media/image17.png"/><Relationship Id="rId11" Type="http://schemas.openxmlformats.org/officeDocument/2006/relationships/image" Target="../media/image22.svg"/><Relationship Id="rId24" Type="http://schemas.openxmlformats.org/officeDocument/2006/relationships/image" Target="../media/image35.png"/><Relationship Id="rId5" Type="http://schemas.openxmlformats.org/officeDocument/2006/relationships/image" Target="../media/image16.svg"/><Relationship Id="rId15" Type="http://schemas.openxmlformats.org/officeDocument/2006/relationships/image" Target="../media/image26.svg"/><Relationship Id="rId23" Type="http://schemas.openxmlformats.org/officeDocument/2006/relationships/image" Target="../media/image34.svg"/><Relationship Id="rId28" Type="http://schemas.openxmlformats.org/officeDocument/2006/relationships/image" Target="../media/image5.png"/><Relationship Id="rId10" Type="http://schemas.openxmlformats.org/officeDocument/2006/relationships/image" Target="../media/image21.png"/><Relationship Id="rId19" Type="http://schemas.openxmlformats.org/officeDocument/2006/relationships/image" Target="../media/image30.svg"/><Relationship Id="rId4" Type="http://schemas.openxmlformats.org/officeDocument/2006/relationships/image" Target="../media/image15.png"/><Relationship Id="rId9" Type="http://schemas.openxmlformats.org/officeDocument/2006/relationships/image" Target="../media/image20.svg"/><Relationship Id="rId14" Type="http://schemas.openxmlformats.org/officeDocument/2006/relationships/image" Target="../media/image25.png"/><Relationship Id="rId22" Type="http://schemas.openxmlformats.org/officeDocument/2006/relationships/image" Target="../media/image33.png"/><Relationship Id="rId27" Type="http://schemas.openxmlformats.org/officeDocument/2006/relationships/image" Target="../media/image2.svg"/></Relationships>
</file>

<file path=ppt/slides/_rels/slide17.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png"/><Relationship Id="rId18" Type="http://schemas.openxmlformats.org/officeDocument/2006/relationships/image" Target="../media/image29.png"/><Relationship Id="rId26" Type="http://schemas.openxmlformats.org/officeDocument/2006/relationships/image" Target="../media/image1.png"/><Relationship Id="rId3" Type="http://schemas.openxmlformats.org/officeDocument/2006/relationships/image" Target="../media/image14.svg"/><Relationship Id="rId21" Type="http://schemas.openxmlformats.org/officeDocument/2006/relationships/image" Target="../media/image32.svg"/><Relationship Id="rId7" Type="http://schemas.openxmlformats.org/officeDocument/2006/relationships/image" Target="../media/image18.svg"/><Relationship Id="rId12" Type="http://schemas.openxmlformats.org/officeDocument/2006/relationships/image" Target="../media/image23.png"/><Relationship Id="rId17" Type="http://schemas.openxmlformats.org/officeDocument/2006/relationships/image" Target="../media/image28.svg"/><Relationship Id="rId25" Type="http://schemas.openxmlformats.org/officeDocument/2006/relationships/image" Target="../media/image36.svg"/><Relationship Id="rId2" Type="http://schemas.openxmlformats.org/officeDocument/2006/relationships/image" Target="../media/image13.png"/><Relationship Id="rId16" Type="http://schemas.openxmlformats.org/officeDocument/2006/relationships/image" Target="../media/image27.png"/><Relationship Id="rId20" Type="http://schemas.openxmlformats.org/officeDocument/2006/relationships/image" Target="../media/image31.png"/><Relationship Id="rId29" Type="http://schemas.openxmlformats.org/officeDocument/2006/relationships/image" Target="../media/image4.png"/><Relationship Id="rId1" Type="http://schemas.openxmlformats.org/officeDocument/2006/relationships/slideLayout" Target="../slideLayouts/slideLayout4.xml"/><Relationship Id="rId6" Type="http://schemas.openxmlformats.org/officeDocument/2006/relationships/image" Target="../media/image17.png"/><Relationship Id="rId11" Type="http://schemas.openxmlformats.org/officeDocument/2006/relationships/image" Target="../media/image22.svg"/><Relationship Id="rId24" Type="http://schemas.openxmlformats.org/officeDocument/2006/relationships/image" Target="../media/image35.png"/><Relationship Id="rId5" Type="http://schemas.openxmlformats.org/officeDocument/2006/relationships/image" Target="../media/image16.svg"/><Relationship Id="rId15" Type="http://schemas.openxmlformats.org/officeDocument/2006/relationships/image" Target="../media/image26.svg"/><Relationship Id="rId23" Type="http://schemas.openxmlformats.org/officeDocument/2006/relationships/image" Target="../media/image34.svg"/><Relationship Id="rId28" Type="http://schemas.openxmlformats.org/officeDocument/2006/relationships/image" Target="../media/image5.png"/><Relationship Id="rId10" Type="http://schemas.openxmlformats.org/officeDocument/2006/relationships/image" Target="../media/image21.png"/><Relationship Id="rId19" Type="http://schemas.openxmlformats.org/officeDocument/2006/relationships/image" Target="../media/image30.svg"/><Relationship Id="rId4" Type="http://schemas.openxmlformats.org/officeDocument/2006/relationships/image" Target="../media/image15.png"/><Relationship Id="rId9" Type="http://schemas.openxmlformats.org/officeDocument/2006/relationships/image" Target="../media/image20.svg"/><Relationship Id="rId14" Type="http://schemas.openxmlformats.org/officeDocument/2006/relationships/image" Target="../media/image25.png"/><Relationship Id="rId22" Type="http://schemas.openxmlformats.org/officeDocument/2006/relationships/image" Target="../media/image33.png"/><Relationship Id="rId27" Type="http://schemas.openxmlformats.org/officeDocument/2006/relationships/image" Target="../media/image2.svg"/><Relationship Id="rId30" Type="http://schemas.openxmlformats.org/officeDocument/2006/relationships/image" Target="../media/image39.png"/></Relationships>
</file>

<file path=ppt/slides/_rels/slide18.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image" Target="../media/image23.png"/><Relationship Id="rId7"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image" Target="../media/image26.svg"/><Relationship Id="rId5" Type="http://schemas.openxmlformats.org/officeDocument/2006/relationships/image" Target="../media/image25.png"/><Relationship Id="rId10" Type="http://schemas.openxmlformats.org/officeDocument/2006/relationships/image" Target="../media/image40.png"/><Relationship Id="rId4" Type="http://schemas.openxmlformats.org/officeDocument/2006/relationships/image" Target="../media/image24.png"/><Relationship Id="rId9" Type="http://schemas.openxmlformats.org/officeDocument/2006/relationships/image" Target="../media/image4.png"/></Relationships>
</file>

<file path=ppt/slides/_rels/slide19.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image" Target="../media/image23.png"/><Relationship Id="rId7"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26.svg"/><Relationship Id="rId5" Type="http://schemas.openxmlformats.org/officeDocument/2006/relationships/image" Target="../media/image25.png"/><Relationship Id="rId10" Type="http://schemas.openxmlformats.org/officeDocument/2006/relationships/image" Target="../media/image40.png"/><Relationship Id="rId4" Type="http://schemas.openxmlformats.org/officeDocument/2006/relationships/image" Target="../media/image24.png"/><Relationship Id="rId9" Type="http://schemas.openxmlformats.org/officeDocument/2006/relationships/image" Target="../media/image4.png"/></Relationships>
</file>

<file path=ppt/slides/_rels/slide20.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image" Target="../media/image23.pn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26.svg"/><Relationship Id="rId5" Type="http://schemas.openxmlformats.org/officeDocument/2006/relationships/image" Target="../media/image25.png"/><Relationship Id="rId10" Type="http://schemas.openxmlformats.org/officeDocument/2006/relationships/image" Target="../media/image40.png"/><Relationship Id="rId4" Type="http://schemas.openxmlformats.org/officeDocument/2006/relationships/image" Target="../media/image24.png"/><Relationship Id="rId9" Type="http://schemas.openxmlformats.org/officeDocument/2006/relationships/image" Target="../media/image4.png"/></Relationships>
</file>

<file path=ppt/slides/_rels/slide21.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image" Target="../media/image23.png"/><Relationship Id="rId7"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26.svg"/><Relationship Id="rId5" Type="http://schemas.openxmlformats.org/officeDocument/2006/relationships/image" Target="../media/image25.png"/><Relationship Id="rId10" Type="http://schemas.openxmlformats.org/officeDocument/2006/relationships/image" Target="../media/image40.png"/><Relationship Id="rId4" Type="http://schemas.openxmlformats.org/officeDocument/2006/relationships/image" Target="../media/image24.png"/><Relationship Id="rId9" Type="http://schemas.openxmlformats.org/officeDocument/2006/relationships/image" Target="../media/image4.png"/></Relationships>
</file>

<file path=ppt/slides/_rels/slide22.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image" Target="../media/image23.png"/><Relationship Id="rId7"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26.svg"/><Relationship Id="rId5" Type="http://schemas.openxmlformats.org/officeDocument/2006/relationships/image" Target="../media/image25.png"/><Relationship Id="rId10" Type="http://schemas.openxmlformats.org/officeDocument/2006/relationships/image" Target="../media/image40.png"/><Relationship Id="rId4" Type="http://schemas.openxmlformats.org/officeDocument/2006/relationships/image" Target="../media/image24.png"/><Relationship Id="rId9" Type="http://schemas.openxmlformats.org/officeDocument/2006/relationships/image" Target="../media/image4.png"/></Relationships>
</file>

<file path=ppt/slides/_rels/slide23.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image" Target="../media/image23.png"/><Relationship Id="rId7"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26.svg"/><Relationship Id="rId5" Type="http://schemas.openxmlformats.org/officeDocument/2006/relationships/image" Target="../media/image25.png"/><Relationship Id="rId10" Type="http://schemas.openxmlformats.org/officeDocument/2006/relationships/image" Target="../media/image40.png"/><Relationship Id="rId4" Type="http://schemas.openxmlformats.org/officeDocument/2006/relationships/image" Target="../media/image24.png"/><Relationship Id="rId9" Type="http://schemas.openxmlformats.org/officeDocument/2006/relationships/image" Target="../media/image4.png"/></Relationships>
</file>

<file path=ppt/slides/_rels/slide24.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image" Target="../media/image23.png"/><Relationship Id="rId7"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26.svg"/><Relationship Id="rId5" Type="http://schemas.openxmlformats.org/officeDocument/2006/relationships/image" Target="../media/image25.png"/><Relationship Id="rId10" Type="http://schemas.openxmlformats.org/officeDocument/2006/relationships/image" Target="../media/image40.png"/><Relationship Id="rId4" Type="http://schemas.openxmlformats.org/officeDocument/2006/relationships/image" Target="../media/image24.png"/><Relationship Id="rId9" Type="http://schemas.openxmlformats.org/officeDocument/2006/relationships/image" Target="../media/image4.png"/></Relationships>
</file>

<file path=ppt/slides/_rels/slide25.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image" Target="../media/image23.png"/><Relationship Id="rId7"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26.svg"/><Relationship Id="rId5" Type="http://schemas.openxmlformats.org/officeDocument/2006/relationships/image" Target="../media/image25.png"/><Relationship Id="rId10" Type="http://schemas.openxmlformats.org/officeDocument/2006/relationships/image" Target="../media/image40.png"/><Relationship Id="rId4" Type="http://schemas.openxmlformats.org/officeDocument/2006/relationships/image" Target="../media/image24.png"/><Relationship Id="rId9" Type="http://schemas.openxmlformats.org/officeDocument/2006/relationships/image" Target="../media/image4.png"/></Relationships>
</file>

<file path=ppt/slides/_rels/slide26.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image" Target="../media/image23.png"/><Relationship Id="rId7"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26.svg"/><Relationship Id="rId5" Type="http://schemas.openxmlformats.org/officeDocument/2006/relationships/image" Target="../media/image25.png"/><Relationship Id="rId10" Type="http://schemas.openxmlformats.org/officeDocument/2006/relationships/image" Target="../media/image40.png"/><Relationship Id="rId4" Type="http://schemas.openxmlformats.org/officeDocument/2006/relationships/image" Target="../media/image24.png"/><Relationship Id="rId9" Type="http://schemas.openxmlformats.org/officeDocument/2006/relationships/image" Target="../media/image4.png"/></Relationships>
</file>

<file path=ppt/slides/_rels/slide27.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image" Target="../media/image23.png"/><Relationship Id="rId7"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26.svg"/><Relationship Id="rId5" Type="http://schemas.openxmlformats.org/officeDocument/2006/relationships/image" Target="../media/image25.png"/><Relationship Id="rId10" Type="http://schemas.openxmlformats.org/officeDocument/2006/relationships/image" Target="../media/image40.png"/><Relationship Id="rId4" Type="http://schemas.openxmlformats.org/officeDocument/2006/relationships/image" Target="../media/image24.png"/><Relationship Id="rId9" Type="http://schemas.openxmlformats.org/officeDocument/2006/relationships/image" Target="../media/image4.png"/></Relationships>
</file>

<file path=ppt/slides/_rels/slide28.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image" Target="../media/image23.png"/><Relationship Id="rId7"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26.svg"/><Relationship Id="rId5" Type="http://schemas.openxmlformats.org/officeDocument/2006/relationships/image" Target="../media/image25.png"/><Relationship Id="rId10" Type="http://schemas.openxmlformats.org/officeDocument/2006/relationships/image" Target="../media/image40.png"/><Relationship Id="rId4" Type="http://schemas.openxmlformats.org/officeDocument/2006/relationships/image" Target="../media/image24.png"/><Relationship Id="rId9" Type="http://schemas.openxmlformats.org/officeDocument/2006/relationships/image" Target="../media/image4.png"/></Relationships>
</file>

<file path=ppt/slides/_rels/slide29.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image" Target="../media/image23.png"/><Relationship Id="rId7"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png"/><Relationship Id="rId9" Type="http://schemas.openxmlformats.org/officeDocument/2006/relationships/image" Target="../media/image4.png"/></Relationships>
</file>

<file path=ppt/slides/_rels/slide30.xml.rels><?xml version="1.0" encoding="UTF-8" standalone="yes"?>
<Relationships xmlns="http://schemas.openxmlformats.org/package/2006/relationships"><Relationship Id="rId8" Type="http://schemas.openxmlformats.org/officeDocument/2006/relationships/image" Target="../media/image44.jpeg"/><Relationship Id="rId3" Type="http://schemas.openxmlformats.org/officeDocument/2006/relationships/image" Target="../media/image7.png"/><Relationship Id="rId7" Type="http://schemas.openxmlformats.org/officeDocument/2006/relationships/image" Target="../media/image43.jpeg"/><Relationship Id="rId2" Type="http://schemas.openxmlformats.org/officeDocument/2006/relationships/image" Target="../media/image5.png"/><Relationship Id="rId1" Type="http://schemas.openxmlformats.org/officeDocument/2006/relationships/slideLayout" Target="../slideLayouts/slideLayout6.xml"/><Relationship Id="rId6" Type="http://schemas.openxmlformats.org/officeDocument/2006/relationships/image" Target="../media/image42.svg"/><Relationship Id="rId5" Type="http://schemas.openxmlformats.org/officeDocument/2006/relationships/image" Target="../media/image41.png"/><Relationship Id="rId10" Type="http://schemas.openxmlformats.org/officeDocument/2006/relationships/image" Target="../media/image46.png"/><Relationship Id="rId4" Type="http://schemas.openxmlformats.org/officeDocument/2006/relationships/image" Target="../media/image8.png"/><Relationship Id="rId9" Type="http://schemas.openxmlformats.org/officeDocument/2006/relationships/image" Target="../media/image45.png"/></Relationships>
</file>

<file path=ppt/slides/_rels/slide31.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3.png"/><Relationship Id="rId18" Type="http://schemas.openxmlformats.org/officeDocument/2006/relationships/image" Target="../media/image28.svg"/><Relationship Id="rId26" Type="http://schemas.openxmlformats.org/officeDocument/2006/relationships/image" Target="../media/image36.svg"/><Relationship Id="rId3" Type="http://schemas.openxmlformats.org/officeDocument/2006/relationships/image" Target="../media/image14.svg"/><Relationship Id="rId21" Type="http://schemas.openxmlformats.org/officeDocument/2006/relationships/image" Target="../media/image31.png"/><Relationship Id="rId7" Type="http://schemas.openxmlformats.org/officeDocument/2006/relationships/image" Target="../media/image18.svg"/><Relationship Id="rId12" Type="http://schemas.openxmlformats.org/officeDocument/2006/relationships/image" Target="../media/image47.png"/><Relationship Id="rId17" Type="http://schemas.openxmlformats.org/officeDocument/2006/relationships/image" Target="../media/image27.png"/><Relationship Id="rId25" Type="http://schemas.openxmlformats.org/officeDocument/2006/relationships/image" Target="../media/image35.png"/><Relationship Id="rId2" Type="http://schemas.openxmlformats.org/officeDocument/2006/relationships/image" Target="../media/image13.png"/><Relationship Id="rId16" Type="http://schemas.openxmlformats.org/officeDocument/2006/relationships/image" Target="../media/image26.svg"/><Relationship Id="rId20" Type="http://schemas.openxmlformats.org/officeDocument/2006/relationships/image" Target="../media/image30.svg"/><Relationship Id="rId1" Type="http://schemas.openxmlformats.org/officeDocument/2006/relationships/slideLayout" Target="../slideLayouts/slideLayout6.xml"/><Relationship Id="rId6" Type="http://schemas.openxmlformats.org/officeDocument/2006/relationships/image" Target="../media/image17.png"/><Relationship Id="rId11" Type="http://schemas.openxmlformats.org/officeDocument/2006/relationships/image" Target="../media/image22.svg"/><Relationship Id="rId24" Type="http://schemas.openxmlformats.org/officeDocument/2006/relationships/image" Target="../media/image34.svg"/><Relationship Id="rId5" Type="http://schemas.openxmlformats.org/officeDocument/2006/relationships/image" Target="../media/image16.svg"/><Relationship Id="rId15" Type="http://schemas.openxmlformats.org/officeDocument/2006/relationships/image" Target="../media/image25.png"/><Relationship Id="rId23" Type="http://schemas.openxmlformats.org/officeDocument/2006/relationships/image" Target="../media/image33.png"/><Relationship Id="rId10" Type="http://schemas.openxmlformats.org/officeDocument/2006/relationships/image" Target="../media/image21.png"/><Relationship Id="rId19" Type="http://schemas.openxmlformats.org/officeDocument/2006/relationships/image" Target="../media/image29.png"/><Relationship Id="rId4" Type="http://schemas.openxmlformats.org/officeDocument/2006/relationships/image" Target="../media/image15.png"/><Relationship Id="rId9" Type="http://schemas.openxmlformats.org/officeDocument/2006/relationships/image" Target="../media/image20.svg"/><Relationship Id="rId14" Type="http://schemas.openxmlformats.org/officeDocument/2006/relationships/image" Target="../media/image24.png"/><Relationship Id="rId22" Type="http://schemas.openxmlformats.org/officeDocument/2006/relationships/image" Target="../media/image32.svg"/></Relationships>
</file>

<file path=ppt/slides/_rels/slide32.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png"/><Relationship Id="rId18" Type="http://schemas.openxmlformats.org/officeDocument/2006/relationships/image" Target="../media/image29.png"/><Relationship Id="rId26" Type="http://schemas.openxmlformats.org/officeDocument/2006/relationships/image" Target="../media/image1.png"/><Relationship Id="rId3" Type="http://schemas.openxmlformats.org/officeDocument/2006/relationships/image" Target="../media/image14.svg"/><Relationship Id="rId21" Type="http://schemas.openxmlformats.org/officeDocument/2006/relationships/image" Target="../media/image32.svg"/><Relationship Id="rId7" Type="http://schemas.openxmlformats.org/officeDocument/2006/relationships/image" Target="../media/image18.svg"/><Relationship Id="rId12" Type="http://schemas.openxmlformats.org/officeDocument/2006/relationships/image" Target="../media/image23.png"/><Relationship Id="rId17" Type="http://schemas.openxmlformats.org/officeDocument/2006/relationships/image" Target="../media/image28.svg"/><Relationship Id="rId25" Type="http://schemas.openxmlformats.org/officeDocument/2006/relationships/image" Target="../media/image36.svg"/><Relationship Id="rId2" Type="http://schemas.openxmlformats.org/officeDocument/2006/relationships/image" Target="../media/image13.png"/><Relationship Id="rId16" Type="http://schemas.openxmlformats.org/officeDocument/2006/relationships/image" Target="../media/image27.png"/><Relationship Id="rId20" Type="http://schemas.openxmlformats.org/officeDocument/2006/relationships/image" Target="../media/image31.png"/><Relationship Id="rId29" Type="http://schemas.openxmlformats.org/officeDocument/2006/relationships/image" Target="../media/image48.png"/><Relationship Id="rId1" Type="http://schemas.openxmlformats.org/officeDocument/2006/relationships/slideLayout" Target="../slideLayouts/slideLayout4.xml"/><Relationship Id="rId6" Type="http://schemas.openxmlformats.org/officeDocument/2006/relationships/image" Target="../media/image17.png"/><Relationship Id="rId11" Type="http://schemas.openxmlformats.org/officeDocument/2006/relationships/image" Target="../media/image22.svg"/><Relationship Id="rId24" Type="http://schemas.openxmlformats.org/officeDocument/2006/relationships/image" Target="../media/image35.png"/><Relationship Id="rId32" Type="http://schemas.openxmlformats.org/officeDocument/2006/relationships/image" Target="../media/image51.svg"/><Relationship Id="rId5" Type="http://schemas.openxmlformats.org/officeDocument/2006/relationships/image" Target="../media/image16.svg"/><Relationship Id="rId15" Type="http://schemas.openxmlformats.org/officeDocument/2006/relationships/image" Target="../media/image26.svg"/><Relationship Id="rId23" Type="http://schemas.openxmlformats.org/officeDocument/2006/relationships/image" Target="../media/image34.svg"/><Relationship Id="rId28" Type="http://schemas.openxmlformats.org/officeDocument/2006/relationships/image" Target="../media/image4.png"/><Relationship Id="rId10" Type="http://schemas.openxmlformats.org/officeDocument/2006/relationships/image" Target="../media/image21.png"/><Relationship Id="rId19" Type="http://schemas.openxmlformats.org/officeDocument/2006/relationships/image" Target="../media/image30.svg"/><Relationship Id="rId31" Type="http://schemas.openxmlformats.org/officeDocument/2006/relationships/image" Target="../media/image50.png"/><Relationship Id="rId4" Type="http://schemas.openxmlformats.org/officeDocument/2006/relationships/image" Target="../media/image15.png"/><Relationship Id="rId9" Type="http://schemas.openxmlformats.org/officeDocument/2006/relationships/image" Target="../media/image20.svg"/><Relationship Id="rId14" Type="http://schemas.openxmlformats.org/officeDocument/2006/relationships/image" Target="../media/image25.png"/><Relationship Id="rId22" Type="http://schemas.openxmlformats.org/officeDocument/2006/relationships/image" Target="../media/image33.png"/><Relationship Id="rId27" Type="http://schemas.openxmlformats.org/officeDocument/2006/relationships/image" Target="../media/image2.svg"/><Relationship Id="rId30" Type="http://schemas.openxmlformats.org/officeDocument/2006/relationships/image" Target="../media/image49.svg"/></Relationships>
</file>

<file path=ppt/slides/_rels/slide33.xml.rels><?xml version="1.0" encoding="UTF-8" standalone="yes"?>
<Relationships xmlns="http://schemas.openxmlformats.org/package/2006/relationships"><Relationship Id="rId2" Type="http://schemas.openxmlformats.org/officeDocument/2006/relationships/image" Target="../media/image52.jp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746C294-0910-B957-43A6-4A1D08793781}"/>
              </a:ext>
            </a:extLst>
          </p:cNvPr>
          <p:cNvSpPr>
            <a:spLocks noGrp="1"/>
          </p:cNvSpPr>
          <p:nvPr>
            <p:ph type="title"/>
          </p:nvPr>
        </p:nvSpPr>
        <p:spPr/>
        <p:txBody>
          <a:bodyPr/>
          <a:lstStyle/>
          <a:p>
            <a:r>
              <a:rPr kumimoji="1" lang="ja-JP" altLang="en-US" dirty="0"/>
              <a:t>在室確認システム</a:t>
            </a:r>
          </a:p>
        </p:txBody>
      </p:sp>
      <p:sp>
        <p:nvSpPr>
          <p:cNvPr id="3" name="テキスト プレースホルダー 2">
            <a:extLst>
              <a:ext uri="{FF2B5EF4-FFF2-40B4-BE49-F238E27FC236}">
                <a16:creationId xmlns:a16="http://schemas.microsoft.com/office/drawing/2014/main" id="{8EB4BA33-0767-0C08-F871-759813CEEDBB}"/>
              </a:ext>
            </a:extLst>
          </p:cNvPr>
          <p:cNvSpPr>
            <a:spLocks noGrp="1"/>
          </p:cNvSpPr>
          <p:nvPr>
            <p:ph type="body" sz="quarter" idx="13"/>
          </p:nvPr>
        </p:nvSpPr>
        <p:spPr>
          <a:xfrm>
            <a:off x="2464337" y="3754151"/>
            <a:ext cx="4215326" cy="1154112"/>
          </a:xfrm>
        </p:spPr>
        <p:txBody>
          <a:bodyPr/>
          <a:lstStyle/>
          <a:p>
            <a:pPr algn="l"/>
            <a:r>
              <a:rPr lang="ja-JP" altLang="en-US" dirty="0"/>
              <a:t>作成日：</a:t>
            </a:r>
            <a:r>
              <a:rPr lang="en-US" altLang="ja-JP" dirty="0"/>
              <a:t>2025/10/31(</a:t>
            </a:r>
            <a:r>
              <a:rPr lang="ja-JP" altLang="en-US" dirty="0"/>
              <a:t>金</a:t>
            </a:r>
            <a:r>
              <a:rPr lang="en-US" altLang="ja-JP" dirty="0"/>
              <a:t>) </a:t>
            </a:r>
            <a:r>
              <a:rPr lang="ja-JP" altLang="en-US" dirty="0"/>
              <a:t>👻🎃</a:t>
            </a:r>
            <a:endParaRPr lang="en-US" altLang="ja-JP" dirty="0"/>
          </a:p>
          <a:p>
            <a:pPr algn="l"/>
            <a:r>
              <a:rPr kumimoji="1" lang="ja-JP" altLang="en-US" dirty="0"/>
              <a:t>作成者：峰野研究室 修士</a:t>
            </a:r>
            <a:r>
              <a:rPr kumimoji="1" lang="en-US" altLang="ja-JP" dirty="0"/>
              <a:t>2</a:t>
            </a:r>
            <a:r>
              <a:rPr kumimoji="1" lang="ja-JP" altLang="en-US" dirty="0"/>
              <a:t>年 原田海斗</a:t>
            </a:r>
          </a:p>
        </p:txBody>
      </p:sp>
    </p:spTree>
    <p:extLst>
      <p:ext uri="{BB962C8B-B14F-4D97-AF65-F5344CB8AC3E}">
        <p14:creationId xmlns:p14="http://schemas.microsoft.com/office/powerpoint/2010/main" val="11401704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623C297A-AF89-A22F-054E-FE0B8186464E}"/>
              </a:ext>
            </a:extLst>
          </p:cNvPr>
          <p:cNvSpPr/>
          <p:nvPr/>
        </p:nvSpPr>
        <p:spPr>
          <a:xfrm>
            <a:off x="251012" y="926869"/>
            <a:ext cx="8677835" cy="5814591"/>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正方形/長方形 48">
            <a:extLst>
              <a:ext uri="{FF2B5EF4-FFF2-40B4-BE49-F238E27FC236}">
                <a16:creationId xmlns:a16="http://schemas.microsoft.com/office/drawing/2014/main" id="{73F8D51A-CDFC-BD8E-A55C-FAA24AD1659D}"/>
              </a:ext>
            </a:extLst>
          </p:cNvPr>
          <p:cNvSpPr/>
          <p:nvPr/>
        </p:nvSpPr>
        <p:spPr>
          <a:xfrm>
            <a:off x="428626" y="1425388"/>
            <a:ext cx="3017084" cy="5187168"/>
          </a:xfrm>
          <a:prstGeom prst="rect">
            <a:avLst/>
          </a:prstGeom>
          <a:noFill/>
          <a:ln w="28575">
            <a:solidFill>
              <a:schemeClr val="accent6"/>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正方形/長方形 49">
            <a:extLst>
              <a:ext uri="{FF2B5EF4-FFF2-40B4-BE49-F238E27FC236}">
                <a16:creationId xmlns:a16="http://schemas.microsoft.com/office/drawing/2014/main" id="{8D717105-3C86-E19A-2994-81CFE3107C9E}"/>
              </a:ext>
            </a:extLst>
          </p:cNvPr>
          <p:cNvSpPr/>
          <p:nvPr/>
        </p:nvSpPr>
        <p:spPr>
          <a:xfrm>
            <a:off x="5698290" y="1419219"/>
            <a:ext cx="3017084" cy="5187169"/>
          </a:xfrm>
          <a:prstGeom prst="rect">
            <a:avLst/>
          </a:prstGeom>
          <a:noFill/>
          <a:ln w="285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45" name="グラフィックス 1044">
            <a:extLst>
              <a:ext uri="{FF2B5EF4-FFF2-40B4-BE49-F238E27FC236}">
                <a16:creationId xmlns:a16="http://schemas.microsoft.com/office/drawing/2014/main" id="{749C8ED4-6EF4-1E22-BCDB-E81CEDA77FB1}"/>
              </a:ext>
            </a:extLst>
          </p:cNvPr>
          <p:cNvPicPr>
            <a:picLocks noChangeAspect="1"/>
          </p:cNvPicPr>
          <p:nvPr/>
        </p:nvPicPr>
        <p:blipFill>
          <a:blip r:embed="rId2">
            <a:grayscl/>
            <a:extLst>
              <a:ext uri="{96DAC541-7B7A-43D3-8B79-37D633B846F1}">
                <asvg:svgBlip xmlns:asvg="http://schemas.microsoft.com/office/drawing/2016/SVG/main" r:embed="rId3"/>
              </a:ext>
            </a:extLst>
          </a:blip>
          <a:srcRect l="25148" t="16203" r="25948" b="16205"/>
          <a:stretch/>
        </p:blipFill>
        <p:spPr>
          <a:xfrm rot="16200000">
            <a:off x="1635231" y="2785619"/>
            <a:ext cx="599552" cy="828660"/>
          </a:xfrm>
          <a:prstGeom prst="rect">
            <a:avLst/>
          </a:prstGeom>
        </p:spPr>
      </p:pic>
      <p:pic>
        <p:nvPicPr>
          <p:cNvPr id="1028" name="Picture 4" descr="ふぉとむん on X: &quot;◇今日のイラスト◇ ICカードリーダー(カードスキャナー)のイラストです。 フリー素材としてどうぞお使いください。  最近は使用する機会も増えましたよね。 そえば、やっと地域の特別定額給付金の申込みが開始となったのでオンライン申請しましたー ...">
            <a:extLst>
              <a:ext uri="{FF2B5EF4-FFF2-40B4-BE49-F238E27FC236}">
                <a16:creationId xmlns:a16="http://schemas.microsoft.com/office/drawing/2014/main" id="{4D087432-6C20-BFF7-6E58-F47F44068302}"/>
              </a:ext>
            </a:extLst>
          </p:cNvPr>
          <p:cNvPicPr>
            <a:picLocks noChangeAspect="1"/>
          </p:cNvPicPr>
          <p:nvPr/>
        </p:nvPicPr>
        <p:blipFill rotWithShape="1">
          <a:blip r:embed="rId4">
            <a:extLst>
              <a:ext uri="{28A0092B-C50C-407E-A947-70E740481C1C}">
                <a14:useLocalDpi xmlns:a14="http://schemas.microsoft.com/office/drawing/2010/main" val="0"/>
              </a:ext>
            </a:extLst>
          </a:blip>
          <a:srcRect r="32091"/>
          <a:stretch/>
        </p:blipFill>
        <p:spPr bwMode="auto">
          <a:xfrm>
            <a:off x="735657" y="5191934"/>
            <a:ext cx="801008" cy="1179530"/>
          </a:xfrm>
          <a:prstGeom prst="rect">
            <a:avLst/>
          </a:prstGeom>
          <a:noFill/>
          <a:extLst>
            <a:ext uri="{909E8E84-426E-40DD-AFC4-6F175D3DCCD1}">
              <a14:hiddenFill xmlns:a14="http://schemas.microsoft.com/office/drawing/2010/main">
                <a:solidFill>
                  <a:srgbClr val="FFFFFF"/>
                </a:solidFill>
              </a14:hiddenFill>
            </a:ext>
          </a:extLst>
        </p:spPr>
      </p:pic>
      <p:sp>
        <p:nvSpPr>
          <p:cNvPr id="2" name="タイトル 1">
            <a:extLst>
              <a:ext uri="{FF2B5EF4-FFF2-40B4-BE49-F238E27FC236}">
                <a16:creationId xmlns:a16="http://schemas.microsoft.com/office/drawing/2014/main" id="{F2704910-3C4B-A8DA-95BF-2AC8B5ED1347}"/>
              </a:ext>
            </a:extLst>
          </p:cNvPr>
          <p:cNvSpPr>
            <a:spLocks noGrp="1"/>
          </p:cNvSpPr>
          <p:nvPr>
            <p:ph type="title"/>
          </p:nvPr>
        </p:nvSpPr>
        <p:spPr/>
        <p:txBody>
          <a:bodyPr/>
          <a:lstStyle/>
          <a:p>
            <a:r>
              <a:rPr kumimoji="1" lang="ja-JP" altLang="en-US" dirty="0"/>
              <a:t>在室確認システムの全体概要</a:t>
            </a:r>
          </a:p>
        </p:txBody>
      </p:sp>
      <p:pic>
        <p:nvPicPr>
          <p:cNvPr id="1026" name="Picture 2" descr="Raspberry icon - Free download on Iconfinder">
            <a:extLst>
              <a:ext uri="{FF2B5EF4-FFF2-40B4-BE49-F238E27FC236}">
                <a16:creationId xmlns:a16="http://schemas.microsoft.com/office/drawing/2014/main" id="{6BBC874A-27DC-5D2B-0DD2-D0BA2C23AD3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44538" y="4884237"/>
            <a:ext cx="785261" cy="785261"/>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AWS - inteltank">
            <a:extLst>
              <a:ext uri="{FF2B5EF4-FFF2-40B4-BE49-F238E27FC236}">
                <a16:creationId xmlns:a16="http://schemas.microsoft.com/office/drawing/2014/main" id="{36E72B0E-2B53-8F1E-21EF-5E62FF7BD6F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31553" y="4724974"/>
            <a:ext cx="1680894" cy="1103788"/>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2" descr="Raspberry icon - Free download on Iconfinder">
            <a:extLst>
              <a:ext uri="{FF2B5EF4-FFF2-40B4-BE49-F238E27FC236}">
                <a16:creationId xmlns:a16="http://schemas.microsoft.com/office/drawing/2014/main" id="{828F714D-B004-CA17-C550-E15800682EFA}"/>
              </a:ext>
            </a:extLst>
          </p:cNvPr>
          <p:cNvPicPr>
            <a:picLocks noChangeAspect="1" noChangeArrowheads="1"/>
          </p:cNvPicPr>
          <p:nvPr/>
        </p:nvPicPr>
        <p:blipFill>
          <a:blip r:embed="rId5">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814201" y="4884238"/>
            <a:ext cx="785261" cy="785261"/>
          </a:xfrm>
          <a:prstGeom prst="rect">
            <a:avLst/>
          </a:prstGeom>
          <a:noFill/>
          <a:extLst>
            <a:ext uri="{909E8E84-426E-40DD-AFC4-6F175D3DCCD1}">
              <a14:hiddenFill xmlns:a14="http://schemas.microsoft.com/office/drawing/2010/main">
                <a:solidFill>
                  <a:srgbClr val="FFFFFF"/>
                </a:solidFill>
              </a14:hiddenFill>
            </a:ext>
          </a:extLst>
        </p:spPr>
      </p:pic>
      <p:cxnSp>
        <p:nvCxnSpPr>
          <p:cNvPr id="39" name="Straight Arrow Connector 54" descr="Right pointing horizontal arrow.">
            <a:extLst>
              <a:ext uri="{FF2B5EF4-FFF2-40B4-BE49-F238E27FC236}">
                <a16:creationId xmlns:a16="http://schemas.microsoft.com/office/drawing/2014/main" id="{696A0EFF-6376-3A23-98F8-164B5A361726}"/>
              </a:ext>
            </a:extLst>
          </p:cNvPr>
          <p:cNvCxnSpPr>
            <a:cxnSpLocks/>
            <a:stCxn id="1026" idx="3"/>
            <a:endCxn id="36" idx="1"/>
          </p:cNvCxnSpPr>
          <p:nvPr/>
        </p:nvCxnSpPr>
        <p:spPr>
          <a:xfrm>
            <a:off x="2329799" y="5276868"/>
            <a:ext cx="1401754" cy="0"/>
          </a:xfrm>
          <a:prstGeom prst="straightConnector1">
            <a:avLst/>
          </a:prstGeom>
          <a:ln w="28575">
            <a:solidFill>
              <a:schemeClr val="tx1"/>
            </a:solidFill>
            <a:prstDash val="sysDot"/>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42" name="Straight Arrow Connector 54" descr="Right pointing horizontal arrow.">
            <a:extLst>
              <a:ext uri="{FF2B5EF4-FFF2-40B4-BE49-F238E27FC236}">
                <a16:creationId xmlns:a16="http://schemas.microsoft.com/office/drawing/2014/main" id="{3EDB623B-D6A3-9837-53DC-100FE5C2A1EC}"/>
              </a:ext>
            </a:extLst>
          </p:cNvPr>
          <p:cNvCxnSpPr>
            <a:cxnSpLocks/>
            <a:stCxn id="37" idx="1"/>
            <a:endCxn id="36" idx="3"/>
          </p:cNvCxnSpPr>
          <p:nvPr/>
        </p:nvCxnSpPr>
        <p:spPr>
          <a:xfrm flipH="1" flipV="1">
            <a:off x="5412447" y="5276868"/>
            <a:ext cx="1401754" cy="1"/>
          </a:xfrm>
          <a:prstGeom prst="straightConnector1">
            <a:avLst/>
          </a:prstGeom>
          <a:ln w="28575">
            <a:solidFill>
              <a:schemeClr val="tx1"/>
            </a:solidFill>
            <a:prstDash val="sysDot"/>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1046" name="Straight Arrow Connector 54" descr="Right pointing horizontal arrow.">
            <a:extLst>
              <a:ext uri="{FF2B5EF4-FFF2-40B4-BE49-F238E27FC236}">
                <a16:creationId xmlns:a16="http://schemas.microsoft.com/office/drawing/2014/main" id="{4530F948-EF4C-995E-3BB6-4D7A2BD2A73F}"/>
              </a:ext>
            </a:extLst>
          </p:cNvPr>
          <p:cNvCxnSpPr>
            <a:cxnSpLocks/>
            <a:stCxn id="1045" idx="1"/>
          </p:cNvCxnSpPr>
          <p:nvPr/>
        </p:nvCxnSpPr>
        <p:spPr>
          <a:xfrm>
            <a:off x="1935007" y="3499725"/>
            <a:ext cx="0" cy="416618"/>
          </a:xfrm>
          <a:prstGeom prst="straightConnector1">
            <a:avLst/>
          </a:prstGeom>
          <a:ln w="28575">
            <a:solidFill>
              <a:schemeClr val="tx1"/>
            </a:solidFill>
            <a:prstDash val="sysDot"/>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1081" name="直線コネクタ 1080">
            <a:extLst>
              <a:ext uri="{FF2B5EF4-FFF2-40B4-BE49-F238E27FC236}">
                <a16:creationId xmlns:a16="http://schemas.microsoft.com/office/drawing/2014/main" id="{85ACF7F3-DEAD-EB04-4F10-CE1431CB0E3F}"/>
              </a:ext>
            </a:extLst>
          </p:cNvPr>
          <p:cNvCxnSpPr>
            <a:cxnSpLocks/>
            <a:stCxn id="59" idx="2"/>
          </p:cNvCxnSpPr>
          <p:nvPr/>
        </p:nvCxnSpPr>
        <p:spPr>
          <a:xfrm flipH="1">
            <a:off x="1935007" y="2728340"/>
            <a:ext cx="1" cy="446660"/>
          </a:xfrm>
          <a:prstGeom prst="line">
            <a:avLst/>
          </a:prstGeom>
          <a:ln w="12700">
            <a:solidFill>
              <a:schemeClr val="tx1"/>
            </a:solidFill>
            <a:tailEnd type="oval"/>
          </a:ln>
        </p:spPr>
        <p:style>
          <a:lnRef idx="1">
            <a:schemeClr val="accent1"/>
          </a:lnRef>
          <a:fillRef idx="0">
            <a:schemeClr val="accent1"/>
          </a:fillRef>
          <a:effectRef idx="0">
            <a:schemeClr val="accent1"/>
          </a:effectRef>
          <a:fontRef idx="minor">
            <a:schemeClr val="tx1"/>
          </a:fontRef>
        </p:style>
      </p:cxnSp>
      <p:pic>
        <p:nvPicPr>
          <p:cNvPr id="59" name="図 58">
            <a:extLst>
              <a:ext uri="{FF2B5EF4-FFF2-40B4-BE49-F238E27FC236}">
                <a16:creationId xmlns:a16="http://schemas.microsoft.com/office/drawing/2014/main" id="{6ED63070-A726-8A62-521A-2F553C5E523B}"/>
              </a:ext>
            </a:extLst>
          </p:cNvPr>
          <p:cNvPicPr>
            <a:picLocks noChangeAspect="1"/>
          </p:cNvPicPr>
          <p:nvPr/>
        </p:nvPicPr>
        <p:blipFill>
          <a:blip r:embed="rId7"/>
          <a:srcRect l="4807" t="7524" r="4969" b="2770"/>
          <a:stretch/>
        </p:blipFill>
        <p:spPr>
          <a:xfrm>
            <a:off x="735656" y="1629366"/>
            <a:ext cx="2398704" cy="1098974"/>
          </a:xfrm>
          <a:prstGeom prst="rect">
            <a:avLst/>
          </a:prstGeom>
          <a:ln w="12700">
            <a:solidFill>
              <a:schemeClr val="tx1"/>
            </a:solidFill>
          </a:ln>
        </p:spPr>
      </p:pic>
      <p:grpSp>
        <p:nvGrpSpPr>
          <p:cNvPr id="1094" name="グループ化 1093">
            <a:extLst>
              <a:ext uri="{FF2B5EF4-FFF2-40B4-BE49-F238E27FC236}">
                <a16:creationId xmlns:a16="http://schemas.microsoft.com/office/drawing/2014/main" id="{D01058D3-A29B-5965-DBB4-08E80A5762A4}"/>
              </a:ext>
            </a:extLst>
          </p:cNvPr>
          <p:cNvGrpSpPr/>
          <p:nvPr/>
        </p:nvGrpSpPr>
        <p:grpSpPr>
          <a:xfrm>
            <a:off x="960199" y="3916343"/>
            <a:ext cx="1949618" cy="392714"/>
            <a:chOff x="960199" y="3858549"/>
            <a:chExt cx="1949618" cy="392714"/>
          </a:xfrm>
        </p:grpSpPr>
        <p:pic>
          <p:nvPicPr>
            <p:cNvPr id="56" name="Picture 10">
              <a:extLst>
                <a:ext uri="{FF2B5EF4-FFF2-40B4-BE49-F238E27FC236}">
                  <a16:creationId xmlns:a16="http://schemas.microsoft.com/office/drawing/2014/main" id="{3CFC9ECA-0992-451F-DA55-887B2767DFF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60199" y="3858549"/>
              <a:ext cx="441076" cy="392714"/>
            </a:xfrm>
            <a:prstGeom prst="rect">
              <a:avLst/>
            </a:prstGeom>
            <a:noFill/>
            <a:extLst>
              <a:ext uri="{909E8E84-426E-40DD-AFC4-6F175D3DCCD1}">
                <a14:hiddenFill xmlns:a14="http://schemas.microsoft.com/office/drawing/2010/main">
                  <a:solidFill>
                    <a:srgbClr val="FFFFFF"/>
                  </a:solidFill>
                </a14:hiddenFill>
              </a:ext>
            </a:extLst>
          </p:spPr>
        </p:pic>
        <p:sp>
          <p:nvSpPr>
            <p:cNvPr id="1039" name="テキスト ボックス 1038">
              <a:extLst>
                <a:ext uri="{FF2B5EF4-FFF2-40B4-BE49-F238E27FC236}">
                  <a16:creationId xmlns:a16="http://schemas.microsoft.com/office/drawing/2014/main" id="{2FAAC6DB-7961-9682-6833-01DEA01D4251}"/>
                </a:ext>
              </a:extLst>
            </p:cNvPr>
            <p:cNvSpPr txBox="1"/>
            <p:nvPr/>
          </p:nvSpPr>
          <p:spPr>
            <a:xfrm>
              <a:off x="1392851" y="3909512"/>
              <a:ext cx="1516966" cy="307777"/>
            </a:xfrm>
            <a:prstGeom prst="rect">
              <a:avLst/>
            </a:prstGeom>
            <a:noFill/>
          </p:spPr>
          <p:txBody>
            <a:bodyPr wrap="square" rtlCol="0">
              <a:spAutoFit/>
            </a:bodyPr>
            <a:lstStyle/>
            <a:p>
              <a:r>
                <a:rPr kumimoji="1" lang="en-US" altLang="ja-JP" sz="1400" dirty="0"/>
                <a:t>localhost:3000</a:t>
              </a:r>
              <a:endParaRPr kumimoji="1" lang="ja-JP" altLang="en-US" sz="1400" dirty="0"/>
            </a:p>
          </p:txBody>
        </p:sp>
      </p:grpSp>
      <p:grpSp>
        <p:nvGrpSpPr>
          <p:cNvPr id="1097" name="グループ化 1096">
            <a:extLst>
              <a:ext uri="{FF2B5EF4-FFF2-40B4-BE49-F238E27FC236}">
                <a16:creationId xmlns:a16="http://schemas.microsoft.com/office/drawing/2014/main" id="{B29FC348-CCFD-8425-0DFF-0AE863200389}"/>
              </a:ext>
            </a:extLst>
          </p:cNvPr>
          <p:cNvGrpSpPr/>
          <p:nvPr/>
        </p:nvGrpSpPr>
        <p:grpSpPr>
          <a:xfrm>
            <a:off x="960199" y="4397705"/>
            <a:ext cx="1949617" cy="441076"/>
            <a:chOff x="960199" y="4393492"/>
            <a:chExt cx="1949617" cy="441076"/>
          </a:xfrm>
        </p:grpSpPr>
        <p:pic>
          <p:nvPicPr>
            <p:cNvPr id="1084" name="Picture 12" descr="FastAPI · GitHub">
              <a:extLst>
                <a:ext uri="{FF2B5EF4-FFF2-40B4-BE49-F238E27FC236}">
                  <a16:creationId xmlns:a16="http://schemas.microsoft.com/office/drawing/2014/main" id="{C1912C11-C02C-CBE6-AE9B-3565D2FE07B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60199" y="4393492"/>
              <a:ext cx="441076" cy="441076"/>
            </a:xfrm>
            <a:prstGeom prst="rect">
              <a:avLst/>
            </a:prstGeom>
            <a:noFill/>
            <a:extLst>
              <a:ext uri="{909E8E84-426E-40DD-AFC4-6F175D3DCCD1}">
                <a14:hiddenFill xmlns:a14="http://schemas.microsoft.com/office/drawing/2010/main">
                  <a:solidFill>
                    <a:srgbClr val="FFFFFF"/>
                  </a:solidFill>
                </a14:hiddenFill>
              </a:ext>
            </a:extLst>
          </p:spPr>
        </p:pic>
        <p:sp>
          <p:nvSpPr>
            <p:cNvPr id="1085" name="テキスト ボックス 1084">
              <a:extLst>
                <a:ext uri="{FF2B5EF4-FFF2-40B4-BE49-F238E27FC236}">
                  <a16:creationId xmlns:a16="http://schemas.microsoft.com/office/drawing/2014/main" id="{82336995-DBA5-E564-CD73-E161160A5F39}"/>
                </a:ext>
              </a:extLst>
            </p:cNvPr>
            <p:cNvSpPr txBox="1"/>
            <p:nvPr/>
          </p:nvSpPr>
          <p:spPr>
            <a:xfrm>
              <a:off x="1392850" y="4475677"/>
              <a:ext cx="1516966" cy="307777"/>
            </a:xfrm>
            <a:prstGeom prst="rect">
              <a:avLst/>
            </a:prstGeom>
            <a:noFill/>
          </p:spPr>
          <p:txBody>
            <a:bodyPr wrap="square" rtlCol="0">
              <a:spAutoFit/>
            </a:bodyPr>
            <a:lstStyle/>
            <a:p>
              <a:r>
                <a:rPr kumimoji="1" lang="en-US" altLang="ja-JP" sz="1400" dirty="0"/>
                <a:t>localhost:8000</a:t>
              </a:r>
              <a:endParaRPr kumimoji="1" lang="ja-JP" altLang="en-US" sz="1400" dirty="0"/>
            </a:p>
          </p:txBody>
        </p:sp>
      </p:grpSp>
      <p:sp>
        <p:nvSpPr>
          <p:cNvPr id="1089" name="テキスト ボックス 1088">
            <a:extLst>
              <a:ext uri="{FF2B5EF4-FFF2-40B4-BE49-F238E27FC236}">
                <a16:creationId xmlns:a16="http://schemas.microsoft.com/office/drawing/2014/main" id="{89E366C3-3F10-1192-67FC-F01CAE713BAE}"/>
              </a:ext>
            </a:extLst>
          </p:cNvPr>
          <p:cNvSpPr txBox="1"/>
          <p:nvPr/>
        </p:nvSpPr>
        <p:spPr>
          <a:xfrm>
            <a:off x="774601" y="1049887"/>
            <a:ext cx="2320811" cy="369332"/>
          </a:xfrm>
          <a:prstGeom prst="rect">
            <a:avLst/>
          </a:prstGeom>
          <a:noFill/>
        </p:spPr>
        <p:txBody>
          <a:bodyPr wrap="square" rtlCol="0">
            <a:spAutoFit/>
          </a:bodyPr>
          <a:lstStyle/>
          <a:p>
            <a:pPr algn="ctr"/>
            <a:r>
              <a:rPr lang="ja-JP" altLang="en-US" dirty="0">
                <a:solidFill>
                  <a:schemeClr val="accent6"/>
                </a:solidFill>
              </a:rPr>
              <a:t>学生部屋（</a:t>
            </a:r>
            <a:r>
              <a:rPr lang="en-US" altLang="ja-JP" dirty="0">
                <a:solidFill>
                  <a:schemeClr val="accent6"/>
                </a:solidFill>
              </a:rPr>
              <a:t>J1401</a:t>
            </a:r>
            <a:r>
              <a:rPr lang="ja-JP" altLang="en-US" dirty="0">
                <a:solidFill>
                  <a:schemeClr val="accent6"/>
                </a:solidFill>
              </a:rPr>
              <a:t>）</a:t>
            </a:r>
            <a:endParaRPr kumimoji="1" lang="ja-JP" altLang="en-US" dirty="0">
              <a:solidFill>
                <a:schemeClr val="accent6"/>
              </a:solidFill>
            </a:endParaRPr>
          </a:p>
        </p:txBody>
      </p:sp>
      <p:sp>
        <p:nvSpPr>
          <p:cNvPr id="1090" name="テキスト ボックス 1089">
            <a:extLst>
              <a:ext uri="{FF2B5EF4-FFF2-40B4-BE49-F238E27FC236}">
                <a16:creationId xmlns:a16="http://schemas.microsoft.com/office/drawing/2014/main" id="{FA7EB404-A6A6-6F04-0C85-8EE671D686B7}"/>
              </a:ext>
            </a:extLst>
          </p:cNvPr>
          <p:cNvSpPr txBox="1"/>
          <p:nvPr/>
        </p:nvSpPr>
        <p:spPr>
          <a:xfrm>
            <a:off x="6048590" y="1049887"/>
            <a:ext cx="2320811" cy="369332"/>
          </a:xfrm>
          <a:prstGeom prst="rect">
            <a:avLst/>
          </a:prstGeom>
          <a:noFill/>
        </p:spPr>
        <p:txBody>
          <a:bodyPr wrap="square" rtlCol="0">
            <a:spAutoFit/>
          </a:bodyPr>
          <a:lstStyle/>
          <a:p>
            <a:pPr algn="ctr"/>
            <a:r>
              <a:rPr lang="ja-JP" altLang="en-US" dirty="0">
                <a:solidFill>
                  <a:schemeClr val="accent1"/>
                </a:solidFill>
              </a:rPr>
              <a:t>教員</a:t>
            </a:r>
            <a:r>
              <a:rPr kumimoji="1" lang="ja-JP" altLang="en-US" dirty="0">
                <a:solidFill>
                  <a:schemeClr val="accent1"/>
                </a:solidFill>
              </a:rPr>
              <a:t>部屋（</a:t>
            </a:r>
            <a:r>
              <a:rPr kumimoji="1" lang="en-US" altLang="ja-JP" dirty="0">
                <a:solidFill>
                  <a:schemeClr val="accent1"/>
                </a:solidFill>
              </a:rPr>
              <a:t>J1404</a:t>
            </a:r>
            <a:r>
              <a:rPr kumimoji="1" lang="ja-JP" altLang="en-US" dirty="0">
                <a:solidFill>
                  <a:schemeClr val="accent1"/>
                </a:solidFill>
              </a:rPr>
              <a:t>）</a:t>
            </a:r>
          </a:p>
        </p:txBody>
      </p:sp>
      <p:pic>
        <p:nvPicPr>
          <p:cNvPr id="1099" name="グラフィックス 1098">
            <a:extLst>
              <a:ext uri="{FF2B5EF4-FFF2-40B4-BE49-F238E27FC236}">
                <a16:creationId xmlns:a16="http://schemas.microsoft.com/office/drawing/2014/main" id="{63F56EA9-F6B4-7C61-DB2E-AC5C183442A9}"/>
              </a:ext>
            </a:extLst>
          </p:cNvPr>
          <p:cNvPicPr>
            <a:picLocks noChangeAspect="1"/>
          </p:cNvPicPr>
          <p:nvPr/>
        </p:nvPicPr>
        <p:blipFill>
          <a:blip r:embed="rId2">
            <a:grayscl/>
            <a:extLst>
              <a:ext uri="{96DAC541-7B7A-43D3-8B79-37D633B846F1}">
                <asvg:svgBlip xmlns:asvg="http://schemas.microsoft.com/office/drawing/2016/SVG/main" r:embed="rId3"/>
              </a:ext>
            </a:extLst>
          </a:blip>
          <a:srcRect l="25148" t="16203" r="25948" b="16205"/>
          <a:stretch/>
        </p:blipFill>
        <p:spPr>
          <a:xfrm>
            <a:off x="6916783" y="3720309"/>
            <a:ext cx="580096" cy="801769"/>
          </a:xfrm>
          <a:prstGeom prst="rect">
            <a:avLst/>
          </a:prstGeom>
        </p:spPr>
      </p:pic>
      <p:cxnSp>
        <p:nvCxnSpPr>
          <p:cNvPr id="1102" name="Straight Arrow Connector 100">
            <a:extLst>
              <a:ext uri="{FF2B5EF4-FFF2-40B4-BE49-F238E27FC236}">
                <a16:creationId xmlns:a16="http://schemas.microsoft.com/office/drawing/2014/main" id="{536F6519-630D-48D6-ACCE-AC5CA6090AD1}"/>
              </a:ext>
            </a:extLst>
          </p:cNvPr>
          <p:cNvCxnSpPr>
            <a:cxnSpLocks/>
            <a:stCxn id="1099" idx="2"/>
            <a:endCxn id="37" idx="0"/>
          </p:cNvCxnSpPr>
          <p:nvPr/>
        </p:nvCxnSpPr>
        <p:spPr>
          <a:xfrm>
            <a:off x="7206831" y="4522078"/>
            <a:ext cx="1" cy="362160"/>
          </a:xfrm>
          <a:prstGeom prst="straightConnector1">
            <a:avLst/>
          </a:prstGeom>
          <a:ln w="28575">
            <a:solidFill>
              <a:schemeClr val="tx1"/>
            </a:solidFill>
            <a:headEnd type="none" w="med" len="sm"/>
            <a:tailEnd type="none" w="med" len="sm"/>
          </a:ln>
        </p:spPr>
        <p:style>
          <a:lnRef idx="1">
            <a:schemeClr val="accent1"/>
          </a:lnRef>
          <a:fillRef idx="0">
            <a:schemeClr val="accent1"/>
          </a:fillRef>
          <a:effectRef idx="0">
            <a:schemeClr val="accent1"/>
          </a:effectRef>
          <a:fontRef idx="minor">
            <a:schemeClr val="tx1"/>
          </a:fontRef>
        </p:style>
      </p:cxnSp>
      <p:sp>
        <p:nvSpPr>
          <p:cNvPr id="1106" name="テキスト ボックス 1105">
            <a:extLst>
              <a:ext uri="{FF2B5EF4-FFF2-40B4-BE49-F238E27FC236}">
                <a16:creationId xmlns:a16="http://schemas.microsoft.com/office/drawing/2014/main" id="{1A6342FF-50EF-130D-FC47-C3CF862576D4}"/>
              </a:ext>
            </a:extLst>
          </p:cNvPr>
          <p:cNvSpPr txBox="1"/>
          <p:nvPr/>
        </p:nvSpPr>
        <p:spPr>
          <a:xfrm>
            <a:off x="1855813" y="3566189"/>
            <a:ext cx="654539" cy="261610"/>
          </a:xfrm>
          <a:prstGeom prst="rect">
            <a:avLst/>
          </a:prstGeom>
          <a:noFill/>
        </p:spPr>
        <p:txBody>
          <a:bodyPr wrap="square" rtlCol="0">
            <a:spAutoFit/>
          </a:bodyPr>
          <a:lstStyle/>
          <a:p>
            <a:pPr algn="ctr"/>
            <a:r>
              <a:rPr lang="en-US" altLang="ja-JP" sz="1050" dirty="0"/>
              <a:t>HTTP</a:t>
            </a:r>
            <a:endParaRPr kumimoji="1" lang="ja-JP" altLang="en-US" sz="1050" dirty="0"/>
          </a:p>
        </p:txBody>
      </p:sp>
      <p:sp>
        <p:nvSpPr>
          <p:cNvPr id="1112" name="テキスト ボックス 1111">
            <a:extLst>
              <a:ext uri="{FF2B5EF4-FFF2-40B4-BE49-F238E27FC236}">
                <a16:creationId xmlns:a16="http://schemas.microsoft.com/office/drawing/2014/main" id="{2060FCA5-249D-8E2C-ABAE-CE9DAE63D22F}"/>
              </a:ext>
            </a:extLst>
          </p:cNvPr>
          <p:cNvSpPr txBox="1"/>
          <p:nvPr/>
        </p:nvSpPr>
        <p:spPr>
          <a:xfrm>
            <a:off x="5629113" y="5038808"/>
            <a:ext cx="1220398" cy="261610"/>
          </a:xfrm>
          <a:prstGeom prst="rect">
            <a:avLst/>
          </a:prstGeom>
          <a:noFill/>
        </p:spPr>
        <p:txBody>
          <a:bodyPr wrap="square" rtlCol="0">
            <a:spAutoFit/>
          </a:bodyPr>
          <a:lstStyle/>
          <a:p>
            <a:pPr algn="ctr"/>
            <a:r>
              <a:rPr kumimoji="1" lang="en-US" altLang="ja-JP" sz="1050" dirty="0"/>
              <a:t>HTTP</a:t>
            </a:r>
            <a:r>
              <a:rPr lang="en-US" altLang="ja-JP" sz="1050" dirty="0"/>
              <a:t>/</a:t>
            </a:r>
            <a:r>
              <a:rPr kumimoji="1" lang="en-US" altLang="ja-JP" sz="1050" dirty="0"/>
              <a:t>HTTPS</a:t>
            </a:r>
            <a:endParaRPr kumimoji="1" lang="ja-JP" altLang="en-US" sz="1050" dirty="0"/>
          </a:p>
        </p:txBody>
      </p:sp>
      <p:cxnSp>
        <p:nvCxnSpPr>
          <p:cNvPr id="1113" name="直線コネクタ 1112">
            <a:extLst>
              <a:ext uri="{FF2B5EF4-FFF2-40B4-BE49-F238E27FC236}">
                <a16:creationId xmlns:a16="http://schemas.microsoft.com/office/drawing/2014/main" id="{38D2DDC0-D10E-93F5-0857-893091588C4A}"/>
              </a:ext>
            </a:extLst>
          </p:cNvPr>
          <p:cNvCxnSpPr>
            <a:cxnSpLocks/>
          </p:cNvCxnSpPr>
          <p:nvPr/>
        </p:nvCxnSpPr>
        <p:spPr>
          <a:xfrm>
            <a:off x="7496879" y="2178761"/>
            <a:ext cx="0" cy="1099158"/>
          </a:xfrm>
          <a:prstGeom prst="line">
            <a:avLst/>
          </a:prstGeom>
          <a:ln w="12700">
            <a:solidFill>
              <a:schemeClr val="tx1"/>
            </a:solidFill>
            <a:tailEnd type="oval"/>
          </a:ln>
        </p:spPr>
        <p:style>
          <a:lnRef idx="1">
            <a:schemeClr val="accent1"/>
          </a:lnRef>
          <a:fillRef idx="0">
            <a:schemeClr val="accent1"/>
          </a:fillRef>
          <a:effectRef idx="0">
            <a:schemeClr val="accent1"/>
          </a:effectRef>
          <a:fontRef idx="minor">
            <a:schemeClr val="tx1"/>
          </a:fontRef>
        </p:style>
      </p:cxnSp>
      <p:pic>
        <p:nvPicPr>
          <p:cNvPr id="1122" name="図 1121">
            <a:extLst>
              <a:ext uri="{FF2B5EF4-FFF2-40B4-BE49-F238E27FC236}">
                <a16:creationId xmlns:a16="http://schemas.microsoft.com/office/drawing/2014/main" id="{D63DBE40-839B-63E4-6E63-82C23E2F60AD}"/>
              </a:ext>
            </a:extLst>
          </p:cNvPr>
          <p:cNvPicPr>
            <a:picLocks noChangeAspect="1"/>
          </p:cNvPicPr>
          <p:nvPr/>
        </p:nvPicPr>
        <p:blipFill>
          <a:blip r:embed="rId10"/>
          <a:srcRect b="23781"/>
          <a:stretch/>
        </p:blipFill>
        <p:spPr>
          <a:xfrm>
            <a:off x="5959167" y="1629366"/>
            <a:ext cx="2495328" cy="1870359"/>
          </a:xfrm>
          <a:prstGeom prst="rect">
            <a:avLst/>
          </a:prstGeom>
          <a:ln w="12700">
            <a:solidFill>
              <a:schemeClr val="tx1"/>
            </a:solidFill>
          </a:ln>
        </p:spPr>
      </p:pic>
      <p:cxnSp>
        <p:nvCxnSpPr>
          <p:cNvPr id="1123" name="直線コネクタ 1122">
            <a:extLst>
              <a:ext uri="{FF2B5EF4-FFF2-40B4-BE49-F238E27FC236}">
                <a16:creationId xmlns:a16="http://schemas.microsoft.com/office/drawing/2014/main" id="{19847323-FBB9-72EF-5CA6-14C0CE52B245}"/>
              </a:ext>
            </a:extLst>
          </p:cNvPr>
          <p:cNvCxnSpPr>
            <a:cxnSpLocks/>
            <a:stCxn id="1122" idx="2"/>
          </p:cNvCxnSpPr>
          <p:nvPr/>
        </p:nvCxnSpPr>
        <p:spPr>
          <a:xfrm flipH="1">
            <a:off x="7206830" y="3499725"/>
            <a:ext cx="1" cy="629444"/>
          </a:xfrm>
          <a:prstGeom prst="line">
            <a:avLst/>
          </a:prstGeom>
          <a:ln w="12700">
            <a:solidFill>
              <a:schemeClr val="tx1"/>
            </a:solidFill>
            <a:tailEnd type="oval"/>
          </a:ln>
        </p:spPr>
        <p:style>
          <a:lnRef idx="1">
            <a:schemeClr val="accent1"/>
          </a:lnRef>
          <a:fillRef idx="0">
            <a:schemeClr val="accent1"/>
          </a:fillRef>
          <a:effectRef idx="0">
            <a:schemeClr val="accent1"/>
          </a:effectRef>
          <a:fontRef idx="minor">
            <a:schemeClr val="tx1"/>
          </a:fontRef>
        </p:style>
      </p:cxnSp>
      <p:pic>
        <p:nvPicPr>
          <p:cNvPr id="1132" name="グラフィックス 1131">
            <a:extLst>
              <a:ext uri="{FF2B5EF4-FFF2-40B4-BE49-F238E27FC236}">
                <a16:creationId xmlns:a16="http://schemas.microsoft.com/office/drawing/2014/main" id="{613EB1D5-9815-3C17-9680-0FD728B296CD}"/>
              </a:ext>
            </a:extLst>
          </p:cNvPr>
          <p:cNvPicPr>
            <a:picLocks noChangeAspect="1"/>
          </p:cNvPicPr>
          <p:nvPr/>
        </p:nvPicPr>
        <p:blipFill>
          <a:blip r:embed="rId11">
            <a:duotone>
              <a:prstClr val="black"/>
              <a:schemeClr val="tx2">
                <a:tint val="45000"/>
                <a:satMod val="400000"/>
              </a:schemeClr>
            </a:duotone>
            <a:extLst>
              <a:ext uri="{96DAC541-7B7A-43D3-8B79-37D633B846F1}">
                <asvg:svgBlip xmlns:asvg="http://schemas.microsoft.com/office/drawing/2016/SVG/main" r:embed="rId12"/>
              </a:ext>
            </a:extLst>
          </a:blip>
          <a:srcRect l="7610" t="15310" r="7485" b="13107"/>
          <a:stretch/>
        </p:blipFill>
        <p:spPr>
          <a:xfrm>
            <a:off x="564024" y="5669498"/>
            <a:ext cx="792350" cy="503807"/>
          </a:xfrm>
          <a:prstGeom prst="rect">
            <a:avLst/>
          </a:prstGeom>
        </p:spPr>
      </p:pic>
      <p:pic>
        <p:nvPicPr>
          <p:cNvPr id="8" name="図 7">
            <a:extLst>
              <a:ext uri="{FF2B5EF4-FFF2-40B4-BE49-F238E27FC236}">
                <a16:creationId xmlns:a16="http://schemas.microsoft.com/office/drawing/2014/main" id="{B64C5208-DD54-AD2F-2410-54B3BA3209E2}"/>
              </a:ext>
            </a:extLst>
          </p:cNvPr>
          <p:cNvPicPr>
            <a:picLocks noChangeAspect="1"/>
          </p:cNvPicPr>
          <p:nvPr/>
        </p:nvPicPr>
        <p:blipFill>
          <a:blip r:embed="rId13">
            <a:extLst>
              <a:ext uri="{BEBA8EAE-BF5A-486C-A8C5-ECC9F3942E4B}">
                <a14:imgProps xmlns:a14="http://schemas.microsoft.com/office/drawing/2010/main">
                  <a14:imgLayer r:embed="rId14">
                    <a14:imgEffect>
                      <a14:artisticBlur/>
                    </a14:imgEffect>
                  </a14:imgLayer>
                </a14:imgProps>
              </a:ext>
            </a:extLst>
          </a:blip>
          <a:stretch>
            <a:fillRect/>
          </a:stretch>
        </p:blipFill>
        <p:spPr>
          <a:xfrm>
            <a:off x="6541223" y="2056747"/>
            <a:ext cx="682834" cy="1447203"/>
          </a:xfrm>
          <a:prstGeom prst="rect">
            <a:avLst/>
          </a:prstGeom>
        </p:spPr>
      </p:pic>
    </p:spTree>
    <p:extLst>
      <p:ext uri="{BB962C8B-B14F-4D97-AF65-F5344CB8AC3E}">
        <p14:creationId xmlns:p14="http://schemas.microsoft.com/office/powerpoint/2010/main" val="18666713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33DF9-3297-7C91-BA3A-1E5A0443CE5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92693F2-5D9C-40DA-A166-F3A322ED37D8}"/>
              </a:ext>
            </a:extLst>
          </p:cNvPr>
          <p:cNvSpPr>
            <a:spLocks noGrp="1"/>
          </p:cNvSpPr>
          <p:nvPr>
            <p:ph type="title"/>
          </p:nvPr>
        </p:nvSpPr>
        <p:spPr/>
        <p:txBody>
          <a:bodyPr/>
          <a:lstStyle/>
          <a:p>
            <a:r>
              <a:rPr kumimoji="1" lang="ja-JP" altLang="en-US" dirty="0"/>
              <a:t>在室確認システムのアーキテクチャ</a:t>
            </a:r>
          </a:p>
        </p:txBody>
      </p:sp>
      <p:grpSp>
        <p:nvGrpSpPr>
          <p:cNvPr id="230" name="グループ化 229">
            <a:extLst>
              <a:ext uri="{FF2B5EF4-FFF2-40B4-BE49-F238E27FC236}">
                <a16:creationId xmlns:a16="http://schemas.microsoft.com/office/drawing/2014/main" id="{8DC924C9-669C-F92A-688F-F2D4B276744D}"/>
              </a:ext>
            </a:extLst>
          </p:cNvPr>
          <p:cNvGrpSpPr/>
          <p:nvPr/>
        </p:nvGrpSpPr>
        <p:grpSpPr>
          <a:xfrm>
            <a:off x="6904519" y="4385283"/>
            <a:ext cx="1058068" cy="814611"/>
            <a:chOff x="4098454" y="2667000"/>
            <a:chExt cx="1502808" cy="1157017"/>
          </a:xfrm>
        </p:grpSpPr>
        <p:pic>
          <p:nvPicPr>
            <p:cNvPr id="298" name="Graphic 23" descr="Amazon DynamoDB service icon.">
              <a:extLst>
                <a:ext uri="{FF2B5EF4-FFF2-40B4-BE49-F238E27FC236}">
                  <a16:creationId xmlns:a16="http://schemas.microsoft.com/office/drawing/2014/main" id="{3F5E881D-2B10-70C7-0B66-DF3A3DA31AAF}"/>
                </a:ext>
              </a:extLst>
            </p:cNvPr>
            <p:cNvPicPr>
              <a:picLocks noChangeAspect="1" noChangeArrowheads="1"/>
            </p:cNvPicPr>
            <p:nvPr/>
          </p:nvPicPr>
          <p:blipFill>
            <a:blip r:embed="rId2">
              <a:extLst>
                <a:ext uri="{96DAC541-7B7A-43D3-8B79-37D633B846F1}">
                  <asvg:svgBlip xmlns:asvg="http://schemas.microsoft.com/office/drawing/2016/SVG/main" r:embed="rId3"/>
                </a:ext>
              </a:extLst>
            </a:blip>
            <a:srcRect/>
            <a:stretch/>
          </p:blipFill>
          <p:spPr bwMode="auto">
            <a:xfrm>
              <a:off x="4468858" y="2667000"/>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9" name="TextBox 12">
              <a:extLst>
                <a:ext uri="{FF2B5EF4-FFF2-40B4-BE49-F238E27FC236}">
                  <a16:creationId xmlns:a16="http://schemas.microsoft.com/office/drawing/2014/main" id="{04531B46-7751-947C-CA0A-66DE65DD8921}"/>
                </a:ext>
              </a:extLst>
            </p:cNvPr>
            <p:cNvSpPr txBox="1">
              <a:spLocks noChangeArrowheads="1"/>
            </p:cNvSpPr>
            <p:nvPr/>
          </p:nvSpPr>
          <p:spPr bwMode="auto">
            <a:xfrm>
              <a:off x="4098454" y="3430587"/>
              <a:ext cx="1502808" cy="393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DynamoDB</a:t>
              </a:r>
            </a:p>
          </p:txBody>
        </p:sp>
      </p:grpSp>
      <p:grpSp>
        <p:nvGrpSpPr>
          <p:cNvPr id="231" name="グループ化 230">
            <a:extLst>
              <a:ext uri="{FF2B5EF4-FFF2-40B4-BE49-F238E27FC236}">
                <a16:creationId xmlns:a16="http://schemas.microsoft.com/office/drawing/2014/main" id="{4FDE012B-689B-0ECA-EF91-5355F7C253E0}"/>
              </a:ext>
            </a:extLst>
          </p:cNvPr>
          <p:cNvGrpSpPr/>
          <p:nvPr/>
        </p:nvGrpSpPr>
        <p:grpSpPr>
          <a:xfrm>
            <a:off x="4522361" y="4382693"/>
            <a:ext cx="1117700" cy="998159"/>
            <a:chOff x="2576510" y="1184275"/>
            <a:chExt cx="1587506" cy="1417718"/>
          </a:xfrm>
        </p:grpSpPr>
        <p:pic>
          <p:nvPicPr>
            <p:cNvPr id="296" name="Graphic 7" descr="Amazon API Gateway service icon.">
              <a:extLst>
                <a:ext uri="{FF2B5EF4-FFF2-40B4-BE49-F238E27FC236}">
                  <a16:creationId xmlns:a16="http://schemas.microsoft.com/office/drawing/2014/main" id="{F62B9033-29DA-58E2-A71A-B59B8DBD93E4}"/>
                </a:ext>
              </a:extLst>
            </p:cNvPr>
            <p:cNvPicPr>
              <a:picLocks noChangeAspect="1" noChangeArrowheads="1"/>
            </p:cNvPicPr>
            <p:nvPr/>
          </p:nvPicPr>
          <p:blipFill>
            <a:blip r:embed="rId4">
              <a:extLst>
                <a:ext uri="{96DAC541-7B7A-43D3-8B79-37D633B846F1}">
                  <asvg:svgBlip xmlns:asvg="http://schemas.microsoft.com/office/drawing/2016/SVG/main" r:embed="rId5"/>
                </a:ext>
              </a:extLst>
            </a:blip>
            <a:srcRect/>
            <a:stretch/>
          </p:blipFill>
          <p:spPr bwMode="auto">
            <a:xfrm>
              <a:off x="2989263" y="1184275"/>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 name="TextBox 9">
              <a:extLst>
                <a:ext uri="{FF2B5EF4-FFF2-40B4-BE49-F238E27FC236}">
                  <a16:creationId xmlns:a16="http://schemas.microsoft.com/office/drawing/2014/main" id="{74B0D021-A6F8-3349-AADF-E238A4042D8A}"/>
                </a:ext>
              </a:extLst>
            </p:cNvPr>
            <p:cNvSpPr txBox="1">
              <a:spLocks noChangeArrowheads="1"/>
            </p:cNvSpPr>
            <p:nvPr/>
          </p:nvSpPr>
          <p:spPr bwMode="auto">
            <a:xfrm>
              <a:off x="2576510" y="1946275"/>
              <a:ext cx="1587506" cy="655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API Gateway</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(REST API)</a:t>
              </a:r>
            </a:p>
          </p:txBody>
        </p:sp>
      </p:grpSp>
      <p:grpSp>
        <p:nvGrpSpPr>
          <p:cNvPr id="232" name="グループ化 231">
            <a:extLst>
              <a:ext uri="{FF2B5EF4-FFF2-40B4-BE49-F238E27FC236}">
                <a16:creationId xmlns:a16="http://schemas.microsoft.com/office/drawing/2014/main" id="{00C29972-DAB9-0A7E-20B9-39726D581E92}"/>
              </a:ext>
            </a:extLst>
          </p:cNvPr>
          <p:cNvGrpSpPr/>
          <p:nvPr/>
        </p:nvGrpSpPr>
        <p:grpSpPr>
          <a:xfrm>
            <a:off x="5850438" y="4382385"/>
            <a:ext cx="820861" cy="812933"/>
            <a:chOff x="5051089" y="1185069"/>
            <a:chExt cx="1165896" cy="1154637"/>
          </a:xfrm>
        </p:grpSpPr>
        <p:pic>
          <p:nvPicPr>
            <p:cNvPr id="294" name="Graphic 10" descr="AWS Lambda service icon.">
              <a:extLst>
                <a:ext uri="{FF2B5EF4-FFF2-40B4-BE49-F238E27FC236}">
                  <a16:creationId xmlns:a16="http://schemas.microsoft.com/office/drawing/2014/main" id="{AC14B52A-44CA-3FE4-5A9E-36FCB8628D66}"/>
                </a:ext>
              </a:extLst>
            </p:cNvPr>
            <p:cNvPicPr>
              <a:picLocks noChangeAspect="1" noChangeArrowheads="1"/>
            </p:cNvPicPr>
            <p:nvPr/>
          </p:nvPicPr>
          <p:blipFill>
            <a:blip r:embed="rId6">
              <a:extLst>
                <a:ext uri="{96DAC541-7B7A-43D3-8B79-37D633B846F1}">
                  <asvg:svgBlip xmlns:asvg="http://schemas.microsoft.com/office/drawing/2016/SVG/main" r:embed="rId7"/>
                </a:ext>
              </a:extLst>
            </a:blip>
            <a:srcRect/>
            <a:stretch/>
          </p:blipFill>
          <p:spPr bwMode="auto">
            <a:xfrm>
              <a:off x="5246688" y="1185069"/>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5" name="TextBox 20">
              <a:extLst>
                <a:ext uri="{FF2B5EF4-FFF2-40B4-BE49-F238E27FC236}">
                  <a16:creationId xmlns:a16="http://schemas.microsoft.com/office/drawing/2014/main" id="{C54F5953-82BB-4772-CC4F-169328640C62}"/>
                </a:ext>
              </a:extLst>
            </p:cNvPr>
            <p:cNvSpPr txBox="1">
              <a:spLocks noChangeArrowheads="1"/>
            </p:cNvSpPr>
            <p:nvPr/>
          </p:nvSpPr>
          <p:spPr bwMode="auto">
            <a:xfrm>
              <a:off x="5051089" y="1946275"/>
              <a:ext cx="1165896" cy="393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Lambda</a:t>
              </a:r>
            </a:p>
          </p:txBody>
        </p:sp>
      </p:grpSp>
      <p:grpSp>
        <p:nvGrpSpPr>
          <p:cNvPr id="233" name="グループ化 232">
            <a:extLst>
              <a:ext uri="{FF2B5EF4-FFF2-40B4-BE49-F238E27FC236}">
                <a16:creationId xmlns:a16="http://schemas.microsoft.com/office/drawing/2014/main" id="{950440B8-9491-0059-7201-7B1C3C6A7B56}"/>
              </a:ext>
            </a:extLst>
          </p:cNvPr>
          <p:cNvGrpSpPr/>
          <p:nvPr/>
        </p:nvGrpSpPr>
        <p:grpSpPr>
          <a:xfrm>
            <a:off x="6894823" y="5692118"/>
            <a:ext cx="1068518" cy="813493"/>
            <a:chOff x="-6240556" y="-4075450"/>
            <a:chExt cx="1517651" cy="1155431"/>
          </a:xfrm>
        </p:grpSpPr>
        <p:pic>
          <p:nvPicPr>
            <p:cNvPr id="292" name="Graphic 17" descr="Amazon CloudWatch service icon.">
              <a:extLst>
                <a:ext uri="{FF2B5EF4-FFF2-40B4-BE49-F238E27FC236}">
                  <a16:creationId xmlns:a16="http://schemas.microsoft.com/office/drawing/2014/main" id="{B5ED22EC-DC7B-9E9D-CF37-81C8704EDDA9}"/>
                </a:ext>
              </a:extLst>
            </p:cNvPr>
            <p:cNvPicPr>
              <a:picLocks noChangeAspect="1" noChangeArrowheads="1"/>
            </p:cNvPicPr>
            <p:nvPr/>
          </p:nvPicPr>
          <p:blipFill>
            <a:blip r:embed="rId8">
              <a:extLst>
                <a:ext uri="{96DAC541-7B7A-43D3-8B79-37D633B846F1}">
                  <asvg:svgBlip xmlns:asvg="http://schemas.microsoft.com/office/drawing/2016/SVG/main" r:embed="rId9"/>
                </a:ext>
              </a:extLst>
            </a:blip>
            <a:srcRect/>
            <a:stretch/>
          </p:blipFill>
          <p:spPr bwMode="auto">
            <a:xfrm>
              <a:off x="-5862730" y="-4075450"/>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3" name="TextBox 9">
              <a:extLst>
                <a:ext uri="{FF2B5EF4-FFF2-40B4-BE49-F238E27FC236}">
                  <a16:creationId xmlns:a16="http://schemas.microsoft.com/office/drawing/2014/main" id="{61C36C76-C12E-70B6-EBB8-671962748CEB}"/>
                </a:ext>
              </a:extLst>
            </p:cNvPr>
            <p:cNvSpPr txBox="1">
              <a:spLocks noChangeArrowheads="1"/>
            </p:cNvSpPr>
            <p:nvPr/>
          </p:nvSpPr>
          <p:spPr bwMode="auto">
            <a:xfrm>
              <a:off x="-6240556" y="-3313450"/>
              <a:ext cx="1517651" cy="393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CloudWatch</a:t>
              </a:r>
            </a:p>
          </p:txBody>
        </p:sp>
      </p:grpSp>
      <p:grpSp>
        <p:nvGrpSpPr>
          <p:cNvPr id="234" name="グループ化 233">
            <a:extLst>
              <a:ext uri="{FF2B5EF4-FFF2-40B4-BE49-F238E27FC236}">
                <a16:creationId xmlns:a16="http://schemas.microsoft.com/office/drawing/2014/main" id="{A53B5D33-3005-EDDB-4319-C0BF7401A54F}"/>
              </a:ext>
            </a:extLst>
          </p:cNvPr>
          <p:cNvGrpSpPr/>
          <p:nvPr/>
        </p:nvGrpSpPr>
        <p:grpSpPr>
          <a:xfrm>
            <a:off x="4815974" y="5696629"/>
            <a:ext cx="536494" cy="813493"/>
            <a:chOff x="7535863" y="1001200"/>
            <a:chExt cx="762000" cy="1155431"/>
          </a:xfrm>
        </p:grpSpPr>
        <p:pic>
          <p:nvPicPr>
            <p:cNvPr id="290" name="Graphic 19" descr="AWS Identity and Access Management (IAM) service icon.">
              <a:extLst>
                <a:ext uri="{FF2B5EF4-FFF2-40B4-BE49-F238E27FC236}">
                  <a16:creationId xmlns:a16="http://schemas.microsoft.com/office/drawing/2014/main" id="{B124E8E3-D9DD-A910-4051-9BDE19579823}"/>
                </a:ext>
              </a:extLst>
            </p:cNvPr>
            <p:cNvPicPr>
              <a:picLocks noChangeAspect="1" noChangeArrowheads="1"/>
            </p:cNvPicPr>
            <p:nvPr/>
          </p:nvPicPr>
          <p:blipFill>
            <a:blip r:embed="rId10">
              <a:extLst>
                <a:ext uri="{96DAC541-7B7A-43D3-8B79-37D633B846F1}">
                  <asvg:svgBlip xmlns:asvg="http://schemas.microsoft.com/office/drawing/2016/SVG/main" r:embed="rId11"/>
                </a:ext>
              </a:extLst>
            </a:blip>
            <a:srcRect/>
            <a:stretch/>
          </p:blipFill>
          <p:spPr bwMode="auto">
            <a:xfrm>
              <a:off x="7535863" y="1001200"/>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1" name="TextBox 12">
              <a:extLst>
                <a:ext uri="{FF2B5EF4-FFF2-40B4-BE49-F238E27FC236}">
                  <a16:creationId xmlns:a16="http://schemas.microsoft.com/office/drawing/2014/main" id="{D1C1F640-CEAC-E200-C42B-91502CD361C2}"/>
                </a:ext>
              </a:extLst>
            </p:cNvPr>
            <p:cNvSpPr txBox="1">
              <a:spLocks noChangeArrowheads="1"/>
            </p:cNvSpPr>
            <p:nvPr/>
          </p:nvSpPr>
          <p:spPr bwMode="auto">
            <a:xfrm>
              <a:off x="7535863" y="1763200"/>
              <a:ext cx="758826" cy="393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IAM</a:t>
              </a:r>
            </a:p>
          </p:txBody>
        </p:sp>
      </p:grpSp>
      <p:sp>
        <p:nvSpPr>
          <p:cNvPr id="289" name="TextBox 12">
            <a:extLst>
              <a:ext uri="{FF2B5EF4-FFF2-40B4-BE49-F238E27FC236}">
                <a16:creationId xmlns:a16="http://schemas.microsoft.com/office/drawing/2014/main" id="{5AAEF0E9-A72A-C3DB-053A-97AFB3B9DB25}"/>
              </a:ext>
            </a:extLst>
          </p:cNvPr>
          <p:cNvSpPr txBox="1">
            <a:spLocks noChangeArrowheads="1"/>
          </p:cNvSpPr>
          <p:nvPr/>
        </p:nvSpPr>
        <p:spPr bwMode="auto">
          <a:xfrm>
            <a:off x="1707208" y="5001976"/>
            <a:ext cx="16050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Raspberry Pi 4B</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(172.16.15.8)</a:t>
            </a:r>
          </a:p>
        </p:txBody>
      </p:sp>
      <p:sp>
        <p:nvSpPr>
          <p:cNvPr id="236" name="テキスト ボックス 235">
            <a:extLst>
              <a:ext uri="{FF2B5EF4-FFF2-40B4-BE49-F238E27FC236}">
                <a16:creationId xmlns:a16="http://schemas.microsoft.com/office/drawing/2014/main" id="{A2E2AE00-DA74-ABD4-A0F3-C820078C48CB}"/>
              </a:ext>
            </a:extLst>
          </p:cNvPr>
          <p:cNvSpPr txBox="1"/>
          <p:nvPr/>
        </p:nvSpPr>
        <p:spPr>
          <a:xfrm>
            <a:off x="1077353" y="4303759"/>
            <a:ext cx="1162293" cy="276999"/>
          </a:xfrm>
          <a:prstGeom prst="rect">
            <a:avLst/>
          </a:prstGeom>
          <a:noFill/>
        </p:spPr>
        <p:txBody>
          <a:bodyPr wrap="square">
            <a:spAutoFit/>
          </a:body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RC-S380 S</a:t>
            </a:r>
          </a:p>
        </p:txBody>
      </p:sp>
      <p:pic>
        <p:nvPicPr>
          <p:cNvPr id="237" name="図 236" descr="黒い背景と白い文字のロゴ&#10;&#10;AI によって生成されたコンテンツは間違っている可能性があります。">
            <a:extLst>
              <a:ext uri="{FF2B5EF4-FFF2-40B4-BE49-F238E27FC236}">
                <a16:creationId xmlns:a16="http://schemas.microsoft.com/office/drawing/2014/main" id="{B2AA5A06-FC8C-9889-F3CF-15008AED326A}"/>
              </a:ext>
            </a:extLst>
          </p:cNvPr>
          <p:cNvPicPr>
            <a:picLocks noChangeAspect="1"/>
          </p:cNvPicPr>
          <p:nvPr/>
        </p:nvPicPr>
        <p:blipFill>
          <a:blip r:embed="rId12">
            <a:biLevel thresh="50000"/>
            <a:extLst>
              <a:ext uri="{28A0092B-C50C-407E-A947-70E740481C1C}">
                <a14:useLocalDpi xmlns:a14="http://schemas.microsoft.com/office/drawing/2010/main" val="0"/>
              </a:ext>
            </a:extLst>
          </a:blip>
          <a:srcRect t="19474" b="18132"/>
          <a:stretch/>
        </p:blipFill>
        <p:spPr>
          <a:xfrm flipH="1">
            <a:off x="693160" y="4508703"/>
            <a:ext cx="1605014" cy="751622"/>
          </a:xfrm>
          <a:prstGeom prst="rect">
            <a:avLst/>
          </a:prstGeom>
        </p:spPr>
      </p:pic>
      <p:cxnSp>
        <p:nvCxnSpPr>
          <p:cNvPr id="238" name="Straight Arrow Connector 74" descr="Up and down pointing vertical arrow.">
            <a:extLst>
              <a:ext uri="{FF2B5EF4-FFF2-40B4-BE49-F238E27FC236}">
                <a16:creationId xmlns:a16="http://schemas.microsoft.com/office/drawing/2014/main" id="{E89647E1-091E-33A9-C584-D59DA7A97F80}"/>
              </a:ext>
            </a:extLst>
          </p:cNvPr>
          <p:cNvCxnSpPr>
            <a:cxnSpLocks/>
            <a:endCxn id="296" idx="1"/>
          </p:cNvCxnSpPr>
          <p:nvPr/>
        </p:nvCxnSpPr>
        <p:spPr>
          <a:xfrm>
            <a:off x="2777961" y="4650940"/>
            <a:ext cx="2035003" cy="0"/>
          </a:xfrm>
          <a:prstGeom prst="straightConnector1">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grpSp>
        <p:nvGrpSpPr>
          <p:cNvPr id="241" name="グループ化 240">
            <a:extLst>
              <a:ext uri="{FF2B5EF4-FFF2-40B4-BE49-F238E27FC236}">
                <a16:creationId xmlns:a16="http://schemas.microsoft.com/office/drawing/2014/main" id="{52B56DD4-A708-47A1-51AD-E5BD4CC7AD47}"/>
              </a:ext>
            </a:extLst>
          </p:cNvPr>
          <p:cNvGrpSpPr/>
          <p:nvPr/>
        </p:nvGrpSpPr>
        <p:grpSpPr>
          <a:xfrm>
            <a:off x="2051276" y="6087076"/>
            <a:ext cx="924337" cy="403333"/>
            <a:chOff x="2262291" y="5685876"/>
            <a:chExt cx="924337" cy="403333"/>
          </a:xfrm>
        </p:grpSpPr>
        <p:pic>
          <p:nvPicPr>
            <p:cNvPr id="286" name="図 285" descr="アイコン&#10;&#10;AI によって生成されたコンテンツは間違っている可能性があります。">
              <a:extLst>
                <a:ext uri="{FF2B5EF4-FFF2-40B4-BE49-F238E27FC236}">
                  <a16:creationId xmlns:a16="http://schemas.microsoft.com/office/drawing/2014/main" id="{F2C214B5-6294-1C32-8C66-4FF47CC0D914}"/>
                </a:ext>
              </a:extLst>
            </p:cNvPr>
            <p:cNvPicPr>
              <a:picLocks noChangeAspect="1"/>
            </p:cNvPicPr>
            <p:nvPr/>
          </p:nvPicPr>
          <p:blipFill>
            <a:blip r:embed="rId13">
              <a:extLst>
                <a:ext uri="{28A0092B-C50C-407E-A947-70E740481C1C}">
                  <a14:useLocalDpi xmlns:a14="http://schemas.microsoft.com/office/drawing/2010/main" val="0"/>
                </a:ext>
              </a:extLst>
            </a:blip>
            <a:srcRect l="10553" t="5709" r="9769" b="4466"/>
            <a:stretch/>
          </p:blipFill>
          <p:spPr>
            <a:xfrm>
              <a:off x="2262291" y="5685876"/>
              <a:ext cx="357774" cy="403333"/>
            </a:xfrm>
            <a:prstGeom prst="rect">
              <a:avLst/>
            </a:prstGeom>
          </p:spPr>
        </p:pic>
        <p:sp>
          <p:nvSpPr>
            <p:cNvPr id="287" name="テキスト ボックス 286">
              <a:extLst>
                <a:ext uri="{FF2B5EF4-FFF2-40B4-BE49-F238E27FC236}">
                  <a16:creationId xmlns:a16="http://schemas.microsoft.com/office/drawing/2014/main" id="{AC89B125-0AD6-0833-1AF1-260E176FC9E7}"/>
                </a:ext>
              </a:extLst>
            </p:cNvPr>
            <p:cNvSpPr txBox="1"/>
            <p:nvPr/>
          </p:nvSpPr>
          <p:spPr>
            <a:xfrm>
              <a:off x="2557071" y="5749042"/>
              <a:ext cx="629557" cy="276999"/>
            </a:xfrm>
            <a:prstGeom prst="rect">
              <a:avLst/>
            </a:prstGeom>
            <a:noFill/>
          </p:spPr>
          <p:txBody>
            <a:bodyPr wrap="square">
              <a:spAutoFit/>
            </a:bodyPr>
            <a:lstStyle/>
            <a:p>
              <a:r>
                <a:rPr lang="en-US" altLang="ja-JP" sz="1200" dirty="0"/>
                <a:t>:3000</a:t>
              </a:r>
              <a:endParaRPr lang="ja-JP" altLang="en-US" sz="1200" dirty="0"/>
            </a:p>
          </p:txBody>
        </p:sp>
      </p:grpSp>
      <p:grpSp>
        <p:nvGrpSpPr>
          <p:cNvPr id="242" name="グループ化 241">
            <a:extLst>
              <a:ext uri="{FF2B5EF4-FFF2-40B4-BE49-F238E27FC236}">
                <a16:creationId xmlns:a16="http://schemas.microsoft.com/office/drawing/2014/main" id="{59ACEC97-C99F-A720-8E72-2CAD0D7FAD75}"/>
              </a:ext>
            </a:extLst>
          </p:cNvPr>
          <p:cNvGrpSpPr/>
          <p:nvPr/>
        </p:nvGrpSpPr>
        <p:grpSpPr>
          <a:xfrm>
            <a:off x="2043915" y="5648135"/>
            <a:ext cx="931698" cy="372497"/>
            <a:chOff x="2254930" y="5246935"/>
            <a:chExt cx="931698" cy="372497"/>
          </a:xfrm>
        </p:grpSpPr>
        <p:pic>
          <p:nvPicPr>
            <p:cNvPr id="284" name="グラフィックス 283">
              <a:extLst>
                <a:ext uri="{FF2B5EF4-FFF2-40B4-BE49-F238E27FC236}">
                  <a16:creationId xmlns:a16="http://schemas.microsoft.com/office/drawing/2014/main" id="{60AF453E-5743-013B-BEB4-7BB4FB87FCFF}"/>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2254930" y="5246935"/>
              <a:ext cx="372497" cy="372497"/>
            </a:xfrm>
            <a:prstGeom prst="rect">
              <a:avLst/>
            </a:prstGeom>
          </p:spPr>
        </p:pic>
        <p:sp>
          <p:nvSpPr>
            <p:cNvPr id="285" name="テキスト ボックス 284">
              <a:extLst>
                <a:ext uri="{FF2B5EF4-FFF2-40B4-BE49-F238E27FC236}">
                  <a16:creationId xmlns:a16="http://schemas.microsoft.com/office/drawing/2014/main" id="{52A07318-D166-CE0C-2B5E-2B637A85E97E}"/>
                </a:ext>
              </a:extLst>
            </p:cNvPr>
            <p:cNvSpPr txBox="1"/>
            <p:nvPr/>
          </p:nvSpPr>
          <p:spPr>
            <a:xfrm>
              <a:off x="2557071" y="5306333"/>
              <a:ext cx="629557" cy="276999"/>
            </a:xfrm>
            <a:prstGeom prst="rect">
              <a:avLst/>
            </a:prstGeom>
            <a:noFill/>
          </p:spPr>
          <p:txBody>
            <a:bodyPr wrap="square">
              <a:spAutoFit/>
            </a:bodyPr>
            <a:lstStyle/>
            <a:p>
              <a:r>
                <a:rPr lang="en-US" altLang="ja-JP" sz="1200" dirty="0"/>
                <a:t>:8000</a:t>
              </a:r>
              <a:endParaRPr lang="ja-JP" altLang="en-US" sz="1200" dirty="0"/>
            </a:p>
          </p:txBody>
        </p:sp>
      </p:grpSp>
      <p:grpSp>
        <p:nvGrpSpPr>
          <p:cNvPr id="243" name="グループ化 242">
            <a:extLst>
              <a:ext uri="{FF2B5EF4-FFF2-40B4-BE49-F238E27FC236}">
                <a16:creationId xmlns:a16="http://schemas.microsoft.com/office/drawing/2014/main" id="{5EC4406B-AD0A-2AB4-A762-81309FFBC305}"/>
              </a:ext>
            </a:extLst>
          </p:cNvPr>
          <p:cNvGrpSpPr/>
          <p:nvPr/>
        </p:nvGrpSpPr>
        <p:grpSpPr>
          <a:xfrm>
            <a:off x="5655352" y="5692118"/>
            <a:ext cx="1211032" cy="802921"/>
            <a:chOff x="3129557" y="4452843"/>
            <a:chExt cx="1211032" cy="802921"/>
          </a:xfrm>
        </p:grpSpPr>
        <p:pic>
          <p:nvPicPr>
            <p:cNvPr id="282" name="Graphic 19" descr="Amazon EventBridge service icon.">
              <a:extLst>
                <a:ext uri="{FF2B5EF4-FFF2-40B4-BE49-F238E27FC236}">
                  <a16:creationId xmlns:a16="http://schemas.microsoft.com/office/drawing/2014/main" id="{F4F7D78C-038B-9D87-F561-FF222FBB5A49}"/>
                </a:ext>
              </a:extLst>
            </p:cNvPr>
            <p:cNvPicPr>
              <a:picLocks noChangeAspect="1" noChangeArrowheads="1"/>
            </p:cNvPicPr>
            <p:nvPr/>
          </p:nvPicPr>
          <p:blipFill>
            <a:blip r:embed="rId16">
              <a:extLst>
                <a:ext uri="{96DAC541-7B7A-43D3-8B79-37D633B846F1}">
                  <asvg:svgBlip xmlns:asvg="http://schemas.microsoft.com/office/drawing/2016/SVG/main" r:embed="rId17"/>
                </a:ext>
              </a:extLst>
            </a:blip>
            <a:srcRect/>
            <a:stretch/>
          </p:blipFill>
          <p:spPr bwMode="auto">
            <a:xfrm>
              <a:off x="3461744" y="4452843"/>
              <a:ext cx="538923" cy="538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3" name="TextBox 11">
              <a:extLst>
                <a:ext uri="{FF2B5EF4-FFF2-40B4-BE49-F238E27FC236}">
                  <a16:creationId xmlns:a16="http://schemas.microsoft.com/office/drawing/2014/main" id="{D0305071-D1B0-7F5B-0C92-2CDFAA2E571F}"/>
                </a:ext>
              </a:extLst>
            </p:cNvPr>
            <p:cNvSpPr txBox="1">
              <a:spLocks noChangeArrowheads="1"/>
            </p:cNvSpPr>
            <p:nvPr/>
          </p:nvSpPr>
          <p:spPr bwMode="auto">
            <a:xfrm>
              <a:off x="3129557" y="4978765"/>
              <a:ext cx="121103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err="1">
                  <a:latin typeface="Arial" panose="020B0604020202020204" pitchFamily="34" charset="0"/>
                  <a:ea typeface="Amazon Ember" panose="020B0603020204020204" pitchFamily="34" charset="0"/>
                  <a:cs typeface="Arial" panose="020B0604020202020204" pitchFamily="34" charset="0"/>
                </a:rPr>
                <a:t>EventBridge</a:t>
              </a:r>
              <a:endParaRPr lang="en-US" altLang="en-US" sz="1200" dirty="0">
                <a:latin typeface="Arial" panose="020B0604020202020204" pitchFamily="34" charset="0"/>
                <a:ea typeface="Amazon Ember" panose="020B0603020204020204" pitchFamily="34" charset="0"/>
                <a:cs typeface="Arial" panose="020B0604020202020204" pitchFamily="34" charset="0"/>
              </a:endParaRPr>
            </a:p>
          </p:txBody>
        </p:sp>
      </p:grpSp>
      <p:grpSp>
        <p:nvGrpSpPr>
          <p:cNvPr id="244" name="グループ化 243">
            <a:extLst>
              <a:ext uri="{FF2B5EF4-FFF2-40B4-BE49-F238E27FC236}">
                <a16:creationId xmlns:a16="http://schemas.microsoft.com/office/drawing/2014/main" id="{A9C4393A-E653-89D6-ABA8-69C580FE0648}"/>
              </a:ext>
            </a:extLst>
          </p:cNvPr>
          <p:cNvGrpSpPr/>
          <p:nvPr/>
        </p:nvGrpSpPr>
        <p:grpSpPr>
          <a:xfrm>
            <a:off x="5550985" y="2647229"/>
            <a:ext cx="1410825" cy="998159"/>
            <a:chOff x="2368342" y="1184275"/>
            <a:chExt cx="2003841" cy="1417718"/>
          </a:xfrm>
        </p:grpSpPr>
        <p:pic>
          <p:nvPicPr>
            <p:cNvPr id="280" name="Graphic 7" descr="Amazon API Gateway service icon.">
              <a:extLst>
                <a:ext uri="{FF2B5EF4-FFF2-40B4-BE49-F238E27FC236}">
                  <a16:creationId xmlns:a16="http://schemas.microsoft.com/office/drawing/2014/main" id="{6FE0BDA6-3B9F-3217-564C-A8CFBC3F7356}"/>
                </a:ext>
              </a:extLst>
            </p:cNvPr>
            <p:cNvPicPr>
              <a:picLocks noChangeAspect="1" noChangeArrowheads="1"/>
            </p:cNvPicPr>
            <p:nvPr/>
          </p:nvPicPr>
          <p:blipFill>
            <a:blip r:embed="rId4">
              <a:extLst>
                <a:ext uri="{96DAC541-7B7A-43D3-8B79-37D633B846F1}">
                  <asvg:svgBlip xmlns:asvg="http://schemas.microsoft.com/office/drawing/2016/SVG/main" r:embed="rId5"/>
                </a:ext>
              </a:extLst>
            </a:blip>
            <a:srcRect/>
            <a:stretch/>
          </p:blipFill>
          <p:spPr bwMode="auto">
            <a:xfrm>
              <a:off x="2989264" y="1184275"/>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1" name="TextBox 9">
              <a:extLst>
                <a:ext uri="{FF2B5EF4-FFF2-40B4-BE49-F238E27FC236}">
                  <a16:creationId xmlns:a16="http://schemas.microsoft.com/office/drawing/2014/main" id="{E9DFF562-8FD2-46EE-1AF6-0C5E798FE4AD}"/>
                </a:ext>
              </a:extLst>
            </p:cNvPr>
            <p:cNvSpPr txBox="1">
              <a:spLocks noChangeArrowheads="1"/>
            </p:cNvSpPr>
            <p:nvPr/>
          </p:nvSpPr>
          <p:spPr bwMode="auto">
            <a:xfrm>
              <a:off x="2368342" y="1946275"/>
              <a:ext cx="2003841" cy="655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API Gateway</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(WebSocket)</a:t>
              </a:r>
            </a:p>
          </p:txBody>
        </p:sp>
      </p:grpSp>
      <p:sp>
        <p:nvSpPr>
          <p:cNvPr id="277" name="TextBox 12">
            <a:extLst>
              <a:ext uri="{FF2B5EF4-FFF2-40B4-BE49-F238E27FC236}">
                <a16:creationId xmlns:a16="http://schemas.microsoft.com/office/drawing/2014/main" id="{BB87084B-2608-5061-8ACF-F8C00C0FD0C3}"/>
              </a:ext>
            </a:extLst>
          </p:cNvPr>
          <p:cNvSpPr txBox="1">
            <a:spLocks noChangeArrowheads="1"/>
          </p:cNvSpPr>
          <p:nvPr/>
        </p:nvSpPr>
        <p:spPr bwMode="auto">
          <a:xfrm>
            <a:off x="1707208" y="3178518"/>
            <a:ext cx="16050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Raspberry Pi 5</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(172.16.15.7)</a:t>
            </a:r>
          </a:p>
        </p:txBody>
      </p:sp>
      <p:sp>
        <p:nvSpPr>
          <p:cNvPr id="251" name="Rectangle 103" descr="Generic group dashed.">
            <a:extLst>
              <a:ext uri="{FF2B5EF4-FFF2-40B4-BE49-F238E27FC236}">
                <a16:creationId xmlns:a16="http://schemas.microsoft.com/office/drawing/2014/main" id="{F132B1DF-ABFB-5957-BDC6-E46619E72670}"/>
              </a:ext>
            </a:extLst>
          </p:cNvPr>
          <p:cNvSpPr/>
          <p:nvPr/>
        </p:nvSpPr>
        <p:spPr>
          <a:xfrm>
            <a:off x="4457026" y="4158038"/>
            <a:ext cx="3541821" cy="1348227"/>
          </a:xfrm>
          <a:prstGeom prst="rect">
            <a:avLst/>
          </a:prstGeom>
          <a:noFill/>
          <a:ln w="15875">
            <a:solidFill>
              <a:srgbClr val="7D8998"/>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eaLnBrk="1" fontAlgn="auto" hangingPunct="1">
              <a:spcBef>
                <a:spcPts val="0"/>
              </a:spcBef>
              <a:spcAft>
                <a:spcPts val="0"/>
              </a:spcAft>
              <a:defRPr/>
            </a:pPr>
            <a:endParaRPr lang="en-US" sz="1200" dirty="0">
              <a:solidFill>
                <a:schemeClr val="tx1"/>
              </a:solidFill>
              <a:latin typeface="Arial" panose="020B0604020202020204" pitchFamily="34" charset="0"/>
              <a:cs typeface="Arial" panose="020B0604020202020204" pitchFamily="34" charset="0"/>
            </a:endParaRPr>
          </a:p>
        </p:txBody>
      </p:sp>
      <p:grpSp>
        <p:nvGrpSpPr>
          <p:cNvPr id="253" name="グループ化 252">
            <a:extLst>
              <a:ext uri="{FF2B5EF4-FFF2-40B4-BE49-F238E27FC236}">
                <a16:creationId xmlns:a16="http://schemas.microsoft.com/office/drawing/2014/main" id="{465B46C5-D464-936F-18CE-BF0B766679D9}"/>
              </a:ext>
            </a:extLst>
          </p:cNvPr>
          <p:cNvGrpSpPr/>
          <p:nvPr/>
        </p:nvGrpSpPr>
        <p:grpSpPr>
          <a:xfrm>
            <a:off x="4717633" y="2645272"/>
            <a:ext cx="730725" cy="813493"/>
            <a:chOff x="3005693" y="1391828"/>
            <a:chExt cx="730725" cy="813493"/>
          </a:xfrm>
        </p:grpSpPr>
        <p:pic>
          <p:nvPicPr>
            <p:cNvPr id="274" name="Graphic 10" descr="AWS Amplify service icon.">
              <a:extLst>
                <a:ext uri="{FF2B5EF4-FFF2-40B4-BE49-F238E27FC236}">
                  <a16:creationId xmlns:a16="http://schemas.microsoft.com/office/drawing/2014/main" id="{0A119411-8945-64F0-F54C-B0ED359D132A}"/>
                </a:ext>
              </a:extLst>
            </p:cNvPr>
            <p:cNvPicPr>
              <a:picLocks noChangeAspect="1" noChangeArrowheads="1"/>
            </p:cNvPicPr>
            <p:nvPr/>
          </p:nvPicPr>
          <p:blipFill>
            <a:blip r:embed="rId18">
              <a:extLst>
                <a:ext uri="{96DAC541-7B7A-43D3-8B79-37D633B846F1}">
                  <asvg:svgBlip xmlns:asvg="http://schemas.microsoft.com/office/drawing/2016/SVG/main" r:embed="rId19"/>
                </a:ext>
              </a:extLst>
            </a:blip>
            <a:srcRect/>
            <a:stretch/>
          </p:blipFill>
          <p:spPr bwMode="auto">
            <a:xfrm>
              <a:off x="3102809" y="1391828"/>
              <a:ext cx="536494" cy="536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5" name="TextBox 6">
              <a:extLst>
                <a:ext uri="{FF2B5EF4-FFF2-40B4-BE49-F238E27FC236}">
                  <a16:creationId xmlns:a16="http://schemas.microsoft.com/office/drawing/2014/main" id="{A2520085-3C5A-8174-59D2-CD706FE2EDB8}"/>
                </a:ext>
              </a:extLst>
            </p:cNvPr>
            <p:cNvSpPr txBox="1">
              <a:spLocks noChangeArrowheads="1"/>
            </p:cNvSpPr>
            <p:nvPr/>
          </p:nvSpPr>
          <p:spPr bwMode="auto">
            <a:xfrm>
              <a:off x="3005693" y="1928322"/>
              <a:ext cx="7307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Amplify</a:t>
              </a:r>
            </a:p>
          </p:txBody>
        </p:sp>
      </p:grpSp>
      <p:grpSp>
        <p:nvGrpSpPr>
          <p:cNvPr id="261" name="グループ化 260">
            <a:extLst>
              <a:ext uri="{FF2B5EF4-FFF2-40B4-BE49-F238E27FC236}">
                <a16:creationId xmlns:a16="http://schemas.microsoft.com/office/drawing/2014/main" id="{623A9FEE-06BC-6C48-E3E5-695BB54597B7}"/>
              </a:ext>
            </a:extLst>
          </p:cNvPr>
          <p:cNvGrpSpPr/>
          <p:nvPr/>
        </p:nvGrpSpPr>
        <p:grpSpPr>
          <a:xfrm>
            <a:off x="3645809" y="5683375"/>
            <a:ext cx="1020292" cy="992557"/>
            <a:chOff x="3864463" y="3839626"/>
            <a:chExt cx="1020292" cy="992557"/>
          </a:xfrm>
        </p:grpSpPr>
        <p:pic>
          <p:nvPicPr>
            <p:cNvPr id="272" name="Graphic 17" descr="Amazon Cognito service icon.">
              <a:extLst>
                <a:ext uri="{FF2B5EF4-FFF2-40B4-BE49-F238E27FC236}">
                  <a16:creationId xmlns:a16="http://schemas.microsoft.com/office/drawing/2014/main" id="{E369D744-73D6-0D9E-64DD-82D8BCE77C50}"/>
                </a:ext>
              </a:extLst>
            </p:cNvPr>
            <p:cNvPicPr>
              <a:picLocks noChangeAspect="1" noChangeArrowheads="1"/>
            </p:cNvPicPr>
            <p:nvPr/>
          </p:nvPicPr>
          <p:blipFill>
            <a:blip r:embed="rId20">
              <a:extLst>
                <a:ext uri="{96DAC541-7B7A-43D3-8B79-37D633B846F1}">
                  <asvg:svgBlip xmlns:asvg="http://schemas.microsoft.com/office/drawing/2016/SVG/main" r:embed="rId21"/>
                </a:ext>
              </a:extLst>
            </a:blip>
            <a:srcRect/>
            <a:stretch/>
          </p:blipFill>
          <p:spPr bwMode="auto">
            <a:xfrm>
              <a:off x="4106362" y="3839626"/>
              <a:ext cx="536494" cy="536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3" name="TextBox 11">
              <a:extLst>
                <a:ext uri="{FF2B5EF4-FFF2-40B4-BE49-F238E27FC236}">
                  <a16:creationId xmlns:a16="http://schemas.microsoft.com/office/drawing/2014/main" id="{97FC1AED-9F55-362A-BECC-54A4EBC00E08}"/>
                </a:ext>
              </a:extLst>
            </p:cNvPr>
            <p:cNvSpPr txBox="1">
              <a:spLocks noChangeArrowheads="1"/>
            </p:cNvSpPr>
            <p:nvPr/>
          </p:nvSpPr>
          <p:spPr bwMode="auto">
            <a:xfrm>
              <a:off x="3864463" y="4370518"/>
              <a:ext cx="102029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Cognito</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(ID Pool)</a:t>
              </a:r>
            </a:p>
          </p:txBody>
        </p:sp>
      </p:grpSp>
      <p:cxnSp>
        <p:nvCxnSpPr>
          <p:cNvPr id="263" name="Elbow Connector 22" descr="Elbow horizontal arrow pointing right (1).">
            <a:extLst>
              <a:ext uri="{FF2B5EF4-FFF2-40B4-BE49-F238E27FC236}">
                <a16:creationId xmlns:a16="http://schemas.microsoft.com/office/drawing/2014/main" id="{3A79DF2E-C947-1B54-BAB8-A7C52D96D4E8}"/>
              </a:ext>
            </a:extLst>
          </p:cNvPr>
          <p:cNvCxnSpPr>
            <a:cxnSpLocks/>
            <a:stCxn id="272" idx="0"/>
          </p:cNvCxnSpPr>
          <p:nvPr/>
        </p:nvCxnSpPr>
        <p:spPr>
          <a:xfrm rot="16200000" flipV="1">
            <a:off x="3030452" y="4557872"/>
            <a:ext cx="866319" cy="1384688"/>
          </a:xfrm>
          <a:prstGeom prst="bentConnector2">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pic>
        <p:nvPicPr>
          <p:cNvPr id="264" name="Graphic 86" descr="Temporary security credential resource icon for the IAM service.">
            <a:extLst>
              <a:ext uri="{FF2B5EF4-FFF2-40B4-BE49-F238E27FC236}">
                <a16:creationId xmlns:a16="http://schemas.microsoft.com/office/drawing/2014/main" id="{CB24C8C9-D30F-2B89-7F27-1683232F48CD}"/>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3663828" y="5053261"/>
            <a:ext cx="416212" cy="416212"/>
          </a:xfrm>
          <a:prstGeom prst="rect">
            <a:avLst/>
          </a:prstGeom>
        </p:spPr>
      </p:pic>
      <p:grpSp>
        <p:nvGrpSpPr>
          <p:cNvPr id="265" name="グループ化 264">
            <a:extLst>
              <a:ext uri="{FF2B5EF4-FFF2-40B4-BE49-F238E27FC236}">
                <a16:creationId xmlns:a16="http://schemas.microsoft.com/office/drawing/2014/main" id="{EFD49B79-8BB1-FCF8-2F20-5C08B777EA2B}"/>
              </a:ext>
            </a:extLst>
          </p:cNvPr>
          <p:cNvGrpSpPr/>
          <p:nvPr/>
        </p:nvGrpSpPr>
        <p:grpSpPr>
          <a:xfrm>
            <a:off x="5746251" y="1644835"/>
            <a:ext cx="1020292" cy="992557"/>
            <a:chOff x="3864463" y="3839626"/>
            <a:chExt cx="1020292" cy="992557"/>
          </a:xfrm>
        </p:grpSpPr>
        <p:pic>
          <p:nvPicPr>
            <p:cNvPr id="270" name="Graphic 17" descr="Amazon Cognito service icon.">
              <a:extLst>
                <a:ext uri="{FF2B5EF4-FFF2-40B4-BE49-F238E27FC236}">
                  <a16:creationId xmlns:a16="http://schemas.microsoft.com/office/drawing/2014/main" id="{1F4D6EDA-041B-B0C7-A2B0-D9426B672888}"/>
                </a:ext>
              </a:extLst>
            </p:cNvPr>
            <p:cNvPicPr>
              <a:picLocks noChangeAspect="1" noChangeArrowheads="1"/>
            </p:cNvPicPr>
            <p:nvPr/>
          </p:nvPicPr>
          <p:blipFill>
            <a:blip r:embed="rId20">
              <a:extLst>
                <a:ext uri="{96DAC541-7B7A-43D3-8B79-37D633B846F1}">
                  <asvg:svgBlip xmlns:asvg="http://schemas.microsoft.com/office/drawing/2016/SVG/main" r:embed="rId21"/>
                </a:ext>
              </a:extLst>
            </a:blip>
            <a:srcRect/>
            <a:stretch/>
          </p:blipFill>
          <p:spPr bwMode="auto">
            <a:xfrm>
              <a:off x="4106362" y="3839626"/>
              <a:ext cx="536494" cy="536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1" name="TextBox 11">
              <a:extLst>
                <a:ext uri="{FF2B5EF4-FFF2-40B4-BE49-F238E27FC236}">
                  <a16:creationId xmlns:a16="http://schemas.microsoft.com/office/drawing/2014/main" id="{CAA41797-132C-1E4F-2A91-8E92720D3A87}"/>
                </a:ext>
              </a:extLst>
            </p:cNvPr>
            <p:cNvSpPr txBox="1">
              <a:spLocks noChangeArrowheads="1"/>
            </p:cNvSpPr>
            <p:nvPr/>
          </p:nvSpPr>
          <p:spPr bwMode="auto">
            <a:xfrm>
              <a:off x="3864463" y="4370518"/>
              <a:ext cx="102029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Cognito (User Pool)</a:t>
              </a:r>
            </a:p>
          </p:txBody>
        </p:sp>
      </p:grpSp>
      <p:grpSp>
        <p:nvGrpSpPr>
          <p:cNvPr id="267" name="Group 1" descr="AWS Cloud group with AWS logo.">
            <a:extLst>
              <a:ext uri="{FF2B5EF4-FFF2-40B4-BE49-F238E27FC236}">
                <a16:creationId xmlns:a16="http://schemas.microsoft.com/office/drawing/2014/main" id="{2DF6A313-594F-76F8-211C-0704AC0CA016}"/>
              </a:ext>
            </a:extLst>
          </p:cNvPr>
          <p:cNvGrpSpPr/>
          <p:nvPr/>
        </p:nvGrpSpPr>
        <p:grpSpPr>
          <a:xfrm>
            <a:off x="3528572" y="926869"/>
            <a:ext cx="4825253" cy="5828334"/>
            <a:chOff x="355598" y="689579"/>
            <a:chExt cx="4825253" cy="3747374"/>
          </a:xfrm>
        </p:grpSpPr>
        <p:sp>
          <p:nvSpPr>
            <p:cNvPr id="268" name="Rectangle 54">
              <a:extLst>
                <a:ext uri="{FF2B5EF4-FFF2-40B4-BE49-F238E27FC236}">
                  <a16:creationId xmlns:a16="http://schemas.microsoft.com/office/drawing/2014/main" id="{1A59B4EC-4312-95C7-E3E8-D0560257A452}"/>
                </a:ext>
              </a:extLst>
            </p:cNvPr>
            <p:cNvSpPr/>
            <p:nvPr/>
          </p:nvSpPr>
          <p:spPr>
            <a:xfrm>
              <a:off x="355599" y="689579"/>
              <a:ext cx="4825252" cy="3747374"/>
            </a:xfrm>
            <a:prstGeom prst="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r>
                <a:rPr lang="en-US" sz="1200" dirty="0">
                  <a:solidFill>
                    <a:schemeClr val="tx1"/>
                  </a:solidFill>
                  <a:latin typeface="Arial" panose="020B0604020202020204" pitchFamily="34" charset="0"/>
                  <a:cs typeface="Arial" panose="020B0604020202020204" pitchFamily="34" charset="0"/>
                </a:rPr>
                <a:t>AWS Cloud</a:t>
              </a:r>
            </a:p>
          </p:txBody>
        </p:sp>
        <p:pic>
          <p:nvPicPr>
            <p:cNvPr id="269" name="Graphic 55" descr="AWS Cloud group icon with AWS logo.">
              <a:extLst>
                <a:ext uri="{FF2B5EF4-FFF2-40B4-BE49-F238E27FC236}">
                  <a16:creationId xmlns:a16="http://schemas.microsoft.com/office/drawing/2014/main" id="{0894C11B-8DC9-3D60-089C-DF40735DB315}"/>
                </a:ext>
              </a:extLst>
            </p:cNvPr>
            <p:cNvPicPr>
              <a:picLocks noChangeAspect="1"/>
            </p:cNvPicPr>
            <p:nvPr/>
          </p:nvPicPr>
          <p:blipFill>
            <a:blip r:embed="rId24">
              <a:extLst>
                <a:ext uri="{96DAC541-7B7A-43D3-8B79-37D633B846F1}">
                  <asvg:svgBlip xmlns:asvg="http://schemas.microsoft.com/office/drawing/2016/SVG/main" r:embed="rId25"/>
                </a:ext>
              </a:extLst>
            </a:blip>
            <a:srcRect/>
            <a:stretch/>
          </p:blipFill>
          <p:spPr>
            <a:xfrm>
              <a:off x="355598" y="695923"/>
              <a:ext cx="419750" cy="287318"/>
            </a:xfrm>
            <a:prstGeom prst="rect">
              <a:avLst/>
            </a:prstGeom>
          </p:spPr>
        </p:pic>
      </p:grpSp>
      <p:sp>
        <p:nvSpPr>
          <p:cNvPr id="228" name="Rectangle 103" descr="Generic group dashed.">
            <a:extLst>
              <a:ext uri="{FF2B5EF4-FFF2-40B4-BE49-F238E27FC236}">
                <a16:creationId xmlns:a16="http://schemas.microsoft.com/office/drawing/2014/main" id="{766AE2D0-5525-BEBF-9A0A-507E72A39CE8}"/>
              </a:ext>
            </a:extLst>
          </p:cNvPr>
          <p:cNvSpPr/>
          <p:nvPr/>
        </p:nvSpPr>
        <p:spPr>
          <a:xfrm>
            <a:off x="690522" y="2075537"/>
            <a:ext cx="2621698" cy="1720079"/>
          </a:xfrm>
          <a:prstGeom prst="rect">
            <a:avLst/>
          </a:prstGeom>
          <a:noFill/>
          <a:ln w="15875">
            <a:solidFill>
              <a:srgbClr val="7D8998"/>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a:defRPr/>
            </a:pPr>
            <a:r>
              <a:rPr lang="ja-JP" altLang="en-US" sz="1200" dirty="0">
                <a:solidFill>
                  <a:schemeClr val="tx1"/>
                </a:solidFill>
                <a:latin typeface="Arial" panose="020B0604020202020204" pitchFamily="34" charset="0"/>
                <a:cs typeface="Arial" panose="020B0604020202020204" pitchFamily="34" charset="0"/>
              </a:rPr>
              <a:t>教員部屋（</a:t>
            </a:r>
            <a:r>
              <a:rPr lang="en-US" altLang="ja-JP" sz="1200" dirty="0">
                <a:solidFill>
                  <a:schemeClr val="tx1"/>
                </a:solidFill>
                <a:latin typeface="Arial" panose="020B0604020202020204" pitchFamily="34" charset="0"/>
                <a:cs typeface="Arial" panose="020B0604020202020204" pitchFamily="34" charset="0"/>
              </a:rPr>
              <a:t>J1404</a:t>
            </a:r>
            <a:r>
              <a:rPr lang="ja-JP" altLang="en-US" sz="1200" dirty="0">
                <a:solidFill>
                  <a:schemeClr val="tx1"/>
                </a:solidFill>
                <a:latin typeface="Arial" panose="020B0604020202020204" pitchFamily="34" charset="0"/>
                <a:cs typeface="Arial" panose="020B0604020202020204" pitchFamily="34" charset="0"/>
              </a:rPr>
              <a:t>）</a:t>
            </a:r>
            <a:endParaRPr lang="en-US" sz="1200" dirty="0">
              <a:solidFill>
                <a:schemeClr val="tx1"/>
              </a:solidFill>
              <a:latin typeface="Arial" panose="020B0604020202020204" pitchFamily="34" charset="0"/>
              <a:cs typeface="Arial" panose="020B0604020202020204" pitchFamily="34" charset="0"/>
            </a:endParaRPr>
          </a:p>
        </p:txBody>
      </p:sp>
      <p:pic>
        <p:nvPicPr>
          <p:cNvPr id="302" name="グラフィックス 301">
            <a:extLst>
              <a:ext uri="{FF2B5EF4-FFF2-40B4-BE49-F238E27FC236}">
                <a16:creationId xmlns:a16="http://schemas.microsoft.com/office/drawing/2014/main" id="{F7FC28A0-AA41-C254-7250-A224989A693F}"/>
              </a:ext>
            </a:extLst>
          </p:cNvPr>
          <p:cNvPicPr>
            <a:picLocks noChangeAspect="1"/>
          </p:cNvPicPr>
          <p:nvPr/>
        </p:nvPicPr>
        <p:blipFill>
          <a:blip r:embed="rId26">
            <a:grayscl/>
            <a:extLst>
              <a:ext uri="{96DAC541-7B7A-43D3-8B79-37D633B846F1}">
                <asvg:svgBlip xmlns:asvg="http://schemas.microsoft.com/office/drawing/2016/SVG/main" r:embed="rId27"/>
              </a:ext>
            </a:extLst>
          </a:blip>
          <a:srcRect l="25148" t="16203" r="25948" b="16205"/>
          <a:stretch/>
        </p:blipFill>
        <p:spPr>
          <a:xfrm>
            <a:off x="1029996" y="2508789"/>
            <a:ext cx="580096" cy="801769"/>
          </a:xfrm>
          <a:prstGeom prst="rect">
            <a:avLst/>
          </a:prstGeom>
        </p:spPr>
      </p:pic>
      <p:cxnSp>
        <p:nvCxnSpPr>
          <p:cNvPr id="303" name="Straight Arrow Connector 100">
            <a:extLst>
              <a:ext uri="{FF2B5EF4-FFF2-40B4-BE49-F238E27FC236}">
                <a16:creationId xmlns:a16="http://schemas.microsoft.com/office/drawing/2014/main" id="{70E2A965-5423-63AD-D4B2-5DE8B5EA17C3}"/>
              </a:ext>
            </a:extLst>
          </p:cNvPr>
          <p:cNvCxnSpPr>
            <a:cxnSpLocks/>
            <a:stCxn id="302" idx="3"/>
          </p:cNvCxnSpPr>
          <p:nvPr/>
        </p:nvCxnSpPr>
        <p:spPr>
          <a:xfrm>
            <a:off x="1610092" y="2909674"/>
            <a:ext cx="631375" cy="597"/>
          </a:xfrm>
          <a:prstGeom prst="straightConnector1">
            <a:avLst/>
          </a:prstGeom>
          <a:ln w="19050">
            <a:solidFill>
              <a:schemeClr val="tx1"/>
            </a:solidFill>
            <a:headEnd type="none" w="med" len="sm"/>
            <a:tailEnd type="none" w="med" len="sm"/>
          </a:ln>
        </p:spPr>
        <p:style>
          <a:lnRef idx="1">
            <a:schemeClr val="accent1"/>
          </a:lnRef>
          <a:fillRef idx="0">
            <a:schemeClr val="accent1"/>
          </a:fillRef>
          <a:effectRef idx="0">
            <a:schemeClr val="accent1"/>
          </a:effectRef>
          <a:fontRef idx="minor">
            <a:schemeClr val="tx1"/>
          </a:fontRef>
        </p:style>
      </p:cxnSp>
      <p:sp>
        <p:nvSpPr>
          <p:cNvPr id="306" name="Rectangle 103" descr="Generic group dashed.">
            <a:extLst>
              <a:ext uri="{FF2B5EF4-FFF2-40B4-BE49-F238E27FC236}">
                <a16:creationId xmlns:a16="http://schemas.microsoft.com/office/drawing/2014/main" id="{73E88B79-B6D0-6C2A-8ACF-0978851B20C3}"/>
              </a:ext>
            </a:extLst>
          </p:cNvPr>
          <p:cNvSpPr/>
          <p:nvPr/>
        </p:nvSpPr>
        <p:spPr>
          <a:xfrm>
            <a:off x="690522" y="3933107"/>
            <a:ext cx="2615365" cy="2822096"/>
          </a:xfrm>
          <a:prstGeom prst="rect">
            <a:avLst/>
          </a:prstGeom>
          <a:noFill/>
          <a:ln w="15875">
            <a:solidFill>
              <a:srgbClr val="7D8998"/>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a:defRPr/>
            </a:pPr>
            <a:r>
              <a:rPr lang="ja-JP" altLang="en-US" sz="1200" dirty="0">
                <a:solidFill>
                  <a:schemeClr val="tx1"/>
                </a:solidFill>
                <a:latin typeface="Arial" panose="020B0604020202020204" pitchFamily="34" charset="0"/>
                <a:cs typeface="Arial" panose="020B0604020202020204" pitchFamily="34" charset="0"/>
              </a:rPr>
              <a:t>学生部屋（</a:t>
            </a:r>
            <a:r>
              <a:rPr lang="en-US" altLang="ja-JP" sz="1200" dirty="0">
                <a:solidFill>
                  <a:schemeClr val="tx1"/>
                </a:solidFill>
                <a:latin typeface="Arial" panose="020B0604020202020204" pitchFamily="34" charset="0"/>
                <a:cs typeface="Arial" panose="020B0604020202020204" pitchFamily="34" charset="0"/>
              </a:rPr>
              <a:t>J1401</a:t>
            </a:r>
            <a:r>
              <a:rPr lang="ja-JP" altLang="en-US" sz="1200" dirty="0">
                <a:solidFill>
                  <a:schemeClr val="tx1"/>
                </a:solidFill>
                <a:latin typeface="Arial" panose="020B0604020202020204" pitchFamily="34" charset="0"/>
                <a:cs typeface="Arial" panose="020B0604020202020204" pitchFamily="34" charset="0"/>
              </a:rPr>
              <a:t>）</a:t>
            </a:r>
            <a:endParaRPr lang="en-US" sz="1200" dirty="0">
              <a:solidFill>
                <a:schemeClr val="tx1"/>
              </a:solidFill>
              <a:latin typeface="Arial" panose="020B0604020202020204" pitchFamily="34" charset="0"/>
              <a:cs typeface="Arial" panose="020B0604020202020204" pitchFamily="34" charset="0"/>
            </a:endParaRPr>
          </a:p>
        </p:txBody>
      </p:sp>
      <p:pic>
        <p:nvPicPr>
          <p:cNvPr id="307" name="グラフィックス 306">
            <a:extLst>
              <a:ext uri="{FF2B5EF4-FFF2-40B4-BE49-F238E27FC236}">
                <a16:creationId xmlns:a16="http://schemas.microsoft.com/office/drawing/2014/main" id="{F43FAF96-CB1B-A995-EBF3-62CC9D94FAE3}"/>
              </a:ext>
            </a:extLst>
          </p:cNvPr>
          <p:cNvPicPr>
            <a:picLocks noChangeAspect="1"/>
          </p:cNvPicPr>
          <p:nvPr/>
        </p:nvPicPr>
        <p:blipFill>
          <a:blip r:embed="rId26">
            <a:grayscl/>
            <a:extLst>
              <a:ext uri="{96DAC541-7B7A-43D3-8B79-37D633B846F1}">
                <asvg:svgBlip xmlns:asvg="http://schemas.microsoft.com/office/drawing/2016/SVG/main" r:embed="rId27"/>
              </a:ext>
            </a:extLst>
          </a:blip>
          <a:srcRect l="25148" t="16203" r="25948" b="16205"/>
          <a:stretch/>
        </p:blipFill>
        <p:spPr>
          <a:xfrm rot="16200000">
            <a:off x="1042395" y="5874413"/>
            <a:ext cx="599552" cy="828660"/>
          </a:xfrm>
          <a:prstGeom prst="rect">
            <a:avLst/>
          </a:prstGeom>
        </p:spPr>
      </p:pic>
      <p:cxnSp>
        <p:nvCxnSpPr>
          <p:cNvPr id="325" name="Straight Arrow Connector 52" descr="Double pointing horizontal arrow.">
            <a:extLst>
              <a:ext uri="{FF2B5EF4-FFF2-40B4-BE49-F238E27FC236}">
                <a16:creationId xmlns:a16="http://schemas.microsoft.com/office/drawing/2014/main" id="{FD325954-A377-48BB-CE89-E57CCCFD34DE}"/>
              </a:ext>
            </a:extLst>
          </p:cNvPr>
          <p:cNvCxnSpPr>
            <a:cxnSpLocks/>
            <a:stCxn id="296" idx="3"/>
            <a:endCxn id="294" idx="1"/>
          </p:cNvCxnSpPr>
          <p:nvPr/>
        </p:nvCxnSpPr>
        <p:spPr>
          <a:xfrm flipV="1">
            <a:off x="5349458" y="4650632"/>
            <a:ext cx="638693" cy="308"/>
          </a:xfrm>
          <a:prstGeom prst="straightConnector1">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329" name="Straight Arrow Connector 52" descr="Double pointing horizontal arrow.">
            <a:extLst>
              <a:ext uri="{FF2B5EF4-FFF2-40B4-BE49-F238E27FC236}">
                <a16:creationId xmlns:a16="http://schemas.microsoft.com/office/drawing/2014/main" id="{3416490B-D9A1-730E-B4B6-152D9CE8634F}"/>
              </a:ext>
            </a:extLst>
          </p:cNvPr>
          <p:cNvCxnSpPr>
            <a:cxnSpLocks/>
            <a:stCxn id="290" idx="0"/>
            <a:endCxn id="297" idx="2"/>
          </p:cNvCxnSpPr>
          <p:nvPr/>
        </p:nvCxnSpPr>
        <p:spPr>
          <a:xfrm flipH="1" flipV="1">
            <a:off x="5081211" y="5380852"/>
            <a:ext cx="3010" cy="315777"/>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332" name="Straight Arrow Connector 52" descr="Double pointing horizontal arrow.">
            <a:extLst>
              <a:ext uri="{FF2B5EF4-FFF2-40B4-BE49-F238E27FC236}">
                <a16:creationId xmlns:a16="http://schemas.microsoft.com/office/drawing/2014/main" id="{CA2AE9FB-51F7-4C8D-7E92-0A89E84499E2}"/>
              </a:ext>
            </a:extLst>
          </p:cNvPr>
          <p:cNvCxnSpPr>
            <a:cxnSpLocks/>
            <a:stCxn id="294" idx="3"/>
            <a:endCxn id="298" idx="1"/>
          </p:cNvCxnSpPr>
          <p:nvPr/>
        </p:nvCxnSpPr>
        <p:spPr>
          <a:xfrm>
            <a:off x="6524645" y="4650632"/>
            <a:ext cx="640661" cy="2899"/>
          </a:xfrm>
          <a:prstGeom prst="straightConnector1">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335" name="Straight Arrow Connector 52" descr="Double pointing horizontal arrow.">
            <a:extLst>
              <a:ext uri="{FF2B5EF4-FFF2-40B4-BE49-F238E27FC236}">
                <a16:creationId xmlns:a16="http://schemas.microsoft.com/office/drawing/2014/main" id="{57BC2BA1-7E36-2DEA-1F96-8453E538DF55}"/>
              </a:ext>
            </a:extLst>
          </p:cNvPr>
          <p:cNvCxnSpPr>
            <a:cxnSpLocks/>
            <a:stCxn id="282" idx="0"/>
            <a:endCxn id="295" idx="2"/>
          </p:cNvCxnSpPr>
          <p:nvPr/>
        </p:nvCxnSpPr>
        <p:spPr>
          <a:xfrm flipV="1">
            <a:off x="6257001" y="5195318"/>
            <a:ext cx="3868" cy="496800"/>
          </a:xfrm>
          <a:prstGeom prst="straightConnector1">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341" name="Straight Arrow Connector 52" descr="Double pointing horizontal arrow.">
            <a:extLst>
              <a:ext uri="{FF2B5EF4-FFF2-40B4-BE49-F238E27FC236}">
                <a16:creationId xmlns:a16="http://schemas.microsoft.com/office/drawing/2014/main" id="{E4BFA317-9EFF-38C7-1BE7-DDF2BBB0C61C}"/>
              </a:ext>
            </a:extLst>
          </p:cNvPr>
          <p:cNvCxnSpPr>
            <a:cxnSpLocks/>
            <a:stCxn id="274" idx="3"/>
            <a:endCxn id="280" idx="1"/>
          </p:cNvCxnSpPr>
          <p:nvPr/>
        </p:nvCxnSpPr>
        <p:spPr>
          <a:xfrm>
            <a:off x="5351243" y="2913519"/>
            <a:ext cx="636909" cy="1957"/>
          </a:xfrm>
          <a:prstGeom prst="straightConnector1">
            <a:avLst/>
          </a:prstGeom>
          <a:ln w="15875">
            <a:solidFill>
              <a:schemeClr val="tx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grpSp>
        <p:nvGrpSpPr>
          <p:cNvPr id="345" name="グループ化 344">
            <a:extLst>
              <a:ext uri="{FF2B5EF4-FFF2-40B4-BE49-F238E27FC236}">
                <a16:creationId xmlns:a16="http://schemas.microsoft.com/office/drawing/2014/main" id="{6D0F3D30-2E57-A04C-D130-1A19703806E2}"/>
              </a:ext>
            </a:extLst>
          </p:cNvPr>
          <p:cNvGrpSpPr/>
          <p:nvPr/>
        </p:nvGrpSpPr>
        <p:grpSpPr>
          <a:xfrm>
            <a:off x="7023122" y="2645832"/>
            <a:ext cx="820861" cy="812933"/>
            <a:chOff x="5051089" y="1185069"/>
            <a:chExt cx="1165896" cy="1154637"/>
          </a:xfrm>
        </p:grpSpPr>
        <p:pic>
          <p:nvPicPr>
            <p:cNvPr id="346" name="Graphic 10" descr="AWS Lambda service icon.">
              <a:extLst>
                <a:ext uri="{FF2B5EF4-FFF2-40B4-BE49-F238E27FC236}">
                  <a16:creationId xmlns:a16="http://schemas.microsoft.com/office/drawing/2014/main" id="{D7489146-6D47-2A82-BAC6-4BCCD8453C1A}"/>
                </a:ext>
              </a:extLst>
            </p:cNvPr>
            <p:cNvPicPr>
              <a:picLocks noChangeAspect="1" noChangeArrowheads="1"/>
            </p:cNvPicPr>
            <p:nvPr/>
          </p:nvPicPr>
          <p:blipFill>
            <a:blip r:embed="rId6">
              <a:extLst>
                <a:ext uri="{96DAC541-7B7A-43D3-8B79-37D633B846F1}">
                  <asvg:svgBlip xmlns:asvg="http://schemas.microsoft.com/office/drawing/2016/SVG/main" r:embed="rId7"/>
                </a:ext>
              </a:extLst>
            </a:blip>
            <a:srcRect/>
            <a:stretch/>
          </p:blipFill>
          <p:spPr bwMode="auto">
            <a:xfrm>
              <a:off x="5246688" y="1185069"/>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7" name="TextBox 20">
              <a:extLst>
                <a:ext uri="{FF2B5EF4-FFF2-40B4-BE49-F238E27FC236}">
                  <a16:creationId xmlns:a16="http://schemas.microsoft.com/office/drawing/2014/main" id="{6B38A649-6AA6-8391-343B-F16AA0B25180}"/>
                </a:ext>
              </a:extLst>
            </p:cNvPr>
            <p:cNvSpPr txBox="1">
              <a:spLocks noChangeArrowheads="1"/>
            </p:cNvSpPr>
            <p:nvPr/>
          </p:nvSpPr>
          <p:spPr bwMode="auto">
            <a:xfrm>
              <a:off x="5051089" y="1946275"/>
              <a:ext cx="1165896" cy="393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Lambda</a:t>
              </a:r>
            </a:p>
          </p:txBody>
        </p:sp>
      </p:grpSp>
      <p:cxnSp>
        <p:nvCxnSpPr>
          <p:cNvPr id="348" name="Straight Arrow Connector 52" descr="Double pointing horizontal arrow.">
            <a:extLst>
              <a:ext uri="{FF2B5EF4-FFF2-40B4-BE49-F238E27FC236}">
                <a16:creationId xmlns:a16="http://schemas.microsoft.com/office/drawing/2014/main" id="{E9B9DC85-08E6-54ED-8DD9-7AB2878404E1}"/>
              </a:ext>
            </a:extLst>
          </p:cNvPr>
          <p:cNvCxnSpPr>
            <a:cxnSpLocks/>
            <a:stCxn id="280" idx="3"/>
            <a:endCxn id="346" idx="1"/>
          </p:cNvCxnSpPr>
          <p:nvPr/>
        </p:nvCxnSpPr>
        <p:spPr>
          <a:xfrm flipV="1">
            <a:off x="6524646" y="2914079"/>
            <a:ext cx="636189" cy="1397"/>
          </a:xfrm>
          <a:prstGeom prst="straightConnector1">
            <a:avLst/>
          </a:prstGeom>
          <a:ln w="15875">
            <a:solidFill>
              <a:schemeClr val="tx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cxnSp>
        <p:nvCxnSpPr>
          <p:cNvPr id="351" name="Straight Arrow Connector 52" descr="Double pointing horizontal arrow.">
            <a:extLst>
              <a:ext uri="{FF2B5EF4-FFF2-40B4-BE49-F238E27FC236}">
                <a16:creationId xmlns:a16="http://schemas.microsoft.com/office/drawing/2014/main" id="{C8F397F2-A5B1-0401-FED5-71E9B40E9B99}"/>
              </a:ext>
            </a:extLst>
          </p:cNvPr>
          <p:cNvCxnSpPr>
            <a:cxnSpLocks/>
            <a:stCxn id="275" idx="2"/>
            <a:endCxn id="296" idx="0"/>
          </p:cNvCxnSpPr>
          <p:nvPr/>
        </p:nvCxnSpPr>
        <p:spPr>
          <a:xfrm flipH="1">
            <a:off x="5081211" y="3458765"/>
            <a:ext cx="1785" cy="923928"/>
          </a:xfrm>
          <a:prstGeom prst="straightConnector1">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sp>
        <p:nvSpPr>
          <p:cNvPr id="257" name="テキスト ボックス 256">
            <a:extLst>
              <a:ext uri="{FF2B5EF4-FFF2-40B4-BE49-F238E27FC236}">
                <a16:creationId xmlns:a16="http://schemas.microsoft.com/office/drawing/2014/main" id="{55E881CD-63B4-E391-279D-63349DE252BB}"/>
              </a:ext>
            </a:extLst>
          </p:cNvPr>
          <p:cNvSpPr txBox="1"/>
          <p:nvPr/>
        </p:nvSpPr>
        <p:spPr>
          <a:xfrm>
            <a:off x="4360260" y="3860479"/>
            <a:ext cx="2390492" cy="276999"/>
          </a:xfrm>
          <a:prstGeom prst="rect">
            <a:avLst/>
          </a:prstGeom>
          <a:solidFill>
            <a:srgbClr val="EFECE3"/>
          </a:solidFill>
        </p:spPr>
        <p:txBody>
          <a:bodyPr wrap="square" rtlCol="0">
            <a:spAutoFit/>
          </a:bodyPr>
          <a:lstStyle/>
          <a:p>
            <a:r>
              <a:rPr lang="ja-JP" altLang="en-US" sz="1200" b="1" dirty="0">
                <a:latin typeface="BIZ UDゴシック" panose="020B0400000000000000" pitchFamily="49" charset="-128"/>
                <a:ea typeface="BIZ UDゴシック" panose="020B0400000000000000" pitchFamily="49" charset="-128"/>
              </a:rPr>
              <a:t>ユーザー・在室登録サービス</a:t>
            </a:r>
            <a:endParaRPr kumimoji="1" lang="ja-JP" altLang="en-US" sz="1200" b="1" dirty="0">
              <a:latin typeface="BIZ UDゴシック" panose="020B0400000000000000" pitchFamily="49" charset="-128"/>
              <a:ea typeface="BIZ UDゴシック" panose="020B0400000000000000" pitchFamily="49" charset="-128"/>
            </a:endParaRPr>
          </a:p>
        </p:txBody>
      </p:sp>
      <p:grpSp>
        <p:nvGrpSpPr>
          <p:cNvPr id="361" name="グループ化 360">
            <a:extLst>
              <a:ext uri="{FF2B5EF4-FFF2-40B4-BE49-F238E27FC236}">
                <a16:creationId xmlns:a16="http://schemas.microsoft.com/office/drawing/2014/main" id="{8493AE3E-3497-C0A6-1813-45251AF94D31}"/>
              </a:ext>
            </a:extLst>
          </p:cNvPr>
          <p:cNvGrpSpPr/>
          <p:nvPr/>
        </p:nvGrpSpPr>
        <p:grpSpPr>
          <a:xfrm>
            <a:off x="7397897" y="3458765"/>
            <a:ext cx="71896" cy="901612"/>
            <a:chOff x="6937330" y="3141097"/>
            <a:chExt cx="71896" cy="901612"/>
          </a:xfrm>
        </p:grpSpPr>
        <p:cxnSp>
          <p:nvCxnSpPr>
            <p:cNvPr id="354" name="Straight Arrow Connector 52" descr="Double pointing horizontal arrow.">
              <a:extLst>
                <a:ext uri="{FF2B5EF4-FFF2-40B4-BE49-F238E27FC236}">
                  <a16:creationId xmlns:a16="http://schemas.microsoft.com/office/drawing/2014/main" id="{793F50A0-8628-C49C-56E1-CB9E7C50DAF5}"/>
                </a:ext>
              </a:extLst>
            </p:cNvPr>
            <p:cNvCxnSpPr>
              <a:cxnSpLocks/>
              <a:stCxn id="360" idx="0"/>
              <a:endCxn id="347" idx="2"/>
            </p:cNvCxnSpPr>
            <p:nvPr/>
          </p:nvCxnSpPr>
          <p:spPr>
            <a:xfrm flipH="1" flipV="1">
              <a:off x="6972986" y="3141097"/>
              <a:ext cx="292" cy="829716"/>
            </a:xfrm>
            <a:prstGeom prst="straightConnector1">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sp>
          <p:nvSpPr>
            <p:cNvPr id="360" name="楕円 359">
              <a:extLst>
                <a:ext uri="{FF2B5EF4-FFF2-40B4-BE49-F238E27FC236}">
                  <a16:creationId xmlns:a16="http://schemas.microsoft.com/office/drawing/2014/main" id="{13E5B3A3-8EF6-E6C0-BCDD-534BAF4A5607}"/>
                </a:ext>
              </a:extLst>
            </p:cNvPr>
            <p:cNvSpPr/>
            <p:nvPr/>
          </p:nvSpPr>
          <p:spPr>
            <a:xfrm>
              <a:off x="6937330" y="3970813"/>
              <a:ext cx="71896" cy="71896"/>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62" name="TextBox 9">
            <a:extLst>
              <a:ext uri="{FF2B5EF4-FFF2-40B4-BE49-F238E27FC236}">
                <a16:creationId xmlns:a16="http://schemas.microsoft.com/office/drawing/2014/main" id="{B6F6D52C-9561-25B0-DE21-B6DB89876E61}"/>
              </a:ext>
            </a:extLst>
          </p:cNvPr>
          <p:cNvSpPr txBox="1">
            <a:spLocks noChangeArrowheads="1"/>
          </p:cNvSpPr>
          <p:nvPr/>
        </p:nvSpPr>
        <p:spPr bwMode="auto">
          <a:xfrm>
            <a:off x="7385849" y="3789686"/>
            <a:ext cx="76250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Stream</a:t>
            </a:r>
          </a:p>
        </p:txBody>
      </p:sp>
      <p:cxnSp>
        <p:nvCxnSpPr>
          <p:cNvPr id="369" name="Straight Arrow Connector 52" descr="Double pointing horizontal arrow.">
            <a:extLst>
              <a:ext uri="{FF2B5EF4-FFF2-40B4-BE49-F238E27FC236}">
                <a16:creationId xmlns:a16="http://schemas.microsoft.com/office/drawing/2014/main" id="{AAE1EF44-4DF8-E384-C7E5-32E9E9DA7E77}"/>
              </a:ext>
            </a:extLst>
          </p:cNvPr>
          <p:cNvCxnSpPr>
            <a:cxnSpLocks/>
            <a:stCxn id="274" idx="1"/>
          </p:cNvCxnSpPr>
          <p:nvPr/>
        </p:nvCxnSpPr>
        <p:spPr>
          <a:xfrm flipH="1" flipV="1">
            <a:off x="2777961" y="2910271"/>
            <a:ext cx="2036788" cy="3248"/>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372" name="Straight Arrow Connector 52" descr="Double pointing horizontal arrow.">
            <a:extLst>
              <a:ext uri="{FF2B5EF4-FFF2-40B4-BE49-F238E27FC236}">
                <a16:creationId xmlns:a16="http://schemas.microsoft.com/office/drawing/2014/main" id="{1A7165CE-1F4B-6D38-D41D-43DCC3BD720E}"/>
              </a:ext>
            </a:extLst>
          </p:cNvPr>
          <p:cNvCxnSpPr>
            <a:cxnSpLocks/>
            <a:stCxn id="286" idx="1"/>
            <a:endCxn id="307" idx="2"/>
          </p:cNvCxnSpPr>
          <p:nvPr/>
        </p:nvCxnSpPr>
        <p:spPr>
          <a:xfrm flipH="1">
            <a:off x="1756501" y="6288743"/>
            <a:ext cx="294775" cy="0"/>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sp>
        <p:nvSpPr>
          <p:cNvPr id="380" name="Rectangle 103" descr="Generic group dashed.">
            <a:extLst>
              <a:ext uri="{FF2B5EF4-FFF2-40B4-BE49-F238E27FC236}">
                <a16:creationId xmlns:a16="http://schemas.microsoft.com/office/drawing/2014/main" id="{1EFEFE9C-67F2-AF26-0C75-3F7B9BF2DBD4}"/>
              </a:ext>
            </a:extLst>
          </p:cNvPr>
          <p:cNvSpPr/>
          <p:nvPr/>
        </p:nvSpPr>
        <p:spPr>
          <a:xfrm>
            <a:off x="4457026" y="1552760"/>
            <a:ext cx="3541821" cy="2158934"/>
          </a:xfrm>
          <a:prstGeom prst="rect">
            <a:avLst/>
          </a:prstGeom>
          <a:noFill/>
          <a:ln w="15875">
            <a:solidFill>
              <a:srgbClr val="7D8998"/>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eaLnBrk="1" fontAlgn="auto" hangingPunct="1">
              <a:spcBef>
                <a:spcPts val="0"/>
              </a:spcBef>
              <a:spcAft>
                <a:spcPts val="0"/>
              </a:spcAft>
              <a:defRPr/>
            </a:pPr>
            <a:endParaRPr lang="en-US" sz="1200" dirty="0">
              <a:solidFill>
                <a:schemeClr val="tx1"/>
              </a:solidFill>
              <a:latin typeface="Arial" panose="020B0604020202020204" pitchFamily="34" charset="0"/>
              <a:cs typeface="Arial" panose="020B0604020202020204" pitchFamily="34" charset="0"/>
            </a:endParaRPr>
          </a:p>
        </p:txBody>
      </p:sp>
      <p:sp>
        <p:nvSpPr>
          <p:cNvPr id="256" name="テキスト ボックス 255">
            <a:extLst>
              <a:ext uri="{FF2B5EF4-FFF2-40B4-BE49-F238E27FC236}">
                <a16:creationId xmlns:a16="http://schemas.microsoft.com/office/drawing/2014/main" id="{BCE82016-FF41-DD46-0EC2-7775B7A55023}"/>
              </a:ext>
            </a:extLst>
          </p:cNvPr>
          <p:cNvSpPr txBox="1"/>
          <p:nvPr/>
        </p:nvSpPr>
        <p:spPr>
          <a:xfrm>
            <a:off x="4355739" y="1260339"/>
            <a:ext cx="2390492" cy="276999"/>
          </a:xfrm>
          <a:prstGeom prst="rect">
            <a:avLst/>
          </a:prstGeom>
          <a:solidFill>
            <a:srgbClr val="EFECE3"/>
          </a:solidFill>
        </p:spPr>
        <p:txBody>
          <a:bodyPr wrap="square" rtlCol="0">
            <a:spAutoFit/>
          </a:bodyPr>
          <a:lstStyle/>
          <a:p>
            <a:r>
              <a:rPr lang="ja-JP" altLang="en-US" sz="1200" b="1" dirty="0">
                <a:latin typeface="BIZ UDゴシック" panose="020B0400000000000000" pitchFamily="49" charset="-128"/>
                <a:ea typeface="BIZ UDゴシック" panose="020B0400000000000000" pitchFamily="49" charset="-128"/>
              </a:rPr>
              <a:t>ユーザー・在室表示サービス</a:t>
            </a:r>
            <a:endParaRPr kumimoji="1" lang="ja-JP" altLang="en-US" sz="1200" b="1" dirty="0">
              <a:latin typeface="BIZ UDゴシック" panose="020B0400000000000000" pitchFamily="49" charset="-128"/>
              <a:ea typeface="BIZ UDゴシック" panose="020B0400000000000000" pitchFamily="49" charset="-128"/>
            </a:endParaRPr>
          </a:p>
        </p:txBody>
      </p:sp>
      <p:cxnSp>
        <p:nvCxnSpPr>
          <p:cNvPr id="388" name="Elbow Connector 22" descr="Elbow horizontal arrow pointing right (1).">
            <a:extLst>
              <a:ext uri="{FF2B5EF4-FFF2-40B4-BE49-F238E27FC236}">
                <a16:creationId xmlns:a16="http://schemas.microsoft.com/office/drawing/2014/main" id="{CFBAF1E6-30A8-68F2-9863-BD1D1FD785DC}"/>
              </a:ext>
            </a:extLst>
          </p:cNvPr>
          <p:cNvCxnSpPr>
            <a:cxnSpLocks/>
            <a:stCxn id="270" idx="1"/>
            <a:endCxn id="274" idx="0"/>
          </p:cNvCxnSpPr>
          <p:nvPr/>
        </p:nvCxnSpPr>
        <p:spPr>
          <a:xfrm rot="10800000" flipV="1">
            <a:off x="5082996" y="1913082"/>
            <a:ext cx="905154" cy="732190"/>
          </a:xfrm>
          <a:prstGeom prst="bentConnector2">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391" name="Elbow Connector 22" descr="Elbow horizontal arrow pointing right (1).">
            <a:extLst>
              <a:ext uri="{FF2B5EF4-FFF2-40B4-BE49-F238E27FC236}">
                <a16:creationId xmlns:a16="http://schemas.microsoft.com/office/drawing/2014/main" id="{9B171FB2-7B4D-DA08-2F63-0066A706D390}"/>
              </a:ext>
            </a:extLst>
          </p:cNvPr>
          <p:cNvCxnSpPr>
            <a:cxnSpLocks/>
            <a:stCxn id="274" idx="0"/>
            <a:endCxn id="270" idx="1"/>
          </p:cNvCxnSpPr>
          <p:nvPr/>
        </p:nvCxnSpPr>
        <p:spPr>
          <a:xfrm rot="5400000" flipH="1" flipV="1">
            <a:off x="5169478" y="1826600"/>
            <a:ext cx="732190" cy="905154"/>
          </a:xfrm>
          <a:prstGeom prst="bentConnector2">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394" name="Elbow Connector 22" descr="Elbow horizontal arrow pointing right (1).">
            <a:extLst>
              <a:ext uri="{FF2B5EF4-FFF2-40B4-BE49-F238E27FC236}">
                <a16:creationId xmlns:a16="http://schemas.microsoft.com/office/drawing/2014/main" id="{0A75B87F-D1BC-27A5-7078-A61F3F462904}"/>
              </a:ext>
            </a:extLst>
          </p:cNvPr>
          <p:cNvCxnSpPr>
            <a:cxnSpLocks/>
            <a:endCxn id="272" idx="0"/>
          </p:cNvCxnSpPr>
          <p:nvPr/>
        </p:nvCxnSpPr>
        <p:spPr>
          <a:xfrm>
            <a:off x="2781957" y="4817404"/>
            <a:ext cx="1373998" cy="865971"/>
          </a:xfrm>
          <a:prstGeom prst="bentConnector2">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sp>
        <p:nvSpPr>
          <p:cNvPr id="401" name="正方形/長方形 400">
            <a:extLst>
              <a:ext uri="{FF2B5EF4-FFF2-40B4-BE49-F238E27FC236}">
                <a16:creationId xmlns:a16="http://schemas.microsoft.com/office/drawing/2014/main" id="{B601A353-D575-1750-F720-D6382D522EA2}"/>
              </a:ext>
            </a:extLst>
          </p:cNvPr>
          <p:cNvSpPr/>
          <p:nvPr/>
        </p:nvSpPr>
        <p:spPr>
          <a:xfrm>
            <a:off x="3522240" y="926869"/>
            <a:ext cx="4831584" cy="5828334"/>
          </a:xfrm>
          <a:prstGeom prst="rect">
            <a:avLst/>
          </a:prstGeom>
          <a:solidFill>
            <a:srgbClr val="FFFFFF"/>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402" name="Picture 4" descr="AWS - inteltank">
            <a:extLst>
              <a:ext uri="{FF2B5EF4-FFF2-40B4-BE49-F238E27FC236}">
                <a16:creationId xmlns:a16="http://schemas.microsoft.com/office/drawing/2014/main" id="{781E5122-B6AF-BCC3-A043-7783B685FFF4}"/>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4836946" y="3069170"/>
            <a:ext cx="2211582" cy="1452274"/>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Raspberry icon - Free download on Iconfinder">
            <a:extLst>
              <a:ext uri="{FF2B5EF4-FFF2-40B4-BE49-F238E27FC236}">
                <a16:creationId xmlns:a16="http://schemas.microsoft.com/office/drawing/2014/main" id="{645308C2-C6EA-1886-D905-3EC36D26E261}"/>
              </a:ext>
            </a:extLst>
          </p:cNvPr>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2244769" y="4471085"/>
            <a:ext cx="544810" cy="54481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Raspberry icon - Free download on Iconfinder">
            <a:extLst>
              <a:ext uri="{FF2B5EF4-FFF2-40B4-BE49-F238E27FC236}">
                <a16:creationId xmlns:a16="http://schemas.microsoft.com/office/drawing/2014/main" id="{44F427AD-5C09-3394-05E0-039ED421CF92}"/>
              </a:ext>
            </a:extLst>
          </p:cNvPr>
          <p:cNvPicPr>
            <a:picLocks noChangeAspect="1" noChangeArrowheads="1"/>
          </p:cNvPicPr>
          <p:nvPr/>
        </p:nvPicPr>
        <p:blipFill>
          <a:blip r:embed="rId29">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244769" y="2641704"/>
            <a:ext cx="544810" cy="5448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4094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52AF519-C428-C06A-9302-9AC44AE52B71}"/>
              </a:ext>
            </a:extLst>
          </p:cNvPr>
          <p:cNvSpPr>
            <a:spLocks noGrp="1"/>
          </p:cNvSpPr>
          <p:nvPr>
            <p:ph type="title"/>
          </p:nvPr>
        </p:nvSpPr>
        <p:spPr/>
        <p:txBody>
          <a:bodyPr/>
          <a:lstStyle/>
          <a:p>
            <a:r>
              <a:rPr lang="ja-JP" altLang="en-US" dirty="0"/>
              <a:t>使用した</a:t>
            </a:r>
            <a:r>
              <a:rPr lang="en-US" altLang="ja-JP" dirty="0"/>
              <a:t>AWS</a:t>
            </a:r>
            <a:r>
              <a:rPr lang="ja-JP" altLang="en-US" dirty="0"/>
              <a:t>サービス一覧</a:t>
            </a:r>
            <a:endParaRPr kumimoji="1" lang="ja-JP" altLang="en-US" dirty="0"/>
          </a:p>
        </p:txBody>
      </p:sp>
      <p:grpSp>
        <p:nvGrpSpPr>
          <p:cNvPr id="40" name="グループ化 39">
            <a:extLst>
              <a:ext uri="{FF2B5EF4-FFF2-40B4-BE49-F238E27FC236}">
                <a16:creationId xmlns:a16="http://schemas.microsoft.com/office/drawing/2014/main" id="{B4469739-BC73-649C-F7B7-2F6CDD3C29DB}"/>
              </a:ext>
            </a:extLst>
          </p:cNvPr>
          <p:cNvGrpSpPr/>
          <p:nvPr/>
        </p:nvGrpSpPr>
        <p:grpSpPr>
          <a:xfrm>
            <a:off x="97802" y="1590610"/>
            <a:ext cx="8548346" cy="4853466"/>
            <a:chOff x="62423" y="1590610"/>
            <a:chExt cx="8548346" cy="4853466"/>
          </a:xfrm>
        </p:grpSpPr>
        <p:grpSp>
          <p:nvGrpSpPr>
            <p:cNvPr id="6" name="グループ化 5">
              <a:extLst>
                <a:ext uri="{FF2B5EF4-FFF2-40B4-BE49-F238E27FC236}">
                  <a16:creationId xmlns:a16="http://schemas.microsoft.com/office/drawing/2014/main" id="{DCD752F9-58F2-FA90-3B55-460A2B6647A4}"/>
                </a:ext>
              </a:extLst>
            </p:cNvPr>
            <p:cNvGrpSpPr/>
            <p:nvPr/>
          </p:nvGrpSpPr>
          <p:grpSpPr>
            <a:xfrm>
              <a:off x="84668" y="1590610"/>
              <a:ext cx="1883070" cy="872220"/>
              <a:chOff x="2249488" y="1184275"/>
              <a:chExt cx="2243137" cy="1038999"/>
            </a:xfrm>
          </p:grpSpPr>
          <p:pic>
            <p:nvPicPr>
              <p:cNvPr id="4" name="Graphic 10" descr="AWS Amplify service icon.">
                <a:extLst>
                  <a:ext uri="{FF2B5EF4-FFF2-40B4-BE49-F238E27FC236}">
                    <a16:creationId xmlns:a16="http://schemas.microsoft.com/office/drawing/2014/main" id="{60FA7226-7ADA-022C-443C-343840491A3E}"/>
                  </a:ext>
                </a:extLst>
              </p:cNvPr>
              <p:cNvPicPr>
                <a:picLocks noChangeAspect="1" noChangeArrowheads="1"/>
              </p:cNvPicPr>
              <p:nvPr/>
            </p:nvPicPr>
            <p:blipFill>
              <a:blip r:embed="rId2">
                <a:extLst>
                  <a:ext uri="{96DAC541-7B7A-43D3-8B79-37D633B846F1}">
                    <asvg:svgBlip xmlns:asvg="http://schemas.microsoft.com/office/drawing/2016/SVG/main" r:embed="rId3"/>
                  </a:ext>
                </a:extLst>
              </a:blip>
              <a:srcRect/>
              <a:stretch/>
            </p:blipFill>
            <p:spPr bwMode="auto">
              <a:xfrm>
                <a:off x="2989263" y="1184275"/>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6">
                <a:extLst>
                  <a:ext uri="{FF2B5EF4-FFF2-40B4-BE49-F238E27FC236}">
                    <a16:creationId xmlns:a16="http://schemas.microsoft.com/office/drawing/2014/main" id="{D402396E-C526-F14D-754A-9977975FC9F7}"/>
                  </a:ext>
                </a:extLst>
              </p:cNvPr>
              <p:cNvSpPr txBox="1">
                <a:spLocks noChangeArrowheads="1"/>
              </p:cNvSpPr>
              <p:nvPr/>
            </p:nvSpPr>
            <p:spPr bwMode="auto">
              <a:xfrm>
                <a:off x="2249488" y="1946275"/>
                <a:ext cx="224313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AWS Amplify</a:t>
                </a:r>
              </a:p>
            </p:txBody>
          </p:sp>
        </p:grpSp>
        <p:grpSp>
          <p:nvGrpSpPr>
            <p:cNvPr id="9" name="グループ化 8">
              <a:extLst>
                <a:ext uri="{FF2B5EF4-FFF2-40B4-BE49-F238E27FC236}">
                  <a16:creationId xmlns:a16="http://schemas.microsoft.com/office/drawing/2014/main" id="{A0B8B022-6498-9BAF-6533-6D332948E3A4}"/>
                </a:ext>
              </a:extLst>
            </p:cNvPr>
            <p:cNvGrpSpPr/>
            <p:nvPr/>
          </p:nvGrpSpPr>
          <p:grpSpPr>
            <a:xfrm>
              <a:off x="4456375" y="2938986"/>
              <a:ext cx="1924384" cy="872218"/>
              <a:chOff x="4487863" y="1184275"/>
              <a:chExt cx="2292350" cy="1038999"/>
            </a:xfrm>
          </p:grpSpPr>
          <p:pic>
            <p:nvPicPr>
              <p:cNvPr id="7" name="Graphic 17" descr="Amazon Cognito service icon.">
                <a:extLst>
                  <a:ext uri="{FF2B5EF4-FFF2-40B4-BE49-F238E27FC236}">
                    <a16:creationId xmlns:a16="http://schemas.microsoft.com/office/drawing/2014/main" id="{AAAB0E23-EDF7-0CC3-8932-3E2C6B77E4B9}"/>
                  </a:ext>
                </a:extLst>
              </p:cNvPr>
              <p:cNvPicPr>
                <a:picLocks noChangeAspect="1" noChangeArrowheads="1"/>
              </p:cNvPicPr>
              <p:nvPr/>
            </p:nvPicPr>
            <p:blipFill>
              <a:blip r:embed="rId4">
                <a:extLst>
                  <a:ext uri="{96DAC541-7B7A-43D3-8B79-37D633B846F1}">
                    <asvg:svgBlip xmlns:asvg="http://schemas.microsoft.com/office/drawing/2016/SVG/main" r:embed="rId5"/>
                  </a:ext>
                </a:extLst>
              </a:blip>
              <a:srcRect/>
              <a:stretch/>
            </p:blipFill>
            <p:spPr bwMode="auto">
              <a:xfrm>
                <a:off x="5245100" y="1184275"/>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11">
                <a:extLst>
                  <a:ext uri="{FF2B5EF4-FFF2-40B4-BE49-F238E27FC236}">
                    <a16:creationId xmlns:a16="http://schemas.microsoft.com/office/drawing/2014/main" id="{CA3C1467-A298-7126-3675-AE39C423D345}"/>
                  </a:ext>
                </a:extLst>
              </p:cNvPr>
              <p:cNvSpPr txBox="1">
                <a:spLocks noChangeArrowheads="1"/>
              </p:cNvSpPr>
              <p:nvPr/>
            </p:nvSpPr>
            <p:spPr bwMode="auto">
              <a:xfrm>
                <a:off x="4487863" y="1946275"/>
                <a:ext cx="229235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Amazon Cognito</a:t>
                </a:r>
              </a:p>
            </p:txBody>
          </p:sp>
        </p:grpSp>
        <p:grpSp>
          <p:nvGrpSpPr>
            <p:cNvPr id="12" name="グループ化 11">
              <a:extLst>
                <a:ext uri="{FF2B5EF4-FFF2-40B4-BE49-F238E27FC236}">
                  <a16:creationId xmlns:a16="http://schemas.microsoft.com/office/drawing/2014/main" id="{F60460B6-741F-F35E-6A73-5815D5D3D087}"/>
                </a:ext>
              </a:extLst>
            </p:cNvPr>
            <p:cNvGrpSpPr/>
            <p:nvPr/>
          </p:nvGrpSpPr>
          <p:grpSpPr>
            <a:xfrm>
              <a:off x="83874" y="2938985"/>
              <a:ext cx="1883070" cy="872220"/>
              <a:chOff x="2249488" y="1184275"/>
              <a:chExt cx="2243137" cy="1038999"/>
            </a:xfrm>
          </p:grpSpPr>
          <p:pic>
            <p:nvPicPr>
              <p:cNvPr id="10" name="Graphic 7" descr="Amazon API Gateway service icon.">
                <a:extLst>
                  <a:ext uri="{FF2B5EF4-FFF2-40B4-BE49-F238E27FC236}">
                    <a16:creationId xmlns:a16="http://schemas.microsoft.com/office/drawing/2014/main" id="{D93936BF-5CCF-9873-2DF3-9A329FFE2405}"/>
                  </a:ext>
                </a:extLst>
              </p:cNvPr>
              <p:cNvPicPr>
                <a:picLocks noChangeAspect="1" noChangeArrowheads="1"/>
              </p:cNvPicPr>
              <p:nvPr/>
            </p:nvPicPr>
            <p:blipFill>
              <a:blip r:embed="rId6">
                <a:extLst>
                  <a:ext uri="{96DAC541-7B7A-43D3-8B79-37D633B846F1}">
                    <asvg:svgBlip xmlns:asvg="http://schemas.microsoft.com/office/drawing/2016/SVG/main" r:embed="rId7"/>
                  </a:ext>
                </a:extLst>
              </a:blip>
              <a:srcRect/>
              <a:stretch/>
            </p:blipFill>
            <p:spPr bwMode="auto">
              <a:xfrm>
                <a:off x="2989263" y="1184275"/>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9">
                <a:extLst>
                  <a:ext uri="{FF2B5EF4-FFF2-40B4-BE49-F238E27FC236}">
                    <a16:creationId xmlns:a16="http://schemas.microsoft.com/office/drawing/2014/main" id="{3BCAB45B-34D3-6333-5DE9-40B69BE39B9E}"/>
                  </a:ext>
                </a:extLst>
              </p:cNvPr>
              <p:cNvSpPr txBox="1">
                <a:spLocks noChangeArrowheads="1"/>
              </p:cNvSpPr>
              <p:nvPr/>
            </p:nvSpPr>
            <p:spPr bwMode="auto">
              <a:xfrm>
                <a:off x="2249488" y="1946275"/>
                <a:ext cx="224313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Amazon API Gateway</a:t>
                </a:r>
              </a:p>
            </p:txBody>
          </p:sp>
        </p:grpSp>
        <p:grpSp>
          <p:nvGrpSpPr>
            <p:cNvPr id="15" name="グループ化 14">
              <a:extLst>
                <a:ext uri="{FF2B5EF4-FFF2-40B4-BE49-F238E27FC236}">
                  <a16:creationId xmlns:a16="http://schemas.microsoft.com/office/drawing/2014/main" id="{594118DD-CCEE-DEEC-22C5-3691E33EBFF5}"/>
                </a:ext>
              </a:extLst>
            </p:cNvPr>
            <p:cNvGrpSpPr/>
            <p:nvPr/>
          </p:nvGrpSpPr>
          <p:grpSpPr>
            <a:xfrm>
              <a:off x="62423" y="4253195"/>
              <a:ext cx="1924384" cy="871552"/>
              <a:chOff x="4487863" y="1185069"/>
              <a:chExt cx="2292350" cy="1038205"/>
            </a:xfrm>
          </p:grpSpPr>
          <p:pic>
            <p:nvPicPr>
              <p:cNvPr id="13" name="Graphic 10" descr="AWS Lambda service icon.">
                <a:extLst>
                  <a:ext uri="{FF2B5EF4-FFF2-40B4-BE49-F238E27FC236}">
                    <a16:creationId xmlns:a16="http://schemas.microsoft.com/office/drawing/2014/main" id="{8E6D9886-D694-4534-F760-21A955672921}"/>
                  </a:ext>
                </a:extLst>
              </p:cNvPr>
              <p:cNvPicPr>
                <a:picLocks noChangeAspect="1" noChangeArrowheads="1"/>
              </p:cNvPicPr>
              <p:nvPr/>
            </p:nvPicPr>
            <p:blipFill>
              <a:blip r:embed="rId8">
                <a:extLst>
                  <a:ext uri="{96DAC541-7B7A-43D3-8B79-37D633B846F1}">
                    <asvg:svgBlip xmlns:asvg="http://schemas.microsoft.com/office/drawing/2016/SVG/main" r:embed="rId9"/>
                  </a:ext>
                </a:extLst>
              </a:blip>
              <a:srcRect/>
              <a:stretch/>
            </p:blipFill>
            <p:spPr bwMode="auto">
              <a:xfrm>
                <a:off x="5246688" y="1185069"/>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Box 20">
                <a:extLst>
                  <a:ext uri="{FF2B5EF4-FFF2-40B4-BE49-F238E27FC236}">
                    <a16:creationId xmlns:a16="http://schemas.microsoft.com/office/drawing/2014/main" id="{C132B2FF-4CB3-C498-779B-1978DA441439}"/>
                  </a:ext>
                </a:extLst>
              </p:cNvPr>
              <p:cNvSpPr txBox="1">
                <a:spLocks noChangeArrowheads="1"/>
              </p:cNvSpPr>
              <p:nvPr/>
            </p:nvSpPr>
            <p:spPr bwMode="auto">
              <a:xfrm>
                <a:off x="4487863" y="1946275"/>
                <a:ext cx="229235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AWS Lambda</a:t>
                </a:r>
              </a:p>
            </p:txBody>
          </p:sp>
        </p:grpSp>
        <p:grpSp>
          <p:nvGrpSpPr>
            <p:cNvPr id="18" name="グループ化 17">
              <a:extLst>
                <a:ext uri="{FF2B5EF4-FFF2-40B4-BE49-F238E27FC236}">
                  <a16:creationId xmlns:a16="http://schemas.microsoft.com/office/drawing/2014/main" id="{398D7C91-191B-EE08-BBE1-ED09ADD21ACC}"/>
                </a:ext>
              </a:extLst>
            </p:cNvPr>
            <p:cNvGrpSpPr/>
            <p:nvPr/>
          </p:nvGrpSpPr>
          <p:grpSpPr>
            <a:xfrm>
              <a:off x="4456375" y="4258290"/>
              <a:ext cx="1924384" cy="880216"/>
              <a:chOff x="4487863" y="1174750"/>
              <a:chExt cx="2292350" cy="1048524"/>
            </a:xfrm>
          </p:grpSpPr>
          <p:pic>
            <p:nvPicPr>
              <p:cNvPr id="16" name="Graphic 19" descr="Amazon EventBridge service icon.">
                <a:extLst>
                  <a:ext uri="{FF2B5EF4-FFF2-40B4-BE49-F238E27FC236}">
                    <a16:creationId xmlns:a16="http://schemas.microsoft.com/office/drawing/2014/main" id="{18D1FF6C-DC56-1E38-293B-08F3887C79CD}"/>
                  </a:ext>
                </a:extLst>
              </p:cNvPr>
              <p:cNvPicPr>
                <a:picLocks noChangeAspect="1" noChangeArrowheads="1"/>
              </p:cNvPicPr>
              <p:nvPr/>
            </p:nvPicPr>
            <p:blipFill>
              <a:blip r:embed="rId10">
                <a:extLst>
                  <a:ext uri="{96DAC541-7B7A-43D3-8B79-37D633B846F1}">
                    <asvg:svgBlip xmlns:asvg="http://schemas.microsoft.com/office/drawing/2016/SVG/main" r:embed="rId11"/>
                  </a:ext>
                </a:extLst>
              </a:blip>
              <a:srcRect/>
              <a:stretch/>
            </p:blipFill>
            <p:spPr bwMode="auto">
              <a:xfrm>
                <a:off x="5245100" y="1174750"/>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TextBox 11">
                <a:extLst>
                  <a:ext uri="{FF2B5EF4-FFF2-40B4-BE49-F238E27FC236}">
                    <a16:creationId xmlns:a16="http://schemas.microsoft.com/office/drawing/2014/main" id="{0BCB4900-1156-E760-55B0-BE581DB615C2}"/>
                  </a:ext>
                </a:extLst>
              </p:cNvPr>
              <p:cNvSpPr txBox="1">
                <a:spLocks noChangeArrowheads="1"/>
              </p:cNvSpPr>
              <p:nvPr/>
            </p:nvSpPr>
            <p:spPr bwMode="auto">
              <a:xfrm>
                <a:off x="4487863" y="1946275"/>
                <a:ext cx="229235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Amazon </a:t>
                </a:r>
                <a:r>
                  <a:rPr lang="en-US" altLang="en-US" sz="1200" dirty="0" err="1">
                    <a:latin typeface="Arial" panose="020B0604020202020204" pitchFamily="34" charset="0"/>
                    <a:ea typeface="Amazon Ember" panose="020B0603020204020204" pitchFamily="34" charset="0"/>
                    <a:cs typeface="Arial" panose="020B0604020202020204" pitchFamily="34" charset="0"/>
                  </a:rPr>
                  <a:t>EventBridge</a:t>
                </a:r>
                <a:endParaRPr lang="en-US" altLang="en-US" sz="1200" dirty="0">
                  <a:latin typeface="Arial" panose="020B0604020202020204" pitchFamily="34" charset="0"/>
                  <a:ea typeface="Amazon Ember" panose="020B0603020204020204" pitchFamily="34" charset="0"/>
                  <a:cs typeface="Arial" panose="020B0604020202020204" pitchFamily="34" charset="0"/>
                </a:endParaRPr>
              </a:p>
            </p:txBody>
          </p:sp>
        </p:grpSp>
        <p:grpSp>
          <p:nvGrpSpPr>
            <p:cNvPr id="21" name="グループ化 20">
              <a:extLst>
                <a:ext uri="{FF2B5EF4-FFF2-40B4-BE49-F238E27FC236}">
                  <a16:creationId xmlns:a16="http://schemas.microsoft.com/office/drawing/2014/main" id="{B0E6A390-5A0D-7357-C123-FCB3D7FA2DC2}"/>
                </a:ext>
              </a:extLst>
            </p:cNvPr>
            <p:cNvGrpSpPr/>
            <p:nvPr/>
          </p:nvGrpSpPr>
          <p:grpSpPr>
            <a:xfrm>
              <a:off x="4474558" y="5571856"/>
              <a:ext cx="1883070" cy="872220"/>
              <a:chOff x="2249488" y="1184275"/>
              <a:chExt cx="2243137" cy="1038999"/>
            </a:xfrm>
          </p:grpSpPr>
          <p:pic>
            <p:nvPicPr>
              <p:cNvPr id="19" name="Graphic 17" descr="Amazon CloudWatch service icon.">
                <a:extLst>
                  <a:ext uri="{FF2B5EF4-FFF2-40B4-BE49-F238E27FC236}">
                    <a16:creationId xmlns:a16="http://schemas.microsoft.com/office/drawing/2014/main" id="{771FC37E-E5A4-D82A-83A9-40585470AE11}"/>
                  </a:ext>
                </a:extLst>
              </p:cNvPr>
              <p:cNvPicPr>
                <a:picLocks noChangeAspect="1" noChangeArrowheads="1"/>
              </p:cNvPicPr>
              <p:nvPr/>
            </p:nvPicPr>
            <p:blipFill>
              <a:blip r:embed="rId12">
                <a:extLst>
                  <a:ext uri="{96DAC541-7B7A-43D3-8B79-37D633B846F1}">
                    <asvg:svgBlip xmlns:asvg="http://schemas.microsoft.com/office/drawing/2016/SVG/main" r:embed="rId13"/>
                  </a:ext>
                </a:extLst>
              </a:blip>
              <a:srcRect/>
              <a:stretch/>
            </p:blipFill>
            <p:spPr bwMode="auto">
              <a:xfrm>
                <a:off x="2989263" y="1184275"/>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TextBox 9">
                <a:extLst>
                  <a:ext uri="{FF2B5EF4-FFF2-40B4-BE49-F238E27FC236}">
                    <a16:creationId xmlns:a16="http://schemas.microsoft.com/office/drawing/2014/main" id="{2948D86C-7FB6-C12A-459A-F7E429921DC6}"/>
                  </a:ext>
                </a:extLst>
              </p:cNvPr>
              <p:cNvSpPr txBox="1">
                <a:spLocks noChangeArrowheads="1"/>
              </p:cNvSpPr>
              <p:nvPr/>
            </p:nvSpPr>
            <p:spPr bwMode="auto">
              <a:xfrm>
                <a:off x="2249488" y="1946275"/>
                <a:ext cx="224313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Amazon CloudWatch</a:t>
                </a:r>
              </a:p>
            </p:txBody>
          </p:sp>
        </p:grpSp>
        <p:grpSp>
          <p:nvGrpSpPr>
            <p:cNvPr id="24" name="グループ化 23">
              <a:extLst>
                <a:ext uri="{FF2B5EF4-FFF2-40B4-BE49-F238E27FC236}">
                  <a16:creationId xmlns:a16="http://schemas.microsoft.com/office/drawing/2014/main" id="{D8A373EA-D80C-9CDF-AD11-087D2C26822A}"/>
                </a:ext>
              </a:extLst>
            </p:cNvPr>
            <p:cNvGrpSpPr/>
            <p:nvPr/>
          </p:nvGrpSpPr>
          <p:grpSpPr>
            <a:xfrm>
              <a:off x="4461706" y="1605432"/>
              <a:ext cx="1913722" cy="1027242"/>
              <a:chOff x="6786563" y="1184275"/>
              <a:chExt cx="2279650" cy="1223665"/>
            </a:xfrm>
          </p:grpSpPr>
          <p:pic>
            <p:nvPicPr>
              <p:cNvPr id="22" name="Graphic 19" descr="AWS Identity and Access Management (IAM) service icon.">
                <a:extLst>
                  <a:ext uri="{FF2B5EF4-FFF2-40B4-BE49-F238E27FC236}">
                    <a16:creationId xmlns:a16="http://schemas.microsoft.com/office/drawing/2014/main" id="{DF164D63-EE17-AD3E-0F83-34A1BE8E8BC0}"/>
                  </a:ext>
                </a:extLst>
              </p:cNvPr>
              <p:cNvPicPr>
                <a:picLocks noChangeAspect="1" noChangeArrowheads="1"/>
              </p:cNvPicPr>
              <p:nvPr/>
            </p:nvPicPr>
            <p:blipFill>
              <a:blip r:embed="rId14">
                <a:extLst>
                  <a:ext uri="{96DAC541-7B7A-43D3-8B79-37D633B846F1}">
                    <asvg:svgBlip xmlns:asvg="http://schemas.microsoft.com/office/drawing/2016/SVG/main" r:embed="rId15"/>
                  </a:ext>
                </a:extLst>
              </a:blip>
              <a:srcRect/>
              <a:stretch/>
            </p:blipFill>
            <p:spPr bwMode="auto">
              <a:xfrm>
                <a:off x="7535863" y="1184275"/>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TextBox 12">
                <a:extLst>
                  <a:ext uri="{FF2B5EF4-FFF2-40B4-BE49-F238E27FC236}">
                    <a16:creationId xmlns:a16="http://schemas.microsoft.com/office/drawing/2014/main" id="{EF56886B-44A0-D797-0A29-44A8C62AB5CB}"/>
                  </a:ext>
                </a:extLst>
              </p:cNvPr>
              <p:cNvSpPr txBox="1">
                <a:spLocks noChangeArrowheads="1"/>
              </p:cNvSpPr>
              <p:nvPr/>
            </p:nvSpPr>
            <p:spPr bwMode="auto">
              <a:xfrm>
                <a:off x="6786563" y="1946275"/>
                <a:ext cx="2279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AWS Identity and Access Management (IAM)</a:t>
                </a:r>
              </a:p>
            </p:txBody>
          </p:sp>
        </p:grpSp>
        <p:grpSp>
          <p:nvGrpSpPr>
            <p:cNvPr id="27" name="グループ化 26">
              <a:extLst>
                <a:ext uri="{FF2B5EF4-FFF2-40B4-BE49-F238E27FC236}">
                  <a16:creationId xmlns:a16="http://schemas.microsoft.com/office/drawing/2014/main" id="{0AD8F588-A39D-3D9F-85A4-21980F8C609A}"/>
                </a:ext>
              </a:extLst>
            </p:cNvPr>
            <p:cNvGrpSpPr/>
            <p:nvPr/>
          </p:nvGrpSpPr>
          <p:grpSpPr>
            <a:xfrm>
              <a:off x="67754" y="5565674"/>
              <a:ext cx="1913722" cy="873552"/>
              <a:chOff x="6786563" y="1182688"/>
              <a:chExt cx="2279650" cy="1040586"/>
            </a:xfrm>
          </p:grpSpPr>
          <p:pic>
            <p:nvPicPr>
              <p:cNvPr id="25" name="Graphic 23" descr="Amazon DynamoDB service icon.">
                <a:extLst>
                  <a:ext uri="{FF2B5EF4-FFF2-40B4-BE49-F238E27FC236}">
                    <a16:creationId xmlns:a16="http://schemas.microsoft.com/office/drawing/2014/main" id="{BCA3AF19-B6FF-2022-D01E-C0506D2E7BBF}"/>
                  </a:ext>
                </a:extLst>
              </p:cNvPr>
              <p:cNvPicPr>
                <a:picLocks noChangeAspect="1" noChangeArrowheads="1"/>
              </p:cNvPicPr>
              <p:nvPr/>
            </p:nvPicPr>
            <p:blipFill>
              <a:blip r:embed="rId16">
                <a:extLst>
                  <a:ext uri="{96DAC541-7B7A-43D3-8B79-37D633B846F1}">
                    <asvg:svgBlip xmlns:asvg="http://schemas.microsoft.com/office/drawing/2016/SVG/main" r:embed="rId17"/>
                  </a:ext>
                </a:extLst>
              </a:blip>
              <a:srcRect/>
              <a:stretch/>
            </p:blipFill>
            <p:spPr bwMode="auto">
              <a:xfrm>
                <a:off x="7534275" y="1182688"/>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TextBox 12">
                <a:extLst>
                  <a:ext uri="{FF2B5EF4-FFF2-40B4-BE49-F238E27FC236}">
                    <a16:creationId xmlns:a16="http://schemas.microsoft.com/office/drawing/2014/main" id="{FFFE5319-2071-9539-B17F-2CF43329E270}"/>
                  </a:ext>
                </a:extLst>
              </p:cNvPr>
              <p:cNvSpPr txBox="1">
                <a:spLocks noChangeArrowheads="1"/>
              </p:cNvSpPr>
              <p:nvPr/>
            </p:nvSpPr>
            <p:spPr bwMode="auto">
              <a:xfrm>
                <a:off x="6786563" y="1946275"/>
                <a:ext cx="227965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Amazon DynamoDB</a:t>
                </a:r>
              </a:p>
            </p:txBody>
          </p:sp>
        </p:grpSp>
        <p:sp>
          <p:nvSpPr>
            <p:cNvPr id="32" name="テキスト ボックス 31">
              <a:extLst>
                <a:ext uri="{FF2B5EF4-FFF2-40B4-BE49-F238E27FC236}">
                  <a16:creationId xmlns:a16="http://schemas.microsoft.com/office/drawing/2014/main" id="{B287F9E9-C25C-E1C6-88F7-0E3FD114F64C}"/>
                </a:ext>
              </a:extLst>
            </p:cNvPr>
            <p:cNvSpPr txBox="1"/>
            <p:nvPr/>
          </p:nvSpPr>
          <p:spPr>
            <a:xfrm>
              <a:off x="1488021" y="1627592"/>
              <a:ext cx="2734733" cy="646331"/>
            </a:xfrm>
            <a:prstGeom prst="rect">
              <a:avLst/>
            </a:prstGeom>
            <a:noFill/>
          </p:spPr>
          <p:txBody>
            <a:bodyPr wrap="square" rtlCol="0">
              <a:spAutoFit/>
            </a:bodyPr>
            <a:lstStyle/>
            <a:p>
              <a:r>
                <a:rPr kumimoji="1" lang="ja-JP" altLang="en-US" sz="1200" dirty="0"/>
                <a:t>フロントエンド（</a:t>
              </a:r>
              <a:r>
                <a:rPr kumimoji="1" lang="en-US" altLang="ja-JP" sz="1200" dirty="0"/>
                <a:t>Web/</a:t>
              </a:r>
              <a:r>
                <a:rPr kumimoji="1" lang="ja-JP" altLang="en-US" sz="1200" dirty="0"/>
                <a:t>モバイル）の開発・デプロイ・ホスティングを迅速化するフレームワークおよび</a:t>
              </a:r>
              <a:r>
                <a:rPr kumimoji="1" lang="en-US" altLang="ja-JP" sz="1200" dirty="0"/>
                <a:t>PaaS</a:t>
              </a:r>
              <a:endParaRPr kumimoji="1" lang="ja-JP" altLang="en-US" sz="1200" dirty="0"/>
            </a:p>
          </p:txBody>
        </p:sp>
        <p:sp>
          <p:nvSpPr>
            <p:cNvPr id="33" name="テキスト ボックス 32">
              <a:extLst>
                <a:ext uri="{FF2B5EF4-FFF2-40B4-BE49-F238E27FC236}">
                  <a16:creationId xmlns:a16="http://schemas.microsoft.com/office/drawing/2014/main" id="{AB806B01-0910-4548-B129-DBB2CD1E54ED}"/>
                </a:ext>
              </a:extLst>
            </p:cNvPr>
            <p:cNvSpPr txBox="1"/>
            <p:nvPr/>
          </p:nvSpPr>
          <p:spPr>
            <a:xfrm>
              <a:off x="5876036" y="1627592"/>
              <a:ext cx="2734733" cy="646331"/>
            </a:xfrm>
            <a:prstGeom prst="rect">
              <a:avLst/>
            </a:prstGeom>
            <a:noFill/>
          </p:spPr>
          <p:txBody>
            <a:bodyPr wrap="square" rtlCol="0">
              <a:spAutoFit/>
            </a:bodyPr>
            <a:lstStyle/>
            <a:p>
              <a:r>
                <a:rPr kumimoji="1" lang="en-US" altLang="ja-JP" sz="1200" dirty="0"/>
                <a:t>AWS</a:t>
              </a:r>
              <a:r>
                <a:rPr kumimoji="1" lang="ja-JP" altLang="en-US" sz="1200" dirty="0"/>
                <a:t>サービスやリソースへのアクセスを安全に制御するための権限管理サービス</a:t>
              </a:r>
            </a:p>
          </p:txBody>
        </p:sp>
        <p:sp>
          <p:nvSpPr>
            <p:cNvPr id="34" name="テキスト ボックス 33">
              <a:extLst>
                <a:ext uri="{FF2B5EF4-FFF2-40B4-BE49-F238E27FC236}">
                  <a16:creationId xmlns:a16="http://schemas.microsoft.com/office/drawing/2014/main" id="{65D1C01E-D83F-C382-6AA1-A363EFCC86F3}"/>
                </a:ext>
              </a:extLst>
            </p:cNvPr>
            <p:cNvSpPr txBox="1"/>
            <p:nvPr/>
          </p:nvSpPr>
          <p:spPr>
            <a:xfrm>
              <a:off x="1488020" y="2935662"/>
              <a:ext cx="2734733" cy="646331"/>
            </a:xfrm>
            <a:prstGeom prst="rect">
              <a:avLst/>
            </a:prstGeom>
            <a:noFill/>
          </p:spPr>
          <p:txBody>
            <a:bodyPr wrap="square" rtlCol="0">
              <a:spAutoFit/>
            </a:bodyPr>
            <a:lstStyle/>
            <a:p>
              <a:r>
                <a:rPr kumimoji="1" lang="en-US" altLang="ja-JP" sz="1200" dirty="0"/>
                <a:t>RESTful API</a:t>
              </a:r>
              <a:r>
                <a:rPr kumimoji="1" lang="ja-JP" altLang="en-US" sz="1200" dirty="0"/>
                <a:t>および</a:t>
              </a:r>
              <a:r>
                <a:rPr kumimoji="1" lang="en-US" altLang="ja-JP" sz="1200" dirty="0"/>
                <a:t>WebSocket API</a:t>
              </a:r>
              <a:r>
                <a:rPr kumimoji="1" lang="ja-JP" altLang="en-US" sz="1200" dirty="0"/>
                <a:t>の作成・公開・保守・保護を行うフルマネージドサービス</a:t>
              </a:r>
            </a:p>
          </p:txBody>
        </p:sp>
        <p:sp>
          <p:nvSpPr>
            <p:cNvPr id="35" name="テキスト ボックス 34">
              <a:extLst>
                <a:ext uri="{FF2B5EF4-FFF2-40B4-BE49-F238E27FC236}">
                  <a16:creationId xmlns:a16="http://schemas.microsoft.com/office/drawing/2014/main" id="{95434B11-F713-03C6-34DC-787825B646CC}"/>
                </a:ext>
              </a:extLst>
            </p:cNvPr>
            <p:cNvSpPr txBox="1"/>
            <p:nvPr/>
          </p:nvSpPr>
          <p:spPr>
            <a:xfrm>
              <a:off x="1488020" y="4259640"/>
              <a:ext cx="2734733" cy="646331"/>
            </a:xfrm>
            <a:prstGeom prst="rect">
              <a:avLst/>
            </a:prstGeom>
            <a:noFill/>
          </p:spPr>
          <p:txBody>
            <a:bodyPr wrap="square" rtlCol="0">
              <a:spAutoFit/>
            </a:bodyPr>
            <a:lstStyle/>
            <a:p>
              <a:r>
                <a:rPr kumimoji="1" lang="ja-JP" altLang="en-US" sz="1200" dirty="0"/>
                <a:t>サーバーの管理不要でコードを実行する，イベント駆動型のコンピューティングサービス</a:t>
              </a:r>
            </a:p>
          </p:txBody>
        </p:sp>
        <p:sp>
          <p:nvSpPr>
            <p:cNvPr id="36" name="テキスト ボックス 35">
              <a:extLst>
                <a:ext uri="{FF2B5EF4-FFF2-40B4-BE49-F238E27FC236}">
                  <a16:creationId xmlns:a16="http://schemas.microsoft.com/office/drawing/2014/main" id="{E10D279F-B0FC-196C-B8A1-E1D9459E68F9}"/>
                </a:ext>
              </a:extLst>
            </p:cNvPr>
            <p:cNvSpPr txBox="1"/>
            <p:nvPr/>
          </p:nvSpPr>
          <p:spPr>
            <a:xfrm>
              <a:off x="1488019" y="5568532"/>
              <a:ext cx="2734733" cy="646331"/>
            </a:xfrm>
            <a:prstGeom prst="rect">
              <a:avLst/>
            </a:prstGeom>
            <a:noFill/>
          </p:spPr>
          <p:txBody>
            <a:bodyPr wrap="square" rtlCol="0">
              <a:spAutoFit/>
            </a:bodyPr>
            <a:lstStyle/>
            <a:p>
              <a:r>
                <a:rPr kumimoji="1" lang="ja-JP" altLang="en-US" sz="1200" dirty="0"/>
                <a:t>任意の規模に対応する，高速かつ柔軟なフルマネージド</a:t>
              </a:r>
              <a:r>
                <a:rPr kumimoji="1" lang="en-US" altLang="ja-JP" sz="1200" dirty="0"/>
                <a:t>NoSQL</a:t>
              </a:r>
              <a:r>
                <a:rPr kumimoji="1" lang="ja-JP" altLang="en-US" sz="1200" dirty="0"/>
                <a:t>データベースサービス</a:t>
              </a:r>
            </a:p>
          </p:txBody>
        </p:sp>
        <p:sp>
          <p:nvSpPr>
            <p:cNvPr id="37" name="テキスト ボックス 36">
              <a:extLst>
                <a:ext uri="{FF2B5EF4-FFF2-40B4-BE49-F238E27FC236}">
                  <a16:creationId xmlns:a16="http://schemas.microsoft.com/office/drawing/2014/main" id="{24FC5F50-7937-C1D6-7B28-D6A79A4A7E84}"/>
                </a:ext>
              </a:extLst>
            </p:cNvPr>
            <p:cNvSpPr txBox="1"/>
            <p:nvPr/>
          </p:nvSpPr>
          <p:spPr>
            <a:xfrm>
              <a:off x="5876035" y="2935661"/>
              <a:ext cx="2734733" cy="646331"/>
            </a:xfrm>
            <a:prstGeom prst="rect">
              <a:avLst/>
            </a:prstGeom>
            <a:noFill/>
          </p:spPr>
          <p:txBody>
            <a:bodyPr wrap="square" rtlCol="0">
              <a:spAutoFit/>
            </a:bodyPr>
            <a:lstStyle/>
            <a:p>
              <a:r>
                <a:rPr kumimoji="1" lang="ja-JP" altLang="en-US" sz="1200" dirty="0"/>
                <a:t>ユーザーのサインアップ・サインイン・アクセスコントロールを提供するアイデンティティ管理サービス</a:t>
              </a:r>
            </a:p>
          </p:txBody>
        </p:sp>
        <p:sp>
          <p:nvSpPr>
            <p:cNvPr id="38" name="テキスト ボックス 37">
              <a:extLst>
                <a:ext uri="{FF2B5EF4-FFF2-40B4-BE49-F238E27FC236}">
                  <a16:creationId xmlns:a16="http://schemas.microsoft.com/office/drawing/2014/main" id="{151EE852-CC08-FED0-202E-C22BBCE6935C}"/>
                </a:ext>
              </a:extLst>
            </p:cNvPr>
            <p:cNvSpPr txBox="1"/>
            <p:nvPr/>
          </p:nvSpPr>
          <p:spPr>
            <a:xfrm>
              <a:off x="5876035" y="4263994"/>
              <a:ext cx="2734733" cy="646331"/>
            </a:xfrm>
            <a:prstGeom prst="rect">
              <a:avLst/>
            </a:prstGeom>
            <a:noFill/>
          </p:spPr>
          <p:txBody>
            <a:bodyPr wrap="square" rtlCol="0">
              <a:spAutoFit/>
            </a:bodyPr>
            <a:lstStyle/>
            <a:p>
              <a:r>
                <a:rPr kumimoji="1" lang="ja-JP" altLang="en-US" sz="1200" dirty="0"/>
                <a:t>アプリケーション間のイベントを連携させる，サーバーレスのイベントバスサービス</a:t>
              </a:r>
            </a:p>
          </p:txBody>
        </p:sp>
        <p:sp>
          <p:nvSpPr>
            <p:cNvPr id="39" name="テキスト ボックス 38">
              <a:extLst>
                <a:ext uri="{FF2B5EF4-FFF2-40B4-BE49-F238E27FC236}">
                  <a16:creationId xmlns:a16="http://schemas.microsoft.com/office/drawing/2014/main" id="{30C5311E-E4A8-C950-1A96-A7C8CBF16B1E}"/>
                </a:ext>
              </a:extLst>
            </p:cNvPr>
            <p:cNvSpPr txBox="1"/>
            <p:nvPr/>
          </p:nvSpPr>
          <p:spPr>
            <a:xfrm>
              <a:off x="5876035" y="5568532"/>
              <a:ext cx="2734733" cy="646331"/>
            </a:xfrm>
            <a:prstGeom prst="rect">
              <a:avLst/>
            </a:prstGeom>
            <a:noFill/>
          </p:spPr>
          <p:txBody>
            <a:bodyPr wrap="square" rtlCol="0">
              <a:spAutoFit/>
            </a:bodyPr>
            <a:lstStyle/>
            <a:p>
              <a:r>
                <a:rPr kumimoji="1" lang="ja-JP" altLang="en-US" sz="1200" dirty="0"/>
                <a:t>リソースとアプリケーションの監視・ロギング・アラートを行う統合監視サービス</a:t>
              </a:r>
            </a:p>
          </p:txBody>
        </p:sp>
      </p:grpSp>
    </p:spTree>
    <p:extLst>
      <p:ext uri="{BB962C8B-B14F-4D97-AF65-F5344CB8AC3E}">
        <p14:creationId xmlns:p14="http://schemas.microsoft.com/office/powerpoint/2010/main" val="24030183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BB4C7-AF22-F697-99A5-1F9B6149B52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0459167-2E0E-22CB-3DE1-F7E29BFFB4BA}"/>
              </a:ext>
            </a:extLst>
          </p:cNvPr>
          <p:cNvSpPr>
            <a:spLocks noGrp="1"/>
          </p:cNvSpPr>
          <p:nvPr>
            <p:ph type="title"/>
          </p:nvPr>
        </p:nvSpPr>
        <p:spPr/>
        <p:txBody>
          <a:bodyPr/>
          <a:lstStyle/>
          <a:p>
            <a:r>
              <a:rPr lang="ja-JP" altLang="en-US" dirty="0"/>
              <a:t>使用した</a:t>
            </a:r>
            <a:r>
              <a:rPr lang="en-US" altLang="ja-JP" dirty="0"/>
              <a:t>AWS</a:t>
            </a:r>
            <a:r>
              <a:rPr lang="ja-JP" altLang="en-US" dirty="0"/>
              <a:t>サービス一覧</a:t>
            </a:r>
            <a:endParaRPr kumimoji="1" lang="ja-JP" altLang="en-US" dirty="0"/>
          </a:p>
        </p:txBody>
      </p:sp>
      <p:grpSp>
        <p:nvGrpSpPr>
          <p:cNvPr id="52" name="グループ化 51">
            <a:extLst>
              <a:ext uri="{FF2B5EF4-FFF2-40B4-BE49-F238E27FC236}">
                <a16:creationId xmlns:a16="http://schemas.microsoft.com/office/drawing/2014/main" id="{68A659D8-B6BE-95CA-7A2F-CC7F54DCB23B}"/>
              </a:ext>
            </a:extLst>
          </p:cNvPr>
          <p:cNvGrpSpPr/>
          <p:nvPr/>
        </p:nvGrpSpPr>
        <p:grpSpPr>
          <a:xfrm>
            <a:off x="97802" y="1405287"/>
            <a:ext cx="8714504" cy="5150799"/>
            <a:chOff x="97802" y="1405287"/>
            <a:chExt cx="8714504" cy="5150799"/>
          </a:xfrm>
        </p:grpSpPr>
        <p:grpSp>
          <p:nvGrpSpPr>
            <p:cNvPr id="40" name="グループ化 39">
              <a:extLst>
                <a:ext uri="{FF2B5EF4-FFF2-40B4-BE49-F238E27FC236}">
                  <a16:creationId xmlns:a16="http://schemas.microsoft.com/office/drawing/2014/main" id="{4188AF35-9629-BC32-C66A-5C0D6D1AC0A9}"/>
                </a:ext>
              </a:extLst>
            </p:cNvPr>
            <p:cNvGrpSpPr/>
            <p:nvPr/>
          </p:nvGrpSpPr>
          <p:grpSpPr>
            <a:xfrm>
              <a:off x="97802" y="1590610"/>
              <a:ext cx="8548346" cy="4853466"/>
              <a:chOff x="62423" y="1590610"/>
              <a:chExt cx="8548346" cy="4853466"/>
            </a:xfrm>
          </p:grpSpPr>
          <p:grpSp>
            <p:nvGrpSpPr>
              <p:cNvPr id="6" name="グループ化 5">
                <a:extLst>
                  <a:ext uri="{FF2B5EF4-FFF2-40B4-BE49-F238E27FC236}">
                    <a16:creationId xmlns:a16="http://schemas.microsoft.com/office/drawing/2014/main" id="{595893AE-78A5-5C0E-7541-6C3327B4B66B}"/>
                  </a:ext>
                </a:extLst>
              </p:cNvPr>
              <p:cNvGrpSpPr/>
              <p:nvPr/>
            </p:nvGrpSpPr>
            <p:grpSpPr>
              <a:xfrm>
                <a:off x="84668" y="1590610"/>
                <a:ext cx="1883070" cy="872220"/>
                <a:chOff x="2249488" y="1184275"/>
                <a:chExt cx="2243137" cy="1038999"/>
              </a:xfrm>
            </p:grpSpPr>
            <p:pic>
              <p:nvPicPr>
                <p:cNvPr id="4" name="Graphic 10" descr="AWS Amplify service icon.">
                  <a:extLst>
                    <a:ext uri="{FF2B5EF4-FFF2-40B4-BE49-F238E27FC236}">
                      <a16:creationId xmlns:a16="http://schemas.microsoft.com/office/drawing/2014/main" id="{D6284C5F-E4D1-7368-D995-6EDEE51A5227}"/>
                    </a:ext>
                  </a:extLst>
                </p:cNvPr>
                <p:cNvPicPr>
                  <a:picLocks noChangeAspect="1" noChangeArrowheads="1"/>
                </p:cNvPicPr>
                <p:nvPr/>
              </p:nvPicPr>
              <p:blipFill>
                <a:blip r:embed="rId2">
                  <a:extLst>
                    <a:ext uri="{96DAC541-7B7A-43D3-8B79-37D633B846F1}">
                      <asvg:svgBlip xmlns:asvg="http://schemas.microsoft.com/office/drawing/2016/SVG/main" r:embed="rId3"/>
                    </a:ext>
                  </a:extLst>
                </a:blip>
                <a:srcRect/>
                <a:stretch/>
              </p:blipFill>
              <p:spPr bwMode="auto">
                <a:xfrm>
                  <a:off x="2989263" y="1184275"/>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6">
                  <a:extLst>
                    <a:ext uri="{FF2B5EF4-FFF2-40B4-BE49-F238E27FC236}">
                      <a16:creationId xmlns:a16="http://schemas.microsoft.com/office/drawing/2014/main" id="{B6EA708B-347D-5EC2-2866-8279ADE80453}"/>
                    </a:ext>
                  </a:extLst>
                </p:cNvPr>
                <p:cNvSpPr txBox="1">
                  <a:spLocks noChangeArrowheads="1"/>
                </p:cNvSpPr>
                <p:nvPr/>
              </p:nvSpPr>
              <p:spPr bwMode="auto">
                <a:xfrm>
                  <a:off x="2249488" y="1946275"/>
                  <a:ext cx="224313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AWS Amplify</a:t>
                  </a:r>
                </a:p>
              </p:txBody>
            </p:sp>
          </p:grpSp>
          <p:grpSp>
            <p:nvGrpSpPr>
              <p:cNvPr id="9" name="グループ化 8">
                <a:extLst>
                  <a:ext uri="{FF2B5EF4-FFF2-40B4-BE49-F238E27FC236}">
                    <a16:creationId xmlns:a16="http://schemas.microsoft.com/office/drawing/2014/main" id="{894D6178-D72E-85BB-E72A-3E42C592E8CD}"/>
                  </a:ext>
                </a:extLst>
              </p:cNvPr>
              <p:cNvGrpSpPr/>
              <p:nvPr/>
            </p:nvGrpSpPr>
            <p:grpSpPr>
              <a:xfrm>
                <a:off x="4456375" y="2938986"/>
                <a:ext cx="1924384" cy="872218"/>
                <a:chOff x="4487863" y="1184275"/>
                <a:chExt cx="2292350" cy="1038999"/>
              </a:xfrm>
            </p:grpSpPr>
            <p:pic>
              <p:nvPicPr>
                <p:cNvPr id="7" name="Graphic 17" descr="Amazon Cognito service icon.">
                  <a:extLst>
                    <a:ext uri="{FF2B5EF4-FFF2-40B4-BE49-F238E27FC236}">
                      <a16:creationId xmlns:a16="http://schemas.microsoft.com/office/drawing/2014/main" id="{69D81CD5-6E9C-3150-7D76-9E9B8F0740BD}"/>
                    </a:ext>
                  </a:extLst>
                </p:cNvPr>
                <p:cNvPicPr>
                  <a:picLocks noChangeAspect="1" noChangeArrowheads="1"/>
                </p:cNvPicPr>
                <p:nvPr/>
              </p:nvPicPr>
              <p:blipFill>
                <a:blip r:embed="rId4">
                  <a:extLst>
                    <a:ext uri="{96DAC541-7B7A-43D3-8B79-37D633B846F1}">
                      <asvg:svgBlip xmlns:asvg="http://schemas.microsoft.com/office/drawing/2016/SVG/main" r:embed="rId5"/>
                    </a:ext>
                  </a:extLst>
                </a:blip>
                <a:srcRect/>
                <a:stretch/>
              </p:blipFill>
              <p:spPr bwMode="auto">
                <a:xfrm>
                  <a:off x="5245100" y="1184275"/>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11">
                  <a:extLst>
                    <a:ext uri="{FF2B5EF4-FFF2-40B4-BE49-F238E27FC236}">
                      <a16:creationId xmlns:a16="http://schemas.microsoft.com/office/drawing/2014/main" id="{1B87F803-3266-6648-CB5D-CB9EF31BE454}"/>
                    </a:ext>
                  </a:extLst>
                </p:cNvPr>
                <p:cNvSpPr txBox="1">
                  <a:spLocks noChangeArrowheads="1"/>
                </p:cNvSpPr>
                <p:nvPr/>
              </p:nvSpPr>
              <p:spPr bwMode="auto">
                <a:xfrm>
                  <a:off x="4487863" y="1946275"/>
                  <a:ext cx="229235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Amazon Cognito</a:t>
                  </a:r>
                </a:p>
              </p:txBody>
            </p:sp>
          </p:grpSp>
          <p:grpSp>
            <p:nvGrpSpPr>
              <p:cNvPr id="12" name="グループ化 11">
                <a:extLst>
                  <a:ext uri="{FF2B5EF4-FFF2-40B4-BE49-F238E27FC236}">
                    <a16:creationId xmlns:a16="http://schemas.microsoft.com/office/drawing/2014/main" id="{398976AF-A880-C24D-67BF-0B80F2270048}"/>
                  </a:ext>
                </a:extLst>
              </p:cNvPr>
              <p:cNvGrpSpPr/>
              <p:nvPr/>
            </p:nvGrpSpPr>
            <p:grpSpPr>
              <a:xfrm>
                <a:off x="83874" y="2938985"/>
                <a:ext cx="1883070" cy="872220"/>
                <a:chOff x="2249488" y="1184275"/>
                <a:chExt cx="2243137" cy="1038999"/>
              </a:xfrm>
            </p:grpSpPr>
            <p:pic>
              <p:nvPicPr>
                <p:cNvPr id="10" name="Graphic 7" descr="Amazon API Gateway service icon.">
                  <a:extLst>
                    <a:ext uri="{FF2B5EF4-FFF2-40B4-BE49-F238E27FC236}">
                      <a16:creationId xmlns:a16="http://schemas.microsoft.com/office/drawing/2014/main" id="{B9AC0F5F-B6D7-A00A-8020-212DE93ACC5C}"/>
                    </a:ext>
                  </a:extLst>
                </p:cNvPr>
                <p:cNvPicPr>
                  <a:picLocks noChangeAspect="1" noChangeArrowheads="1"/>
                </p:cNvPicPr>
                <p:nvPr/>
              </p:nvPicPr>
              <p:blipFill>
                <a:blip r:embed="rId6">
                  <a:extLst>
                    <a:ext uri="{96DAC541-7B7A-43D3-8B79-37D633B846F1}">
                      <asvg:svgBlip xmlns:asvg="http://schemas.microsoft.com/office/drawing/2016/SVG/main" r:embed="rId7"/>
                    </a:ext>
                  </a:extLst>
                </a:blip>
                <a:srcRect/>
                <a:stretch/>
              </p:blipFill>
              <p:spPr bwMode="auto">
                <a:xfrm>
                  <a:off x="2989263" y="1184275"/>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9">
                  <a:extLst>
                    <a:ext uri="{FF2B5EF4-FFF2-40B4-BE49-F238E27FC236}">
                      <a16:creationId xmlns:a16="http://schemas.microsoft.com/office/drawing/2014/main" id="{082C586F-0997-7D10-D286-A8F323859A60}"/>
                    </a:ext>
                  </a:extLst>
                </p:cNvPr>
                <p:cNvSpPr txBox="1">
                  <a:spLocks noChangeArrowheads="1"/>
                </p:cNvSpPr>
                <p:nvPr/>
              </p:nvSpPr>
              <p:spPr bwMode="auto">
                <a:xfrm>
                  <a:off x="2249488" y="1946275"/>
                  <a:ext cx="224313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Amazon API Gateway</a:t>
                  </a:r>
                </a:p>
              </p:txBody>
            </p:sp>
          </p:grpSp>
          <p:grpSp>
            <p:nvGrpSpPr>
              <p:cNvPr id="15" name="グループ化 14">
                <a:extLst>
                  <a:ext uri="{FF2B5EF4-FFF2-40B4-BE49-F238E27FC236}">
                    <a16:creationId xmlns:a16="http://schemas.microsoft.com/office/drawing/2014/main" id="{181C6531-9FA9-D9A2-476D-FE601B44CE70}"/>
                  </a:ext>
                </a:extLst>
              </p:cNvPr>
              <p:cNvGrpSpPr/>
              <p:nvPr/>
            </p:nvGrpSpPr>
            <p:grpSpPr>
              <a:xfrm>
                <a:off x="62423" y="4253195"/>
                <a:ext cx="1924384" cy="871552"/>
                <a:chOff x="4487863" y="1185069"/>
                <a:chExt cx="2292350" cy="1038205"/>
              </a:xfrm>
            </p:grpSpPr>
            <p:pic>
              <p:nvPicPr>
                <p:cNvPr id="13" name="Graphic 10" descr="AWS Lambda service icon.">
                  <a:extLst>
                    <a:ext uri="{FF2B5EF4-FFF2-40B4-BE49-F238E27FC236}">
                      <a16:creationId xmlns:a16="http://schemas.microsoft.com/office/drawing/2014/main" id="{4BF2BD82-D19A-7CA3-06E2-EC044A5B5E51}"/>
                    </a:ext>
                  </a:extLst>
                </p:cNvPr>
                <p:cNvPicPr>
                  <a:picLocks noChangeAspect="1" noChangeArrowheads="1"/>
                </p:cNvPicPr>
                <p:nvPr/>
              </p:nvPicPr>
              <p:blipFill>
                <a:blip r:embed="rId8">
                  <a:extLst>
                    <a:ext uri="{96DAC541-7B7A-43D3-8B79-37D633B846F1}">
                      <asvg:svgBlip xmlns:asvg="http://schemas.microsoft.com/office/drawing/2016/SVG/main" r:embed="rId9"/>
                    </a:ext>
                  </a:extLst>
                </a:blip>
                <a:srcRect/>
                <a:stretch/>
              </p:blipFill>
              <p:spPr bwMode="auto">
                <a:xfrm>
                  <a:off x="5246688" y="1185069"/>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Box 20">
                  <a:extLst>
                    <a:ext uri="{FF2B5EF4-FFF2-40B4-BE49-F238E27FC236}">
                      <a16:creationId xmlns:a16="http://schemas.microsoft.com/office/drawing/2014/main" id="{5AB4CCCE-3560-E87B-BC90-9BFA60E88416}"/>
                    </a:ext>
                  </a:extLst>
                </p:cNvPr>
                <p:cNvSpPr txBox="1">
                  <a:spLocks noChangeArrowheads="1"/>
                </p:cNvSpPr>
                <p:nvPr/>
              </p:nvSpPr>
              <p:spPr bwMode="auto">
                <a:xfrm>
                  <a:off x="4487863" y="1946275"/>
                  <a:ext cx="229235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AWS Lambda</a:t>
                  </a:r>
                </a:p>
              </p:txBody>
            </p:sp>
          </p:grpSp>
          <p:grpSp>
            <p:nvGrpSpPr>
              <p:cNvPr id="18" name="グループ化 17">
                <a:extLst>
                  <a:ext uri="{FF2B5EF4-FFF2-40B4-BE49-F238E27FC236}">
                    <a16:creationId xmlns:a16="http://schemas.microsoft.com/office/drawing/2014/main" id="{146D9DBF-21AB-3A3A-314B-D9EFC636C25C}"/>
                  </a:ext>
                </a:extLst>
              </p:cNvPr>
              <p:cNvGrpSpPr/>
              <p:nvPr/>
            </p:nvGrpSpPr>
            <p:grpSpPr>
              <a:xfrm>
                <a:off x="4456375" y="4258290"/>
                <a:ext cx="1924384" cy="880216"/>
                <a:chOff x="4487863" y="1174750"/>
                <a:chExt cx="2292350" cy="1048524"/>
              </a:xfrm>
            </p:grpSpPr>
            <p:pic>
              <p:nvPicPr>
                <p:cNvPr id="16" name="Graphic 19" descr="Amazon EventBridge service icon.">
                  <a:extLst>
                    <a:ext uri="{FF2B5EF4-FFF2-40B4-BE49-F238E27FC236}">
                      <a16:creationId xmlns:a16="http://schemas.microsoft.com/office/drawing/2014/main" id="{06D79EB9-CD8E-D921-A63A-FEC363B81F87}"/>
                    </a:ext>
                  </a:extLst>
                </p:cNvPr>
                <p:cNvPicPr>
                  <a:picLocks noChangeAspect="1" noChangeArrowheads="1"/>
                </p:cNvPicPr>
                <p:nvPr/>
              </p:nvPicPr>
              <p:blipFill>
                <a:blip r:embed="rId10">
                  <a:extLst>
                    <a:ext uri="{96DAC541-7B7A-43D3-8B79-37D633B846F1}">
                      <asvg:svgBlip xmlns:asvg="http://schemas.microsoft.com/office/drawing/2016/SVG/main" r:embed="rId11"/>
                    </a:ext>
                  </a:extLst>
                </a:blip>
                <a:srcRect/>
                <a:stretch/>
              </p:blipFill>
              <p:spPr bwMode="auto">
                <a:xfrm>
                  <a:off x="5245100" y="1174750"/>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TextBox 11">
                  <a:extLst>
                    <a:ext uri="{FF2B5EF4-FFF2-40B4-BE49-F238E27FC236}">
                      <a16:creationId xmlns:a16="http://schemas.microsoft.com/office/drawing/2014/main" id="{D2B8FE1A-D7B5-BD05-78E1-7E0245742750}"/>
                    </a:ext>
                  </a:extLst>
                </p:cNvPr>
                <p:cNvSpPr txBox="1">
                  <a:spLocks noChangeArrowheads="1"/>
                </p:cNvSpPr>
                <p:nvPr/>
              </p:nvSpPr>
              <p:spPr bwMode="auto">
                <a:xfrm>
                  <a:off x="4487863" y="1946275"/>
                  <a:ext cx="229235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Amazon </a:t>
                  </a:r>
                  <a:r>
                    <a:rPr lang="en-US" altLang="en-US" sz="1200" dirty="0" err="1">
                      <a:latin typeface="Arial" panose="020B0604020202020204" pitchFamily="34" charset="0"/>
                      <a:ea typeface="Amazon Ember" panose="020B0603020204020204" pitchFamily="34" charset="0"/>
                      <a:cs typeface="Arial" panose="020B0604020202020204" pitchFamily="34" charset="0"/>
                    </a:rPr>
                    <a:t>EventBridge</a:t>
                  </a:r>
                  <a:endParaRPr lang="en-US" altLang="en-US" sz="1200" dirty="0">
                    <a:latin typeface="Arial" panose="020B0604020202020204" pitchFamily="34" charset="0"/>
                    <a:ea typeface="Amazon Ember" panose="020B0603020204020204" pitchFamily="34" charset="0"/>
                    <a:cs typeface="Arial" panose="020B0604020202020204" pitchFamily="34" charset="0"/>
                  </a:endParaRPr>
                </a:p>
              </p:txBody>
            </p:sp>
          </p:grpSp>
          <p:grpSp>
            <p:nvGrpSpPr>
              <p:cNvPr id="21" name="グループ化 20">
                <a:extLst>
                  <a:ext uri="{FF2B5EF4-FFF2-40B4-BE49-F238E27FC236}">
                    <a16:creationId xmlns:a16="http://schemas.microsoft.com/office/drawing/2014/main" id="{530BFFF1-F9C7-AB67-3414-0536ED4EE679}"/>
                  </a:ext>
                </a:extLst>
              </p:cNvPr>
              <p:cNvGrpSpPr/>
              <p:nvPr/>
            </p:nvGrpSpPr>
            <p:grpSpPr>
              <a:xfrm>
                <a:off x="4474558" y="5571856"/>
                <a:ext cx="1883070" cy="872220"/>
                <a:chOff x="2249488" y="1184275"/>
                <a:chExt cx="2243137" cy="1038999"/>
              </a:xfrm>
            </p:grpSpPr>
            <p:pic>
              <p:nvPicPr>
                <p:cNvPr id="19" name="Graphic 17" descr="Amazon CloudWatch service icon.">
                  <a:extLst>
                    <a:ext uri="{FF2B5EF4-FFF2-40B4-BE49-F238E27FC236}">
                      <a16:creationId xmlns:a16="http://schemas.microsoft.com/office/drawing/2014/main" id="{69618510-49C4-F9D8-5120-4368FD31074D}"/>
                    </a:ext>
                  </a:extLst>
                </p:cNvPr>
                <p:cNvPicPr>
                  <a:picLocks noChangeAspect="1" noChangeArrowheads="1"/>
                </p:cNvPicPr>
                <p:nvPr/>
              </p:nvPicPr>
              <p:blipFill>
                <a:blip r:embed="rId12">
                  <a:extLst>
                    <a:ext uri="{96DAC541-7B7A-43D3-8B79-37D633B846F1}">
                      <asvg:svgBlip xmlns:asvg="http://schemas.microsoft.com/office/drawing/2016/SVG/main" r:embed="rId13"/>
                    </a:ext>
                  </a:extLst>
                </a:blip>
                <a:srcRect/>
                <a:stretch/>
              </p:blipFill>
              <p:spPr bwMode="auto">
                <a:xfrm>
                  <a:off x="2989263" y="1184275"/>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TextBox 9">
                  <a:extLst>
                    <a:ext uri="{FF2B5EF4-FFF2-40B4-BE49-F238E27FC236}">
                      <a16:creationId xmlns:a16="http://schemas.microsoft.com/office/drawing/2014/main" id="{C2C6E3A9-882E-293F-7DC4-EE11577C8E76}"/>
                    </a:ext>
                  </a:extLst>
                </p:cNvPr>
                <p:cNvSpPr txBox="1">
                  <a:spLocks noChangeArrowheads="1"/>
                </p:cNvSpPr>
                <p:nvPr/>
              </p:nvSpPr>
              <p:spPr bwMode="auto">
                <a:xfrm>
                  <a:off x="2249488" y="1946275"/>
                  <a:ext cx="224313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Amazon CloudWatch</a:t>
                  </a:r>
                </a:p>
              </p:txBody>
            </p:sp>
          </p:grpSp>
          <p:grpSp>
            <p:nvGrpSpPr>
              <p:cNvPr id="24" name="グループ化 23">
                <a:extLst>
                  <a:ext uri="{FF2B5EF4-FFF2-40B4-BE49-F238E27FC236}">
                    <a16:creationId xmlns:a16="http://schemas.microsoft.com/office/drawing/2014/main" id="{E052E160-89C0-EB19-BA3F-C930711D0562}"/>
                  </a:ext>
                </a:extLst>
              </p:cNvPr>
              <p:cNvGrpSpPr/>
              <p:nvPr/>
            </p:nvGrpSpPr>
            <p:grpSpPr>
              <a:xfrm>
                <a:off x="4461706" y="1605432"/>
                <a:ext cx="1913722" cy="1027242"/>
                <a:chOff x="6786563" y="1184275"/>
                <a:chExt cx="2279650" cy="1223665"/>
              </a:xfrm>
            </p:grpSpPr>
            <p:pic>
              <p:nvPicPr>
                <p:cNvPr id="22" name="Graphic 19" descr="AWS Identity and Access Management (IAM) service icon.">
                  <a:extLst>
                    <a:ext uri="{FF2B5EF4-FFF2-40B4-BE49-F238E27FC236}">
                      <a16:creationId xmlns:a16="http://schemas.microsoft.com/office/drawing/2014/main" id="{52249A7A-087B-8BB4-BC59-BF6EE5E209CE}"/>
                    </a:ext>
                  </a:extLst>
                </p:cNvPr>
                <p:cNvPicPr>
                  <a:picLocks noChangeAspect="1" noChangeArrowheads="1"/>
                </p:cNvPicPr>
                <p:nvPr/>
              </p:nvPicPr>
              <p:blipFill>
                <a:blip r:embed="rId14">
                  <a:extLst>
                    <a:ext uri="{96DAC541-7B7A-43D3-8B79-37D633B846F1}">
                      <asvg:svgBlip xmlns:asvg="http://schemas.microsoft.com/office/drawing/2016/SVG/main" r:embed="rId15"/>
                    </a:ext>
                  </a:extLst>
                </a:blip>
                <a:srcRect/>
                <a:stretch/>
              </p:blipFill>
              <p:spPr bwMode="auto">
                <a:xfrm>
                  <a:off x="7535863" y="1184275"/>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TextBox 12">
                  <a:extLst>
                    <a:ext uri="{FF2B5EF4-FFF2-40B4-BE49-F238E27FC236}">
                      <a16:creationId xmlns:a16="http://schemas.microsoft.com/office/drawing/2014/main" id="{42777B58-B9A0-9E94-E43D-63FAC9F1854E}"/>
                    </a:ext>
                  </a:extLst>
                </p:cNvPr>
                <p:cNvSpPr txBox="1">
                  <a:spLocks noChangeArrowheads="1"/>
                </p:cNvSpPr>
                <p:nvPr/>
              </p:nvSpPr>
              <p:spPr bwMode="auto">
                <a:xfrm>
                  <a:off x="6786563" y="1946275"/>
                  <a:ext cx="2279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AWS Identity and Access Management (IAM)</a:t>
                  </a:r>
                </a:p>
              </p:txBody>
            </p:sp>
          </p:grpSp>
          <p:grpSp>
            <p:nvGrpSpPr>
              <p:cNvPr id="27" name="グループ化 26">
                <a:extLst>
                  <a:ext uri="{FF2B5EF4-FFF2-40B4-BE49-F238E27FC236}">
                    <a16:creationId xmlns:a16="http://schemas.microsoft.com/office/drawing/2014/main" id="{05899D74-91B8-F1DA-7FF5-48FD7469A7CB}"/>
                  </a:ext>
                </a:extLst>
              </p:cNvPr>
              <p:cNvGrpSpPr/>
              <p:nvPr/>
            </p:nvGrpSpPr>
            <p:grpSpPr>
              <a:xfrm>
                <a:off x="67754" y="5565674"/>
                <a:ext cx="1913722" cy="873552"/>
                <a:chOff x="6786563" y="1182688"/>
                <a:chExt cx="2279650" cy="1040586"/>
              </a:xfrm>
            </p:grpSpPr>
            <p:pic>
              <p:nvPicPr>
                <p:cNvPr id="25" name="Graphic 23" descr="Amazon DynamoDB service icon.">
                  <a:extLst>
                    <a:ext uri="{FF2B5EF4-FFF2-40B4-BE49-F238E27FC236}">
                      <a16:creationId xmlns:a16="http://schemas.microsoft.com/office/drawing/2014/main" id="{D30DB932-78A9-2F7A-2619-9989CF4BFD6B}"/>
                    </a:ext>
                  </a:extLst>
                </p:cNvPr>
                <p:cNvPicPr>
                  <a:picLocks noChangeAspect="1" noChangeArrowheads="1"/>
                </p:cNvPicPr>
                <p:nvPr/>
              </p:nvPicPr>
              <p:blipFill>
                <a:blip r:embed="rId16">
                  <a:extLst>
                    <a:ext uri="{96DAC541-7B7A-43D3-8B79-37D633B846F1}">
                      <asvg:svgBlip xmlns:asvg="http://schemas.microsoft.com/office/drawing/2016/SVG/main" r:embed="rId17"/>
                    </a:ext>
                  </a:extLst>
                </a:blip>
                <a:srcRect/>
                <a:stretch/>
              </p:blipFill>
              <p:spPr bwMode="auto">
                <a:xfrm>
                  <a:off x="7534275" y="1182688"/>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TextBox 12">
                  <a:extLst>
                    <a:ext uri="{FF2B5EF4-FFF2-40B4-BE49-F238E27FC236}">
                      <a16:creationId xmlns:a16="http://schemas.microsoft.com/office/drawing/2014/main" id="{26152D95-4D20-F324-3DF2-A5C5F05591A6}"/>
                    </a:ext>
                  </a:extLst>
                </p:cNvPr>
                <p:cNvSpPr txBox="1">
                  <a:spLocks noChangeArrowheads="1"/>
                </p:cNvSpPr>
                <p:nvPr/>
              </p:nvSpPr>
              <p:spPr bwMode="auto">
                <a:xfrm>
                  <a:off x="6786563" y="1946275"/>
                  <a:ext cx="227965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Amazon DynamoDB</a:t>
                  </a:r>
                </a:p>
              </p:txBody>
            </p:sp>
          </p:grpSp>
          <p:sp>
            <p:nvSpPr>
              <p:cNvPr id="32" name="テキスト ボックス 31">
                <a:extLst>
                  <a:ext uri="{FF2B5EF4-FFF2-40B4-BE49-F238E27FC236}">
                    <a16:creationId xmlns:a16="http://schemas.microsoft.com/office/drawing/2014/main" id="{DB772241-5935-5E9D-A3F7-D4239EC2F5C7}"/>
                  </a:ext>
                </a:extLst>
              </p:cNvPr>
              <p:cNvSpPr txBox="1"/>
              <p:nvPr/>
            </p:nvSpPr>
            <p:spPr>
              <a:xfrm>
                <a:off x="1488021" y="1627592"/>
                <a:ext cx="2734733" cy="646331"/>
              </a:xfrm>
              <a:prstGeom prst="rect">
                <a:avLst/>
              </a:prstGeom>
              <a:noFill/>
            </p:spPr>
            <p:txBody>
              <a:bodyPr wrap="square" rtlCol="0">
                <a:spAutoFit/>
              </a:bodyPr>
              <a:lstStyle/>
              <a:p>
                <a:r>
                  <a:rPr kumimoji="1" lang="ja-JP" altLang="en-US" sz="1200" dirty="0"/>
                  <a:t>フロントエンド（</a:t>
                </a:r>
                <a:r>
                  <a:rPr kumimoji="1" lang="en-US" altLang="ja-JP" sz="1200" dirty="0"/>
                  <a:t>Web/</a:t>
                </a:r>
                <a:r>
                  <a:rPr kumimoji="1" lang="ja-JP" altLang="en-US" sz="1200" dirty="0"/>
                  <a:t>モバイル）の開発・デプロイ・ホスティングを迅速化するフレームワークおよび</a:t>
                </a:r>
                <a:r>
                  <a:rPr kumimoji="1" lang="en-US" altLang="ja-JP" sz="1200" dirty="0"/>
                  <a:t>PaaS</a:t>
                </a:r>
                <a:endParaRPr kumimoji="1" lang="ja-JP" altLang="en-US" sz="1200" dirty="0"/>
              </a:p>
            </p:txBody>
          </p:sp>
          <p:sp>
            <p:nvSpPr>
              <p:cNvPr id="33" name="テキスト ボックス 32">
                <a:extLst>
                  <a:ext uri="{FF2B5EF4-FFF2-40B4-BE49-F238E27FC236}">
                    <a16:creationId xmlns:a16="http://schemas.microsoft.com/office/drawing/2014/main" id="{98023460-0099-1E3E-3BDC-1434E3981D37}"/>
                  </a:ext>
                </a:extLst>
              </p:cNvPr>
              <p:cNvSpPr txBox="1"/>
              <p:nvPr/>
            </p:nvSpPr>
            <p:spPr>
              <a:xfrm>
                <a:off x="5876036" y="1627592"/>
                <a:ext cx="2734733" cy="646331"/>
              </a:xfrm>
              <a:prstGeom prst="rect">
                <a:avLst/>
              </a:prstGeom>
              <a:noFill/>
            </p:spPr>
            <p:txBody>
              <a:bodyPr wrap="square" rtlCol="0">
                <a:spAutoFit/>
              </a:bodyPr>
              <a:lstStyle/>
              <a:p>
                <a:r>
                  <a:rPr kumimoji="1" lang="en-US" altLang="ja-JP" sz="1200" dirty="0"/>
                  <a:t>AWS</a:t>
                </a:r>
                <a:r>
                  <a:rPr kumimoji="1" lang="ja-JP" altLang="en-US" sz="1200" dirty="0"/>
                  <a:t>サービスやリソースへのアクセスを安全に制御するための権限管理サービス</a:t>
                </a:r>
              </a:p>
            </p:txBody>
          </p:sp>
          <p:sp>
            <p:nvSpPr>
              <p:cNvPr id="34" name="テキスト ボックス 33">
                <a:extLst>
                  <a:ext uri="{FF2B5EF4-FFF2-40B4-BE49-F238E27FC236}">
                    <a16:creationId xmlns:a16="http://schemas.microsoft.com/office/drawing/2014/main" id="{CAED752B-7AB4-2031-DD9F-BDC5136BE931}"/>
                  </a:ext>
                </a:extLst>
              </p:cNvPr>
              <p:cNvSpPr txBox="1"/>
              <p:nvPr/>
            </p:nvSpPr>
            <p:spPr>
              <a:xfrm>
                <a:off x="1488020" y="2935662"/>
                <a:ext cx="2734733" cy="646331"/>
              </a:xfrm>
              <a:prstGeom prst="rect">
                <a:avLst/>
              </a:prstGeom>
              <a:noFill/>
            </p:spPr>
            <p:txBody>
              <a:bodyPr wrap="square" rtlCol="0">
                <a:spAutoFit/>
              </a:bodyPr>
              <a:lstStyle/>
              <a:p>
                <a:r>
                  <a:rPr kumimoji="1" lang="en-US" altLang="ja-JP" sz="1200" dirty="0"/>
                  <a:t>RESTful API</a:t>
                </a:r>
                <a:r>
                  <a:rPr kumimoji="1" lang="ja-JP" altLang="en-US" sz="1200" dirty="0"/>
                  <a:t>および</a:t>
                </a:r>
                <a:r>
                  <a:rPr kumimoji="1" lang="en-US" altLang="ja-JP" sz="1200" dirty="0"/>
                  <a:t>WebSocket API</a:t>
                </a:r>
                <a:r>
                  <a:rPr kumimoji="1" lang="ja-JP" altLang="en-US" sz="1200" dirty="0"/>
                  <a:t>の作成・公開・保守・保護を行うフルマネージドサービス</a:t>
                </a:r>
              </a:p>
            </p:txBody>
          </p:sp>
          <p:sp>
            <p:nvSpPr>
              <p:cNvPr id="35" name="テキスト ボックス 34">
                <a:extLst>
                  <a:ext uri="{FF2B5EF4-FFF2-40B4-BE49-F238E27FC236}">
                    <a16:creationId xmlns:a16="http://schemas.microsoft.com/office/drawing/2014/main" id="{89BD3C36-19F5-68FF-627E-E926B21D8D3E}"/>
                  </a:ext>
                </a:extLst>
              </p:cNvPr>
              <p:cNvSpPr txBox="1"/>
              <p:nvPr/>
            </p:nvSpPr>
            <p:spPr>
              <a:xfrm>
                <a:off x="1488020" y="4259640"/>
                <a:ext cx="2734733" cy="646331"/>
              </a:xfrm>
              <a:prstGeom prst="rect">
                <a:avLst/>
              </a:prstGeom>
              <a:noFill/>
            </p:spPr>
            <p:txBody>
              <a:bodyPr wrap="square" rtlCol="0">
                <a:spAutoFit/>
              </a:bodyPr>
              <a:lstStyle/>
              <a:p>
                <a:r>
                  <a:rPr kumimoji="1" lang="ja-JP" altLang="en-US" sz="1200" dirty="0"/>
                  <a:t>サーバーの管理不要でコードを実行する，イベント駆動型のコンピューティングサービス</a:t>
                </a:r>
              </a:p>
            </p:txBody>
          </p:sp>
          <p:sp>
            <p:nvSpPr>
              <p:cNvPr id="36" name="テキスト ボックス 35">
                <a:extLst>
                  <a:ext uri="{FF2B5EF4-FFF2-40B4-BE49-F238E27FC236}">
                    <a16:creationId xmlns:a16="http://schemas.microsoft.com/office/drawing/2014/main" id="{C18BC10D-3B8C-FD29-AD16-DDF7F8D8E3BB}"/>
                  </a:ext>
                </a:extLst>
              </p:cNvPr>
              <p:cNvSpPr txBox="1"/>
              <p:nvPr/>
            </p:nvSpPr>
            <p:spPr>
              <a:xfrm>
                <a:off x="1488019" y="5568532"/>
                <a:ext cx="2734733" cy="646331"/>
              </a:xfrm>
              <a:prstGeom prst="rect">
                <a:avLst/>
              </a:prstGeom>
              <a:noFill/>
            </p:spPr>
            <p:txBody>
              <a:bodyPr wrap="square" rtlCol="0">
                <a:spAutoFit/>
              </a:bodyPr>
              <a:lstStyle/>
              <a:p>
                <a:r>
                  <a:rPr kumimoji="1" lang="ja-JP" altLang="en-US" sz="1200" dirty="0"/>
                  <a:t>任意の規模に対応する，高速かつ柔軟なフルマネージド</a:t>
                </a:r>
                <a:r>
                  <a:rPr kumimoji="1" lang="en-US" altLang="ja-JP" sz="1200" dirty="0"/>
                  <a:t>NoSQL</a:t>
                </a:r>
                <a:r>
                  <a:rPr kumimoji="1" lang="ja-JP" altLang="en-US" sz="1200" dirty="0"/>
                  <a:t>データベースサービス</a:t>
                </a:r>
              </a:p>
            </p:txBody>
          </p:sp>
          <p:sp>
            <p:nvSpPr>
              <p:cNvPr id="37" name="テキスト ボックス 36">
                <a:extLst>
                  <a:ext uri="{FF2B5EF4-FFF2-40B4-BE49-F238E27FC236}">
                    <a16:creationId xmlns:a16="http://schemas.microsoft.com/office/drawing/2014/main" id="{1AEB225F-EE53-5908-7C93-7E42990EAAF9}"/>
                  </a:ext>
                </a:extLst>
              </p:cNvPr>
              <p:cNvSpPr txBox="1"/>
              <p:nvPr/>
            </p:nvSpPr>
            <p:spPr>
              <a:xfrm>
                <a:off x="5876035" y="2935661"/>
                <a:ext cx="2734733" cy="646331"/>
              </a:xfrm>
              <a:prstGeom prst="rect">
                <a:avLst/>
              </a:prstGeom>
              <a:noFill/>
            </p:spPr>
            <p:txBody>
              <a:bodyPr wrap="square" rtlCol="0">
                <a:spAutoFit/>
              </a:bodyPr>
              <a:lstStyle/>
              <a:p>
                <a:r>
                  <a:rPr kumimoji="1" lang="ja-JP" altLang="en-US" sz="1200" dirty="0"/>
                  <a:t>ユーザーのサインアップ・サインイン・アクセスコントロールを提供するアイデンティティ管理サービス</a:t>
                </a:r>
              </a:p>
            </p:txBody>
          </p:sp>
          <p:sp>
            <p:nvSpPr>
              <p:cNvPr id="38" name="テキスト ボックス 37">
                <a:extLst>
                  <a:ext uri="{FF2B5EF4-FFF2-40B4-BE49-F238E27FC236}">
                    <a16:creationId xmlns:a16="http://schemas.microsoft.com/office/drawing/2014/main" id="{8BD2A0E1-8879-C2DF-9E72-29BB3D6DDA67}"/>
                  </a:ext>
                </a:extLst>
              </p:cNvPr>
              <p:cNvSpPr txBox="1"/>
              <p:nvPr/>
            </p:nvSpPr>
            <p:spPr>
              <a:xfrm>
                <a:off x="5876035" y="4263994"/>
                <a:ext cx="2734733" cy="646331"/>
              </a:xfrm>
              <a:prstGeom prst="rect">
                <a:avLst/>
              </a:prstGeom>
              <a:noFill/>
            </p:spPr>
            <p:txBody>
              <a:bodyPr wrap="square" rtlCol="0">
                <a:spAutoFit/>
              </a:bodyPr>
              <a:lstStyle/>
              <a:p>
                <a:r>
                  <a:rPr kumimoji="1" lang="ja-JP" altLang="en-US" sz="1200" dirty="0"/>
                  <a:t>アプリケーション間のイベントを連携させる，サーバーレスのイベントバスサービス</a:t>
                </a:r>
              </a:p>
            </p:txBody>
          </p:sp>
          <p:sp>
            <p:nvSpPr>
              <p:cNvPr id="39" name="テキスト ボックス 38">
                <a:extLst>
                  <a:ext uri="{FF2B5EF4-FFF2-40B4-BE49-F238E27FC236}">
                    <a16:creationId xmlns:a16="http://schemas.microsoft.com/office/drawing/2014/main" id="{B71D087B-742F-3A57-C512-02E6865E7163}"/>
                  </a:ext>
                </a:extLst>
              </p:cNvPr>
              <p:cNvSpPr txBox="1"/>
              <p:nvPr/>
            </p:nvSpPr>
            <p:spPr>
              <a:xfrm>
                <a:off x="5876035" y="5568532"/>
                <a:ext cx="2734733" cy="646331"/>
              </a:xfrm>
              <a:prstGeom prst="rect">
                <a:avLst/>
              </a:prstGeom>
              <a:noFill/>
            </p:spPr>
            <p:txBody>
              <a:bodyPr wrap="square" rtlCol="0">
                <a:spAutoFit/>
              </a:bodyPr>
              <a:lstStyle/>
              <a:p>
                <a:r>
                  <a:rPr kumimoji="1" lang="ja-JP" altLang="en-US" sz="1200" dirty="0"/>
                  <a:t>リソースとアプリケーションの監視・ロギング・アラートを行う統合監視サービス</a:t>
                </a:r>
              </a:p>
            </p:txBody>
          </p:sp>
        </p:grpSp>
        <p:sp>
          <p:nvSpPr>
            <p:cNvPr id="3" name="正方形/長方形 2">
              <a:extLst>
                <a:ext uri="{FF2B5EF4-FFF2-40B4-BE49-F238E27FC236}">
                  <a16:creationId xmlns:a16="http://schemas.microsoft.com/office/drawing/2014/main" id="{B58B061D-F195-3830-7A32-A243A44CA85B}"/>
                </a:ext>
              </a:extLst>
            </p:cNvPr>
            <p:cNvSpPr/>
            <p:nvPr/>
          </p:nvSpPr>
          <p:spPr>
            <a:xfrm>
              <a:off x="171123" y="1405288"/>
              <a:ext cx="4240306" cy="1180432"/>
            </a:xfrm>
            <a:prstGeom prst="rect">
              <a:avLst/>
            </a:prstGeom>
            <a:solidFill>
              <a:srgbClr val="FFFFFF">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bIns="0" rtlCol="0" anchor="ctr"/>
            <a:lstStyle/>
            <a:p>
              <a:pPr algn="ctr"/>
              <a:r>
                <a:rPr kumimoji="1" lang="en-US" altLang="ja-JP" b="1" dirty="0"/>
                <a:t>Front-End Web &amp; Mobile</a:t>
              </a:r>
              <a:endParaRPr kumimoji="1" lang="ja-JP" altLang="en-US" b="1" dirty="0"/>
            </a:p>
          </p:txBody>
        </p:sp>
        <p:sp>
          <p:nvSpPr>
            <p:cNvPr id="28" name="正方形/長方形 27">
              <a:extLst>
                <a:ext uri="{FF2B5EF4-FFF2-40B4-BE49-F238E27FC236}">
                  <a16:creationId xmlns:a16="http://schemas.microsoft.com/office/drawing/2014/main" id="{43C9C270-7124-0E6D-3A47-7F1A4765D6FE}"/>
                </a:ext>
              </a:extLst>
            </p:cNvPr>
            <p:cNvSpPr/>
            <p:nvPr/>
          </p:nvSpPr>
          <p:spPr>
            <a:xfrm>
              <a:off x="4572000" y="1405287"/>
              <a:ext cx="4240306" cy="2511779"/>
            </a:xfrm>
            <a:prstGeom prst="rect">
              <a:avLst/>
            </a:prstGeom>
            <a:solidFill>
              <a:srgbClr val="FFFFFF">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bIns="0" rtlCol="0" anchor="ctr"/>
            <a:lstStyle/>
            <a:p>
              <a:pPr algn="ctr"/>
              <a:r>
                <a:rPr lang="en-US" altLang="en-US" b="1" dirty="0">
                  <a:solidFill>
                    <a:schemeClr val="tx1"/>
                  </a:solidFill>
                </a:rPr>
                <a:t>Security, Identity,</a:t>
              </a:r>
            </a:p>
            <a:p>
              <a:pPr algn="ctr"/>
              <a:r>
                <a:rPr lang="en-US" altLang="en-US" b="1" dirty="0">
                  <a:solidFill>
                    <a:schemeClr val="tx1"/>
                  </a:solidFill>
                </a:rPr>
                <a:t>&amp; Compliance</a:t>
              </a:r>
              <a:endParaRPr kumimoji="1" lang="ja-JP" altLang="en-US" b="1" dirty="0">
                <a:solidFill>
                  <a:schemeClr val="tx1"/>
                </a:solidFill>
              </a:endParaRPr>
            </a:p>
          </p:txBody>
        </p:sp>
        <p:sp>
          <p:nvSpPr>
            <p:cNvPr id="29" name="正方形/長方形 28">
              <a:extLst>
                <a:ext uri="{FF2B5EF4-FFF2-40B4-BE49-F238E27FC236}">
                  <a16:creationId xmlns:a16="http://schemas.microsoft.com/office/drawing/2014/main" id="{70D130A7-1137-7DE6-B831-94D5AC35956D}"/>
                </a:ext>
              </a:extLst>
            </p:cNvPr>
            <p:cNvSpPr/>
            <p:nvPr/>
          </p:nvSpPr>
          <p:spPr>
            <a:xfrm>
              <a:off x="171123" y="2739977"/>
              <a:ext cx="4240306" cy="1180432"/>
            </a:xfrm>
            <a:prstGeom prst="rect">
              <a:avLst/>
            </a:prstGeom>
            <a:solidFill>
              <a:srgbClr val="FFFFFF">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bIns="0" rtlCol="0" anchor="ctr"/>
            <a:lstStyle/>
            <a:p>
              <a:pPr algn="ctr"/>
              <a:r>
                <a:rPr lang="en-US" altLang="en-US" b="1" dirty="0"/>
                <a:t>Networking </a:t>
              </a:r>
            </a:p>
            <a:p>
              <a:pPr algn="ctr"/>
              <a:r>
                <a:rPr lang="en-US" altLang="en-US" b="1" dirty="0"/>
                <a:t>&amp; Content Delivery</a:t>
              </a:r>
              <a:endParaRPr kumimoji="1" lang="ja-JP" altLang="en-US" b="1" dirty="0"/>
            </a:p>
          </p:txBody>
        </p:sp>
        <p:sp>
          <p:nvSpPr>
            <p:cNvPr id="31" name="正方形/長方形 30">
              <a:extLst>
                <a:ext uri="{FF2B5EF4-FFF2-40B4-BE49-F238E27FC236}">
                  <a16:creationId xmlns:a16="http://schemas.microsoft.com/office/drawing/2014/main" id="{E309A541-2D6F-7211-C7B8-9322E832A5CD}"/>
                </a:ext>
              </a:extLst>
            </p:cNvPr>
            <p:cNvSpPr/>
            <p:nvPr/>
          </p:nvSpPr>
          <p:spPr>
            <a:xfrm>
              <a:off x="171123" y="4059556"/>
              <a:ext cx="4240306" cy="1180432"/>
            </a:xfrm>
            <a:prstGeom prst="rect">
              <a:avLst/>
            </a:prstGeom>
            <a:solidFill>
              <a:srgbClr val="FFFFFF">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bIns="0" rtlCol="0" anchor="ctr"/>
            <a:lstStyle/>
            <a:p>
              <a:pPr algn="ctr"/>
              <a:r>
                <a:rPr lang="en-US" altLang="en-US" b="1" dirty="0"/>
                <a:t>Compute</a:t>
              </a:r>
              <a:endParaRPr kumimoji="1" lang="ja-JP" altLang="en-US" b="1" dirty="0"/>
            </a:p>
          </p:txBody>
        </p:sp>
        <p:sp>
          <p:nvSpPr>
            <p:cNvPr id="41" name="正方形/長方形 40">
              <a:extLst>
                <a:ext uri="{FF2B5EF4-FFF2-40B4-BE49-F238E27FC236}">
                  <a16:creationId xmlns:a16="http://schemas.microsoft.com/office/drawing/2014/main" id="{1E18D58E-59B4-B496-7C73-FC233DFD657D}"/>
                </a:ext>
              </a:extLst>
            </p:cNvPr>
            <p:cNvSpPr/>
            <p:nvPr/>
          </p:nvSpPr>
          <p:spPr>
            <a:xfrm>
              <a:off x="4572000" y="4059556"/>
              <a:ext cx="4240306" cy="1180432"/>
            </a:xfrm>
            <a:prstGeom prst="rect">
              <a:avLst/>
            </a:prstGeom>
            <a:solidFill>
              <a:srgbClr val="FFFFFF">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bIns="0" rtlCol="0" anchor="ctr"/>
            <a:lstStyle/>
            <a:p>
              <a:pPr algn="ctr"/>
              <a:r>
                <a:rPr lang="en-US" altLang="en-US" b="1" dirty="0"/>
                <a:t>Application Integration</a:t>
              </a:r>
              <a:endParaRPr kumimoji="1" lang="ja-JP" altLang="en-US" b="1" dirty="0"/>
            </a:p>
          </p:txBody>
        </p:sp>
        <p:sp>
          <p:nvSpPr>
            <p:cNvPr id="42" name="正方形/長方形 41">
              <a:extLst>
                <a:ext uri="{FF2B5EF4-FFF2-40B4-BE49-F238E27FC236}">
                  <a16:creationId xmlns:a16="http://schemas.microsoft.com/office/drawing/2014/main" id="{72B1BFE4-C113-0766-06BE-565E6FBD2080}"/>
                </a:ext>
              </a:extLst>
            </p:cNvPr>
            <p:cNvSpPr/>
            <p:nvPr/>
          </p:nvSpPr>
          <p:spPr>
            <a:xfrm>
              <a:off x="171123" y="5375654"/>
              <a:ext cx="4240306" cy="1180432"/>
            </a:xfrm>
            <a:prstGeom prst="rect">
              <a:avLst/>
            </a:prstGeom>
            <a:solidFill>
              <a:srgbClr val="FFFFFF">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bIns="0" rtlCol="0" anchor="ctr"/>
            <a:lstStyle/>
            <a:p>
              <a:pPr algn="ctr"/>
              <a:r>
                <a:rPr lang="en-US" altLang="en-US" b="1" dirty="0"/>
                <a:t>Database</a:t>
              </a:r>
              <a:endParaRPr kumimoji="1" lang="ja-JP" altLang="en-US" b="1" dirty="0"/>
            </a:p>
          </p:txBody>
        </p:sp>
        <p:sp>
          <p:nvSpPr>
            <p:cNvPr id="43" name="正方形/長方形 42">
              <a:extLst>
                <a:ext uri="{FF2B5EF4-FFF2-40B4-BE49-F238E27FC236}">
                  <a16:creationId xmlns:a16="http://schemas.microsoft.com/office/drawing/2014/main" id="{CEEA418D-A71A-6C9F-BE7A-81920DF89483}"/>
                </a:ext>
              </a:extLst>
            </p:cNvPr>
            <p:cNvSpPr/>
            <p:nvPr/>
          </p:nvSpPr>
          <p:spPr>
            <a:xfrm>
              <a:off x="4572000" y="5375654"/>
              <a:ext cx="4240306" cy="1180432"/>
            </a:xfrm>
            <a:prstGeom prst="rect">
              <a:avLst/>
            </a:prstGeom>
            <a:solidFill>
              <a:srgbClr val="FFFFFF">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bIns="0" rtlCol="0" anchor="ctr"/>
            <a:lstStyle/>
            <a:p>
              <a:pPr algn="ctr"/>
              <a:r>
                <a:rPr lang="en-US" altLang="en-US" b="1" dirty="0"/>
                <a:t>Management &amp; Governance</a:t>
              </a:r>
              <a:endParaRPr kumimoji="1" lang="ja-JP" altLang="en-US" b="1" dirty="0"/>
            </a:p>
          </p:txBody>
        </p:sp>
      </p:grpSp>
    </p:spTree>
    <p:extLst>
      <p:ext uri="{BB962C8B-B14F-4D97-AF65-F5344CB8AC3E}">
        <p14:creationId xmlns:p14="http://schemas.microsoft.com/office/powerpoint/2010/main" val="40105631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8AC679-668E-131D-0219-48B6394C372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0458122-A51E-322D-CBE7-5011F053DA19}"/>
              </a:ext>
            </a:extLst>
          </p:cNvPr>
          <p:cNvSpPr>
            <a:spLocks noGrp="1"/>
          </p:cNvSpPr>
          <p:nvPr>
            <p:ph type="title"/>
          </p:nvPr>
        </p:nvSpPr>
        <p:spPr/>
        <p:txBody>
          <a:bodyPr/>
          <a:lstStyle/>
          <a:p>
            <a:r>
              <a:rPr kumimoji="1" lang="ja-JP" altLang="en-US" dirty="0"/>
              <a:t>在室確認システムのアーキテクチャ</a:t>
            </a:r>
          </a:p>
        </p:txBody>
      </p:sp>
      <p:grpSp>
        <p:nvGrpSpPr>
          <p:cNvPr id="230" name="グループ化 229">
            <a:extLst>
              <a:ext uri="{FF2B5EF4-FFF2-40B4-BE49-F238E27FC236}">
                <a16:creationId xmlns:a16="http://schemas.microsoft.com/office/drawing/2014/main" id="{6ED9984A-F1EA-D3F0-95A5-468A8756E8A8}"/>
              </a:ext>
            </a:extLst>
          </p:cNvPr>
          <p:cNvGrpSpPr/>
          <p:nvPr/>
        </p:nvGrpSpPr>
        <p:grpSpPr>
          <a:xfrm>
            <a:off x="6904519" y="4385283"/>
            <a:ext cx="1058068" cy="814611"/>
            <a:chOff x="4098454" y="2667000"/>
            <a:chExt cx="1502808" cy="1157017"/>
          </a:xfrm>
        </p:grpSpPr>
        <p:pic>
          <p:nvPicPr>
            <p:cNvPr id="298" name="Graphic 23" descr="Amazon DynamoDB service icon.">
              <a:extLst>
                <a:ext uri="{FF2B5EF4-FFF2-40B4-BE49-F238E27FC236}">
                  <a16:creationId xmlns:a16="http://schemas.microsoft.com/office/drawing/2014/main" id="{57EBC8D7-8FDB-C808-2374-E714790BB52C}"/>
                </a:ext>
              </a:extLst>
            </p:cNvPr>
            <p:cNvPicPr>
              <a:picLocks noChangeAspect="1" noChangeArrowheads="1"/>
            </p:cNvPicPr>
            <p:nvPr/>
          </p:nvPicPr>
          <p:blipFill>
            <a:blip r:embed="rId2">
              <a:extLst>
                <a:ext uri="{96DAC541-7B7A-43D3-8B79-37D633B846F1}">
                  <asvg:svgBlip xmlns:asvg="http://schemas.microsoft.com/office/drawing/2016/SVG/main" r:embed="rId3"/>
                </a:ext>
              </a:extLst>
            </a:blip>
            <a:srcRect/>
            <a:stretch/>
          </p:blipFill>
          <p:spPr bwMode="auto">
            <a:xfrm>
              <a:off x="4468858" y="2667000"/>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9" name="TextBox 12">
              <a:extLst>
                <a:ext uri="{FF2B5EF4-FFF2-40B4-BE49-F238E27FC236}">
                  <a16:creationId xmlns:a16="http://schemas.microsoft.com/office/drawing/2014/main" id="{ECE72C58-19F9-8CA9-3F10-523AACDA10D3}"/>
                </a:ext>
              </a:extLst>
            </p:cNvPr>
            <p:cNvSpPr txBox="1">
              <a:spLocks noChangeArrowheads="1"/>
            </p:cNvSpPr>
            <p:nvPr/>
          </p:nvSpPr>
          <p:spPr bwMode="auto">
            <a:xfrm>
              <a:off x="4098454" y="3430587"/>
              <a:ext cx="1502808" cy="393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DynamoDB</a:t>
              </a:r>
            </a:p>
          </p:txBody>
        </p:sp>
      </p:grpSp>
      <p:grpSp>
        <p:nvGrpSpPr>
          <p:cNvPr id="231" name="グループ化 230">
            <a:extLst>
              <a:ext uri="{FF2B5EF4-FFF2-40B4-BE49-F238E27FC236}">
                <a16:creationId xmlns:a16="http://schemas.microsoft.com/office/drawing/2014/main" id="{B47DA47E-2F12-391B-F685-4985835DCBD7}"/>
              </a:ext>
            </a:extLst>
          </p:cNvPr>
          <p:cNvGrpSpPr/>
          <p:nvPr/>
        </p:nvGrpSpPr>
        <p:grpSpPr>
          <a:xfrm>
            <a:off x="4522361" y="4382693"/>
            <a:ext cx="1117700" cy="998159"/>
            <a:chOff x="2576510" y="1184275"/>
            <a:chExt cx="1587506" cy="1417718"/>
          </a:xfrm>
        </p:grpSpPr>
        <p:pic>
          <p:nvPicPr>
            <p:cNvPr id="296" name="Graphic 7" descr="Amazon API Gateway service icon.">
              <a:extLst>
                <a:ext uri="{FF2B5EF4-FFF2-40B4-BE49-F238E27FC236}">
                  <a16:creationId xmlns:a16="http://schemas.microsoft.com/office/drawing/2014/main" id="{B9A5F7E3-4B1B-8A8E-648F-8F514934AB37}"/>
                </a:ext>
              </a:extLst>
            </p:cNvPr>
            <p:cNvPicPr>
              <a:picLocks noChangeAspect="1" noChangeArrowheads="1"/>
            </p:cNvPicPr>
            <p:nvPr/>
          </p:nvPicPr>
          <p:blipFill>
            <a:blip r:embed="rId4">
              <a:extLst>
                <a:ext uri="{96DAC541-7B7A-43D3-8B79-37D633B846F1}">
                  <asvg:svgBlip xmlns:asvg="http://schemas.microsoft.com/office/drawing/2016/SVG/main" r:embed="rId5"/>
                </a:ext>
              </a:extLst>
            </a:blip>
            <a:srcRect/>
            <a:stretch/>
          </p:blipFill>
          <p:spPr bwMode="auto">
            <a:xfrm>
              <a:off x="2989263" y="1184275"/>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 name="TextBox 9">
              <a:extLst>
                <a:ext uri="{FF2B5EF4-FFF2-40B4-BE49-F238E27FC236}">
                  <a16:creationId xmlns:a16="http://schemas.microsoft.com/office/drawing/2014/main" id="{72E799EF-DE6F-22CB-5BBD-7194073B86D8}"/>
                </a:ext>
              </a:extLst>
            </p:cNvPr>
            <p:cNvSpPr txBox="1">
              <a:spLocks noChangeArrowheads="1"/>
            </p:cNvSpPr>
            <p:nvPr/>
          </p:nvSpPr>
          <p:spPr bwMode="auto">
            <a:xfrm>
              <a:off x="2576510" y="1946275"/>
              <a:ext cx="1587506" cy="655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API Gateway</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(REST API)</a:t>
              </a:r>
            </a:p>
          </p:txBody>
        </p:sp>
      </p:grpSp>
      <p:grpSp>
        <p:nvGrpSpPr>
          <p:cNvPr id="232" name="グループ化 231">
            <a:extLst>
              <a:ext uri="{FF2B5EF4-FFF2-40B4-BE49-F238E27FC236}">
                <a16:creationId xmlns:a16="http://schemas.microsoft.com/office/drawing/2014/main" id="{7651099C-4A3B-20C9-EB88-2D4C03722985}"/>
              </a:ext>
            </a:extLst>
          </p:cNvPr>
          <p:cNvGrpSpPr/>
          <p:nvPr/>
        </p:nvGrpSpPr>
        <p:grpSpPr>
          <a:xfrm>
            <a:off x="5850438" y="4382385"/>
            <a:ext cx="820861" cy="812933"/>
            <a:chOff x="5051089" y="1185069"/>
            <a:chExt cx="1165896" cy="1154637"/>
          </a:xfrm>
        </p:grpSpPr>
        <p:pic>
          <p:nvPicPr>
            <p:cNvPr id="294" name="Graphic 10" descr="AWS Lambda service icon.">
              <a:extLst>
                <a:ext uri="{FF2B5EF4-FFF2-40B4-BE49-F238E27FC236}">
                  <a16:creationId xmlns:a16="http://schemas.microsoft.com/office/drawing/2014/main" id="{16D653DD-C470-B89F-D5C5-F01B660EF2E5}"/>
                </a:ext>
              </a:extLst>
            </p:cNvPr>
            <p:cNvPicPr>
              <a:picLocks noChangeAspect="1" noChangeArrowheads="1"/>
            </p:cNvPicPr>
            <p:nvPr/>
          </p:nvPicPr>
          <p:blipFill>
            <a:blip r:embed="rId6">
              <a:extLst>
                <a:ext uri="{96DAC541-7B7A-43D3-8B79-37D633B846F1}">
                  <asvg:svgBlip xmlns:asvg="http://schemas.microsoft.com/office/drawing/2016/SVG/main" r:embed="rId7"/>
                </a:ext>
              </a:extLst>
            </a:blip>
            <a:srcRect/>
            <a:stretch/>
          </p:blipFill>
          <p:spPr bwMode="auto">
            <a:xfrm>
              <a:off x="5246688" y="1185069"/>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5" name="TextBox 20">
              <a:extLst>
                <a:ext uri="{FF2B5EF4-FFF2-40B4-BE49-F238E27FC236}">
                  <a16:creationId xmlns:a16="http://schemas.microsoft.com/office/drawing/2014/main" id="{023487EA-154C-9F0E-A8D7-80237BEC93B1}"/>
                </a:ext>
              </a:extLst>
            </p:cNvPr>
            <p:cNvSpPr txBox="1">
              <a:spLocks noChangeArrowheads="1"/>
            </p:cNvSpPr>
            <p:nvPr/>
          </p:nvSpPr>
          <p:spPr bwMode="auto">
            <a:xfrm>
              <a:off x="5051089" y="1946275"/>
              <a:ext cx="1165896" cy="393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Lambda</a:t>
              </a:r>
            </a:p>
          </p:txBody>
        </p:sp>
      </p:grpSp>
      <p:grpSp>
        <p:nvGrpSpPr>
          <p:cNvPr id="233" name="グループ化 232">
            <a:extLst>
              <a:ext uri="{FF2B5EF4-FFF2-40B4-BE49-F238E27FC236}">
                <a16:creationId xmlns:a16="http://schemas.microsoft.com/office/drawing/2014/main" id="{230D2008-BC1E-4064-EEBC-19D2825C6EE0}"/>
              </a:ext>
            </a:extLst>
          </p:cNvPr>
          <p:cNvGrpSpPr/>
          <p:nvPr/>
        </p:nvGrpSpPr>
        <p:grpSpPr>
          <a:xfrm>
            <a:off x="6894823" y="5692118"/>
            <a:ext cx="1068518" cy="813493"/>
            <a:chOff x="-6240556" y="-4075450"/>
            <a:chExt cx="1517651" cy="1155431"/>
          </a:xfrm>
        </p:grpSpPr>
        <p:pic>
          <p:nvPicPr>
            <p:cNvPr id="292" name="Graphic 17" descr="Amazon CloudWatch service icon.">
              <a:extLst>
                <a:ext uri="{FF2B5EF4-FFF2-40B4-BE49-F238E27FC236}">
                  <a16:creationId xmlns:a16="http://schemas.microsoft.com/office/drawing/2014/main" id="{D83F9203-8A56-C197-A6FC-1F33152185E9}"/>
                </a:ext>
              </a:extLst>
            </p:cNvPr>
            <p:cNvPicPr>
              <a:picLocks noChangeAspect="1" noChangeArrowheads="1"/>
            </p:cNvPicPr>
            <p:nvPr/>
          </p:nvPicPr>
          <p:blipFill>
            <a:blip r:embed="rId8">
              <a:extLst>
                <a:ext uri="{96DAC541-7B7A-43D3-8B79-37D633B846F1}">
                  <asvg:svgBlip xmlns:asvg="http://schemas.microsoft.com/office/drawing/2016/SVG/main" r:embed="rId9"/>
                </a:ext>
              </a:extLst>
            </a:blip>
            <a:srcRect/>
            <a:stretch/>
          </p:blipFill>
          <p:spPr bwMode="auto">
            <a:xfrm>
              <a:off x="-5862730" y="-4075450"/>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3" name="TextBox 9">
              <a:extLst>
                <a:ext uri="{FF2B5EF4-FFF2-40B4-BE49-F238E27FC236}">
                  <a16:creationId xmlns:a16="http://schemas.microsoft.com/office/drawing/2014/main" id="{63E15C43-389C-A45B-9233-FA35B230FC07}"/>
                </a:ext>
              </a:extLst>
            </p:cNvPr>
            <p:cNvSpPr txBox="1">
              <a:spLocks noChangeArrowheads="1"/>
            </p:cNvSpPr>
            <p:nvPr/>
          </p:nvSpPr>
          <p:spPr bwMode="auto">
            <a:xfrm>
              <a:off x="-6240556" y="-3313450"/>
              <a:ext cx="1517651" cy="393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CloudWatch</a:t>
              </a:r>
            </a:p>
          </p:txBody>
        </p:sp>
      </p:grpSp>
      <p:grpSp>
        <p:nvGrpSpPr>
          <p:cNvPr id="234" name="グループ化 233">
            <a:extLst>
              <a:ext uri="{FF2B5EF4-FFF2-40B4-BE49-F238E27FC236}">
                <a16:creationId xmlns:a16="http://schemas.microsoft.com/office/drawing/2014/main" id="{DDFA87EC-9573-89B3-55E0-1048B8970FF1}"/>
              </a:ext>
            </a:extLst>
          </p:cNvPr>
          <p:cNvGrpSpPr/>
          <p:nvPr/>
        </p:nvGrpSpPr>
        <p:grpSpPr>
          <a:xfrm>
            <a:off x="4815974" y="5696629"/>
            <a:ext cx="536494" cy="813493"/>
            <a:chOff x="7535863" y="1001200"/>
            <a:chExt cx="762000" cy="1155431"/>
          </a:xfrm>
        </p:grpSpPr>
        <p:pic>
          <p:nvPicPr>
            <p:cNvPr id="290" name="Graphic 19" descr="AWS Identity and Access Management (IAM) service icon.">
              <a:extLst>
                <a:ext uri="{FF2B5EF4-FFF2-40B4-BE49-F238E27FC236}">
                  <a16:creationId xmlns:a16="http://schemas.microsoft.com/office/drawing/2014/main" id="{BB923FAC-123F-7D29-4856-95AD074082B1}"/>
                </a:ext>
              </a:extLst>
            </p:cNvPr>
            <p:cNvPicPr>
              <a:picLocks noChangeAspect="1" noChangeArrowheads="1"/>
            </p:cNvPicPr>
            <p:nvPr/>
          </p:nvPicPr>
          <p:blipFill>
            <a:blip r:embed="rId10">
              <a:extLst>
                <a:ext uri="{96DAC541-7B7A-43D3-8B79-37D633B846F1}">
                  <asvg:svgBlip xmlns:asvg="http://schemas.microsoft.com/office/drawing/2016/SVG/main" r:embed="rId11"/>
                </a:ext>
              </a:extLst>
            </a:blip>
            <a:srcRect/>
            <a:stretch/>
          </p:blipFill>
          <p:spPr bwMode="auto">
            <a:xfrm>
              <a:off x="7535863" y="1001200"/>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1" name="TextBox 12">
              <a:extLst>
                <a:ext uri="{FF2B5EF4-FFF2-40B4-BE49-F238E27FC236}">
                  <a16:creationId xmlns:a16="http://schemas.microsoft.com/office/drawing/2014/main" id="{6D1A3480-D5F7-C33B-B4A3-550972BF3D19}"/>
                </a:ext>
              </a:extLst>
            </p:cNvPr>
            <p:cNvSpPr txBox="1">
              <a:spLocks noChangeArrowheads="1"/>
            </p:cNvSpPr>
            <p:nvPr/>
          </p:nvSpPr>
          <p:spPr bwMode="auto">
            <a:xfrm>
              <a:off x="7535863" y="1763200"/>
              <a:ext cx="758826" cy="393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IAM</a:t>
              </a:r>
            </a:p>
          </p:txBody>
        </p:sp>
      </p:grpSp>
      <p:sp>
        <p:nvSpPr>
          <p:cNvPr id="289" name="TextBox 12">
            <a:extLst>
              <a:ext uri="{FF2B5EF4-FFF2-40B4-BE49-F238E27FC236}">
                <a16:creationId xmlns:a16="http://schemas.microsoft.com/office/drawing/2014/main" id="{3F691BC4-16B0-BE8B-EB79-416A2AC57023}"/>
              </a:ext>
            </a:extLst>
          </p:cNvPr>
          <p:cNvSpPr txBox="1">
            <a:spLocks noChangeArrowheads="1"/>
          </p:cNvSpPr>
          <p:nvPr/>
        </p:nvSpPr>
        <p:spPr bwMode="auto">
          <a:xfrm>
            <a:off x="1707208" y="5001976"/>
            <a:ext cx="16050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Raspberry Pi 4B</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(172.16.15.8)</a:t>
            </a:r>
          </a:p>
        </p:txBody>
      </p:sp>
      <p:sp>
        <p:nvSpPr>
          <p:cNvPr id="236" name="テキスト ボックス 235">
            <a:extLst>
              <a:ext uri="{FF2B5EF4-FFF2-40B4-BE49-F238E27FC236}">
                <a16:creationId xmlns:a16="http://schemas.microsoft.com/office/drawing/2014/main" id="{D7424791-52E0-1BD9-0A47-3E41DEE9AD27}"/>
              </a:ext>
            </a:extLst>
          </p:cNvPr>
          <p:cNvSpPr txBox="1"/>
          <p:nvPr/>
        </p:nvSpPr>
        <p:spPr>
          <a:xfrm>
            <a:off x="1077353" y="4303759"/>
            <a:ext cx="1162293" cy="276999"/>
          </a:xfrm>
          <a:prstGeom prst="rect">
            <a:avLst/>
          </a:prstGeom>
          <a:noFill/>
        </p:spPr>
        <p:txBody>
          <a:bodyPr wrap="square">
            <a:spAutoFit/>
          </a:body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RC-S380 S</a:t>
            </a:r>
          </a:p>
        </p:txBody>
      </p:sp>
      <p:pic>
        <p:nvPicPr>
          <p:cNvPr id="237" name="図 236" descr="黒い背景と白い文字のロゴ&#10;&#10;AI によって生成されたコンテンツは間違っている可能性があります。">
            <a:extLst>
              <a:ext uri="{FF2B5EF4-FFF2-40B4-BE49-F238E27FC236}">
                <a16:creationId xmlns:a16="http://schemas.microsoft.com/office/drawing/2014/main" id="{C61960BB-B91B-1B96-116F-EA830F429F49}"/>
              </a:ext>
            </a:extLst>
          </p:cNvPr>
          <p:cNvPicPr>
            <a:picLocks noChangeAspect="1"/>
          </p:cNvPicPr>
          <p:nvPr/>
        </p:nvPicPr>
        <p:blipFill>
          <a:blip r:embed="rId12">
            <a:biLevel thresh="50000"/>
            <a:extLst>
              <a:ext uri="{28A0092B-C50C-407E-A947-70E740481C1C}">
                <a14:useLocalDpi xmlns:a14="http://schemas.microsoft.com/office/drawing/2010/main" val="0"/>
              </a:ext>
            </a:extLst>
          </a:blip>
          <a:srcRect t="19474" b="18132"/>
          <a:stretch/>
        </p:blipFill>
        <p:spPr>
          <a:xfrm flipH="1">
            <a:off x="693160" y="4508703"/>
            <a:ext cx="1605014" cy="751622"/>
          </a:xfrm>
          <a:prstGeom prst="rect">
            <a:avLst/>
          </a:prstGeom>
        </p:spPr>
      </p:pic>
      <p:cxnSp>
        <p:nvCxnSpPr>
          <p:cNvPr id="238" name="Straight Arrow Connector 74" descr="Up and down pointing vertical arrow.">
            <a:extLst>
              <a:ext uri="{FF2B5EF4-FFF2-40B4-BE49-F238E27FC236}">
                <a16:creationId xmlns:a16="http://schemas.microsoft.com/office/drawing/2014/main" id="{B0B06EFE-82E4-573E-BAF8-F58C63CF6D2B}"/>
              </a:ext>
            </a:extLst>
          </p:cNvPr>
          <p:cNvCxnSpPr>
            <a:cxnSpLocks/>
            <a:endCxn id="296" idx="1"/>
          </p:cNvCxnSpPr>
          <p:nvPr/>
        </p:nvCxnSpPr>
        <p:spPr>
          <a:xfrm>
            <a:off x="2777961" y="4650940"/>
            <a:ext cx="2035003" cy="0"/>
          </a:xfrm>
          <a:prstGeom prst="straightConnector1">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grpSp>
        <p:nvGrpSpPr>
          <p:cNvPr id="241" name="グループ化 240">
            <a:extLst>
              <a:ext uri="{FF2B5EF4-FFF2-40B4-BE49-F238E27FC236}">
                <a16:creationId xmlns:a16="http://schemas.microsoft.com/office/drawing/2014/main" id="{F4583EFB-9240-421F-C30C-84CE6D5AA0CA}"/>
              </a:ext>
            </a:extLst>
          </p:cNvPr>
          <p:cNvGrpSpPr/>
          <p:nvPr/>
        </p:nvGrpSpPr>
        <p:grpSpPr>
          <a:xfrm>
            <a:off x="2051276" y="6087076"/>
            <a:ext cx="924337" cy="403333"/>
            <a:chOff x="2262291" y="5685876"/>
            <a:chExt cx="924337" cy="403333"/>
          </a:xfrm>
        </p:grpSpPr>
        <p:pic>
          <p:nvPicPr>
            <p:cNvPr id="286" name="図 285" descr="アイコン&#10;&#10;AI によって生成されたコンテンツは間違っている可能性があります。">
              <a:extLst>
                <a:ext uri="{FF2B5EF4-FFF2-40B4-BE49-F238E27FC236}">
                  <a16:creationId xmlns:a16="http://schemas.microsoft.com/office/drawing/2014/main" id="{547CB9D3-8866-E677-8453-7FD586D85236}"/>
                </a:ext>
              </a:extLst>
            </p:cNvPr>
            <p:cNvPicPr>
              <a:picLocks noChangeAspect="1"/>
            </p:cNvPicPr>
            <p:nvPr/>
          </p:nvPicPr>
          <p:blipFill>
            <a:blip r:embed="rId13">
              <a:extLst>
                <a:ext uri="{28A0092B-C50C-407E-A947-70E740481C1C}">
                  <a14:useLocalDpi xmlns:a14="http://schemas.microsoft.com/office/drawing/2010/main" val="0"/>
                </a:ext>
              </a:extLst>
            </a:blip>
            <a:srcRect l="10553" t="5709" r="9769" b="4466"/>
            <a:stretch/>
          </p:blipFill>
          <p:spPr>
            <a:xfrm>
              <a:off x="2262291" y="5685876"/>
              <a:ext cx="357774" cy="403333"/>
            </a:xfrm>
            <a:prstGeom prst="rect">
              <a:avLst/>
            </a:prstGeom>
          </p:spPr>
        </p:pic>
        <p:sp>
          <p:nvSpPr>
            <p:cNvPr id="287" name="テキスト ボックス 286">
              <a:extLst>
                <a:ext uri="{FF2B5EF4-FFF2-40B4-BE49-F238E27FC236}">
                  <a16:creationId xmlns:a16="http://schemas.microsoft.com/office/drawing/2014/main" id="{3794FD72-EC15-5FF7-CDB1-92DDD072D6D5}"/>
                </a:ext>
              </a:extLst>
            </p:cNvPr>
            <p:cNvSpPr txBox="1"/>
            <p:nvPr/>
          </p:nvSpPr>
          <p:spPr>
            <a:xfrm>
              <a:off x="2557071" y="5749042"/>
              <a:ext cx="629557" cy="276999"/>
            </a:xfrm>
            <a:prstGeom prst="rect">
              <a:avLst/>
            </a:prstGeom>
            <a:noFill/>
          </p:spPr>
          <p:txBody>
            <a:bodyPr wrap="square">
              <a:spAutoFit/>
            </a:bodyPr>
            <a:lstStyle/>
            <a:p>
              <a:r>
                <a:rPr lang="en-US" altLang="ja-JP" sz="1200" dirty="0"/>
                <a:t>:3000</a:t>
              </a:r>
              <a:endParaRPr lang="ja-JP" altLang="en-US" sz="1200" dirty="0"/>
            </a:p>
          </p:txBody>
        </p:sp>
      </p:grpSp>
      <p:grpSp>
        <p:nvGrpSpPr>
          <p:cNvPr id="242" name="グループ化 241">
            <a:extLst>
              <a:ext uri="{FF2B5EF4-FFF2-40B4-BE49-F238E27FC236}">
                <a16:creationId xmlns:a16="http://schemas.microsoft.com/office/drawing/2014/main" id="{D0D44D00-F18B-822A-2D17-ED9360C626D6}"/>
              </a:ext>
            </a:extLst>
          </p:cNvPr>
          <p:cNvGrpSpPr/>
          <p:nvPr/>
        </p:nvGrpSpPr>
        <p:grpSpPr>
          <a:xfrm>
            <a:off x="2043915" y="5648135"/>
            <a:ext cx="931698" cy="372497"/>
            <a:chOff x="2254930" y="5246935"/>
            <a:chExt cx="931698" cy="372497"/>
          </a:xfrm>
        </p:grpSpPr>
        <p:pic>
          <p:nvPicPr>
            <p:cNvPr id="284" name="グラフィックス 283">
              <a:extLst>
                <a:ext uri="{FF2B5EF4-FFF2-40B4-BE49-F238E27FC236}">
                  <a16:creationId xmlns:a16="http://schemas.microsoft.com/office/drawing/2014/main" id="{AB048C75-873D-7FEF-AC07-968835BD5E85}"/>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2254930" y="5246935"/>
              <a:ext cx="372497" cy="372497"/>
            </a:xfrm>
            <a:prstGeom prst="rect">
              <a:avLst/>
            </a:prstGeom>
          </p:spPr>
        </p:pic>
        <p:sp>
          <p:nvSpPr>
            <p:cNvPr id="285" name="テキスト ボックス 284">
              <a:extLst>
                <a:ext uri="{FF2B5EF4-FFF2-40B4-BE49-F238E27FC236}">
                  <a16:creationId xmlns:a16="http://schemas.microsoft.com/office/drawing/2014/main" id="{7B94FBB1-2F0F-B3A4-33A2-9E4FA3054062}"/>
                </a:ext>
              </a:extLst>
            </p:cNvPr>
            <p:cNvSpPr txBox="1"/>
            <p:nvPr/>
          </p:nvSpPr>
          <p:spPr>
            <a:xfrm>
              <a:off x="2557071" y="5306333"/>
              <a:ext cx="629557" cy="276999"/>
            </a:xfrm>
            <a:prstGeom prst="rect">
              <a:avLst/>
            </a:prstGeom>
            <a:noFill/>
          </p:spPr>
          <p:txBody>
            <a:bodyPr wrap="square">
              <a:spAutoFit/>
            </a:bodyPr>
            <a:lstStyle/>
            <a:p>
              <a:r>
                <a:rPr lang="en-US" altLang="ja-JP" sz="1200" dirty="0"/>
                <a:t>:8000</a:t>
              </a:r>
              <a:endParaRPr lang="ja-JP" altLang="en-US" sz="1200" dirty="0"/>
            </a:p>
          </p:txBody>
        </p:sp>
      </p:grpSp>
      <p:grpSp>
        <p:nvGrpSpPr>
          <p:cNvPr id="243" name="グループ化 242">
            <a:extLst>
              <a:ext uri="{FF2B5EF4-FFF2-40B4-BE49-F238E27FC236}">
                <a16:creationId xmlns:a16="http://schemas.microsoft.com/office/drawing/2014/main" id="{65D41D41-B1C6-2E47-BE07-DDFBE6CDDB68}"/>
              </a:ext>
            </a:extLst>
          </p:cNvPr>
          <p:cNvGrpSpPr/>
          <p:nvPr/>
        </p:nvGrpSpPr>
        <p:grpSpPr>
          <a:xfrm>
            <a:off x="5655352" y="5692118"/>
            <a:ext cx="1211032" cy="802921"/>
            <a:chOff x="3129557" y="4452843"/>
            <a:chExt cx="1211032" cy="802921"/>
          </a:xfrm>
        </p:grpSpPr>
        <p:pic>
          <p:nvPicPr>
            <p:cNvPr id="282" name="Graphic 19" descr="Amazon EventBridge service icon.">
              <a:extLst>
                <a:ext uri="{FF2B5EF4-FFF2-40B4-BE49-F238E27FC236}">
                  <a16:creationId xmlns:a16="http://schemas.microsoft.com/office/drawing/2014/main" id="{0464E22C-57EA-EC2E-467C-315B8E0BB654}"/>
                </a:ext>
              </a:extLst>
            </p:cNvPr>
            <p:cNvPicPr>
              <a:picLocks noChangeAspect="1" noChangeArrowheads="1"/>
            </p:cNvPicPr>
            <p:nvPr/>
          </p:nvPicPr>
          <p:blipFill>
            <a:blip r:embed="rId16">
              <a:extLst>
                <a:ext uri="{96DAC541-7B7A-43D3-8B79-37D633B846F1}">
                  <asvg:svgBlip xmlns:asvg="http://schemas.microsoft.com/office/drawing/2016/SVG/main" r:embed="rId17"/>
                </a:ext>
              </a:extLst>
            </a:blip>
            <a:srcRect/>
            <a:stretch/>
          </p:blipFill>
          <p:spPr bwMode="auto">
            <a:xfrm>
              <a:off x="3461744" y="4452843"/>
              <a:ext cx="538923" cy="538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3" name="TextBox 11">
              <a:extLst>
                <a:ext uri="{FF2B5EF4-FFF2-40B4-BE49-F238E27FC236}">
                  <a16:creationId xmlns:a16="http://schemas.microsoft.com/office/drawing/2014/main" id="{94A59679-E3C0-077D-E506-948541634B39}"/>
                </a:ext>
              </a:extLst>
            </p:cNvPr>
            <p:cNvSpPr txBox="1">
              <a:spLocks noChangeArrowheads="1"/>
            </p:cNvSpPr>
            <p:nvPr/>
          </p:nvSpPr>
          <p:spPr bwMode="auto">
            <a:xfrm>
              <a:off x="3129557" y="4978765"/>
              <a:ext cx="121103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err="1">
                  <a:latin typeface="Arial" panose="020B0604020202020204" pitchFamily="34" charset="0"/>
                  <a:ea typeface="Amazon Ember" panose="020B0603020204020204" pitchFamily="34" charset="0"/>
                  <a:cs typeface="Arial" panose="020B0604020202020204" pitchFamily="34" charset="0"/>
                </a:rPr>
                <a:t>EventBridge</a:t>
              </a:r>
              <a:endParaRPr lang="en-US" altLang="en-US" sz="1200" dirty="0">
                <a:latin typeface="Arial" panose="020B0604020202020204" pitchFamily="34" charset="0"/>
                <a:ea typeface="Amazon Ember" panose="020B0603020204020204" pitchFamily="34" charset="0"/>
                <a:cs typeface="Arial" panose="020B0604020202020204" pitchFamily="34" charset="0"/>
              </a:endParaRPr>
            </a:p>
          </p:txBody>
        </p:sp>
      </p:grpSp>
      <p:grpSp>
        <p:nvGrpSpPr>
          <p:cNvPr id="244" name="グループ化 243">
            <a:extLst>
              <a:ext uri="{FF2B5EF4-FFF2-40B4-BE49-F238E27FC236}">
                <a16:creationId xmlns:a16="http://schemas.microsoft.com/office/drawing/2014/main" id="{74822EB3-15E2-BA20-15A2-644B0F954431}"/>
              </a:ext>
            </a:extLst>
          </p:cNvPr>
          <p:cNvGrpSpPr/>
          <p:nvPr/>
        </p:nvGrpSpPr>
        <p:grpSpPr>
          <a:xfrm>
            <a:off x="5550985" y="2647229"/>
            <a:ext cx="1410825" cy="998159"/>
            <a:chOff x="2368342" y="1184275"/>
            <a:chExt cx="2003841" cy="1417718"/>
          </a:xfrm>
        </p:grpSpPr>
        <p:pic>
          <p:nvPicPr>
            <p:cNvPr id="280" name="Graphic 7" descr="Amazon API Gateway service icon.">
              <a:extLst>
                <a:ext uri="{FF2B5EF4-FFF2-40B4-BE49-F238E27FC236}">
                  <a16:creationId xmlns:a16="http://schemas.microsoft.com/office/drawing/2014/main" id="{1504F3FE-7FD6-FB70-0494-222341858720}"/>
                </a:ext>
              </a:extLst>
            </p:cNvPr>
            <p:cNvPicPr>
              <a:picLocks noChangeAspect="1" noChangeArrowheads="1"/>
            </p:cNvPicPr>
            <p:nvPr/>
          </p:nvPicPr>
          <p:blipFill>
            <a:blip r:embed="rId4">
              <a:extLst>
                <a:ext uri="{96DAC541-7B7A-43D3-8B79-37D633B846F1}">
                  <asvg:svgBlip xmlns:asvg="http://schemas.microsoft.com/office/drawing/2016/SVG/main" r:embed="rId5"/>
                </a:ext>
              </a:extLst>
            </a:blip>
            <a:srcRect/>
            <a:stretch/>
          </p:blipFill>
          <p:spPr bwMode="auto">
            <a:xfrm>
              <a:off x="2989264" y="1184275"/>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1" name="TextBox 9">
              <a:extLst>
                <a:ext uri="{FF2B5EF4-FFF2-40B4-BE49-F238E27FC236}">
                  <a16:creationId xmlns:a16="http://schemas.microsoft.com/office/drawing/2014/main" id="{4D6415A0-E5D9-3530-48F7-2C245CB008B7}"/>
                </a:ext>
              </a:extLst>
            </p:cNvPr>
            <p:cNvSpPr txBox="1">
              <a:spLocks noChangeArrowheads="1"/>
            </p:cNvSpPr>
            <p:nvPr/>
          </p:nvSpPr>
          <p:spPr bwMode="auto">
            <a:xfrm>
              <a:off x="2368342" y="1946275"/>
              <a:ext cx="2003841" cy="655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API Gateway</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(WebSocket)</a:t>
              </a:r>
            </a:p>
          </p:txBody>
        </p:sp>
      </p:grpSp>
      <p:sp>
        <p:nvSpPr>
          <p:cNvPr id="277" name="TextBox 12">
            <a:extLst>
              <a:ext uri="{FF2B5EF4-FFF2-40B4-BE49-F238E27FC236}">
                <a16:creationId xmlns:a16="http://schemas.microsoft.com/office/drawing/2014/main" id="{DB6B5DAB-BFCA-5C3F-D253-598E87782E4A}"/>
              </a:ext>
            </a:extLst>
          </p:cNvPr>
          <p:cNvSpPr txBox="1">
            <a:spLocks noChangeArrowheads="1"/>
          </p:cNvSpPr>
          <p:nvPr/>
        </p:nvSpPr>
        <p:spPr bwMode="auto">
          <a:xfrm>
            <a:off x="1707208" y="3178518"/>
            <a:ext cx="16050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Raspberry Pi 5</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(172.16.15.7)</a:t>
            </a:r>
          </a:p>
        </p:txBody>
      </p:sp>
      <p:sp>
        <p:nvSpPr>
          <p:cNvPr id="251" name="Rectangle 103" descr="Generic group dashed.">
            <a:extLst>
              <a:ext uri="{FF2B5EF4-FFF2-40B4-BE49-F238E27FC236}">
                <a16:creationId xmlns:a16="http://schemas.microsoft.com/office/drawing/2014/main" id="{E9C1EFF3-5274-81B1-6E77-77D27B059239}"/>
              </a:ext>
            </a:extLst>
          </p:cNvPr>
          <p:cNvSpPr/>
          <p:nvPr/>
        </p:nvSpPr>
        <p:spPr>
          <a:xfrm>
            <a:off x="4457026" y="4158038"/>
            <a:ext cx="3541821" cy="1348227"/>
          </a:xfrm>
          <a:prstGeom prst="rect">
            <a:avLst/>
          </a:prstGeom>
          <a:noFill/>
          <a:ln w="15875">
            <a:solidFill>
              <a:srgbClr val="7D8998"/>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eaLnBrk="1" fontAlgn="auto" hangingPunct="1">
              <a:spcBef>
                <a:spcPts val="0"/>
              </a:spcBef>
              <a:spcAft>
                <a:spcPts val="0"/>
              </a:spcAft>
              <a:defRPr/>
            </a:pPr>
            <a:endParaRPr lang="en-US" sz="1200" dirty="0">
              <a:solidFill>
                <a:schemeClr val="tx1"/>
              </a:solidFill>
              <a:latin typeface="Arial" panose="020B0604020202020204" pitchFamily="34" charset="0"/>
              <a:cs typeface="Arial" panose="020B0604020202020204" pitchFamily="34" charset="0"/>
            </a:endParaRPr>
          </a:p>
        </p:txBody>
      </p:sp>
      <p:grpSp>
        <p:nvGrpSpPr>
          <p:cNvPr id="253" name="グループ化 252">
            <a:extLst>
              <a:ext uri="{FF2B5EF4-FFF2-40B4-BE49-F238E27FC236}">
                <a16:creationId xmlns:a16="http://schemas.microsoft.com/office/drawing/2014/main" id="{868117AB-4575-63F4-D92C-34ECF8A9FC38}"/>
              </a:ext>
            </a:extLst>
          </p:cNvPr>
          <p:cNvGrpSpPr/>
          <p:nvPr/>
        </p:nvGrpSpPr>
        <p:grpSpPr>
          <a:xfrm>
            <a:off x="4717633" y="2645272"/>
            <a:ext cx="730725" cy="813493"/>
            <a:chOff x="3005693" y="1391828"/>
            <a:chExt cx="730725" cy="813493"/>
          </a:xfrm>
        </p:grpSpPr>
        <p:pic>
          <p:nvPicPr>
            <p:cNvPr id="274" name="Graphic 10" descr="AWS Amplify service icon.">
              <a:extLst>
                <a:ext uri="{FF2B5EF4-FFF2-40B4-BE49-F238E27FC236}">
                  <a16:creationId xmlns:a16="http://schemas.microsoft.com/office/drawing/2014/main" id="{AE3EF930-F65A-EBD7-27F6-C081DB7D4415}"/>
                </a:ext>
              </a:extLst>
            </p:cNvPr>
            <p:cNvPicPr>
              <a:picLocks noChangeAspect="1" noChangeArrowheads="1"/>
            </p:cNvPicPr>
            <p:nvPr/>
          </p:nvPicPr>
          <p:blipFill>
            <a:blip r:embed="rId18">
              <a:extLst>
                <a:ext uri="{96DAC541-7B7A-43D3-8B79-37D633B846F1}">
                  <asvg:svgBlip xmlns:asvg="http://schemas.microsoft.com/office/drawing/2016/SVG/main" r:embed="rId19"/>
                </a:ext>
              </a:extLst>
            </a:blip>
            <a:srcRect/>
            <a:stretch/>
          </p:blipFill>
          <p:spPr bwMode="auto">
            <a:xfrm>
              <a:off x="3102809" y="1391828"/>
              <a:ext cx="536494" cy="536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5" name="TextBox 6">
              <a:extLst>
                <a:ext uri="{FF2B5EF4-FFF2-40B4-BE49-F238E27FC236}">
                  <a16:creationId xmlns:a16="http://schemas.microsoft.com/office/drawing/2014/main" id="{CDF398CA-4B1A-06D3-83BC-42C3ED44A9E1}"/>
                </a:ext>
              </a:extLst>
            </p:cNvPr>
            <p:cNvSpPr txBox="1">
              <a:spLocks noChangeArrowheads="1"/>
            </p:cNvSpPr>
            <p:nvPr/>
          </p:nvSpPr>
          <p:spPr bwMode="auto">
            <a:xfrm>
              <a:off x="3005693" y="1928322"/>
              <a:ext cx="7307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Amplify</a:t>
              </a:r>
            </a:p>
          </p:txBody>
        </p:sp>
      </p:grpSp>
      <p:grpSp>
        <p:nvGrpSpPr>
          <p:cNvPr id="261" name="グループ化 260">
            <a:extLst>
              <a:ext uri="{FF2B5EF4-FFF2-40B4-BE49-F238E27FC236}">
                <a16:creationId xmlns:a16="http://schemas.microsoft.com/office/drawing/2014/main" id="{6107A1D0-64E6-ADA1-14E6-B7D00F356E4F}"/>
              </a:ext>
            </a:extLst>
          </p:cNvPr>
          <p:cNvGrpSpPr/>
          <p:nvPr/>
        </p:nvGrpSpPr>
        <p:grpSpPr>
          <a:xfrm>
            <a:off x="3645809" y="5683375"/>
            <a:ext cx="1020292" cy="992557"/>
            <a:chOff x="3864463" y="3839626"/>
            <a:chExt cx="1020292" cy="992557"/>
          </a:xfrm>
        </p:grpSpPr>
        <p:pic>
          <p:nvPicPr>
            <p:cNvPr id="272" name="Graphic 17" descr="Amazon Cognito service icon.">
              <a:extLst>
                <a:ext uri="{FF2B5EF4-FFF2-40B4-BE49-F238E27FC236}">
                  <a16:creationId xmlns:a16="http://schemas.microsoft.com/office/drawing/2014/main" id="{E65E41FC-F137-86F2-FC40-ABDEABE6B7EB}"/>
                </a:ext>
              </a:extLst>
            </p:cNvPr>
            <p:cNvPicPr>
              <a:picLocks noChangeAspect="1" noChangeArrowheads="1"/>
            </p:cNvPicPr>
            <p:nvPr/>
          </p:nvPicPr>
          <p:blipFill>
            <a:blip r:embed="rId20">
              <a:extLst>
                <a:ext uri="{96DAC541-7B7A-43D3-8B79-37D633B846F1}">
                  <asvg:svgBlip xmlns:asvg="http://schemas.microsoft.com/office/drawing/2016/SVG/main" r:embed="rId21"/>
                </a:ext>
              </a:extLst>
            </a:blip>
            <a:srcRect/>
            <a:stretch/>
          </p:blipFill>
          <p:spPr bwMode="auto">
            <a:xfrm>
              <a:off x="4106362" y="3839626"/>
              <a:ext cx="536494" cy="536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3" name="TextBox 11">
              <a:extLst>
                <a:ext uri="{FF2B5EF4-FFF2-40B4-BE49-F238E27FC236}">
                  <a16:creationId xmlns:a16="http://schemas.microsoft.com/office/drawing/2014/main" id="{188823CA-5FEB-7BAB-BBB3-7A06FCCC4AF4}"/>
                </a:ext>
              </a:extLst>
            </p:cNvPr>
            <p:cNvSpPr txBox="1">
              <a:spLocks noChangeArrowheads="1"/>
            </p:cNvSpPr>
            <p:nvPr/>
          </p:nvSpPr>
          <p:spPr bwMode="auto">
            <a:xfrm>
              <a:off x="3864463" y="4370518"/>
              <a:ext cx="102029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Cognito</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(ID Pool)</a:t>
              </a:r>
            </a:p>
          </p:txBody>
        </p:sp>
      </p:grpSp>
      <p:cxnSp>
        <p:nvCxnSpPr>
          <p:cNvPr id="263" name="Elbow Connector 22" descr="Elbow horizontal arrow pointing right (1).">
            <a:extLst>
              <a:ext uri="{FF2B5EF4-FFF2-40B4-BE49-F238E27FC236}">
                <a16:creationId xmlns:a16="http://schemas.microsoft.com/office/drawing/2014/main" id="{34716161-33A8-A5A0-A779-99FD15965081}"/>
              </a:ext>
            </a:extLst>
          </p:cNvPr>
          <p:cNvCxnSpPr>
            <a:cxnSpLocks/>
            <a:stCxn id="272" idx="0"/>
          </p:cNvCxnSpPr>
          <p:nvPr/>
        </p:nvCxnSpPr>
        <p:spPr>
          <a:xfrm rot="16200000" flipV="1">
            <a:off x="3030452" y="4557872"/>
            <a:ext cx="866319" cy="1384688"/>
          </a:xfrm>
          <a:prstGeom prst="bentConnector2">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pic>
        <p:nvPicPr>
          <p:cNvPr id="264" name="Graphic 86" descr="Temporary security credential resource icon for the IAM service.">
            <a:extLst>
              <a:ext uri="{FF2B5EF4-FFF2-40B4-BE49-F238E27FC236}">
                <a16:creationId xmlns:a16="http://schemas.microsoft.com/office/drawing/2014/main" id="{BAC4F925-C32F-43ED-B851-F068ACABFEC5}"/>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3663828" y="5053261"/>
            <a:ext cx="416212" cy="416212"/>
          </a:xfrm>
          <a:prstGeom prst="rect">
            <a:avLst/>
          </a:prstGeom>
        </p:spPr>
      </p:pic>
      <p:grpSp>
        <p:nvGrpSpPr>
          <p:cNvPr id="265" name="グループ化 264">
            <a:extLst>
              <a:ext uri="{FF2B5EF4-FFF2-40B4-BE49-F238E27FC236}">
                <a16:creationId xmlns:a16="http://schemas.microsoft.com/office/drawing/2014/main" id="{1032D992-AA3F-8EF1-FC78-4EA93155C6EE}"/>
              </a:ext>
            </a:extLst>
          </p:cNvPr>
          <p:cNvGrpSpPr/>
          <p:nvPr/>
        </p:nvGrpSpPr>
        <p:grpSpPr>
          <a:xfrm>
            <a:off x="5746251" y="1644835"/>
            <a:ext cx="1020292" cy="992557"/>
            <a:chOff x="3864463" y="3839626"/>
            <a:chExt cx="1020292" cy="992557"/>
          </a:xfrm>
        </p:grpSpPr>
        <p:pic>
          <p:nvPicPr>
            <p:cNvPr id="270" name="Graphic 17" descr="Amazon Cognito service icon.">
              <a:extLst>
                <a:ext uri="{FF2B5EF4-FFF2-40B4-BE49-F238E27FC236}">
                  <a16:creationId xmlns:a16="http://schemas.microsoft.com/office/drawing/2014/main" id="{47496502-24A9-72EE-22DA-7B6B7033B9E8}"/>
                </a:ext>
              </a:extLst>
            </p:cNvPr>
            <p:cNvPicPr>
              <a:picLocks noChangeAspect="1" noChangeArrowheads="1"/>
            </p:cNvPicPr>
            <p:nvPr/>
          </p:nvPicPr>
          <p:blipFill>
            <a:blip r:embed="rId20">
              <a:extLst>
                <a:ext uri="{96DAC541-7B7A-43D3-8B79-37D633B846F1}">
                  <asvg:svgBlip xmlns:asvg="http://schemas.microsoft.com/office/drawing/2016/SVG/main" r:embed="rId21"/>
                </a:ext>
              </a:extLst>
            </a:blip>
            <a:srcRect/>
            <a:stretch/>
          </p:blipFill>
          <p:spPr bwMode="auto">
            <a:xfrm>
              <a:off x="4106362" y="3839626"/>
              <a:ext cx="536494" cy="536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1" name="TextBox 11">
              <a:extLst>
                <a:ext uri="{FF2B5EF4-FFF2-40B4-BE49-F238E27FC236}">
                  <a16:creationId xmlns:a16="http://schemas.microsoft.com/office/drawing/2014/main" id="{73DADA61-6889-2817-8C5A-E0ED1F1EBAA1}"/>
                </a:ext>
              </a:extLst>
            </p:cNvPr>
            <p:cNvSpPr txBox="1">
              <a:spLocks noChangeArrowheads="1"/>
            </p:cNvSpPr>
            <p:nvPr/>
          </p:nvSpPr>
          <p:spPr bwMode="auto">
            <a:xfrm>
              <a:off x="3864463" y="4370518"/>
              <a:ext cx="102029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Cognito (User Pool)</a:t>
              </a:r>
            </a:p>
          </p:txBody>
        </p:sp>
      </p:grpSp>
      <p:grpSp>
        <p:nvGrpSpPr>
          <p:cNvPr id="267" name="Group 1" descr="AWS Cloud group with AWS logo.">
            <a:extLst>
              <a:ext uri="{FF2B5EF4-FFF2-40B4-BE49-F238E27FC236}">
                <a16:creationId xmlns:a16="http://schemas.microsoft.com/office/drawing/2014/main" id="{B602C871-2C26-6184-B290-2BFAB44FC1B4}"/>
              </a:ext>
            </a:extLst>
          </p:cNvPr>
          <p:cNvGrpSpPr/>
          <p:nvPr/>
        </p:nvGrpSpPr>
        <p:grpSpPr>
          <a:xfrm>
            <a:off x="3528572" y="926869"/>
            <a:ext cx="4825253" cy="5828334"/>
            <a:chOff x="355598" y="689579"/>
            <a:chExt cx="4825253" cy="3747374"/>
          </a:xfrm>
        </p:grpSpPr>
        <p:sp>
          <p:nvSpPr>
            <p:cNvPr id="268" name="Rectangle 54">
              <a:extLst>
                <a:ext uri="{FF2B5EF4-FFF2-40B4-BE49-F238E27FC236}">
                  <a16:creationId xmlns:a16="http://schemas.microsoft.com/office/drawing/2014/main" id="{AA836DDD-14B2-5C19-2540-F270BDE5ABDF}"/>
                </a:ext>
              </a:extLst>
            </p:cNvPr>
            <p:cNvSpPr/>
            <p:nvPr/>
          </p:nvSpPr>
          <p:spPr>
            <a:xfrm>
              <a:off x="355599" y="689579"/>
              <a:ext cx="4825252" cy="3747374"/>
            </a:xfrm>
            <a:prstGeom prst="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r>
                <a:rPr lang="en-US" sz="1200" dirty="0">
                  <a:solidFill>
                    <a:schemeClr val="tx1"/>
                  </a:solidFill>
                  <a:latin typeface="Arial" panose="020B0604020202020204" pitchFamily="34" charset="0"/>
                  <a:cs typeface="Arial" panose="020B0604020202020204" pitchFamily="34" charset="0"/>
                </a:rPr>
                <a:t>AWS Cloud</a:t>
              </a:r>
            </a:p>
          </p:txBody>
        </p:sp>
        <p:pic>
          <p:nvPicPr>
            <p:cNvPr id="269" name="Graphic 55" descr="AWS Cloud group icon with AWS logo.">
              <a:extLst>
                <a:ext uri="{FF2B5EF4-FFF2-40B4-BE49-F238E27FC236}">
                  <a16:creationId xmlns:a16="http://schemas.microsoft.com/office/drawing/2014/main" id="{291C7EE3-F0FD-D808-780D-7579891F7010}"/>
                </a:ext>
              </a:extLst>
            </p:cNvPr>
            <p:cNvPicPr>
              <a:picLocks noChangeAspect="1"/>
            </p:cNvPicPr>
            <p:nvPr/>
          </p:nvPicPr>
          <p:blipFill>
            <a:blip r:embed="rId24">
              <a:extLst>
                <a:ext uri="{96DAC541-7B7A-43D3-8B79-37D633B846F1}">
                  <asvg:svgBlip xmlns:asvg="http://schemas.microsoft.com/office/drawing/2016/SVG/main" r:embed="rId25"/>
                </a:ext>
              </a:extLst>
            </a:blip>
            <a:srcRect/>
            <a:stretch/>
          </p:blipFill>
          <p:spPr>
            <a:xfrm>
              <a:off x="355598" y="695923"/>
              <a:ext cx="419750" cy="287318"/>
            </a:xfrm>
            <a:prstGeom prst="rect">
              <a:avLst/>
            </a:prstGeom>
          </p:spPr>
        </p:pic>
      </p:grpSp>
      <p:sp>
        <p:nvSpPr>
          <p:cNvPr id="228" name="Rectangle 103" descr="Generic group dashed.">
            <a:extLst>
              <a:ext uri="{FF2B5EF4-FFF2-40B4-BE49-F238E27FC236}">
                <a16:creationId xmlns:a16="http://schemas.microsoft.com/office/drawing/2014/main" id="{03A3D665-DBE6-A025-2D28-B846660B79BB}"/>
              </a:ext>
            </a:extLst>
          </p:cNvPr>
          <p:cNvSpPr/>
          <p:nvPr/>
        </p:nvSpPr>
        <p:spPr>
          <a:xfrm>
            <a:off x="690522" y="2075537"/>
            <a:ext cx="2621698" cy="1720079"/>
          </a:xfrm>
          <a:prstGeom prst="rect">
            <a:avLst/>
          </a:prstGeom>
          <a:noFill/>
          <a:ln w="15875">
            <a:solidFill>
              <a:srgbClr val="7D8998"/>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a:defRPr/>
            </a:pPr>
            <a:r>
              <a:rPr lang="ja-JP" altLang="en-US" sz="1200" dirty="0">
                <a:solidFill>
                  <a:schemeClr val="tx1"/>
                </a:solidFill>
                <a:latin typeface="Arial" panose="020B0604020202020204" pitchFamily="34" charset="0"/>
                <a:cs typeface="Arial" panose="020B0604020202020204" pitchFamily="34" charset="0"/>
              </a:rPr>
              <a:t>教員部屋（</a:t>
            </a:r>
            <a:r>
              <a:rPr lang="en-US" altLang="ja-JP" sz="1200" dirty="0">
                <a:solidFill>
                  <a:schemeClr val="tx1"/>
                </a:solidFill>
                <a:latin typeface="Arial" panose="020B0604020202020204" pitchFamily="34" charset="0"/>
                <a:cs typeface="Arial" panose="020B0604020202020204" pitchFamily="34" charset="0"/>
              </a:rPr>
              <a:t>J1404</a:t>
            </a:r>
            <a:r>
              <a:rPr lang="ja-JP" altLang="en-US" sz="1200" dirty="0">
                <a:solidFill>
                  <a:schemeClr val="tx1"/>
                </a:solidFill>
                <a:latin typeface="Arial" panose="020B0604020202020204" pitchFamily="34" charset="0"/>
                <a:cs typeface="Arial" panose="020B0604020202020204" pitchFamily="34" charset="0"/>
              </a:rPr>
              <a:t>）</a:t>
            </a:r>
            <a:endParaRPr lang="en-US" sz="1200" dirty="0">
              <a:solidFill>
                <a:schemeClr val="tx1"/>
              </a:solidFill>
              <a:latin typeface="Arial" panose="020B0604020202020204" pitchFamily="34" charset="0"/>
              <a:cs typeface="Arial" panose="020B0604020202020204" pitchFamily="34" charset="0"/>
            </a:endParaRPr>
          </a:p>
        </p:txBody>
      </p:sp>
      <p:pic>
        <p:nvPicPr>
          <p:cNvPr id="302" name="グラフィックス 301">
            <a:extLst>
              <a:ext uri="{FF2B5EF4-FFF2-40B4-BE49-F238E27FC236}">
                <a16:creationId xmlns:a16="http://schemas.microsoft.com/office/drawing/2014/main" id="{AC365281-A66F-66E0-2D16-8C6B5F22BBAB}"/>
              </a:ext>
            </a:extLst>
          </p:cNvPr>
          <p:cNvPicPr>
            <a:picLocks noChangeAspect="1"/>
          </p:cNvPicPr>
          <p:nvPr/>
        </p:nvPicPr>
        <p:blipFill>
          <a:blip r:embed="rId26">
            <a:grayscl/>
            <a:extLst>
              <a:ext uri="{96DAC541-7B7A-43D3-8B79-37D633B846F1}">
                <asvg:svgBlip xmlns:asvg="http://schemas.microsoft.com/office/drawing/2016/SVG/main" r:embed="rId27"/>
              </a:ext>
            </a:extLst>
          </a:blip>
          <a:srcRect l="25148" t="16203" r="25948" b="16205"/>
          <a:stretch/>
        </p:blipFill>
        <p:spPr>
          <a:xfrm>
            <a:off x="1029996" y="2508789"/>
            <a:ext cx="580096" cy="801769"/>
          </a:xfrm>
          <a:prstGeom prst="rect">
            <a:avLst/>
          </a:prstGeom>
        </p:spPr>
      </p:pic>
      <p:cxnSp>
        <p:nvCxnSpPr>
          <p:cNvPr id="303" name="Straight Arrow Connector 100">
            <a:extLst>
              <a:ext uri="{FF2B5EF4-FFF2-40B4-BE49-F238E27FC236}">
                <a16:creationId xmlns:a16="http://schemas.microsoft.com/office/drawing/2014/main" id="{6C079D94-70BB-B86C-78B9-6A1321BB5013}"/>
              </a:ext>
            </a:extLst>
          </p:cNvPr>
          <p:cNvCxnSpPr>
            <a:cxnSpLocks/>
            <a:stCxn id="302" idx="3"/>
          </p:cNvCxnSpPr>
          <p:nvPr/>
        </p:nvCxnSpPr>
        <p:spPr>
          <a:xfrm>
            <a:off x="1610092" y="2909674"/>
            <a:ext cx="631375" cy="597"/>
          </a:xfrm>
          <a:prstGeom prst="straightConnector1">
            <a:avLst/>
          </a:prstGeom>
          <a:ln w="19050">
            <a:solidFill>
              <a:schemeClr val="tx1"/>
            </a:solidFill>
            <a:headEnd type="none" w="med" len="sm"/>
            <a:tailEnd type="none" w="med" len="sm"/>
          </a:ln>
        </p:spPr>
        <p:style>
          <a:lnRef idx="1">
            <a:schemeClr val="accent1"/>
          </a:lnRef>
          <a:fillRef idx="0">
            <a:schemeClr val="accent1"/>
          </a:fillRef>
          <a:effectRef idx="0">
            <a:schemeClr val="accent1"/>
          </a:effectRef>
          <a:fontRef idx="minor">
            <a:schemeClr val="tx1"/>
          </a:fontRef>
        </p:style>
      </p:cxnSp>
      <p:sp>
        <p:nvSpPr>
          <p:cNvPr id="306" name="Rectangle 103" descr="Generic group dashed.">
            <a:extLst>
              <a:ext uri="{FF2B5EF4-FFF2-40B4-BE49-F238E27FC236}">
                <a16:creationId xmlns:a16="http://schemas.microsoft.com/office/drawing/2014/main" id="{0BB5C790-F9C3-87EB-3366-6847937F1FE0}"/>
              </a:ext>
            </a:extLst>
          </p:cNvPr>
          <p:cNvSpPr/>
          <p:nvPr/>
        </p:nvSpPr>
        <p:spPr>
          <a:xfrm>
            <a:off x="690522" y="3933107"/>
            <a:ext cx="2615365" cy="2822096"/>
          </a:xfrm>
          <a:prstGeom prst="rect">
            <a:avLst/>
          </a:prstGeom>
          <a:noFill/>
          <a:ln w="15875">
            <a:solidFill>
              <a:srgbClr val="7D8998"/>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a:defRPr/>
            </a:pPr>
            <a:r>
              <a:rPr lang="ja-JP" altLang="en-US" sz="1200" dirty="0">
                <a:solidFill>
                  <a:schemeClr val="tx1"/>
                </a:solidFill>
                <a:latin typeface="Arial" panose="020B0604020202020204" pitchFamily="34" charset="0"/>
                <a:cs typeface="Arial" panose="020B0604020202020204" pitchFamily="34" charset="0"/>
              </a:rPr>
              <a:t>学生部屋（</a:t>
            </a:r>
            <a:r>
              <a:rPr lang="en-US" altLang="ja-JP" sz="1200" dirty="0">
                <a:solidFill>
                  <a:schemeClr val="tx1"/>
                </a:solidFill>
                <a:latin typeface="Arial" panose="020B0604020202020204" pitchFamily="34" charset="0"/>
                <a:cs typeface="Arial" panose="020B0604020202020204" pitchFamily="34" charset="0"/>
              </a:rPr>
              <a:t>J1401</a:t>
            </a:r>
            <a:r>
              <a:rPr lang="ja-JP" altLang="en-US" sz="1200" dirty="0">
                <a:solidFill>
                  <a:schemeClr val="tx1"/>
                </a:solidFill>
                <a:latin typeface="Arial" panose="020B0604020202020204" pitchFamily="34" charset="0"/>
                <a:cs typeface="Arial" panose="020B0604020202020204" pitchFamily="34" charset="0"/>
              </a:rPr>
              <a:t>）</a:t>
            </a:r>
            <a:endParaRPr lang="en-US" sz="1200" dirty="0">
              <a:solidFill>
                <a:schemeClr val="tx1"/>
              </a:solidFill>
              <a:latin typeface="Arial" panose="020B0604020202020204" pitchFamily="34" charset="0"/>
              <a:cs typeface="Arial" panose="020B0604020202020204" pitchFamily="34" charset="0"/>
            </a:endParaRPr>
          </a:p>
        </p:txBody>
      </p:sp>
      <p:pic>
        <p:nvPicPr>
          <p:cNvPr id="307" name="グラフィックス 306">
            <a:extLst>
              <a:ext uri="{FF2B5EF4-FFF2-40B4-BE49-F238E27FC236}">
                <a16:creationId xmlns:a16="http://schemas.microsoft.com/office/drawing/2014/main" id="{FFE3ABBB-1FA4-B637-BAB6-C1C3772489AA}"/>
              </a:ext>
            </a:extLst>
          </p:cNvPr>
          <p:cNvPicPr>
            <a:picLocks noChangeAspect="1"/>
          </p:cNvPicPr>
          <p:nvPr/>
        </p:nvPicPr>
        <p:blipFill>
          <a:blip r:embed="rId26">
            <a:grayscl/>
            <a:extLst>
              <a:ext uri="{96DAC541-7B7A-43D3-8B79-37D633B846F1}">
                <asvg:svgBlip xmlns:asvg="http://schemas.microsoft.com/office/drawing/2016/SVG/main" r:embed="rId27"/>
              </a:ext>
            </a:extLst>
          </a:blip>
          <a:srcRect l="25148" t="16203" r="25948" b="16205"/>
          <a:stretch/>
        </p:blipFill>
        <p:spPr>
          <a:xfrm rot="16200000">
            <a:off x="1042395" y="5874413"/>
            <a:ext cx="599552" cy="828660"/>
          </a:xfrm>
          <a:prstGeom prst="rect">
            <a:avLst/>
          </a:prstGeom>
        </p:spPr>
      </p:pic>
      <p:cxnSp>
        <p:nvCxnSpPr>
          <p:cNvPr id="325" name="Straight Arrow Connector 52" descr="Double pointing horizontal arrow.">
            <a:extLst>
              <a:ext uri="{FF2B5EF4-FFF2-40B4-BE49-F238E27FC236}">
                <a16:creationId xmlns:a16="http://schemas.microsoft.com/office/drawing/2014/main" id="{C9053DD8-3D65-59A4-6D26-E20B7ACBD630}"/>
              </a:ext>
            </a:extLst>
          </p:cNvPr>
          <p:cNvCxnSpPr>
            <a:cxnSpLocks/>
            <a:stCxn id="296" idx="3"/>
            <a:endCxn id="294" idx="1"/>
          </p:cNvCxnSpPr>
          <p:nvPr/>
        </p:nvCxnSpPr>
        <p:spPr>
          <a:xfrm flipV="1">
            <a:off x="5349458" y="4650632"/>
            <a:ext cx="638693" cy="308"/>
          </a:xfrm>
          <a:prstGeom prst="straightConnector1">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329" name="Straight Arrow Connector 52" descr="Double pointing horizontal arrow.">
            <a:extLst>
              <a:ext uri="{FF2B5EF4-FFF2-40B4-BE49-F238E27FC236}">
                <a16:creationId xmlns:a16="http://schemas.microsoft.com/office/drawing/2014/main" id="{C409EA09-D22F-9690-4479-A5F256DB196B}"/>
              </a:ext>
            </a:extLst>
          </p:cNvPr>
          <p:cNvCxnSpPr>
            <a:cxnSpLocks/>
            <a:stCxn id="290" idx="0"/>
            <a:endCxn id="297" idx="2"/>
          </p:cNvCxnSpPr>
          <p:nvPr/>
        </p:nvCxnSpPr>
        <p:spPr>
          <a:xfrm flipH="1" flipV="1">
            <a:off x="5081211" y="5380852"/>
            <a:ext cx="3010" cy="315777"/>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332" name="Straight Arrow Connector 52" descr="Double pointing horizontal arrow.">
            <a:extLst>
              <a:ext uri="{FF2B5EF4-FFF2-40B4-BE49-F238E27FC236}">
                <a16:creationId xmlns:a16="http://schemas.microsoft.com/office/drawing/2014/main" id="{47B1F43D-D5E3-66E4-673F-EB868CAE78E4}"/>
              </a:ext>
            </a:extLst>
          </p:cNvPr>
          <p:cNvCxnSpPr>
            <a:cxnSpLocks/>
            <a:stCxn id="294" idx="3"/>
            <a:endCxn id="298" idx="1"/>
          </p:cNvCxnSpPr>
          <p:nvPr/>
        </p:nvCxnSpPr>
        <p:spPr>
          <a:xfrm>
            <a:off x="6524645" y="4650632"/>
            <a:ext cx="640661" cy="2899"/>
          </a:xfrm>
          <a:prstGeom prst="straightConnector1">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335" name="Straight Arrow Connector 52" descr="Double pointing horizontal arrow.">
            <a:extLst>
              <a:ext uri="{FF2B5EF4-FFF2-40B4-BE49-F238E27FC236}">
                <a16:creationId xmlns:a16="http://schemas.microsoft.com/office/drawing/2014/main" id="{5C3D7970-3877-FD25-9246-231F7106B2FD}"/>
              </a:ext>
            </a:extLst>
          </p:cNvPr>
          <p:cNvCxnSpPr>
            <a:cxnSpLocks/>
            <a:stCxn id="282" idx="0"/>
            <a:endCxn id="295" idx="2"/>
          </p:cNvCxnSpPr>
          <p:nvPr/>
        </p:nvCxnSpPr>
        <p:spPr>
          <a:xfrm flipV="1">
            <a:off x="6257001" y="5195318"/>
            <a:ext cx="3868" cy="496800"/>
          </a:xfrm>
          <a:prstGeom prst="straightConnector1">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341" name="Straight Arrow Connector 52" descr="Double pointing horizontal arrow.">
            <a:extLst>
              <a:ext uri="{FF2B5EF4-FFF2-40B4-BE49-F238E27FC236}">
                <a16:creationId xmlns:a16="http://schemas.microsoft.com/office/drawing/2014/main" id="{7F12AA9E-238F-19D9-BB2C-B2CD267F4BF3}"/>
              </a:ext>
            </a:extLst>
          </p:cNvPr>
          <p:cNvCxnSpPr>
            <a:cxnSpLocks/>
            <a:stCxn id="274" idx="3"/>
            <a:endCxn id="280" idx="1"/>
          </p:cNvCxnSpPr>
          <p:nvPr/>
        </p:nvCxnSpPr>
        <p:spPr>
          <a:xfrm>
            <a:off x="5351243" y="2913519"/>
            <a:ext cx="636909" cy="1957"/>
          </a:xfrm>
          <a:prstGeom prst="straightConnector1">
            <a:avLst/>
          </a:prstGeom>
          <a:ln w="15875">
            <a:solidFill>
              <a:schemeClr val="tx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grpSp>
        <p:nvGrpSpPr>
          <p:cNvPr id="345" name="グループ化 344">
            <a:extLst>
              <a:ext uri="{FF2B5EF4-FFF2-40B4-BE49-F238E27FC236}">
                <a16:creationId xmlns:a16="http://schemas.microsoft.com/office/drawing/2014/main" id="{E4B37899-5E0A-E8B9-C3B7-342A1E886639}"/>
              </a:ext>
            </a:extLst>
          </p:cNvPr>
          <p:cNvGrpSpPr/>
          <p:nvPr/>
        </p:nvGrpSpPr>
        <p:grpSpPr>
          <a:xfrm>
            <a:off x="7023122" y="2645832"/>
            <a:ext cx="820861" cy="812933"/>
            <a:chOff x="5051089" y="1185069"/>
            <a:chExt cx="1165896" cy="1154637"/>
          </a:xfrm>
        </p:grpSpPr>
        <p:pic>
          <p:nvPicPr>
            <p:cNvPr id="346" name="Graphic 10" descr="AWS Lambda service icon.">
              <a:extLst>
                <a:ext uri="{FF2B5EF4-FFF2-40B4-BE49-F238E27FC236}">
                  <a16:creationId xmlns:a16="http://schemas.microsoft.com/office/drawing/2014/main" id="{FDCF2650-62BA-4A07-FAAB-BBBDEEBAA020}"/>
                </a:ext>
              </a:extLst>
            </p:cNvPr>
            <p:cNvPicPr>
              <a:picLocks noChangeAspect="1" noChangeArrowheads="1"/>
            </p:cNvPicPr>
            <p:nvPr/>
          </p:nvPicPr>
          <p:blipFill>
            <a:blip r:embed="rId6">
              <a:extLst>
                <a:ext uri="{96DAC541-7B7A-43D3-8B79-37D633B846F1}">
                  <asvg:svgBlip xmlns:asvg="http://schemas.microsoft.com/office/drawing/2016/SVG/main" r:embed="rId7"/>
                </a:ext>
              </a:extLst>
            </a:blip>
            <a:srcRect/>
            <a:stretch/>
          </p:blipFill>
          <p:spPr bwMode="auto">
            <a:xfrm>
              <a:off x="5246688" y="1185069"/>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7" name="TextBox 20">
              <a:extLst>
                <a:ext uri="{FF2B5EF4-FFF2-40B4-BE49-F238E27FC236}">
                  <a16:creationId xmlns:a16="http://schemas.microsoft.com/office/drawing/2014/main" id="{F9F9A756-5722-BFC6-CA01-CC9603516322}"/>
                </a:ext>
              </a:extLst>
            </p:cNvPr>
            <p:cNvSpPr txBox="1">
              <a:spLocks noChangeArrowheads="1"/>
            </p:cNvSpPr>
            <p:nvPr/>
          </p:nvSpPr>
          <p:spPr bwMode="auto">
            <a:xfrm>
              <a:off x="5051089" y="1946275"/>
              <a:ext cx="1165896" cy="393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Lambda</a:t>
              </a:r>
            </a:p>
          </p:txBody>
        </p:sp>
      </p:grpSp>
      <p:cxnSp>
        <p:nvCxnSpPr>
          <p:cNvPr id="348" name="Straight Arrow Connector 52" descr="Double pointing horizontal arrow.">
            <a:extLst>
              <a:ext uri="{FF2B5EF4-FFF2-40B4-BE49-F238E27FC236}">
                <a16:creationId xmlns:a16="http://schemas.microsoft.com/office/drawing/2014/main" id="{DADDF634-88B4-8130-4D40-0C4D57E92EB8}"/>
              </a:ext>
            </a:extLst>
          </p:cNvPr>
          <p:cNvCxnSpPr>
            <a:cxnSpLocks/>
            <a:stCxn id="280" idx="3"/>
            <a:endCxn id="346" idx="1"/>
          </p:cNvCxnSpPr>
          <p:nvPr/>
        </p:nvCxnSpPr>
        <p:spPr>
          <a:xfrm flipV="1">
            <a:off x="6524646" y="2914079"/>
            <a:ext cx="636189" cy="1397"/>
          </a:xfrm>
          <a:prstGeom prst="straightConnector1">
            <a:avLst/>
          </a:prstGeom>
          <a:ln w="15875">
            <a:solidFill>
              <a:schemeClr val="tx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cxnSp>
        <p:nvCxnSpPr>
          <p:cNvPr id="351" name="Straight Arrow Connector 52" descr="Double pointing horizontal arrow.">
            <a:extLst>
              <a:ext uri="{FF2B5EF4-FFF2-40B4-BE49-F238E27FC236}">
                <a16:creationId xmlns:a16="http://schemas.microsoft.com/office/drawing/2014/main" id="{5B3EE0DE-8484-7A59-3596-E4E47E17C982}"/>
              </a:ext>
            </a:extLst>
          </p:cNvPr>
          <p:cNvCxnSpPr>
            <a:cxnSpLocks/>
            <a:stCxn id="275" idx="2"/>
            <a:endCxn id="296" idx="0"/>
          </p:cNvCxnSpPr>
          <p:nvPr/>
        </p:nvCxnSpPr>
        <p:spPr>
          <a:xfrm flipH="1">
            <a:off x="5081211" y="3458765"/>
            <a:ext cx="1785" cy="923928"/>
          </a:xfrm>
          <a:prstGeom prst="straightConnector1">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sp>
        <p:nvSpPr>
          <p:cNvPr id="257" name="テキスト ボックス 256">
            <a:extLst>
              <a:ext uri="{FF2B5EF4-FFF2-40B4-BE49-F238E27FC236}">
                <a16:creationId xmlns:a16="http://schemas.microsoft.com/office/drawing/2014/main" id="{0F890CD9-4A2F-AFFD-603D-9E7EE5FBA898}"/>
              </a:ext>
            </a:extLst>
          </p:cNvPr>
          <p:cNvSpPr txBox="1"/>
          <p:nvPr/>
        </p:nvSpPr>
        <p:spPr>
          <a:xfrm>
            <a:off x="4360260" y="3860479"/>
            <a:ext cx="2390492" cy="276999"/>
          </a:xfrm>
          <a:prstGeom prst="rect">
            <a:avLst/>
          </a:prstGeom>
          <a:solidFill>
            <a:srgbClr val="EFECE3"/>
          </a:solidFill>
        </p:spPr>
        <p:txBody>
          <a:bodyPr wrap="square" rtlCol="0">
            <a:spAutoFit/>
          </a:bodyPr>
          <a:lstStyle/>
          <a:p>
            <a:r>
              <a:rPr lang="ja-JP" altLang="en-US" sz="1200" b="1" dirty="0">
                <a:latin typeface="BIZ UDゴシック" panose="020B0400000000000000" pitchFamily="49" charset="-128"/>
                <a:ea typeface="BIZ UDゴシック" panose="020B0400000000000000" pitchFamily="49" charset="-128"/>
              </a:rPr>
              <a:t>ユーザー・在室登録サービス</a:t>
            </a:r>
            <a:endParaRPr kumimoji="1" lang="ja-JP" altLang="en-US" sz="1200" b="1" dirty="0">
              <a:latin typeface="BIZ UDゴシック" panose="020B0400000000000000" pitchFamily="49" charset="-128"/>
              <a:ea typeface="BIZ UDゴシック" panose="020B0400000000000000" pitchFamily="49" charset="-128"/>
            </a:endParaRPr>
          </a:p>
        </p:txBody>
      </p:sp>
      <p:grpSp>
        <p:nvGrpSpPr>
          <p:cNvPr id="361" name="グループ化 360">
            <a:extLst>
              <a:ext uri="{FF2B5EF4-FFF2-40B4-BE49-F238E27FC236}">
                <a16:creationId xmlns:a16="http://schemas.microsoft.com/office/drawing/2014/main" id="{C19ADE41-C9AA-45A2-8DEF-AEEBA8F04EA8}"/>
              </a:ext>
            </a:extLst>
          </p:cNvPr>
          <p:cNvGrpSpPr/>
          <p:nvPr/>
        </p:nvGrpSpPr>
        <p:grpSpPr>
          <a:xfrm>
            <a:off x="7397897" y="3458765"/>
            <a:ext cx="71896" cy="901612"/>
            <a:chOff x="6937330" y="3141097"/>
            <a:chExt cx="71896" cy="901612"/>
          </a:xfrm>
        </p:grpSpPr>
        <p:cxnSp>
          <p:nvCxnSpPr>
            <p:cNvPr id="354" name="Straight Arrow Connector 52" descr="Double pointing horizontal arrow.">
              <a:extLst>
                <a:ext uri="{FF2B5EF4-FFF2-40B4-BE49-F238E27FC236}">
                  <a16:creationId xmlns:a16="http://schemas.microsoft.com/office/drawing/2014/main" id="{A70AD5BF-C3BD-5D72-27E3-EF4F79242565}"/>
                </a:ext>
              </a:extLst>
            </p:cNvPr>
            <p:cNvCxnSpPr>
              <a:cxnSpLocks/>
              <a:stCxn id="360" idx="0"/>
              <a:endCxn id="347" idx="2"/>
            </p:cNvCxnSpPr>
            <p:nvPr/>
          </p:nvCxnSpPr>
          <p:spPr>
            <a:xfrm flipH="1" flipV="1">
              <a:off x="6972986" y="3141097"/>
              <a:ext cx="292" cy="829716"/>
            </a:xfrm>
            <a:prstGeom prst="straightConnector1">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sp>
          <p:nvSpPr>
            <p:cNvPr id="360" name="楕円 359">
              <a:extLst>
                <a:ext uri="{FF2B5EF4-FFF2-40B4-BE49-F238E27FC236}">
                  <a16:creationId xmlns:a16="http://schemas.microsoft.com/office/drawing/2014/main" id="{95016C06-7F0A-799D-FE2D-1ED4C0566851}"/>
                </a:ext>
              </a:extLst>
            </p:cNvPr>
            <p:cNvSpPr/>
            <p:nvPr/>
          </p:nvSpPr>
          <p:spPr>
            <a:xfrm>
              <a:off x="6937330" y="3970813"/>
              <a:ext cx="71896" cy="71896"/>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62" name="TextBox 9">
            <a:extLst>
              <a:ext uri="{FF2B5EF4-FFF2-40B4-BE49-F238E27FC236}">
                <a16:creationId xmlns:a16="http://schemas.microsoft.com/office/drawing/2014/main" id="{ADFBD228-37C1-D6BB-82AC-852625A358F7}"/>
              </a:ext>
            </a:extLst>
          </p:cNvPr>
          <p:cNvSpPr txBox="1">
            <a:spLocks noChangeArrowheads="1"/>
          </p:cNvSpPr>
          <p:nvPr/>
        </p:nvSpPr>
        <p:spPr bwMode="auto">
          <a:xfrm>
            <a:off x="7385849" y="3789686"/>
            <a:ext cx="76250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Stream</a:t>
            </a:r>
          </a:p>
        </p:txBody>
      </p:sp>
      <p:cxnSp>
        <p:nvCxnSpPr>
          <p:cNvPr id="369" name="Straight Arrow Connector 52" descr="Double pointing horizontal arrow.">
            <a:extLst>
              <a:ext uri="{FF2B5EF4-FFF2-40B4-BE49-F238E27FC236}">
                <a16:creationId xmlns:a16="http://schemas.microsoft.com/office/drawing/2014/main" id="{8F324A4B-AC53-E93A-D615-3FEDFFDB3F4E}"/>
              </a:ext>
            </a:extLst>
          </p:cNvPr>
          <p:cNvCxnSpPr>
            <a:cxnSpLocks/>
            <a:stCxn id="274" idx="1"/>
          </p:cNvCxnSpPr>
          <p:nvPr/>
        </p:nvCxnSpPr>
        <p:spPr>
          <a:xfrm flipH="1" flipV="1">
            <a:off x="2777961" y="2910271"/>
            <a:ext cx="2036788" cy="3248"/>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372" name="Straight Arrow Connector 52" descr="Double pointing horizontal arrow.">
            <a:extLst>
              <a:ext uri="{FF2B5EF4-FFF2-40B4-BE49-F238E27FC236}">
                <a16:creationId xmlns:a16="http://schemas.microsoft.com/office/drawing/2014/main" id="{19143058-F807-ADFB-0125-08AD4D500740}"/>
              </a:ext>
            </a:extLst>
          </p:cNvPr>
          <p:cNvCxnSpPr>
            <a:cxnSpLocks/>
            <a:stCxn id="286" idx="1"/>
            <a:endCxn id="307" idx="2"/>
          </p:cNvCxnSpPr>
          <p:nvPr/>
        </p:nvCxnSpPr>
        <p:spPr>
          <a:xfrm flipH="1">
            <a:off x="1756501" y="6288743"/>
            <a:ext cx="294775" cy="0"/>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sp>
        <p:nvSpPr>
          <p:cNvPr id="380" name="Rectangle 103" descr="Generic group dashed.">
            <a:extLst>
              <a:ext uri="{FF2B5EF4-FFF2-40B4-BE49-F238E27FC236}">
                <a16:creationId xmlns:a16="http://schemas.microsoft.com/office/drawing/2014/main" id="{EF5AF07D-18B8-327A-CC9C-99C73CEC317A}"/>
              </a:ext>
            </a:extLst>
          </p:cNvPr>
          <p:cNvSpPr/>
          <p:nvPr/>
        </p:nvSpPr>
        <p:spPr>
          <a:xfrm>
            <a:off x="4457026" y="1552760"/>
            <a:ext cx="3541821" cy="2158934"/>
          </a:xfrm>
          <a:prstGeom prst="rect">
            <a:avLst/>
          </a:prstGeom>
          <a:noFill/>
          <a:ln w="15875">
            <a:solidFill>
              <a:srgbClr val="7D8998"/>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eaLnBrk="1" fontAlgn="auto" hangingPunct="1">
              <a:spcBef>
                <a:spcPts val="0"/>
              </a:spcBef>
              <a:spcAft>
                <a:spcPts val="0"/>
              </a:spcAft>
              <a:defRPr/>
            </a:pPr>
            <a:endParaRPr lang="en-US" sz="1200" dirty="0">
              <a:solidFill>
                <a:schemeClr val="tx1"/>
              </a:solidFill>
              <a:latin typeface="Arial" panose="020B0604020202020204" pitchFamily="34" charset="0"/>
              <a:cs typeface="Arial" panose="020B0604020202020204" pitchFamily="34" charset="0"/>
            </a:endParaRPr>
          </a:p>
        </p:txBody>
      </p:sp>
      <p:sp>
        <p:nvSpPr>
          <p:cNvPr id="256" name="テキスト ボックス 255">
            <a:extLst>
              <a:ext uri="{FF2B5EF4-FFF2-40B4-BE49-F238E27FC236}">
                <a16:creationId xmlns:a16="http://schemas.microsoft.com/office/drawing/2014/main" id="{FE8F01AC-FE33-4640-9042-02096E0D261A}"/>
              </a:ext>
            </a:extLst>
          </p:cNvPr>
          <p:cNvSpPr txBox="1"/>
          <p:nvPr/>
        </p:nvSpPr>
        <p:spPr>
          <a:xfrm>
            <a:off x="4355739" y="1260339"/>
            <a:ext cx="2390492" cy="276999"/>
          </a:xfrm>
          <a:prstGeom prst="rect">
            <a:avLst/>
          </a:prstGeom>
          <a:solidFill>
            <a:srgbClr val="EFECE3"/>
          </a:solidFill>
        </p:spPr>
        <p:txBody>
          <a:bodyPr wrap="square" rtlCol="0">
            <a:spAutoFit/>
          </a:bodyPr>
          <a:lstStyle/>
          <a:p>
            <a:r>
              <a:rPr lang="ja-JP" altLang="en-US" sz="1200" b="1" dirty="0">
                <a:latin typeface="BIZ UDゴシック" panose="020B0400000000000000" pitchFamily="49" charset="-128"/>
                <a:ea typeface="BIZ UDゴシック" panose="020B0400000000000000" pitchFamily="49" charset="-128"/>
              </a:rPr>
              <a:t>ユーザー・在室表示サービス</a:t>
            </a:r>
            <a:endParaRPr kumimoji="1" lang="ja-JP" altLang="en-US" sz="1200" b="1" dirty="0">
              <a:latin typeface="BIZ UDゴシック" panose="020B0400000000000000" pitchFamily="49" charset="-128"/>
              <a:ea typeface="BIZ UDゴシック" panose="020B0400000000000000" pitchFamily="49" charset="-128"/>
            </a:endParaRPr>
          </a:p>
        </p:txBody>
      </p:sp>
      <p:cxnSp>
        <p:nvCxnSpPr>
          <p:cNvPr id="388" name="Elbow Connector 22" descr="Elbow horizontal arrow pointing right (1).">
            <a:extLst>
              <a:ext uri="{FF2B5EF4-FFF2-40B4-BE49-F238E27FC236}">
                <a16:creationId xmlns:a16="http://schemas.microsoft.com/office/drawing/2014/main" id="{B287CFB7-D916-A6C4-0A22-A5521BBF546D}"/>
              </a:ext>
            </a:extLst>
          </p:cNvPr>
          <p:cNvCxnSpPr>
            <a:cxnSpLocks/>
            <a:stCxn id="270" idx="1"/>
            <a:endCxn id="274" idx="0"/>
          </p:cNvCxnSpPr>
          <p:nvPr/>
        </p:nvCxnSpPr>
        <p:spPr>
          <a:xfrm rot="10800000" flipV="1">
            <a:off x="5082996" y="1913082"/>
            <a:ext cx="905154" cy="732190"/>
          </a:xfrm>
          <a:prstGeom prst="bentConnector2">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391" name="Elbow Connector 22" descr="Elbow horizontal arrow pointing right (1).">
            <a:extLst>
              <a:ext uri="{FF2B5EF4-FFF2-40B4-BE49-F238E27FC236}">
                <a16:creationId xmlns:a16="http://schemas.microsoft.com/office/drawing/2014/main" id="{D61347B1-9E83-8AB6-90C3-C8178F54B3B1}"/>
              </a:ext>
            </a:extLst>
          </p:cNvPr>
          <p:cNvCxnSpPr>
            <a:cxnSpLocks/>
            <a:stCxn id="274" idx="0"/>
            <a:endCxn id="270" idx="1"/>
          </p:cNvCxnSpPr>
          <p:nvPr/>
        </p:nvCxnSpPr>
        <p:spPr>
          <a:xfrm rot="5400000" flipH="1" flipV="1">
            <a:off x="5169478" y="1826600"/>
            <a:ext cx="732190" cy="905154"/>
          </a:xfrm>
          <a:prstGeom prst="bentConnector2">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394" name="Elbow Connector 22" descr="Elbow horizontal arrow pointing right (1).">
            <a:extLst>
              <a:ext uri="{FF2B5EF4-FFF2-40B4-BE49-F238E27FC236}">
                <a16:creationId xmlns:a16="http://schemas.microsoft.com/office/drawing/2014/main" id="{C93C4400-1211-EE39-BA7D-7EEF86F1DDEE}"/>
              </a:ext>
            </a:extLst>
          </p:cNvPr>
          <p:cNvCxnSpPr>
            <a:cxnSpLocks/>
            <a:endCxn id="272" idx="0"/>
          </p:cNvCxnSpPr>
          <p:nvPr/>
        </p:nvCxnSpPr>
        <p:spPr>
          <a:xfrm>
            <a:off x="2781957" y="4817404"/>
            <a:ext cx="1373998" cy="865971"/>
          </a:xfrm>
          <a:prstGeom prst="bentConnector2">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sp>
        <p:nvSpPr>
          <p:cNvPr id="401" name="正方形/長方形 400">
            <a:extLst>
              <a:ext uri="{FF2B5EF4-FFF2-40B4-BE49-F238E27FC236}">
                <a16:creationId xmlns:a16="http://schemas.microsoft.com/office/drawing/2014/main" id="{4E3362AB-A26B-D5F2-1AB2-C867BCFF9BEB}"/>
              </a:ext>
            </a:extLst>
          </p:cNvPr>
          <p:cNvSpPr/>
          <p:nvPr/>
        </p:nvSpPr>
        <p:spPr>
          <a:xfrm>
            <a:off x="3522240" y="926869"/>
            <a:ext cx="4831584" cy="5828334"/>
          </a:xfrm>
          <a:prstGeom prst="rect">
            <a:avLst/>
          </a:prstGeom>
          <a:solidFill>
            <a:srgbClr val="FFFFFF"/>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402" name="Picture 4" descr="AWS - inteltank">
            <a:extLst>
              <a:ext uri="{FF2B5EF4-FFF2-40B4-BE49-F238E27FC236}">
                <a16:creationId xmlns:a16="http://schemas.microsoft.com/office/drawing/2014/main" id="{5747D4D3-968C-18EE-8127-2775BED6A810}"/>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4836946" y="3069170"/>
            <a:ext cx="2211582" cy="1452274"/>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Raspberry icon - Free download on Iconfinder">
            <a:extLst>
              <a:ext uri="{FF2B5EF4-FFF2-40B4-BE49-F238E27FC236}">
                <a16:creationId xmlns:a16="http://schemas.microsoft.com/office/drawing/2014/main" id="{27A127ED-1D31-1584-E4AF-0145D61BFFD8}"/>
              </a:ext>
            </a:extLst>
          </p:cNvPr>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2244769" y="4471085"/>
            <a:ext cx="544810" cy="54481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Raspberry icon - Free download on Iconfinder">
            <a:extLst>
              <a:ext uri="{FF2B5EF4-FFF2-40B4-BE49-F238E27FC236}">
                <a16:creationId xmlns:a16="http://schemas.microsoft.com/office/drawing/2014/main" id="{3EF2341C-F386-5667-B8AF-246DB1BE0AE0}"/>
              </a:ext>
            </a:extLst>
          </p:cNvPr>
          <p:cNvPicPr>
            <a:picLocks noChangeAspect="1" noChangeArrowheads="1"/>
          </p:cNvPicPr>
          <p:nvPr/>
        </p:nvPicPr>
        <p:blipFill>
          <a:blip r:embed="rId29">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244769" y="2641704"/>
            <a:ext cx="544810" cy="5448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55096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E74EB3-816C-08BA-53E4-250B8BC03C5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21F47FC-675D-6ED9-870A-7A5E0ACBD6C8}"/>
              </a:ext>
            </a:extLst>
          </p:cNvPr>
          <p:cNvSpPr>
            <a:spLocks noGrp="1"/>
          </p:cNvSpPr>
          <p:nvPr>
            <p:ph type="title"/>
          </p:nvPr>
        </p:nvSpPr>
        <p:spPr/>
        <p:txBody>
          <a:bodyPr/>
          <a:lstStyle/>
          <a:p>
            <a:r>
              <a:rPr kumimoji="1" lang="ja-JP" altLang="en-US" dirty="0"/>
              <a:t>在室確認システムのアーキテクチャ</a:t>
            </a:r>
          </a:p>
        </p:txBody>
      </p:sp>
      <p:grpSp>
        <p:nvGrpSpPr>
          <p:cNvPr id="230" name="グループ化 229">
            <a:extLst>
              <a:ext uri="{FF2B5EF4-FFF2-40B4-BE49-F238E27FC236}">
                <a16:creationId xmlns:a16="http://schemas.microsoft.com/office/drawing/2014/main" id="{6DA5C0F3-5449-C3B7-9959-ECFAD74EF8D0}"/>
              </a:ext>
            </a:extLst>
          </p:cNvPr>
          <p:cNvGrpSpPr/>
          <p:nvPr/>
        </p:nvGrpSpPr>
        <p:grpSpPr>
          <a:xfrm>
            <a:off x="6904519" y="4385283"/>
            <a:ext cx="1058068" cy="814611"/>
            <a:chOff x="4098454" y="2667000"/>
            <a:chExt cx="1502808" cy="1157017"/>
          </a:xfrm>
        </p:grpSpPr>
        <p:pic>
          <p:nvPicPr>
            <p:cNvPr id="298" name="Graphic 23" descr="Amazon DynamoDB service icon.">
              <a:extLst>
                <a:ext uri="{FF2B5EF4-FFF2-40B4-BE49-F238E27FC236}">
                  <a16:creationId xmlns:a16="http://schemas.microsoft.com/office/drawing/2014/main" id="{22CE010B-DB73-DB5C-05BE-58006697C80E}"/>
                </a:ext>
              </a:extLst>
            </p:cNvPr>
            <p:cNvPicPr>
              <a:picLocks noChangeAspect="1" noChangeArrowheads="1"/>
            </p:cNvPicPr>
            <p:nvPr/>
          </p:nvPicPr>
          <p:blipFill>
            <a:blip r:embed="rId2">
              <a:extLst>
                <a:ext uri="{96DAC541-7B7A-43D3-8B79-37D633B846F1}">
                  <asvg:svgBlip xmlns:asvg="http://schemas.microsoft.com/office/drawing/2016/SVG/main" r:embed="rId3"/>
                </a:ext>
              </a:extLst>
            </a:blip>
            <a:srcRect/>
            <a:stretch/>
          </p:blipFill>
          <p:spPr bwMode="auto">
            <a:xfrm>
              <a:off x="4468858" y="2667000"/>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9" name="TextBox 12">
              <a:extLst>
                <a:ext uri="{FF2B5EF4-FFF2-40B4-BE49-F238E27FC236}">
                  <a16:creationId xmlns:a16="http://schemas.microsoft.com/office/drawing/2014/main" id="{1307126D-7AFB-EDF9-442A-F4161BAB5BF9}"/>
                </a:ext>
              </a:extLst>
            </p:cNvPr>
            <p:cNvSpPr txBox="1">
              <a:spLocks noChangeArrowheads="1"/>
            </p:cNvSpPr>
            <p:nvPr/>
          </p:nvSpPr>
          <p:spPr bwMode="auto">
            <a:xfrm>
              <a:off x="4098454" y="3430587"/>
              <a:ext cx="1502808" cy="393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DynamoDB</a:t>
              </a:r>
            </a:p>
          </p:txBody>
        </p:sp>
      </p:grpSp>
      <p:grpSp>
        <p:nvGrpSpPr>
          <p:cNvPr id="231" name="グループ化 230">
            <a:extLst>
              <a:ext uri="{FF2B5EF4-FFF2-40B4-BE49-F238E27FC236}">
                <a16:creationId xmlns:a16="http://schemas.microsoft.com/office/drawing/2014/main" id="{37E0A091-30B7-47FB-6B77-5A54439A7E4F}"/>
              </a:ext>
            </a:extLst>
          </p:cNvPr>
          <p:cNvGrpSpPr/>
          <p:nvPr/>
        </p:nvGrpSpPr>
        <p:grpSpPr>
          <a:xfrm>
            <a:off x="4522361" y="4382693"/>
            <a:ext cx="1117700" cy="998159"/>
            <a:chOff x="2576510" y="1184275"/>
            <a:chExt cx="1587506" cy="1417718"/>
          </a:xfrm>
        </p:grpSpPr>
        <p:pic>
          <p:nvPicPr>
            <p:cNvPr id="296" name="Graphic 7" descr="Amazon API Gateway service icon.">
              <a:extLst>
                <a:ext uri="{FF2B5EF4-FFF2-40B4-BE49-F238E27FC236}">
                  <a16:creationId xmlns:a16="http://schemas.microsoft.com/office/drawing/2014/main" id="{6AFE9033-0406-8D34-D324-F120DA1E5AFD}"/>
                </a:ext>
              </a:extLst>
            </p:cNvPr>
            <p:cNvPicPr>
              <a:picLocks noChangeAspect="1" noChangeArrowheads="1"/>
            </p:cNvPicPr>
            <p:nvPr/>
          </p:nvPicPr>
          <p:blipFill>
            <a:blip r:embed="rId4">
              <a:extLst>
                <a:ext uri="{96DAC541-7B7A-43D3-8B79-37D633B846F1}">
                  <asvg:svgBlip xmlns:asvg="http://schemas.microsoft.com/office/drawing/2016/SVG/main" r:embed="rId5"/>
                </a:ext>
              </a:extLst>
            </a:blip>
            <a:srcRect/>
            <a:stretch/>
          </p:blipFill>
          <p:spPr bwMode="auto">
            <a:xfrm>
              <a:off x="2989263" y="1184275"/>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 name="TextBox 9">
              <a:extLst>
                <a:ext uri="{FF2B5EF4-FFF2-40B4-BE49-F238E27FC236}">
                  <a16:creationId xmlns:a16="http://schemas.microsoft.com/office/drawing/2014/main" id="{2FFAC257-50D7-AD57-4930-940C4B5589C9}"/>
                </a:ext>
              </a:extLst>
            </p:cNvPr>
            <p:cNvSpPr txBox="1">
              <a:spLocks noChangeArrowheads="1"/>
            </p:cNvSpPr>
            <p:nvPr/>
          </p:nvSpPr>
          <p:spPr bwMode="auto">
            <a:xfrm>
              <a:off x="2576510" y="1946275"/>
              <a:ext cx="1587506" cy="655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API Gateway</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(REST API)</a:t>
              </a:r>
            </a:p>
          </p:txBody>
        </p:sp>
      </p:grpSp>
      <p:grpSp>
        <p:nvGrpSpPr>
          <p:cNvPr id="232" name="グループ化 231">
            <a:extLst>
              <a:ext uri="{FF2B5EF4-FFF2-40B4-BE49-F238E27FC236}">
                <a16:creationId xmlns:a16="http://schemas.microsoft.com/office/drawing/2014/main" id="{874F6A19-FCAC-F995-0122-70D2939C4B85}"/>
              </a:ext>
            </a:extLst>
          </p:cNvPr>
          <p:cNvGrpSpPr/>
          <p:nvPr/>
        </p:nvGrpSpPr>
        <p:grpSpPr>
          <a:xfrm>
            <a:off x="5850438" y="4382385"/>
            <a:ext cx="820861" cy="812933"/>
            <a:chOff x="5051089" y="1185069"/>
            <a:chExt cx="1165896" cy="1154637"/>
          </a:xfrm>
        </p:grpSpPr>
        <p:pic>
          <p:nvPicPr>
            <p:cNvPr id="294" name="Graphic 10" descr="AWS Lambda service icon.">
              <a:extLst>
                <a:ext uri="{FF2B5EF4-FFF2-40B4-BE49-F238E27FC236}">
                  <a16:creationId xmlns:a16="http://schemas.microsoft.com/office/drawing/2014/main" id="{D519B60F-519A-EC0B-38FB-38063B6941E7}"/>
                </a:ext>
              </a:extLst>
            </p:cNvPr>
            <p:cNvPicPr>
              <a:picLocks noChangeAspect="1" noChangeArrowheads="1"/>
            </p:cNvPicPr>
            <p:nvPr/>
          </p:nvPicPr>
          <p:blipFill>
            <a:blip r:embed="rId6">
              <a:extLst>
                <a:ext uri="{96DAC541-7B7A-43D3-8B79-37D633B846F1}">
                  <asvg:svgBlip xmlns:asvg="http://schemas.microsoft.com/office/drawing/2016/SVG/main" r:embed="rId7"/>
                </a:ext>
              </a:extLst>
            </a:blip>
            <a:srcRect/>
            <a:stretch/>
          </p:blipFill>
          <p:spPr bwMode="auto">
            <a:xfrm>
              <a:off x="5246688" y="1185069"/>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5" name="TextBox 20">
              <a:extLst>
                <a:ext uri="{FF2B5EF4-FFF2-40B4-BE49-F238E27FC236}">
                  <a16:creationId xmlns:a16="http://schemas.microsoft.com/office/drawing/2014/main" id="{3EDBC671-A081-83A6-F28A-4D7004D01C0A}"/>
                </a:ext>
              </a:extLst>
            </p:cNvPr>
            <p:cNvSpPr txBox="1">
              <a:spLocks noChangeArrowheads="1"/>
            </p:cNvSpPr>
            <p:nvPr/>
          </p:nvSpPr>
          <p:spPr bwMode="auto">
            <a:xfrm>
              <a:off x="5051089" y="1946275"/>
              <a:ext cx="1165896" cy="393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Lambda</a:t>
              </a:r>
            </a:p>
          </p:txBody>
        </p:sp>
      </p:grpSp>
      <p:grpSp>
        <p:nvGrpSpPr>
          <p:cNvPr id="233" name="グループ化 232">
            <a:extLst>
              <a:ext uri="{FF2B5EF4-FFF2-40B4-BE49-F238E27FC236}">
                <a16:creationId xmlns:a16="http://schemas.microsoft.com/office/drawing/2014/main" id="{B0CC9628-574A-4A1C-C07E-40122D27AB07}"/>
              </a:ext>
            </a:extLst>
          </p:cNvPr>
          <p:cNvGrpSpPr/>
          <p:nvPr/>
        </p:nvGrpSpPr>
        <p:grpSpPr>
          <a:xfrm>
            <a:off x="6894823" y="5692118"/>
            <a:ext cx="1068518" cy="813493"/>
            <a:chOff x="-6240556" y="-4075450"/>
            <a:chExt cx="1517651" cy="1155431"/>
          </a:xfrm>
        </p:grpSpPr>
        <p:pic>
          <p:nvPicPr>
            <p:cNvPr id="292" name="Graphic 17" descr="Amazon CloudWatch service icon.">
              <a:extLst>
                <a:ext uri="{FF2B5EF4-FFF2-40B4-BE49-F238E27FC236}">
                  <a16:creationId xmlns:a16="http://schemas.microsoft.com/office/drawing/2014/main" id="{D564E077-6B63-037B-DE8C-56CF0775EDAB}"/>
                </a:ext>
              </a:extLst>
            </p:cNvPr>
            <p:cNvPicPr>
              <a:picLocks noChangeAspect="1" noChangeArrowheads="1"/>
            </p:cNvPicPr>
            <p:nvPr/>
          </p:nvPicPr>
          <p:blipFill>
            <a:blip r:embed="rId8">
              <a:extLst>
                <a:ext uri="{96DAC541-7B7A-43D3-8B79-37D633B846F1}">
                  <asvg:svgBlip xmlns:asvg="http://schemas.microsoft.com/office/drawing/2016/SVG/main" r:embed="rId9"/>
                </a:ext>
              </a:extLst>
            </a:blip>
            <a:srcRect/>
            <a:stretch/>
          </p:blipFill>
          <p:spPr bwMode="auto">
            <a:xfrm>
              <a:off x="-5862730" y="-4075450"/>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3" name="TextBox 9">
              <a:extLst>
                <a:ext uri="{FF2B5EF4-FFF2-40B4-BE49-F238E27FC236}">
                  <a16:creationId xmlns:a16="http://schemas.microsoft.com/office/drawing/2014/main" id="{12C26EA8-78AB-2FAA-013A-6F9B4DC1428B}"/>
                </a:ext>
              </a:extLst>
            </p:cNvPr>
            <p:cNvSpPr txBox="1">
              <a:spLocks noChangeArrowheads="1"/>
            </p:cNvSpPr>
            <p:nvPr/>
          </p:nvSpPr>
          <p:spPr bwMode="auto">
            <a:xfrm>
              <a:off x="-6240556" y="-3313450"/>
              <a:ext cx="1517651" cy="393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CloudWatch</a:t>
              </a:r>
            </a:p>
          </p:txBody>
        </p:sp>
      </p:grpSp>
      <p:grpSp>
        <p:nvGrpSpPr>
          <p:cNvPr id="234" name="グループ化 233">
            <a:extLst>
              <a:ext uri="{FF2B5EF4-FFF2-40B4-BE49-F238E27FC236}">
                <a16:creationId xmlns:a16="http://schemas.microsoft.com/office/drawing/2014/main" id="{616EC866-5737-1F34-A080-9DB1590F2AB4}"/>
              </a:ext>
            </a:extLst>
          </p:cNvPr>
          <p:cNvGrpSpPr/>
          <p:nvPr/>
        </p:nvGrpSpPr>
        <p:grpSpPr>
          <a:xfrm>
            <a:off x="4815974" y="5696629"/>
            <a:ext cx="536494" cy="813493"/>
            <a:chOff x="7535863" y="1001200"/>
            <a:chExt cx="762000" cy="1155431"/>
          </a:xfrm>
        </p:grpSpPr>
        <p:pic>
          <p:nvPicPr>
            <p:cNvPr id="290" name="Graphic 19" descr="AWS Identity and Access Management (IAM) service icon.">
              <a:extLst>
                <a:ext uri="{FF2B5EF4-FFF2-40B4-BE49-F238E27FC236}">
                  <a16:creationId xmlns:a16="http://schemas.microsoft.com/office/drawing/2014/main" id="{EE49B854-110D-13A9-6CAB-461DA00DFA51}"/>
                </a:ext>
              </a:extLst>
            </p:cNvPr>
            <p:cNvPicPr>
              <a:picLocks noChangeAspect="1" noChangeArrowheads="1"/>
            </p:cNvPicPr>
            <p:nvPr/>
          </p:nvPicPr>
          <p:blipFill>
            <a:blip r:embed="rId10">
              <a:extLst>
                <a:ext uri="{96DAC541-7B7A-43D3-8B79-37D633B846F1}">
                  <asvg:svgBlip xmlns:asvg="http://schemas.microsoft.com/office/drawing/2016/SVG/main" r:embed="rId11"/>
                </a:ext>
              </a:extLst>
            </a:blip>
            <a:srcRect/>
            <a:stretch/>
          </p:blipFill>
          <p:spPr bwMode="auto">
            <a:xfrm>
              <a:off x="7535863" y="1001200"/>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1" name="TextBox 12">
              <a:extLst>
                <a:ext uri="{FF2B5EF4-FFF2-40B4-BE49-F238E27FC236}">
                  <a16:creationId xmlns:a16="http://schemas.microsoft.com/office/drawing/2014/main" id="{D202629E-C20C-E7AA-F342-817FB0763033}"/>
                </a:ext>
              </a:extLst>
            </p:cNvPr>
            <p:cNvSpPr txBox="1">
              <a:spLocks noChangeArrowheads="1"/>
            </p:cNvSpPr>
            <p:nvPr/>
          </p:nvSpPr>
          <p:spPr bwMode="auto">
            <a:xfrm>
              <a:off x="7535863" y="1763200"/>
              <a:ext cx="758826" cy="393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IAM</a:t>
              </a:r>
            </a:p>
          </p:txBody>
        </p:sp>
      </p:grpSp>
      <p:sp>
        <p:nvSpPr>
          <p:cNvPr id="289" name="TextBox 12">
            <a:extLst>
              <a:ext uri="{FF2B5EF4-FFF2-40B4-BE49-F238E27FC236}">
                <a16:creationId xmlns:a16="http://schemas.microsoft.com/office/drawing/2014/main" id="{FE370BE4-C40A-96FF-CF0E-B268108C3122}"/>
              </a:ext>
            </a:extLst>
          </p:cNvPr>
          <p:cNvSpPr txBox="1">
            <a:spLocks noChangeArrowheads="1"/>
          </p:cNvSpPr>
          <p:nvPr/>
        </p:nvSpPr>
        <p:spPr bwMode="auto">
          <a:xfrm>
            <a:off x="1707208" y="5001976"/>
            <a:ext cx="16050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Raspberry Pi 4B</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(172.16.15.8)</a:t>
            </a:r>
          </a:p>
        </p:txBody>
      </p:sp>
      <p:sp>
        <p:nvSpPr>
          <p:cNvPr id="236" name="テキスト ボックス 235">
            <a:extLst>
              <a:ext uri="{FF2B5EF4-FFF2-40B4-BE49-F238E27FC236}">
                <a16:creationId xmlns:a16="http://schemas.microsoft.com/office/drawing/2014/main" id="{31B44EFC-9AF8-31C0-7711-BD055F703DBE}"/>
              </a:ext>
            </a:extLst>
          </p:cNvPr>
          <p:cNvSpPr txBox="1"/>
          <p:nvPr/>
        </p:nvSpPr>
        <p:spPr>
          <a:xfrm>
            <a:off x="1077353" y="4303759"/>
            <a:ext cx="1162293" cy="276999"/>
          </a:xfrm>
          <a:prstGeom prst="rect">
            <a:avLst/>
          </a:prstGeom>
          <a:noFill/>
        </p:spPr>
        <p:txBody>
          <a:bodyPr wrap="square">
            <a:spAutoFit/>
          </a:body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RC-S380 S</a:t>
            </a:r>
          </a:p>
        </p:txBody>
      </p:sp>
      <p:pic>
        <p:nvPicPr>
          <p:cNvPr id="237" name="図 236" descr="黒い背景と白い文字のロゴ&#10;&#10;AI によって生成されたコンテンツは間違っている可能性があります。">
            <a:extLst>
              <a:ext uri="{FF2B5EF4-FFF2-40B4-BE49-F238E27FC236}">
                <a16:creationId xmlns:a16="http://schemas.microsoft.com/office/drawing/2014/main" id="{7D371AEA-C00A-5728-F382-0CF216213CC2}"/>
              </a:ext>
            </a:extLst>
          </p:cNvPr>
          <p:cNvPicPr>
            <a:picLocks noChangeAspect="1"/>
          </p:cNvPicPr>
          <p:nvPr/>
        </p:nvPicPr>
        <p:blipFill>
          <a:blip r:embed="rId12">
            <a:biLevel thresh="50000"/>
            <a:extLst>
              <a:ext uri="{28A0092B-C50C-407E-A947-70E740481C1C}">
                <a14:useLocalDpi xmlns:a14="http://schemas.microsoft.com/office/drawing/2010/main" val="0"/>
              </a:ext>
            </a:extLst>
          </a:blip>
          <a:srcRect t="19474" b="18132"/>
          <a:stretch/>
        </p:blipFill>
        <p:spPr>
          <a:xfrm flipH="1">
            <a:off x="693160" y="4508703"/>
            <a:ext cx="1605014" cy="751622"/>
          </a:xfrm>
          <a:prstGeom prst="rect">
            <a:avLst/>
          </a:prstGeom>
        </p:spPr>
      </p:pic>
      <p:cxnSp>
        <p:nvCxnSpPr>
          <p:cNvPr id="238" name="Straight Arrow Connector 74" descr="Up and down pointing vertical arrow.">
            <a:extLst>
              <a:ext uri="{FF2B5EF4-FFF2-40B4-BE49-F238E27FC236}">
                <a16:creationId xmlns:a16="http://schemas.microsoft.com/office/drawing/2014/main" id="{E0863189-4363-AB08-B43B-90C8A2563A82}"/>
              </a:ext>
            </a:extLst>
          </p:cNvPr>
          <p:cNvCxnSpPr>
            <a:cxnSpLocks/>
            <a:endCxn id="296" idx="1"/>
          </p:cNvCxnSpPr>
          <p:nvPr/>
        </p:nvCxnSpPr>
        <p:spPr>
          <a:xfrm>
            <a:off x="2777961" y="4650940"/>
            <a:ext cx="2035003" cy="0"/>
          </a:xfrm>
          <a:prstGeom prst="straightConnector1">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grpSp>
        <p:nvGrpSpPr>
          <p:cNvPr id="241" name="グループ化 240">
            <a:extLst>
              <a:ext uri="{FF2B5EF4-FFF2-40B4-BE49-F238E27FC236}">
                <a16:creationId xmlns:a16="http://schemas.microsoft.com/office/drawing/2014/main" id="{1383B82F-736D-F595-E925-C9816690DC23}"/>
              </a:ext>
            </a:extLst>
          </p:cNvPr>
          <p:cNvGrpSpPr/>
          <p:nvPr/>
        </p:nvGrpSpPr>
        <p:grpSpPr>
          <a:xfrm>
            <a:off x="2051276" y="6087076"/>
            <a:ext cx="924337" cy="403333"/>
            <a:chOff x="2262291" y="5685876"/>
            <a:chExt cx="924337" cy="403333"/>
          </a:xfrm>
        </p:grpSpPr>
        <p:pic>
          <p:nvPicPr>
            <p:cNvPr id="286" name="図 285" descr="アイコン&#10;&#10;AI によって生成されたコンテンツは間違っている可能性があります。">
              <a:extLst>
                <a:ext uri="{FF2B5EF4-FFF2-40B4-BE49-F238E27FC236}">
                  <a16:creationId xmlns:a16="http://schemas.microsoft.com/office/drawing/2014/main" id="{F110D06C-72E2-9AB8-4697-BA36CA21435F}"/>
                </a:ext>
              </a:extLst>
            </p:cNvPr>
            <p:cNvPicPr>
              <a:picLocks noChangeAspect="1"/>
            </p:cNvPicPr>
            <p:nvPr/>
          </p:nvPicPr>
          <p:blipFill>
            <a:blip r:embed="rId13">
              <a:extLst>
                <a:ext uri="{28A0092B-C50C-407E-A947-70E740481C1C}">
                  <a14:useLocalDpi xmlns:a14="http://schemas.microsoft.com/office/drawing/2010/main" val="0"/>
                </a:ext>
              </a:extLst>
            </a:blip>
            <a:srcRect l="10553" t="5709" r="9769" b="4466"/>
            <a:stretch/>
          </p:blipFill>
          <p:spPr>
            <a:xfrm>
              <a:off x="2262291" y="5685876"/>
              <a:ext cx="357774" cy="403333"/>
            </a:xfrm>
            <a:prstGeom prst="rect">
              <a:avLst/>
            </a:prstGeom>
          </p:spPr>
        </p:pic>
        <p:sp>
          <p:nvSpPr>
            <p:cNvPr id="287" name="テキスト ボックス 286">
              <a:extLst>
                <a:ext uri="{FF2B5EF4-FFF2-40B4-BE49-F238E27FC236}">
                  <a16:creationId xmlns:a16="http://schemas.microsoft.com/office/drawing/2014/main" id="{C6592783-D212-E44E-6432-7B5A6771EB4A}"/>
                </a:ext>
              </a:extLst>
            </p:cNvPr>
            <p:cNvSpPr txBox="1"/>
            <p:nvPr/>
          </p:nvSpPr>
          <p:spPr>
            <a:xfrm>
              <a:off x="2557071" y="5749042"/>
              <a:ext cx="629557" cy="276999"/>
            </a:xfrm>
            <a:prstGeom prst="rect">
              <a:avLst/>
            </a:prstGeom>
            <a:noFill/>
          </p:spPr>
          <p:txBody>
            <a:bodyPr wrap="square">
              <a:spAutoFit/>
            </a:bodyPr>
            <a:lstStyle/>
            <a:p>
              <a:r>
                <a:rPr lang="en-US" altLang="ja-JP" sz="1200" dirty="0"/>
                <a:t>:3000</a:t>
              </a:r>
              <a:endParaRPr lang="ja-JP" altLang="en-US" sz="1200" dirty="0"/>
            </a:p>
          </p:txBody>
        </p:sp>
      </p:grpSp>
      <p:grpSp>
        <p:nvGrpSpPr>
          <p:cNvPr id="242" name="グループ化 241">
            <a:extLst>
              <a:ext uri="{FF2B5EF4-FFF2-40B4-BE49-F238E27FC236}">
                <a16:creationId xmlns:a16="http://schemas.microsoft.com/office/drawing/2014/main" id="{EBDD9353-3C6D-A9B7-17A3-4F4BAFAB1AD0}"/>
              </a:ext>
            </a:extLst>
          </p:cNvPr>
          <p:cNvGrpSpPr/>
          <p:nvPr/>
        </p:nvGrpSpPr>
        <p:grpSpPr>
          <a:xfrm>
            <a:off x="2043915" y="5648135"/>
            <a:ext cx="931698" cy="372497"/>
            <a:chOff x="2254930" y="5246935"/>
            <a:chExt cx="931698" cy="372497"/>
          </a:xfrm>
        </p:grpSpPr>
        <p:pic>
          <p:nvPicPr>
            <p:cNvPr id="284" name="グラフィックス 283">
              <a:extLst>
                <a:ext uri="{FF2B5EF4-FFF2-40B4-BE49-F238E27FC236}">
                  <a16:creationId xmlns:a16="http://schemas.microsoft.com/office/drawing/2014/main" id="{FB1C715D-A74B-5C51-1EC0-3D6584150B3C}"/>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2254930" y="5246935"/>
              <a:ext cx="372497" cy="372497"/>
            </a:xfrm>
            <a:prstGeom prst="rect">
              <a:avLst/>
            </a:prstGeom>
          </p:spPr>
        </p:pic>
        <p:sp>
          <p:nvSpPr>
            <p:cNvPr id="285" name="テキスト ボックス 284">
              <a:extLst>
                <a:ext uri="{FF2B5EF4-FFF2-40B4-BE49-F238E27FC236}">
                  <a16:creationId xmlns:a16="http://schemas.microsoft.com/office/drawing/2014/main" id="{F688E779-8FA1-3029-FF33-5998C0AC69E4}"/>
                </a:ext>
              </a:extLst>
            </p:cNvPr>
            <p:cNvSpPr txBox="1"/>
            <p:nvPr/>
          </p:nvSpPr>
          <p:spPr>
            <a:xfrm>
              <a:off x="2557071" y="5306333"/>
              <a:ext cx="629557" cy="276999"/>
            </a:xfrm>
            <a:prstGeom prst="rect">
              <a:avLst/>
            </a:prstGeom>
            <a:noFill/>
          </p:spPr>
          <p:txBody>
            <a:bodyPr wrap="square">
              <a:spAutoFit/>
            </a:bodyPr>
            <a:lstStyle/>
            <a:p>
              <a:r>
                <a:rPr lang="en-US" altLang="ja-JP" sz="1200" dirty="0"/>
                <a:t>:8000</a:t>
              </a:r>
              <a:endParaRPr lang="ja-JP" altLang="en-US" sz="1200" dirty="0"/>
            </a:p>
          </p:txBody>
        </p:sp>
      </p:grpSp>
      <p:grpSp>
        <p:nvGrpSpPr>
          <p:cNvPr id="243" name="グループ化 242">
            <a:extLst>
              <a:ext uri="{FF2B5EF4-FFF2-40B4-BE49-F238E27FC236}">
                <a16:creationId xmlns:a16="http://schemas.microsoft.com/office/drawing/2014/main" id="{5E0A1726-4FB5-B1F4-D42B-0DF8F3069C2A}"/>
              </a:ext>
            </a:extLst>
          </p:cNvPr>
          <p:cNvGrpSpPr/>
          <p:nvPr/>
        </p:nvGrpSpPr>
        <p:grpSpPr>
          <a:xfrm>
            <a:off x="5655352" y="5692118"/>
            <a:ext cx="1211032" cy="802921"/>
            <a:chOff x="3129557" y="4452843"/>
            <a:chExt cx="1211032" cy="802921"/>
          </a:xfrm>
        </p:grpSpPr>
        <p:pic>
          <p:nvPicPr>
            <p:cNvPr id="282" name="Graphic 19" descr="Amazon EventBridge service icon.">
              <a:extLst>
                <a:ext uri="{FF2B5EF4-FFF2-40B4-BE49-F238E27FC236}">
                  <a16:creationId xmlns:a16="http://schemas.microsoft.com/office/drawing/2014/main" id="{8922CDD7-A613-F5C2-F1F5-3E7515C56151}"/>
                </a:ext>
              </a:extLst>
            </p:cNvPr>
            <p:cNvPicPr>
              <a:picLocks noChangeAspect="1" noChangeArrowheads="1"/>
            </p:cNvPicPr>
            <p:nvPr/>
          </p:nvPicPr>
          <p:blipFill>
            <a:blip r:embed="rId16">
              <a:extLst>
                <a:ext uri="{96DAC541-7B7A-43D3-8B79-37D633B846F1}">
                  <asvg:svgBlip xmlns:asvg="http://schemas.microsoft.com/office/drawing/2016/SVG/main" r:embed="rId17"/>
                </a:ext>
              </a:extLst>
            </a:blip>
            <a:srcRect/>
            <a:stretch/>
          </p:blipFill>
          <p:spPr bwMode="auto">
            <a:xfrm>
              <a:off x="3461744" y="4452843"/>
              <a:ext cx="538923" cy="538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3" name="TextBox 11">
              <a:extLst>
                <a:ext uri="{FF2B5EF4-FFF2-40B4-BE49-F238E27FC236}">
                  <a16:creationId xmlns:a16="http://schemas.microsoft.com/office/drawing/2014/main" id="{C639837F-DAB6-41E0-DABA-F3AAEFCB7CBF}"/>
                </a:ext>
              </a:extLst>
            </p:cNvPr>
            <p:cNvSpPr txBox="1">
              <a:spLocks noChangeArrowheads="1"/>
            </p:cNvSpPr>
            <p:nvPr/>
          </p:nvSpPr>
          <p:spPr bwMode="auto">
            <a:xfrm>
              <a:off x="3129557" y="4978765"/>
              <a:ext cx="121103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err="1">
                  <a:latin typeface="Arial" panose="020B0604020202020204" pitchFamily="34" charset="0"/>
                  <a:ea typeface="Amazon Ember" panose="020B0603020204020204" pitchFamily="34" charset="0"/>
                  <a:cs typeface="Arial" panose="020B0604020202020204" pitchFamily="34" charset="0"/>
                </a:rPr>
                <a:t>EventBridge</a:t>
              </a:r>
              <a:endParaRPr lang="en-US" altLang="en-US" sz="1200" dirty="0">
                <a:latin typeface="Arial" panose="020B0604020202020204" pitchFamily="34" charset="0"/>
                <a:ea typeface="Amazon Ember" panose="020B0603020204020204" pitchFamily="34" charset="0"/>
                <a:cs typeface="Arial" panose="020B0604020202020204" pitchFamily="34" charset="0"/>
              </a:endParaRPr>
            </a:p>
          </p:txBody>
        </p:sp>
      </p:grpSp>
      <p:grpSp>
        <p:nvGrpSpPr>
          <p:cNvPr id="244" name="グループ化 243">
            <a:extLst>
              <a:ext uri="{FF2B5EF4-FFF2-40B4-BE49-F238E27FC236}">
                <a16:creationId xmlns:a16="http://schemas.microsoft.com/office/drawing/2014/main" id="{898D4C78-B129-B5DC-69C6-D05472654F8B}"/>
              </a:ext>
            </a:extLst>
          </p:cNvPr>
          <p:cNvGrpSpPr/>
          <p:nvPr/>
        </p:nvGrpSpPr>
        <p:grpSpPr>
          <a:xfrm>
            <a:off x="5550985" y="2647229"/>
            <a:ext cx="1410825" cy="998159"/>
            <a:chOff x="2368342" y="1184275"/>
            <a:chExt cx="2003841" cy="1417718"/>
          </a:xfrm>
        </p:grpSpPr>
        <p:pic>
          <p:nvPicPr>
            <p:cNvPr id="280" name="Graphic 7" descr="Amazon API Gateway service icon.">
              <a:extLst>
                <a:ext uri="{FF2B5EF4-FFF2-40B4-BE49-F238E27FC236}">
                  <a16:creationId xmlns:a16="http://schemas.microsoft.com/office/drawing/2014/main" id="{8E4DB73D-DFA9-2F31-F8A2-FD8AFD5BEFEC}"/>
                </a:ext>
              </a:extLst>
            </p:cNvPr>
            <p:cNvPicPr>
              <a:picLocks noChangeAspect="1" noChangeArrowheads="1"/>
            </p:cNvPicPr>
            <p:nvPr/>
          </p:nvPicPr>
          <p:blipFill>
            <a:blip r:embed="rId4">
              <a:extLst>
                <a:ext uri="{96DAC541-7B7A-43D3-8B79-37D633B846F1}">
                  <asvg:svgBlip xmlns:asvg="http://schemas.microsoft.com/office/drawing/2016/SVG/main" r:embed="rId5"/>
                </a:ext>
              </a:extLst>
            </a:blip>
            <a:srcRect/>
            <a:stretch/>
          </p:blipFill>
          <p:spPr bwMode="auto">
            <a:xfrm>
              <a:off x="2989264" y="1184275"/>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1" name="TextBox 9">
              <a:extLst>
                <a:ext uri="{FF2B5EF4-FFF2-40B4-BE49-F238E27FC236}">
                  <a16:creationId xmlns:a16="http://schemas.microsoft.com/office/drawing/2014/main" id="{28F677AC-B5E1-918C-8F82-DB6FB68D0180}"/>
                </a:ext>
              </a:extLst>
            </p:cNvPr>
            <p:cNvSpPr txBox="1">
              <a:spLocks noChangeArrowheads="1"/>
            </p:cNvSpPr>
            <p:nvPr/>
          </p:nvSpPr>
          <p:spPr bwMode="auto">
            <a:xfrm>
              <a:off x="2368342" y="1946275"/>
              <a:ext cx="2003841" cy="655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API Gateway</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(WebSocket)</a:t>
              </a:r>
            </a:p>
          </p:txBody>
        </p:sp>
      </p:grpSp>
      <p:sp>
        <p:nvSpPr>
          <p:cNvPr id="277" name="TextBox 12">
            <a:extLst>
              <a:ext uri="{FF2B5EF4-FFF2-40B4-BE49-F238E27FC236}">
                <a16:creationId xmlns:a16="http://schemas.microsoft.com/office/drawing/2014/main" id="{225371E5-9A59-5B3C-8596-9F5CF47A828C}"/>
              </a:ext>
            </a:extLst>
          </p:cNvPr>
          <p:cNvSpPr txBox="1">
            <a:spLocks noChangeArrowheads="1"/>
          </p:cNvSpPr>
          <p:nvPr/>
        </p:nvSpPr>
        <p:spPr bwMode="auto">
          <a:xfrm>
            <a:off x="1707208" y="3178518"/>
            <a:ext cx="16050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Raspberry Pi 5</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(172.16.15.7)</a:t>
            </a:r>
          </a:p>
        </p:txBody>
      </p:sp>
      <p:sp>
        <p:nvSpPr>
          <p:cNvPr id="251" name="Rectangle 103" descr="Generic group dashed.">
            <a:extLst>
              <a:ext uri="{FF2B5EF4-FFF2-40B4-BE49-F238E27FC236}">
                <a16:creationId xmlns:a16="http://schemas.microsoft.com/office/drawing/2014/main" id="{463E7BA9-A91F-1C03-5BE6-04492F4D8341}"/>
              </a:ext>
            </a:extLst>
          </p:cNvPr>
          <p:cNvSpPr/>
          <p:nvPr/>
        </p:nvSpPr>
        <p:spPr>
          <a:xfrm>
            <a:off x="4457026" y="4158038"/>
            <a:ext cx="3541821" cy="1348227"/>
          </a:xfrm>
          <a:prstGeom prst="rect">
            <a:avLst/>
          </a:prstGeom>
          <a:noFill/>
          <a:ln w="15875">
            <a:solidFill>
              <a:srgbClr val="7D8998"/>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eaLnBrk="1" fontAlgn="auto" hangingPunct="1">
              <a:spcBef>
                <a:spcPts val="0"/>
              </a:spcBef>
              <a:spcAft>
                <a:spcPts val="0"/>
              </a:spcAft>
              <a:defRPr/>
            </a:pPr>
            <a:endParaRPr lang="en-US" sz="1200" dirty="0">
              <a:solidFill>
                <a:schemeClr val="tx1"/>
              </a:solidFill>
              <a:latin typeface="Arial" panose="020B0604020202020204" pitchFamily="34" charset="0"/>
              <a:cs typeface="Arial" panose="020B0604020202020204" pitchFamily="34" charset="0"/>
            </a:endParaRPr>
          </a:p>
        </p:txBody>
      </p:sp>
      <p:grpSp>
        <p:nvGrpSpPr>
          <p:cNvPr id="253" name="グループ化 252">
            <a:extLst>
              <a:ext uri="{FF2B5EF4-FFF2-40B4-BE49-F238E27FC236}">
                <a16:creationId xmlns:a16="http://schemas.microsoft.com/office/drawing/2014/main" id="{2B334F58-A0F6-6399-A646-6E7E987FC898}"/>
              </a:ext>
            </a:extLst>
          </p:cNvPr>
          <p:cNvGrpSpPr/>
          <p:nvPr/>
        </p:nvGrpSpPr>
        <p:grpSpPr>
          <a:xfrm>
            <a:off x="4717633" y="2645272"/>
            <a:ext cx="730725" cy="813493"/>
            <a:chOff x="3005693" y="1391828"/>
            <a:chExt cx="730725" cy="813493"/>
          </a:xfrm>
        </p:grpSpPr>
        <p:pic>
          <p:nvPicPr>
            <p:cNvPr id="274" name="Graphic 10" descr="AWS Amplify service icon.">
              <a:extLst>
                <a:ext uri="{FF2B5EF4-FFF2-40B4-BE49-F238E27FC236}">
                  <a16:creationId xmlns:a16="http://schemas.microsoft.com/office/drawing/2014/main" id="{5BA10244-193E-6D10-6A8C-542E529B5D55}"/>
                </a:ext>
              </a:extLst>
            </p:cNvPr>
            <p:cNvPicPr>
              <a:picLocks noChangeAspect="1" noChangeArrowheads="1"/>
            </p:cNvPicPr>
            <p:nvPr/>
          </p:nvPicPr>
          <p:blipFill>
            <a:blip r:embed="rId18">
              <a:extLst>
                <a:ext uri="{96DAC541-7B7A-43D3-8B79-37D633B846F1}">
                  <asvg:svgBlip xmlns:asvg="http://schemas.microsoft.com/office/drawing/2016/SVG/main" r:embed="rId19"/>
                </a:ext>
              </a:extLst>
            </a:blip>
            <a:srcRect/>
            <a:stretch/>
          </p:blipFill>
          <p:spPr bwMode="auto">
            <a:xfrm>
              <a:off x="3102809" y="1391828"/>
              <a:ext cx="536494" cy="536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5" name="TextBox 6">
              <a:extLst>
                <a:ext uri="{FF2B5EF4-FFF2-40B4-BE49-F238E27FC236}">
                  <a16:creationId xmlns:a16="http://schemas.microsoft.com/office/drawing/2014/main" id="{9671C1A5-99B1-A90E-2633-E9DBEDC30C36}"/>
                </a:ext>
              </a:extLst>
            </p:cNvPr>
            <p:cNvSpPr txBox="1">
              <a:spLocks noChangeArrowheads="1"/>
            </p:cNvSpPr>
            <p:nvPr/>
          </p:nvSpPr>
          <p:spPr bwMode="auto">
            <a:xfrm>
              <a:off x="3005693" y="1928322"/>
              <a:ext cx="7307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Amplify</a:t>
              </a:r>
            </a:p>
          </p:txBody>
        </p:sp>
      </p:grpSp>
      <p:grpSp>
        <p:nvGrpSpPr>
          <p:cNvPr id="261" name="グループ化 260">
            <a:extLst>
              <a:ext uri="{FF2B5EF4-FFF2-40B4-BE49-F238E27FC236}">
                <a16:creationId xmlns:a16="http://schemas.microsoft.com/office/drawing/2014/main" id="{E7D944B3-C979-2356-FF2F-D3DF72B2488C}"/>
              </a:ext>
            </a:extLst>
          </p:cNvPr>
          <p:cNvGrpSpPr/>
          <p:nvPr/>
        </p:nvGrpSpPr>
        <p:grpSpPr>
          <a:xfrm>
            <a:off x="3645809" y="5683375"/>
            <a:ext cx="1020292" cy="992557"/>
            <a:chOff x="3864463" y="3839626"/>
            <a:chExt cx="1020292" cy="992557"/>
          </a:xfrm>
        </p:grpSpPr>
        <p:pic>
          <p:nvPicPr>
            <p:cNvPr id="272" name="Graphic 17" descr="Amazon Cognito service icon.">
              <a:extLst>
                <a:ext uri="{FF2B5EF4-FFF2-40B4-BE49-F238E27FC236}">
                  <a16:creationId xmlns:a16="http://schemas.microsoft.com/office/drawing/2014/main" id="{7A9916FA-36DD-171F-2BC9-07268EBFCD44}"/>
                </a:ext>
              </a:extLst>
            </p:cNvPr>
            <p:cNvPicPr>
              <a:picLocks noChangeAspect="1" noChangeArrowheads="1"/>
            </p:cNvPicPr>
            <p:nvPr/>
          </p:nvPicPr>
          <p:blipFill>
            <a:blip r:embed="rId20">
              <a:extLst>
                <a:ext uri="{96DAC541-7B7A-43D3-8B79-37D633B846F1}">
                  <asvg:svgBlip xmlns:asvg="http://schemas.microsoft.com/office/drawing/2016/SVG/main" r:embed="rId21"/>
                </a:ext>
              </a:extLst>
            </a:blip>
            <a:srcRect/>
            <a:stretch/>
          </p:blipFill>
          <p:spPr bwMode="auto">
            <a:xfrm>
              <a:off x="4106362" y="3839626"/>
              <a:ext cx="536494" cy="536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3" name="TextBox 11">
              <a:extLst>
                <a:ext uri="{FF2B5EF4-FFF2-40B4-BE49-F238E27FC236}">
                  <a16:creationId xmlns:a16="http://schemas.microsoft.com/office/drawing/2014/main" id="{3EDE7C94-705C-B0DC-8B96-B3107349F09E}"/>
                </a:ext>
              </a:extLst>
            </p:cNvPr>
            <p:cNvSpPr txBox="1">
              <a:spLocks noChangeArrowheads="1"/>
            </p:cNvSpPr>
            <p:nvPr/>
          </p:nvSpPr>
          <p:spPr bwMode="auto">
            <a:xfrm>
              <a:off x="3864463" y="4370518"/>
              <a:ext cx="102029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Cognito</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(ID Pool)</a:t>
              </a:r>
            </a:p>
          </p:txBody>
        </p:sp>
      </p:grpSp>
      <p:cxnSp>
        <p:nvCxnSpPr>
          <p:cNvPr id="263" name="Elbow Connector 22" descr="Elbow horizontal arrow pointing right (1).">
            <a:extLst>
              <a:ext uri="{FF2B5EF4-FFF2-40B4-BE49-F238E27FC236}">
                <a16:creationId xmlns:a16="http://schemas.microsoft.com/office/drawing/2014/main" id="{D01D6000-7F07-22B7-3F1F-DD22CCA2F1AA}"/>
              </a:ext>
            </a:extLst>
          </p:cNvPr>
          <p:cNvCxnSpPr>
            <a:cxnSpLocks/>
            <a:stCxn id="272" idx="0"/>
          </p:cNvCxnSpPr>
          <p:nvPr/>
        </p:nvCxnSpPr>
        <p:spPr>
          <a:xfrm rot="16200000" flipV="1">
            <a:off x="3030452" y="4557872"/>
            <a:ext cx="866319" cy="1384688"/>
          </a:xfrm>
          <a:prstGeom prst="bentConnector2">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pic>
        <p:nvPicPr>
          <p:cNvPr id="264" name="Graphic 86" descr="Temporary security credential resource icon for the IAM service.">
            <a:extLst>
              <a:ext uri="{FF2B5EF4-FFF2-40B4-BE49-F238E27FC236}">
                <a16:creationId xmlns:a16="http://schemas.microsoft.com/office/drawing/2014/main" id="{682531F3-89AE-1E23-181D-42993EC69151}"/>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3663828" y="5053261"/>
            <a:ext cx="416212" cy="416212"/>
          </a:xfrm>
          <a:prstGeom prst="rect">
            <a:avLst/>
          </a:prstGeom>
        </p:spPr>
      </p:pic>
      <p:grpSp>
        <p:nvGrpSpPr>
          <p:cNvPr id="265" name="グループ化 264">
            <a:extLst>
              <a:ext uri="{FF2B5EF4-FFF2-40B4-BE49-F238E27FC236}">
                <a16:creationId xmlns:a16="http://schemas.microsoft.com/office/drawing/2014/main" id="{F5D229D8-8B2F-2BA0-192C-3CC924E533B9}"/>
              </a:ext>
            </a:extLst>
          </p:cNvPr>
          <p:cNvGrpSpPr/>
          <p:nvPr/>
        </p:nvGrpSpPr>
        <p:grpSpPr>
          <a:xfrm>
            <a:off x="5746251" y="1644835"/>
            <a:ext cx="1020292" cy="992557"/>
            <a:chOff x="3864463" y="3839626"/>
            <a:chExt cx="1020292" cy="992557"/>
          </a:xfrm>
        </p:grpSpPr>
        <p:pic>
          <p:nvPicPr>
            <p:cNvPr id="270" name="Graphic 17" descr="Amazon Cognito service icon.">
              <a:extLst>
                <a:ext uri="{FF2B5EF4-FFF2-40B4-BE49-F238E27FC236}">
                  <a16:creationId xmlns:a16="http://schemas.microsoft.com/office/drawing/2014/main" id="{17807127-5717-1D5C-2B96-816E880D55CA}"/>
                </a:ext>
              </a:extLst>
            </p:cNvPr>
            <p:cNvPicPr>
              <a:picLocks noChangeAspect="1" noChangeArrowheads="1"/>
            </p:cNvPicPr>
            <p:nvPr/>
          </p:nvPicPr>
          <p:blipFill>
            <a:blip r:embed="rId20">
              <a:extLst>
                <a:ext uri="{96DAC541-7B7A-43D3-8B79-37D633B846F1}">
                  <asvg:svgBlip xmlns:asvg="http://schemas.microsoft.com/office/drawing/2016/SVG/main" r:embed="rId21"/>
                </a:ext>
              </a:extLst>
            </a:blip>
            <a:srcRect/>
            <a:stretch/>
          </p:blipFill>
          <p:spPr bwMode="auto">
            <a:xfrm>
              <a:off x="4106362" y="3839626"/>
              <a:ext cx="536494" cy="536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1" name="TextBox 11">
              <a:extLst>
                <a:ext uri="{FF2B5EF4-FFF2-40B4-BE49-F238E27FC236}">
                  <a16:creationId xmlns:a16="http://schemas.microsoft.com/office/drawing/2014/main" id="{3BDC92ED-6AB8-BEFC-9820-E015539CF693}"/>
                </a:ext>
              </a:extLst>
            </p:cNvPr>
            <p:cNvSpPr txBox="1">
              <a:spLocks noChangeArrowheads="1"/>
            </p:cNvSpPr>
            <p:nvPr/>
          </p:nvSpPr>
          <p:spPr bwMode="auto">
            <a:xfrm>
              <a:off x="3864463" y="4370518"/>
              <a:ext cx="102029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Cognito (User Pool)</a:t>
              </a:r>
            </a:p>
          </p:txBody>
        </p:sp>
      </p:grpSp>
      <p:grpSp>
        <p:nvGrpSpPr>
          <p:cNvPr id="267" name="Group 1" descr="AWS Cloud group with AWS logo.">
            <a:extLst>
              <a:ext uri="{FF2B5EF4-FFF2-40B4-BE49-F238E27FC236}">
                <a16:creationId xmlns:a16="http://schemas.microsoft.com/office/drawing/2014/main" id="{423E9AA8-305F-B6CE-1ED9-B64785F7E48D}"/>
              </a:ext>
            </a:extLst>
          </p:cNvPr>
          <p:cNvGrpSpPr/>
          <p:nvPr/>
        </p:nvGrpSpPr>
        <p:grpSpPr>
          <a:xfrm>
            <a:off x="3528572" y="926869"/>
            <a:ext cx="4825253" cy="5828334"/>
            <a:chOff x="355598" y="689579"/>
            <a:chExt cx="4825253" cy="3747374"/>
          </a:xfrm>
        </p:grpSpPr>
        <p:sp>
          <p:nvSpPr>
            <p:cNvPr id="268" name="Rectangle 54">
              <a:extLst>
                <a:ext uri="{FF2B5EF4-FFF2-40B4-BE49-F238E27FC236}">
                  <a16:creationId xmlns:a16="http://schemas.microsoft.com/office/drawing/2014/main" id="{D0283D35-187E-EF20-173E-19912785A55A}"/>
                </a:ext>
              </a:extLst>
            </p:cNvPr>
            <p:cNvSpPr/>
            <p:nvPr/>
          </p:nvSpPr>
          <p:spPr>
            <a:xfrm>
              <a:off x="355599" y="689579"/>
              <a:ext cx="4825252" cy="3747374"/>
            </a:xfrm>
            <a:prstGeom prst="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r>
                <a:rPr lang="en-US" sz="1200" dirty="0">
                  <a:solidFill>
                    <a:schemeClr val="tx1"/>
                  </a:solidFill>
                  <a:latin typeface="Arial" panose="020B0604020202020204" pitchFamily="34" charset="0"/>
                  <a:cs typeface="Arial" panose="020B0604020202020204" pitchFamily="34" charset="0"/>
                </a:rPr>
                <a:t>AWS Cloud</a:t>
              </a:r>
            </a:p>
          </p:txBody>
        </p:sp>
        <p:pic>
          <p:nvPicPr>
            <p:cNvPr id="269" name="Graphic 55" descr="AWS Cloud group icon with AWS logo.">
              <a:extLst>
                <a:ext uri="{FF2B5EF4-FFF2-40B4-BE49-F238E27FC236}">
                  <a16:creationId xmlns:a16="http://schemas.microsoft.com/office/drawing/2014/main" id="{170BEF34-B9AC-70A7-96BD-910F04F8CDD0}"/>
                </a:ext>
              </a:extLst>
            </p:cNvPr>
            <p:cNvPicPr>
              <a:picLocks noChangeAspect="1"/>
            </p:cNvPicPr>
            <p:nvPr/>
          </p:nvPicPr>
          <p:blipFill>
            <a:blip r:embed="rId24">
              <a:extLst>
                <a:ext uri="{96DAC541-7B7A-43D3-8B79-37D633B846F1}">
                  <asvg:svgBlip xmlns:asvg="http://schemas.microsoft.com/office/drawing/2016/SVG/main" r:embed="rId25"/>
                </a:ext>
              </a:extLst>
            </a:blip>
            <a:srcRect/>
            <a:stretch/>
          </p:blipFill>
          <p:spPr>
            <a:xfrm>
              <a:off x="355598" y="695923"/>
              <a:ext cx="419750" cy="287318"/>
            </a:xfrm>
            <a:prstGeom prst="rect">
              <a:avLst/>
            </a:prstGeom>
          </p:spPr>
        </p:pic>
      </p:grpSp>
      <p:sp>
        <p:nvSpPr>
          <p:cNvPr id="228" name="Rectangle 103" descr="Generic group dashed.">
            <a:extLst>
              <a:ext uri="{FF2B5EF4-FFF2-40B4-BE49-F238E27FC236}">
                <a16:creationId xmlns:a16="http://schemas.microsoft.com/office/drawing/2014/main" id="{6F809691-7255-AA65-6EF4-A413B37DFB25}"/>
              </a:ext>
            </a:extLst>
          </p:cNvPr>
          <p:cNvSpPr/>
          <p:nvPr/>
        </p:nvSpPr>
        <p:spPr>
          <a:xfrm>
            <a:off x="690522" y="2075537"/>
            <a:ext cx="2621698" cy="1720079"/>
          </a:xfrm>
          <a:prstGeom prst="rect">
            <a:avLst/>
          </a:prstGeom>
          <a:noFill/>
          <a:ln w="15875">
            <a:solidFill>
              <a:srgbClr val="7D8998"/>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a:defRPr/>
            </a:pPr>
            <a:r>
              <a:rPr lang="ja-JP" altLang="en-US" sz="1200" dirty="0">
                <a:solidFill>
                  <a:schemeClr val="tx1"/>
                </a:solidFill>
                <a:latin typeface="Arial" panose="020B0604020202020204" pitchFamily="34" charset="0"/>
                <a:cs typeface="Arial" panose="020B0604020202020204" pitchFamily="34" charset="0"/>
              </a:rPr>
              <a:t>教員部屋（</a:t>
            </a:r>
            <a:r>
              <a:rPr lang="en-US" altLang="ja-JP" sz="1200" dirty="0">
                <a:solidFill>
                  <a:schemeClr val="tx1"/>
                </a:solidFill>
                <a:latin typeface="Arial" panose="020B0604020202020204" pitchFamily="34" charset="0"/>
                <a:cs typeface="Arial" panose="020B0604020202020204" pitchFamily="34" charset="0"/>
              </a:rPr>
              <a:t>J1404</a:t>
            </a:r>
            <a:r>
              <a:rPr lang="ja-JP" altLang="en-US" sz="1200" dirty="0">
                <a:solidFill>
                  <a:schemeClr val="tx1"/>
                </a:solidFill>
                <a:latin typeface="Arial" panose="020B0604020202020204" pitchFamily="34" charset="0"/>
                <a:cs typeface="Arial" panose="020B0604020202020204" pitchFamily="34" charset="0"/>
              </a:rPr>
              <a:t>）</a:t>
            </a:r>
            <a:endParaRPr lang="en-US" sz="1200" dirty="0">
              <a:solidFill>
                <a:schemeClr val="tx1"/>
              </a:solidFill>
              <a:latin typeface="Arial" panose="020B0604020202020204" pitchFamily="34" charset="0"/>
              <a:cs typeface="Arial" panose="020B0604020202020204" pitchFamily="34" charset="0"/>
            </a:endParaRPr>
          </a:p>
        </p:txBody>
      </p:sp>
      <p:pic>
        <p:nvPicPr>
          <p:cNvPr id="302" name="グラフィックス 301">
            <a:extLst>
              <a:ext uri="{FF2B5EF4-FFF2-40B4-BE49-F238E27FC236}">
                <a16:creationId xmlns:a16="http://schemas.microsoft.com/office/drawing/2014/main" id="{AB280D56-A12B-2366-1A9C-D30EA8593203}"/>
              </a:ext>
            </a:extLst>
          </p:cNvPr>
          <p:cNvPicPr>
            <a:picLocks noChangeAspect="1"/>
          </p:cNvPicPr>
          <p:nvPr/>
        </p:nvPicPr>
        <p:blipFill>
          <a:blip r:embed="rId26">
            <a:grayscl/>
            <a:extLst>
              <a:ext uri="{96DAC541-7B7A-43D3-8B79-37D633B846F1}">
                <asvg:svgBlip xmlns:asvg="http://schemas.microsoft.com/office/drawing/2016/SVG/main" r:embed="rId27"/>
              </a:ext>
            </a:extLst>
          </a:blip>
          <a:srcRect l="25148" t="16203" r="25948" b="16205"/>
          <a:stretch/>
        </p:blipFill>
        <p:spPr>
          <a:xfrm>
            <a:off x="1029996" y="2508789"/>
            <a:ext cx="580096" cy="801769"/>
          </a:xfrm>
          <a:prstGeom prst="rect">
            <a:avLst/>
          </a:prstGeom>
        </p:spPr>
      </p:pic>
      <p:cxnSp>
        <p:nvCxnSpPr>
          <p:cNvPr id="303" name="Straight Arrow Connector 100">
            <a:extLst>
              <a:ext uri="{FF2B5EF4-FFF2-40B4-BE49-F238E27FC236}">
                <a16:creationId xmlns:a16="http://schemas.microsoft.com/office/drawing/2014/main" id="{338D1FC6-645D-726A-1038-87BA0CFBB949}"/>
              </a:ext>
            </a:extLst>
          </p:cNvPr>
          <p:cNvCxnSpPr>
            <a:cxnSpLocks/>
            <a:stCxn id="302" idx="3"/>
          </p:cNvCxnSpPr>
          <p:nvPr/>
        </p:nvCxnSpPr>
        <p:spPr>
          <a:xfrm>
            <a:off x="1610092" y="2909674"/>
            <a:ext cx="631375" cy="597"/>
          </a:xfrm>
          <a:prstGeom prst="straightConnector1">
            <a:avLst/>
          </a:prstGeom>
          <a:ln w="19050">
            <a:solidFill>
              <a:schemeClr val="tx1"/>
            </a:solidFill>
            <a:headEnd type="none" w="med" len="sm"/>
            <a:tailEnd type="none" w="med" len="sm"/>
          </a:ln>
        </p:spPr>
        <p:style>
          <a:lnRef idx="1">
            <a:schemeClr val="accent1"/>
          </a:lnRef>
          <a:fillRef idx="0">
            <a:schemeClr val="accent1"/>
          </a:fillRef>
          <a:effectRef idx="0">
            <a:schemeClr val="accent1"/>
          </a:effectRef>
          <a:fontRef idx="minor">
            <a:schemeClr val="tx1"/>
          </a:fontRef>
        </p:style>
      </p:cxnSp>
      <p:sp>
        <p:nvSpPr>
          <p:cNvPr id="306" name="Rectangle 103" descr="Generic group dashed.">
            <a:extLst>
              <a:ext uri="{FF2B5EF4-FFF2-40B4-BE49-F238E27FC236}">
                <a16:creationId xmlns:a16="http://schemas.microsoft.com/office/drawing/2014/main" id="{CB869A7F-35DB-E033-038A-586513251D6C}"/>
              </a:ext>
            </a:extLst>
          </p:cNvPr>
          <p:cNvSpPr/>
          <p:nvPr/>
        </p:nvSpPr>
        <p:spPr>
          <a:xfrm>
            <a:off x="690522" y="3933107"/>
            <a:ext cx="2615365" cy="2822096"/>
          </a:xfrm>
          <a:prstGeom prst="rect">
            <a:avLst/>
          </a:prstGeom>
          <a:noFill/>
          <a:ln w="15875">
            <a:solidFill>
              <a:srgbClr val="7D8998"/>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a:defRPr/>
            </a:pPr>
            <a:r>
              <a:rPr lang="ja-JP" altLang="en-US" sz="1200" dirty="0">
                <a:solidFill>
                  <a:schemeClr val="tx1"/>
                </a:solidFill>
                <a:latin typeface="Arial" panose="020B0604020202020204" pitchFamily="34" charset="0"/>
                <a:cs typeface="Arial" panose="020B0604020202020204" pitchFamily="34" charset="0"/>
              </a:rPr>
              <a:t>学生部屋（</a:t>
            </a:r>
            <a:r>
              <a:rPr lang="en-US" altLang="ja-JP" sz="1200" dirty="0">
                <a:solidFill>
                  <a:schemeClr val="tx1"/>
                </a:solidFill>
                <a:latin typeface="Arial" panose="020B0604020202020204" pitchFamily="34" charset="0"/>
                <a:cs typeface="Arial" panose="020B0604020202020204" pitchFamily="34" charset="0"/>
              </a:rPr>
              <a:t>J1401</a:t>
            </a:r>
            <a:r>
              <a:rPr lang="ja-JP" altLang="en-US" sz="1200" dirty="0">
                <a:solidFill>
                  <a:schemeClr val="tx1"/>
                </a:solidFill>
                <a:latin typeface="Arial" panose="020B0604020202020204" pitchFamily="34" charset="0"/>
                <a:cs typeface="Arial" panose="020B0604020202020204" pitchFamily="34" charset="0"/>
              </a:rPr>
              <a:t>）</a:t>
            </a:r>
            <a:endParaRPr lang="en-US" sz="1200" dirty="0">
              <a:solidFill>
                <a:schemeClr val="tx1"/>
              </a:solidFill>
              <a:latin typeface="Arial" panose="020B0604020202020204" pitchFamily="34" charset="0"/>
              <a:cs typeface="Arial" panose="020B0604020202020204" pitchFamily="34" charset="0"/>
            </a:endParaRPr>
          </a:p>
        </p:txBody>
      </p:sp>
      <p:pic>
        <p:nvPicPr>
          <p:cNvPr id="307" name="グラフィックス 306">
            <a:extLst>
              <a:ext uri="{FF2B5EF4-FFF2-40B4-BE49-F238E27FC236}">
                <a16:creationId xmlns:a16="http://schemas.microsoft.com/office/drawing/2014/main" id="{B317A205-659E-319C-40F5-55A297C3AE9D}"/>
              </a:ext>
            </a:extLst>
          </p:cNvPr>
          <p:cNvPicPr>
            <a:picLocks noChangeAspect="1"/>
          </p:cNvPicPr>
          <p:nvPr/>
        </p:nvPicPr>
        <p:blipFill>
          <a:blip r:embed="rId26">
            <a:grayscl/>
            <a:extLst>
              <a:ext uri="{96DAC541-7B7A-43D3-8B79-37D633B846F1}">
                <asvg:svgBlip xmlns:asvg="http://schemas.microsoft.com/office/drawing/2016/SVG/main" r:embed="rId27"/>
              </a:ext>
            </a:extLst>
          </a:blip>
          <a:srcRect l="25148" t="16203" r="25948" b="16205"/>
          <a:stretch/>
        </p:blipFill>
        <p:spPr>
          <a:xfrm rot="16200000">
            <a:off x="1042395" y="5874413"/>
            <a:ext cx="599552" cy="828660"/>
          </a:xfrm>
          <a:prstGeom prst="rect">
            <a:avLst/>
          </a:prstGeom>
        </p:spPr>
      </p:pic>
      <p:cxnSp>
        <p:nvCxnSpPr>
          <p:cNvPr id="329" name="Straight Arrow Connector 52" descr="Double pointing horizontal arrow.">
            <a:extLst>
              <a:ext uri="{FF2B5EF4-FFF2-40B4-BE49-F238E27FC236}">
                <a16:creationId xmlns:a16="http://schemas.microsoft.com/office/drawing/2014/main" id="{00E8FF02-50D6-B05F-DEA0-35977FAA0B73}"/>
              </a:ext>
            </a:extLst>
          </p:cNvPr>
          <p:cNvCxnSpPr>
            <a:cxnSpLocks/>
            <a:stCxn id="290" idx="0"/>
            <a:endCxn id="297" idx="2"/>
          </p:cNvCxnSpPr>
          <p:nvPr/>
        </p:nvCxnSpPr>
        <p:spPr>
          <a:xfrm flipH="1" flipV="1">
            <a:off x="5081211" y="5380852"/>
            <a:ext cx="3010" cy="315777"/>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335" name="Straight Arrow Connector 52" descr="Double pointing horizontal arrow.">
            <a:extLst>
              <a:ext uri="{FF2B5EF4-FFF2-40B4-BE49-F238E27FC236}">
                <a16:creationId xmlns:a16="http://schemas.microsoft.com/office/drawing/2014/main" id="{987B043E-0D96-5E98-D972-8F0DDC93A3A8}"/>
              </a:ext>
            </a:extLst>
          </p:cNvPr>
          <p:cNvCxnSpPr>
            <a:cxnSpLocks/>
            <a:stCxn id="282" idx="0"/>
            <a:endCxn id="295" idx="2"/>
          </p:cNvCxnSpPr>
          <p:nvPr/>
        </p:nvCxnSpPr>
        <p:spPr>
          <a:xfrm flipV="1">
            <a:off x="6257001" y="5195318"/>
            <a:ext cx="3868" cy="496800"/>
          </a:xfrm>
          <a:prstGeom prst="straightConnector1">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341" name="Straight Arrow Connector 52" descr="Double pointing horizontal arrow.">
            <a:extLst>
              <a:ext uri="{FF2B5EF4-FFF2-40B4-BE49-F238E27FC236}">
                <a16:creationId xmlns:a16="http://schemas.microsoft.com/office/drawing/2014/main" id="{F14D5AB6-A029-137B-A48B-0E9D80B2E6A4}"/>
              </a:ext>
            </a:extLst>
          </p:cNvPr>
          <p:cNvCxnSpPr>
            <a:cxnSpLocks/>
            <a:stCxn id="274" idx="3"/>
            <a:endCxn id="280" idx="1"/>
          </p:cNvCxnSpPr>
          <p:nvPr/>
        </p:nvCxnSpPr>
        <p:spPr>
          <a:xfrm>
            <a:off x="5351243" y="2913519"/>
            <a:ext cx="636909" cy="1957"/>
          </a:xfrm>
          <a:prstGeom prst="straightConnector1">
            <a:avLst/>
          </a:prstGeom>
          <a:ln w="15875">
            <a:solidFill>
              <a:schemeClr val="tx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grpSp>
        <p:nvGrpSpPr>
          <p:cNvPr id="345" name="グループ化 344">
            <a:extLst>
              <a:ext uri="{FF2B5EF4-FFF2-40B4-BE49-F238E27FC236}">
                <a16:creationId xmlns:a16="http://schemas.microsoft.com/office/drawing/2014/main" id="{BE724DBC-84FC-4D02-A396-796FA1AEAD23}"/>
              </a:ext>
            </a:extLst>
          </p:cNvPr>
          <p:cNvGrpSpPr/>
          <p:nvPr/>
        </p:nvGrpSpPr>
        <p:grpSpPr>
          <a:xfrm>
            <a:off x="7023122" y="2645832"/>
            <a:ext cx="820861" cy="812933"/>
            <a:chOff x="5051089" y="1185069"/>
            <a:chExt cx="1165896" cy="1154637"/>
          </a:xfrm>
        </p:grpSpPr>
        <p:pic>
          <p:nvPicPr>
            <p:cNvPr id="346" name="Graphic 10" descr="AWS Lambda service icon.">
              <a:extLst>
                <a:ext uri="{FF2B5EF4-FFF2-40B4-BE49-F238E27FC236}">
                  <a16:creationId xmlns:a16="http://schemas.microsoft.com/office/drawing/2014/main" id="{393A1056-D218-1EDC-86EF-567652D073AB}"/>
                </a:ext>
              </a:extLst>
            </p:cNvPr>
            <p:cNvPicPr>
              <a:picLocks noChangeAspect="1" noChangeArrowheads="1"/>
            </p:cNvPicPr>
            <p:nvPr/>
          </p:nvPicPr>
          <p:blipFill>
            <a:blip r:embed="rId6">
              <a:extLst>
                <a:ext uri="{96DAC541-7B7A-43D3-8B79-37D633B846F1}">
                  <asvg:svgBlip xmlns:asvg="http://schemas.microsoft.com/office/drawing/2016/SVG/main" r:embed="rId7"/>
                </a:ext>
              </a:extLst>
            </a:blip>
            <a:srcRect/>
            <a:stretch/>
          </p:blipFill>
          <p:spPr bwMode="auto">
            <a:xfrm>
              <a:off x="5246688" y="1185069"/>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7" name="TextBox 20">
              <a:extLst>
                <a:ext uri="{FF2B5EF4-FFF2-40B4-BE49-F238E27FC236}">
                  <a16:creationId xmlns:a16="http://schemas.microsoft.com/office/drawing/2014/main" id="{952CA67C-61F8-208F-411F-F849F2D3873C}"/>
                </a:ext>
              </a:extLst>
            </p:cNvPr>
            <p:cNvSpPr txBox="1">
              <a:spLocks noChangeArrowheads="1"/>
            </p:cNvSpPr>
            <p:nvPr/>
          </p:nvSpPr>
          <p:spPr bwMode="auto">
            <a:xfrm>
              <a:off x="5051089" y="1946275"/>
              <a:ext cx="1165896" cy="393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Lambda</a:t>
              </a:r>
            </a:p>
          </p:txBody>
        </p:sp>
      </p:grpSp>
      <p:cxnSp>
        <p:nvCxnSpPr>
          <p:cNvPr id="348" name="Straight Arrow Connector 52" descr="Double pointing horizontal arrow.">
            <a:extLst>
              <a:ext uri="{FF2B5EF4-FFF2-40B4-BE49-F238E27FC236}">
                <a16:creationId xmlns:a16="http://schemas.microsoft.com/office/drawing/2014/main" id="{F64AD75B-6130-B12D-4E48-2767A26F523E}"/>
              </a:ext>
            </a:extLst>
          </p:cNvPr>
          <p:cNvCxnSpPr>
            <a:cxnSpLocks/>
            <a:stCxn id="280" idx="3"/>
            <a:endCxn id="346" idx="1"/>
          </p:cNvCxnSpPr>
          <p:nvPr/>
        </p:nvCxnSpPr>
        <p:spPr>
          <a:xfrm flipV="1">
            <a:off x="6524646" y="2914079"/>
            <a:ext cx="636189" cy="1397"/>
          </a:xfrm>
          <a:prstGeom prst="straightConnector1">
            <a:avLst/>
          </a:prstGeom>
          <a:ln w="15875">
            <a:solidFill>
              <a:schemeClr val="tx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grpSp>
        <p:nvGrpSpPr>
          <p:cNvPr id="361" name="グループ化 360">
            <a:extLst>
              <a:ext uri="{FF2B5EF4-FFF2-40B4-BE49-F238E27FC236}">
                <a16:creationId xmlns:a16="http://schemas.microsoft.com/office/drawing/2014/main" id="{CE541483-7C66-A570-C438-C03F8E8626BE}"/>
              </a:ext>
            </a:extLst>
          </p:cNvPr>
          <p:cNvGrpSpPr/>
          <p:nvPr/>
        </p:nvGrpSpPr>
        <p:grpSpPr>
          <a:xfrm>
            <a:off x="7397897" y="3458765"/>
            <a:ext cx="71896" cy="901612"/>
            <a:chOff x="6937330" y="3141097"/>
            <a:chExt cx="71896" cy="901612"/>
          </a:xfrm>
        </p:grpSpPr>
        <p:cxnSp>
          <p:nvCxnSpPr>
            <p:cNvPr id="354" name="Straight Arrow Connector 52" descr="Double pointing horizontal arrow.">
              <a:extLst>
                <a:ext uri="{FF2B5EF4-FFF2-40B4-BE49-F238E27FC236}">
                  <a16:creationId xmlns:a16="http://schemas.microsoft.com/office/drawing/2014/main" id="{865BB019-E29D-245A-7E0E-F170CFA9EC6B}"/>
                </a:ext>
              </a:extLst>
            </p:cNvPr>
            <p:cNvCxnSpPr>
              <a:cxnSpLocks/>
              <a:stCxn id="360" idx="0"/>
              <a:endCxn id="347" idx="2"/>
            </p:cNvCxnSpPr>
            <p:nvPr/>
          </p:nvCxnSpPr>
          <p:spPr>
            <a:xfrm flipH="1" flipV="1">
              <a:off x="6972986" y="3141097"/>
              <a:ext cx="292" cy="829716"/>
            </a:xfrm>
            <a:prstGeom prst="straightConnector1">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sp>
          <p:nvSpPr>
            <p:cNvPr id="360" name="楕円 359">
              <a:extLst>
                <a:ext uri="{FF2B5EF4-FFF2-40B4-BE49-F238E27FC236}">
                  <a16:creationId xmlns:a16="http://schemas.microsoft.com/office/drawing/2014/main" id="{9318C403-1858-6E84-82D7-530EE24B94EC}"/>
                </a:ext>
              </a:extLst>
            </p:cNvPr>
            <p:cNvSpPr/>
            <p:nvPr/>
          </p:nvSpPr>
          <p:spPr>
            <a:xfrm>
              <a:off x="6937330" y="3970813"/>
              <a:ext cx="71896" cy="71896"/>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62" name="TextBox 9">
            <a:extLst>
              <a:ext uri="{FF2B5EF4-FFF2-40B4-BE49-F238E27FC236}">
                <a16:creationId xmlns:a16="http://schemas.microsoft.com/office/drawing/2014/main" id="{EDBF68EF-84AC-8069-AD7A-E84EBD918A44}"/>
              </a:ext>
            </a:extLst>
          </p:cNvPr>
          <p:cNvSpPr txBox="1">
            <a:spLocks noChangeArrowheads="1"/>
          </p:cNvSpPr>
          <p:nvPr/>
        </p:nvSpPr>
        <p:spPr bwMode="auto">
          <a:xfrm>
            <a:off x="7385849" y="3789686"/>
            <a:ext cx="76250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Stream</a:t>
            </a:r>
          </a:p>
        </p:txBody>
      </p:sp>
      <p:cxnSp>
        <p:nvCxnSpPr>
          <p:cNvPr id="369" name="Straight Arrow Connector 52" descr="Double pointing horizontal arrow.">
            <a:extLst>
              <a:ext uri="{FF2B5EF4-FFF2-40B4-BE49-F238E27FC236}">
                <a16:creationId xmlns:a16="http://schemas.microsoft.com/office/drawing/2014/main" id="{6537115E-834E-75F8-C086-A981458A669D}"/>
              </a:ext>
            </a:extLst>
          </p:cNvPr>
          <p:cNvCxnSpPr>
            <a:cxnSpLocks/>
            <a:stCxn id="274" idx="1"/>
          </p:cNvCxnSpPr>
          <p:nvPr/>
        </p:nvCxnSpPr>
        <p:spPr>
          <a:xfrm flipH="1" flipV="1">
            <a:off x="2777961" y="2910271"/>
            <a:ext cx="2036788" cy="3248"/>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372" name="Straight Arrow Connector 52" descr="Double pointing horizontal arrow.">
            <a:extLst>
              <a:ext uri="{FF2B5EF4-FFF2-40B4-BE49-F238E27FC236}">
                <a16:creationId xmlns:a16="http://schemas.microsoft.com/office/drawing/2014/main" id="{5007AD25-C648-1E38-5F09-23682E6F0CFA}"/>
              </a:ext>
            </a:extLst>
          </p:cNvPr>
          <p:cNvCxnSpPr>
            <a:cxnSpLocks/>
            <a:stCxn id="286" idx="1"/>
            <a:endCxn id="307" idx="2"/>
          </p:cNvCxnSpPr>
          <p:nvPr/>
        </p:nvCxnSpPr>
        <p:spPr>
          <a:xfrm flipH="1">
            <a:off x="1756501" y="6288743"/>
            <a:ext cx="294775" cy="0"/>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sp>
        <p:nvSpPr>
          <p:cNvPr id="380" name="Rectangle 103" descr="Generic group dashed.">
            <a:extLst>
              <a:ext uri="{FF2B5EF4-FFF2-40B4-BE49-F238E27FC236}">
                <a16:creationId xmlns:a16="http://schemas.microsoft.com/office/drawing/2014/main" id="{7BF80637-A2B3-AAD8-CE36-3876822CF415}"/>
              </a:ext>
            </a:extLst>
          </p:cNvPr>
          <p:cNvSpPr/>
          <p:nvPr/>
        </p:nvSpPr>
        <p:spPr>
          <a:xfrm>
            <a:off x="4457026" y="1552760"/>
            <a:ext cx="3541821" cy="2158934"/>
          </a:xfrm>
          <a:prstGeom prst="rect">
            <a:avLst/>
          </a:prstGeom>
          <a:noFill/>
          <a:ln w="15875">
            <a:solidFill>
              <a:srgbClr val="7D8998"/>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eaLnBrk="1" fontAlgn="auto" hangingPunct="1">
              <a:spcBef>
                <a:spcPts val="0"/>
              </a:spcBef>
              <a:spcAft>
                <a:spcPts val="0"/>
              </a:spcAft>
              <a:defRPr/>
            </a:pPr>
            <a:endParaRPr lang="en-US" sz="1200" dirty="0">
              <a:solidFill>
                <a:schemeClr val="tx1"/>
              </a:solidFill>
              <a:latin typeface="Arial" panose="020B0604020202020204" pitchFamily="34" charset="0"/>
              <a:cs typeface="Arial" panose="020B0604020202020204" pitchFamily="34" charset="0"/>
            </a:endParaRPr>
          </a:p>
        </p:txBody>
      </p:sp>
      <p:sp>
        <p:nvSpPr>
          <p:cNvPr id="256" name="テキスト ボックス 255">
            <a:extLst>
              <a:ext uri="{FF2B5EF4-FFF2-40B4-BE49-F238E27FC236}">
                <a16:creationId xmlns:a16="http://schemas.microsoft.com/office/drawing/2014/main" id="{C1CB71B0-D13F-10AD-CF8B-158B60C9070B}"/>
              </a:ext>
            </a:extLst>
          </p:cNvPr>
          <p:cNvSpPr txBox="1"/>
          <p:nvPr/>
        </p:nvSpPr>
        <p:spPr>
          <a:xfrm>
            <a:off x="4355739" y="1260339"/>
            <a:ext cx="2390492" cy="276999"/>
          </a:xfrm>
          <a:prstGeom prst="rect">
            <a:avLst/>
          </a:prstGeom>
          <a:solidFill>
            <a:srgbClr val="EFECE3"/>
          </a:solidFill>
        </p:spPr>
        <p:txBody>
          <a:bodyPr wrap="square" rtlCol="0">
            <a:spAutoFit/>
          </a:bodyPr>
          <a:lstStyle/>
          <a:p>
            <a:r>
              <a:rPr lang="ja-JP" altLang="en-US" sz="1200" b="1" dirty="0">
                <a:latin typeface="BIZ UDゴシック" panose="020B0400000000000000" pitchFamily="49" charset="-128"/>
                <a:ea typeface="BIZ UDゴシック" panose="020B0400000000000000" pitchFamily="49" charset="-128"/>
              </a:rPr>
              <a:t>ユーザー・在室表示サービス</a:t>
            </a:r>
            <a:endParaRPr kumimoji="1" lang="ja-JP" altLang="en-US" sz="1200" b="1" dirty="0">
              <a:latin typeface="BIZ UDゴシック" panose="020B0400000000000000" pitchFamily="49" charset="-128"/>
              <a:ea typeface="BIZ UDゴシック" panose="020B0400000000000000" pitchFamily="49" charset="-128"/>
            </a:endParaRPr>
          </a:p>
        </p:txBody>
      </p:sp>
      <p:cxnSp>
        <p:nvCxnSpPr>
          <p:cNvPr id="388" name="Elbow Connector 22" descr="Elbow horizontal arrow pointing right (1).">
            <a:extLst>
              <a:ext uri="{FF2B5EF4-FFF2-40B4-BE49-F238E27FC236}">
                <a16:creationId xmlns:a16="http://schemas.microsoft.com/office/drawing/2014/main" id="{9A70AB20-53D5-9041-ED81-9E4DFD51B052}"/>
              </a:ext>
            </a:extLst>
          </p:cNvPr>
          <p:cNvCxnSpPr>
            <a:cxnSpLocks/>
            <a:stCxn id="270" idx="1"/>
            <a:endCxn id="274" idx="0"/>
          </p:cNvCxnSpPr>
          <p:nvPr/>
        </p:nvCxnSpPr>
        <p:spPr>
          <a:xfrm rot="10800000" flipV="1">
            <a:off x="5082996" y="1913082"/>
            <a:ext cx="905154" cy="732190"/>
          </a:xfrm>
          <a:prstGeom prst="bentConnector2">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391" name="Elbow Connector 22" descr="Elbow horizontal arrow pointing right (1).">
            <a:extLst>
              <a:ext uri="{FF2B5EF4-FFF2-40B4-BE49-F238E27FC236}">
                <a16:creationId xmlns:a16="http://schemas.microsoft.com/office/drawing/2014/main" id="{E85A5D25-453C-C597-B426-8E334589879A}"/>
              </a:ext>
            </a:extLst>
          </p:cNvPr>
          <p:cNvCxnSpPr>
            <a:cxnSpLocks/>
            <a:stCxn id="274" idx="0"/>
            <a:endCxn id="270" idx="1"/>
          </p:cNvCxnSpPr>
          <p:nvPr/>
        </p:nvCxnSpPr>
        <p:spPr>
          <a:xfrm rot="5400000" flipH="1" flipV="1">
            <a:off x="5169478" y="1826600"/>
            <a:ext cx="732190" cy="905154"/>
          </a:xfrm>
          <a:prstGeom prst="bentConnector2">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394" name="Elbow Connector 22" descr="Elbow horizontal arrow pointing right (1).">
            <a:extLst>
              <a:ext uri="{FF2B5EF4-FFF2-40B4-BE49-F238E27FC236}">
                <a16:creationId xmlns:a16="http://schemas.microsoft.com/office/drawing/2014/main" id="{BF93BF79-BC2E-8FDE-3F1C-F59C03F43680}"/>
              </a:ext>
            </a:extLst>
          </p:cNvPr>
          <p:cNvCxnSpPr>
            <a:cxnSpLocks/>
            <a:endCxn id="272" idx="0"/>
          </p:cNvCxnSpPr>
          <p:nvPr/>
        </p:nvCxnSpPr>
        <p:spPr>
          <a:xfrm>
            <a:off x="2781957" y="4817404"/>
            <a:ext cx="1373998" cy="865971"/>
          </a:xfrm>
          <a:prstGeom prst="bentConnector2">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pic>
        <p:nvPicPr>
          <p:cNvPr id="403" name="Picture 2" descr="Raspberry icon - Free download on Iconfinder">
            <a:extLst>
              <a:ext uri="{FF2B5EF4-FFF2-40B4-BE49-F238E27FC236}">
                <a16:creationId xmlns:a16="http://schemas.microsoft.com/office/drawing/2014/main" id="{94A6EFF2-4F23-C5B9-A08E-713B643C8333}"/>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2244769" y="4471085"/>
            <a:ext cx="544810" cy="544810"/>
          </a:xfrm>
          <a:prstGeom prst="rect">
            <a:avLst/>
          </a:prstGeom>
          <a:noFill/>
          <a:extLst>
            <a:ext uri="{909E8E84-426E-40DD-AFC4-6F175D3DCCD1}">
              <a14:hiddenFill xmlns:a14="http://schemas.microsoft.com/office/drawing/2010/main">
                <a:solidFill>
                  <a:srgbClr val="FFFFFF"/>
                </a:solidFill>
              </a14:hiddenFill>
            </a:ext>
          </a:extLst>
        </p:spPr>
      </p:pic>
      <p:pic>
        <p:nvPicPr>
          <p:cNvPr id="404" name="Picture 2" descr="Raspberry icon - Free download on Iconfinder">
            <a:extLst>
              <a:ext uri="{FF2B5EF4-FFF2-40B4-BE49-F238E27FC236}">
                <a16:creationId xmlns:a16="http://schemas.microsoft.com/office/drawing/2014/main" id="{FF4B0299-A639-AE93-4793-D1C39315B361}"/>
              </a:ext>
            </a:extLst>
          </p:cNvPr>
          <p:cNvPicPr>
            <a:picLocks noChangeAspect="1" noChangeArrowheads="1"/>
          </p:cNvPicPr>
          <p:nvPr/>
        </p:nvPicPr>
        <p:blipFill>
          <a:blip r:embed="rId28">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244769" y="2641704"/>
            <a:ext cx="544810" cy="544810"/>
          </a:xfrm>
          <a:prstGeom prst="rect">
            <a:avLst/>
          </a:prstGeom>
          <a:noFill/>
          <a:extLst>
            <a:ext uri="{909E8E84-426E-40DD-AFC4-6F175D3DCCD1}">
              <a14:hiddenFill xmlns:a14="http://schemas.microsoft.com/office/drawing/2010/main">
                <a:solidFill>
                  <a:srgbClr val="FFFFFF"/>
                </a:solidFill>
              </a14:hiddenFill>
            </a:ext>
          </a:extLst>
        </p:spPr>
      </p:pic>
      <p:cxnSp>
        <p:nvCxnSpPr>
          <p:cNvPr id="3" name="Straight Arrow Connector 52" descr="Double pointing horizontal arrow.">
            <a:extLst>
              <a:ext uri="{FF2B5EF4-FFF2-40B4-BE49-F238E27FC236}">
                <a16:creationId xmlns:a16="http://schemas.microsoft.com/office/drawing/2014/main" id="{41CCE0B9-9AB5-2DB7-0D86-1FEA944A6FD4}"/>
              </a:ext>
            </a:extLst>
          </p:cNvPr>
          <p:cNvCxnSpPr>
            <a:cxnSpLocks/>
            <a:stCxn id="275" idx="2"/>
            <a:endCxn id="296" idx="0"/>
          </p:cNvCxnSpPr>
          <p:nvPr/>
        </p:nvCxnSpPr>
        <p:spPr>
          <a:xfrm flipH="1">
            <a:off x="5081211" y="3458765"/>
            <a:ext cx="1785" cy="923928"/>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sp>
        <p:nvSpPr>
          <p:cNvPr id="257" name="テキスト ボックス 256">
            <a:extLst>
              <a:ext uri="{FF2B5EF4-FFF2-40B4-BE49-F238E27FC236}">
                <a16:creationId xmlns:a16="http://schemas.microsoft.com/office/drawing/2014/main" id="{FB2AAE10-EE1C-BD7A-621B-A972BF285A50}"/>
              </a:ext>
            </a:extLst>
          </p:cNvPr>
          <p:cNvSpPr txBox="1"/>
          <p:nvPr/>
        </p:nvSpPr>
        <p:spPr>
          <a:xfrm>
            <a:off x="4360260" y="3860479"/>
            <a:ext cx="2390492" cy="276999"/>
          </a:xfrm>
          <a:prstGeom prst="rect">
            <a:avLst/>
          </a:prstGeom>
          <a:solidFill>
            <a:srgbClr val="EFECE3"/>
          </a:solidFill>
        </p:spPr>
        <p:txBody>
          <a:bodyPr wrap="square" rtlCol="0">
            <a:spAutoFit/>
          </a:bodyPr>
          <a:lstStyle/>
          <a:p>
            <a:r>
              <a:rPr lang="ja-JP" altLang="en-US" sz="1200" b="1" dirty="0">
                <a:latin typeface="BIZ UDゴシック" panose="020B0400000000000000" pitchFamily="49" charset="-128"/>
                <a:ea typeface="BIZ UDゴシック" panose="020B0400000000000000" pitchFamily="49" charset="-128"/>
              </a:rPr>
              <a:t>ユーザー・在室登録サービス</a:t>
            </a:r>
            <a:endParaRPr kumimoji="1" lang="ja-JP" altLang="en-US" sz="1200" b="1" dirty="0">
              <a:latin typeface="BIZ UDゴシック" panose="020B0400000000000000" pitchFamily="49" charset="-128"/>
              <a:ea typeface="BIZ UDゴシック" panose="020B0400000000000000" pitchFamily="49" charset="-128"/>
            </a:endParaRPr>
          </a:p>
        </p:txBody>
      </p:sp>
      <p:cxnSp>
        <p:nvCxnSpPr>
          <p:cNvPr id="6" name="Straight Arrow Connector 52" descr="Double pointing horizontal arrow.">
            <a:extLst>
              <a:ext uri="{FF2B5EF4-FFF2-40B4-BE49-F238E27FC236}">
                <a16:creationId xmlns:a16="http://schemas.microsoft.com/office/drawing/2014/main" id="{A1B6ABD7-57CD-16E0-491C-A45C8B493E85}"/>
              </a:ext>
            </a:extLst>
          </p:cNvPr>
          <p:cNvCxnSpPr>
            <a:cxnSpLocks/>
            <a:stCxn id="296" idx="3"/>
            <a:endCxn id="294" idx="1"/>
          </p:cNvCxnSpPr>
          <p:nvPr/>
        </p:nvCxnSpPr>
        <p:spPr>
          <a:xfrm flipV="1">
            <a:off x="5349458" y="4650632"/>
            <a:ext cx="638693" cy="308"/>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10" name="Straight Arrow Connector 52" descr="Double pointing horizontal arrow.">
            <a:extLst>
              <a:ext uri="{FF2B5EF4-FFF2-40B4-BE49-F238E27FC236}">
                <a16:creationId xmlns:a16="http://schemas.microsoft.com/office/drawing/2014/main" id="{129FA762-3259-1DB9-DFB9-7B9177B4BDEE}"/>
              </a:ext>
            </a:extLst>
          </p:cNvPr>
          <p:cNvCxnSpPr>
            <a:cxnSpLocks/>
            <a:stCxn id="294" idx="3"/>
            <a:endCxn id="298" idx="1"/>
          </p:cNvCxnSpPr>
          <p:nvPr/>
        </p:nvCxnSpPr>
        <p:spPr>
          <a:xfrm>
            <a:off x="6524645" y="4650632"/>
            <a:ext cx="640661" cy="2899"/>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24671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971654-96F0-E82E-2E07-0FD2DB035EB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354D824-7E74-8B4B-43AA-B85B7D1F7DCF}"/>
              </a:ext>
            </a:extLst>
          </p:cNvPr>
          <p:cNvSpPr>
            <a:spLocks noGrp="1"/>
          </p:cNvSpPr>
          <p:nvPr>
            <p:ph type="title"/>
          </p:nvPr>
        </p:nvSpPr>
        <p:spPr/>
        <p:txBody>
          <a:bodyPr/>
          <a:lstStyle/>
          <a:p>
            <a:r>
              <a:rPr kumimoji="1" lang="ja-JP" altLang="en-US" dirty="0"/>
              <a:t>在室確認システムのアーキテクチャ</a:t>
            </a:r>
          </a:p>
        </p:txBody>
      </p:sp>
      <p:grpSp>
        <p:nvGrpSpPr>
          <p:cNvPr id="230" name="グループ化 229">
            <a:extLst>
              <a:ext uri="{FF2B5EF4-FFF2-40B4-BE49-F238E27FC236}">
                <a16:creationId xmlns:a16="http://schemas.microsoft.com/office/drawing/2014/main" id="{7DA6FFF6-FB90-086B-73B5-217271675B3E}"/>
              </a:ext>
            </a:extLst>
          </p:cNvPr>
          <p:cNvGrpSpPr/>
          <p:nvPr/>
        </p:nvGrpSpPr>
        <p:grpSpPr>
          <a:xfrm>
            <a:off x="6904519" y="4385283"/>
            <a:ext cx="1058068" cy="814611"/>
            <a:chOff x="4098454" y="2667000"/>
            <a:chExt cx="1502808" cy="1157017"/>
          </a:xfrm>
        </p:grpSpPr>
        <p:pic>
          <p:nvPicPr>
            <p:cNvPr id="298" name="Graphic 23" descr="Amazon DynamoDB service icon.">
              <a:extLst>
                <a:ext uri="{FF2B5EF4-FFF2-40B4-BE49-F238E27FC236}">
                  <a16:creationId xmlns:a16="http://schemas.microsoft.com/office/drawing/2014/main" id="{C649F111-0E21-F509-1534-408D339466FC}"/>
                </a:ext>
              </a:extLst>
            </p:cNvPr>
            <p:cNvPicPr>
              <a:picLocks noChangeAspect="1" noChangeArrowheads="1"/>
            </p:cNvPicPr>
            <p:nvPr/>
          </p:nvPicPr>
          <p:blipFill>
            <a:blip r:embed="rId2">
              <a:extLst>
                <a:ext uri="{96DAC541-7B7A-43D3-8B79-37D633B846F1}">
                  <asvg:svgBlip xmlns:asvg="http://schemas.microsoft.com/office/drawing/2016/SVG/main" r:embed="rId3"/>
                </a:ext>
              </a:extLst>
            </a:blip>
            <a:srcRect/>
            <a:stretch/>
          </p:blipFill>
          <p:spPr bwMode="auto">
            <a:xfrm>
              <a:off x="4468858" y="2667000"/>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9" name="TextBox 12">
              <a:extLst>
                <a:ext uri="{FF2B5EF4-FFF2-40B4-BE49-F238E27FC236}">
                  <a16:creationId xmlns:a16="http://schemas.microsoft.com/office/drawing/2014/main" id="{CBEA3E32-08DA-7896-BB42-6E10B2D20E0F}"/>
                </a:ext>
              </a:extLst>
            </p:cNvPr>
            <p:cNvSpPr txBox="1">
              <a:spLocks noChangeArrowheads="1"/>
            </p:cNvSpPr>
            <p:nvPr/>
          </p:nvSpPr>
          <p:spPr bwMode="auto">
            <a:xfrm>
              <a:off x="4098454" y="3430587"/>
              <a:ext cx="1502808" cy="393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DynamoDB</a:t>
              </a:r>
            </a:p>
          </p:txBody>
        </p:sp>
      </p:grpSp>
      <p:grpSp>
        <p:nvGrpSpPr>
          <p:cNvPr id="231" name="グループ化 230">
            <a:extLst>
              <a:ext uri="{FF2B5EF4-FFF2-40B4-BE49-F238E27FC236}">
                <a16:creationId xmlns:a16="http://schemas.microsoft.com/office/drawing/2014/main" id="{761D8636-1FF2-7F43-223D-214CB8E97D8B}"/>
              </a:ext>
            </a:extLst>
          </p:cNvPr>
          <p:cNvGrpSpPr/>
          <p:nvPr/>
        </p:nvGrpSpPr>
        <p:grpSpPr>
          <a:xfrm>
            <a:off x="4522361" y="4382693"/>
            <a:ext cx="1117700" cy="998159"/>
            <a:chOff x="2576510" y="1184275"/>
            <a:chExt cx="1587506" cy="1417718"/>
          </a:xfrm>
        </p:grpSpPr>
        <p:pic>
          <p:nvPicPr>
            <p:cNvPr id="296" name="Graphic 7" descr="Amazon API Gateway service icon.">
              <a:extLst>
                <a:ext uri="{FF2B5EF4-FFF2-40B4-BE49-F238E27FC236}">
                  <a16:creationId xmlns:a16="http://schemas.microsoft.com/office/drawing/2014/main" id="{0004A84A-9632-C8AF-1218-9B8370CAD29F}"/>
                </a:ext>
              </a:extLst>
            </p:cNvPr>
            <p:cNvPicPr>
              <a:picLocks noChangeAspect="1" noChangeArrowheads="1"/>
            </p:cNvPicPr>
            <p:nvPr/>
          </p:nvPicPr>
          <p:blipFill>
            <a:blip r:embed="rId4">
              <a:extLst>
                <a:ext uri="{96DAC541-7B7A-43D3-8B79-37D633B846F1}">
                  <asvg:svgBlip xmlns:asvg="http://schemas.microsoft.com/office/drawing/2016/SVG/main" r:embed="rId5"/>
                </a:ext>
              </a:extLst>
            </a:blip>
            <a:srcRect/>
            <a:stretch/>
          </p:blipFill>
          <p:spPr bwMode="auto">
            <a:xfrm>
              <a:off x="2989263" y="1184275"/>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 name="TextBox 9">
              <a:extLst>
                <a:ext uri="{FF2B5EF4-FFF2-40B4-BE49-F238E27FC236}">
                  <a16:creationId xmlns:a16="http://schemas.microsoft.com/office/drawing/2014/main" id="{54AC1A5A-4712-2735-7265-3000AC5F804B}"/>
                </a:ext>
              </a:extLst>
            </p:cNvPr>
            <p:cNvSpPr txBox="1">
              <a:spLocks noChangeArrowheads="1"/>
            </p:cNvSpPr>
            <p:nvPr/>
          </p:nvSpPr>
          <p:spPr bwMode="auto">
            <a:xfrm>
              <a:off x="2576510" y="1946275"/>
              <a:ext cx="1587506" cy="655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API Gateway</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(REST API)</a:t>
              </a:r>
            </a:p>
          </p:txBody>
        </p:sp>
      </p:grpSp>
      <p:grpSp>
        <p:nvGrpSpPr>
          <p:cNvPr id="232" name="グループ化 231">
            <a:extLst>
              <a:ext uri="{FF2B5EF4-FFF2-40B4-BE49-F238E27FC236}">
                <a16:creationId xmlns:a16="http://schemas.microsoft.com/office/drawing/2014/main" id="{A62D104E-7C2F-85BD-73DE-2B41682F0B2F}"/>
              </a:ext>
            </a:extLst>
          </p:cNvPr>
          <p:cNvGrpSpPr/>
          <p:nvPr/>
        </p:nvGrpSpPr>
        <p:grpSpPr>
          <a:xfrm>
            <a:off x="5850438" y="4382385"/>
            <a:ext cx="820861" cy="812933"/>
            <a:chOff x="5051089" y="1185069"/>
            <a:chExt cx="1165896" cy="1154637"/>
          </a:xfrm>
        </p:grpSpPr>
        <p:pic>
          <p:nvPicPr>
            <p:cNvPr id="294" name="Graphic 10" descr="AWS Lambda service icon.">
              <a:extLst>
                <a:ext uri="{FF2B5EF4-FFF2-40B4-BE49-F238E27FC236}">
                  <a16:creationId xmlns:a16="http://schemas.microsoft.com/office/drawing/2014/main" id="{6F056704-19BF-2748-0287-F4D06DD493AF}"/>
                </a:ext>
              </a:extLst>
            </p:cNvPr>
            <p:cNvPicPr>
              <a:picLocks noChangeAspect="1" noChangeArrowheads="1"/>
            </p:cNvPicPr>
            <p:nvPr/>
          </p:nvPicPr>
          <p:blipFill>
            <a:blip r:embed="rId6">
              <a:extLst>
                <a:ext uri="{96DAC541-7B7A-43D3-8B79-37D633B846F1}">
                  <asvg:svgBlip xmlns:asvg="http://schemas.microsoft.com/office/drawing/2016/SVG/main" r:embed="rId7"/>
                </a:ext>
              </a:extLst>
            </a:blip>
            <a:srcRect/>
            <a:stretch/>
          </p:blipFill>
          <p:spPr bwMode="auto">
            <a:xfrm>
              <a:off x="5246688" y="1185069"/>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5" name="TextBox 20">
              <a:extLst>
                <a:ext uri="{FF2B5EF4-FFF2-40B4-BE49-F238E27FC236}">
                  <a16:creationId xmlns:a16="http://schemas.microsoft.com/office/drawing/2014/main" id="{4559552E-27C2-09AB-2AE3-159A26C83AB8}"/>
                </a:ext>
              </a:extLst>
            </p:cNvPr>
            <p:cNvSpPr txBox="1">
              <a:spLocks noChangeArrowheads="1"/>
            </p:cNvSpPr>
            <p:nvPr/>
          </p:nvSpPr>
          <p:spPr bwMode="auto">
            <a:xfrm>
              <a:off x="5051089" y="1946275"/>
              <a:ext cx="1165896" cy="393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Lambda</a:t>
              </a:r>
            </a:p>
          </p:txBody>
        </p:sp>
      </p:grpSp>
      <p:sp>
        <p:nvSpPr>
          <p:cNvPr id="289" name="TextBox 12">
            <a:extLst>
              <a:ext uri="{FF2B5EF4-FFF2-40B4-BE49-F238E27FC236}">
                <a16:creationId xmlns:a16="http://schemas.microsoft.com/office/drawing/2014/main" id="{53E6EC69-F081-ABBF-DBC6-055DDFB9C7B8}"/>
              </a:ext>
            </a:extLst>
          </p:cNvPr>
          <p:cNvSpPr txBox="1">
            <a:spLocks noChangeArrowheads="1"/>
          </p:cNvSpPr>
          <p:nvPr/>
        </p:nvSpPr>
        <p:spPr bwMode="auto">
          <a:xfrm>
            <a:off x="1707208" y="5001976"/>
            <a:ext cx="16050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Raspberry Pi 4B</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(172.16.15.8)</a:t>
            </a:r>
          </a:p>
        </p:txBody>
      </p:sp>
      <p:sp>
        <p:nvSpPr>
          <p:cNvPr id="236" name="テキスト ボックス 235">
            <a:extLst>
              <a:ext uri="{FF2B5EF4-FFF2-40B4-BE49-F238E27FC236}">
                <a16:creationId xmlns:a16="http://schemas.microsoft.com/office/drawing/2014/main" id="{F6ED9D5A-877B-9CDC-7921-E91609E2CA49}"/>
              </a:ext>
            </a:extLst>
          </p:cNvPr>
          <p:cNvSpPr txBox="1"/>
          <p:nvPr/>
        </p:nvSpPr>
        <p:spPr>
          <a:xfrm>
            <a:off x="1077353" y="4303759"/>
            <a:ext cx="1162293" cy="276999"/>
          </a:xfrm>
          <a:prstGeom prst="rect">
            <a:avLst/>
          </a:prstGeom>
          <a:noFill/>
        </p:spPr>
        <p:txBody>
          <a:bodyPr wrap="square">
            <a:spAutoFit/>
          </a:body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RC-S380 S</a:t>
            </a:r>
          </a:p>
        </p:txBody>
      </p:sp>
      <p:pic>
        <p:nvPicPr>
          <p:cNvPr id="237" name="図 236" descr="黒い背景と白い文字のロゴ&#10;&#10;AI によって生成されたコンテンツは間違っている可能性があります。">
            <a:extLst>
              <a:ext uri="{FF2B5EF4-FFF2-40B4-BE49-F238E27FC236}">
                <a16:creationId xmlns:a16="http://schemas.microsoft.com/office/drawing/2014/main" id="{9DE1B99D-F5F2-CCEB-D539-BB609E7D862C}"/>
              </a:ext>
            </a:extLst>
          </p:cNvPr>
          <p:cNvPicPr>
            <a:picLocks noChangeAspect="1"/>
          </p:cNvPicPr>
          <p:nvPr/>
        </p:nvPicPr>
        <p:blipFill>
          <a:blip r:embed="rId8">
            <a:biLevel thresh="50000"/>
            <a:extLst>
              <a:ext uri="{28A0092B-C50C-407E-A947-70E740481C1C}">
                <a14:useLocalDpi xmlns:a14="http://schemas.microsoft.com/office/drawing/2010/main" val="0"/>
              </a:ext>
            </a:extLst>
          </a:blip>
          <a:srcRect t="19474" b="18132"/>
          <a:stretch/>
        </p:blipFill>
        <p:spPr>
          <a:xfrm flipH="1">
            <a:off x="693160" y="4508703"/>
            <a:ext cx="1605014" cy="751622"/>
          </a:xfrm>
          <a:prstGeom prst="rect">
            <a:avLst/>
          </a:prstGeom>
        </p:spPr>
      </p:pic>
      <p:cxnSp>
        <p:nvCxnSpPr>
          <p:cNvPr id="238" name="Straight Arrow Connector 74" descr="Up and down pointing vertical arrow.">
            <a:extLst>
              <a:ext uri="{FF2B5EF4-FFF2-40B4-BE49-F238E27FC236}">
                <a16:creationId xmlns:a16="http://schemas.microsoft.com/office/drawing/2014/main" id="{9F70BF81-7AAF-7B31-EB66-5D75D84BAB6D}"/>
              </a:ext>
            </a:extLst>
          </p:cNvPr>
          <p:cNvCxnSpPr>
            <a:cxnSpLocks/>
            <a:endCxn id="296" idx="1"/>
          </p:cNvCxnSpPr>
          <p:nvPr/>
        </p:nvCxnSpPr>
        <p:spPr>
          <a:xfrm>
            <a:off x="2777961" y="4650940"/>
            <a:ext cx="2035003" cy="0"/>
          </a:xfrm>
          <a:prstGeom prst="straightConnector1">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grpSp>
        <p:nvGrpSpPr>
          <p:cNvPr id="241" name="グループ化 240">
            <a:extLst>
              <a:ext uri="{FF2B5EF4-FFF2-40B4-BE49-F238E27FC236}">
                <a16:creationId xmlns:a16="http://schemas.microsoft.com/office/drawing/2014/main" id="{6600D6C0-17C7-9CB0-0694-662425CF9840}"/>
              </a:ext>
            </a:extLst>
          </p:cNvPr>
          <p:cNvGrpSpPr/>
          <p:nvPr/>
        </p:nvGrpSpPr>
        <p:grpSpPr>
          <a:xfrm>
            <a:off x="2051276" y="6087076"/>
            <a:ext cx="924337" cy="403333"/>
            <a:chOff x="2262291" y="5685876"/>
            <a:chExt cx="924337" cy="403333"/>
          </a:xfrm>
        </p:grpSpPr>
        <p:pic>
          <p:nvPicPr>
            <p:cNvPr id="286" name="図 285" descr="アイコン&#10;&#10;AI によって生成されたコンテンツは間違っている可能性があります。">
              <a:extLst>
                <a:ext uri="{FF2B5EF4-FFF2-40B4-BE49-F238E27FC236}">
                  <a16:creationId xmlns:a16="http://schemas.microsoft.com/office/drawing/2014/main" id="{6DDC7E80-98D3-17E2-D8F8-6C5458DBB2DC}"/>
                </a:ext>
              </a:extLst>
            </p:cNvPr>
            <p:cNvPicPr>
              <a:picLocks noChangeAspect="1"/>
            </p:cNvPicPr>
            <p:nvPr/>
          </p:nvPicPr>
          <p:blipFill>
            <a:blip r:embed="rId9">
              <a:extLst>
                <a:ext uri="{28A0092B-C50C-407E-A947-70E740481C1C}">
                  <a14:useLocalDpi xmlns:a14="http://schemas.microsoft.com/office/drawing/2010/main" val="0"/>
                </a:ext>
              </a:extLst>
            </a:blip>
            <a:srcRect l="10553" t="5709" r="9769" b="4466"/>
            <a:stretch/>
          </p:blipFill>
          <p:spPr>
            <a:xfrm>
              <a:off x="2262291" y="5685876"/>
              <a:ext cx="357774" cy="403333"/>
            </a:xfrm>
            <a:prstGeom prst="rect">
              <a:avLst/>
            </a:prstGeom>
          </p:spPr>
        </p:pic>
        <p:sp>
          <p:nvSpPr>
            <p:cNvPr id="287" name="テキスト ボックス 286">
              <a:extLst>
                <a:ext uri="{FF2B5EF4-FFF2-40B4-BE49-F238E27FC236}">
                  <a16:creationId xmlns:a16="http://schemas.microsoft.com/office/drawing/2014/main" id="{075D40C9-C9F2-06D0-8BDE-BD5BA7A4AE00}"/>
                </a:ext>
              </a:extLst>
            </p:cNvPr>
            <p:cNvSpPr txBox="1"/>
            <p:nvPr/>
          </p:nvSpPr>
          <p:spPr>
            <a:xfrm>
              <a:off x="2557071" y="5749042"/>
              <a:ext cx="629557" cy="276999"/>
            </a:xfrm>
            <a:prstGeom prst="rect">
              <a:avLst/>
            </a:prstGeom>
            <a:noFill/>
          </p:spPr>
          <p:txBody>
            <a:bodyPr wrap="square">
              <a:spAutoFit/>
            </a:bodyPr>
            <a:lstStyle/>
            <a:p>
              <a:r>
                <a:rPr lang="en-US" altLang="ja-JP" sz="1200" dirty="0"/>
                <a:t>:3000</a:t>
              </a:r>
              <a:endParaRPr lang="ja-JP" altLang="en-US" sz="1200" dirty="0"/>
            </a:p>
          </p:txBody>
        </p:sp>
      </p:grpSp>
      <p:grpSp>
        <p:nvGrpSpPr>
          <p:cNvPr id="242" name="グループ化 241">
            <a:extLst>
              <a:ext uri="{FF2B5EF4-FFF2-40B4-BE49-F238E27FC236}">
                <a16:creationId xmlns:a16="http://schemas.microsoft.com/office/drawing/2014/main" id="{DB213FF8-0816-AEAB-4C11-CEF09A4B21E3}"/>
              </a:ext>
            </a:extLst>
          </p:cNvPr>
          <p:cNvGrpSpPr/>
          <p:nvPr/>
        </p:nvGrpSpPr>
        <p:grpSpPr>
          <a:xfrm>
            <a:off x="2043915" y="5648135"/>
            <a:ext cx="931698" cy="372497"/>
            <a:chOff x="2254930" y="5246935"/>
            <a:chExt cx="931698" cy="372497"/>
          </a:xfrm>
        </p:grpSpPr>
        <p:pic>
          <p:nvPicPr>
            <p:cNvPr id="284" name="グラフィックス 283">
              <a:extLst>
                <a:ext uri="{FF2B5EF4-FFF2-40B4-BE49-F238E27FC236}">
                  <a16:creationId xmlns:a16="http://schemas.microsoft.com/office/drawing/2014/main" id="{F360543A-BC64-6E3B-B9CE-9B73FABB1E43}"/>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254930" y="5246935"/>
              <a:ext cx="372497" cy="372497"/>
            </a:xfrm>
            <a:prstGeom prst="rect">
              <a:avLst/>
            </a:prstGeom>
          </p:spPr>
        </p:pic>
        <p:sp>
          <p:nvSpPr>
            <p:cNvPr id="285" name="テキスト ボックス 284">
              <a:extLst>
                <a:ext uri="{FF2B5EF4-FFF2-40B4-BE49-F238E27FC236}">
                  <a16:creationId xmlns:a16="http://schemas.microsoft.com/office/drawing/2014/main" id="{923D9917-3815-EF71-D048-0E8EF8B2EA07}"/>
                </a:ext>
              </a:extLst>
            </p:cNvPr>
            <p:cNvSpPr txBox="1"/>
            <p:nvPr/>
          </p:nvSpPr>
          <p:spPr>
            <a:xfrm>
              <a:off x="2557071" y="5306333"/>
              <a:ext cx="629557" cy="276999"/>
            </a:xfrm>
            <a:prstGeom prst="rect">
              <a:avLst/>
            </a:prstGeom>
            <a:noFill/>
          </p:spPr>
          <p:txBody>
            <a:bodyPr wrap="square">
              <a:spAutoFit/>
            </a:bodyPr>
            <a:lstStyle/>
            <a:p>
              <a:r>
                <a:rPr lang="en-US" altLang="ja-JP" sz="1200" dirty="0"/>
                <a:t>:8000</a:t>
              </a:r>
              <a:endParaRPr lang="ja-JP" altLang="en-US" sz="1200" dirty="0"/>
            </a:p>
          </p:txBody>
        </p:sp>
      </p:grpSp>
      <p:sp>
        <p:nvSpPr>
          <p:cNvPr id="277" name="TextBox 12">
            <a:extLst>
              <a:ext uri="{FF2B5EF4-FFF2-40B4-BE49-F238E27FC236}">
                <a16:creationId xmlns:a16="http://schemas.microsoft.com/office/drawing/2014/main" id="{D062F640-8ABF-7B45-822A-49BAA86530F5}"/>
              </a:ext>
            </a:extLst>
          </p:cNvPr>
          <p:cNvSpPr txBox="1">
            <a:spLocks noChangeArrowheads="1"/>
          </p:cNvSpPr>
          <p:nvPr/>
        </p:nvSpPr>
        <p:spPr bwMode="auto">
          <a:xfrm>
            <a:off x="1707208" y="3178518"/>
            <a:ext cx="16050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Raspberry Pi 5</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(172.16.15.7)</a:t>
            </a:r>
          </a:p>
        </p:txBody>
      </p:sp>
      <p:sp>
        <p:nvSpPr>
          <p:cNvPr id="251" name="Rectangle 103" descr="Generic group dashed.">
            <a:extLst>
              <a:ext uri="{FF2B5EF4-FFF2-40B4-BE49-F238E27FC236}">
                <a16:creationId xmlns:a16="http://schemas.microsoft.com/office/drawing/2014/main" id="{B1056B5C-8FAE-5356-C8D0-B18BB843C431}"/>
              </a:ext>
            </a:extLst>
          </p:cNvPr>
          <p:cNvSpPr/>
          <p:nvPr/>
        </p:nvSpPr>
        <p:spPr>
          <a:xfrm>
            <a:off x="4457026" y="4158038"/>
            <a:ext cx="3541821" cy="1348227"/>
          </a:xfrm>
          <a:prstGeom prst="rect">
            <a:avLst/>
          </a:prstGeom>
          <a:noFill/>
          <a:ln w="15875">
            <a:solidFill>
              <a:srgbClr val="7D8998"/>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eaLnBrk="1" fontAlgn="auto" hangingPunct="1">
              <a:spcBef>
                <a:spcPts val="0"/>
              </a:spcBef>
              <a:spcAft>
                <a:spcPts val="0"/>
              </a:spcAft>
              <a:defRPr/>
            </a:pPr>
            <a:endParaRPr lang="en-US" sz="1200" dirty="0">
              <a:solidFill>
                <a:schemeClr val="tx1"/>
              </a:solidFill>
              <a:latin typeface="Arial" panose="020B0604020202020204" pitchFamily="34" charset="0"/>
              <a:cs typeface="Arial" panose="020B0604020202020204" pitchFamily="34" charset="0"/>
            </a:endParaRPr>
          </a:p>
        </p:txBody>
      </p:sp>
      <p:grpSp>
        <p:nvGrpSpPr>
          <p:cNvPr id="267" name="Group 1" descr="AWS Cloud group with AWS logo.">
            <a:extLst>
              <a:ext uri="{FF2B5EF4-FFF2-40B4-BE49-F238E27FC236}">
                <a16:creationId xmlns:a16="http://schemas.microsoft.com/office/drawing/2014/main" id="{DB4A8542-DE5F-32B0-7A9C-41E381935745}"/>
              </a:ext>
            </a:extLst>
          </p:cNvPr>
          <p:cNvGrpSpPr/>
          <p:nvPr/>
        </p:nvGrpSpPr>
        <p:grpSpPr>
          <a:xfrm>
            <a:off x="3528572" y="926869"/>
            <a:ext cx="4825253" cy="5828334"/>
            <a:chOff x="355598" y="689579"/>
            <a:chExt cx="4825253" cy="3747374"/>
          </a:xfrm>
        </p:grpSpPr>
        <p:sp>
          <p:nvSpPr>
            <p:cNvPr id="268" name="Rectangle 54">
              <a:extLst>
                <a:ext uri="{FF2B5EF4-FFF2-40B4-BE49-F238E27FC236}">
                  <a16:creationId xmlns:a16="http://schemas.microsoft.com/office/drawing/2014/main" id="{049A7FE0-BA71-667A-70A3-C1F43853DF14}"/>
                </a:ext>
              </a:extLst>
            </p:cNvPr>
            <p:cNvSpPr/>
            <p:nvPr/>
          </p:nvSpPr>
          <p:spPr>
            <a:xfrm>
              <a:off x="355599" y="689579"/>
              <a:ext cx="4825252" cy="3747374"/>
            </a:xfrm>
            <a:prstGeom prst="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r>
                <a:rPr lang="en-US" sz="1200" dirty="0">
                  <a:solidFill>
                    <a:schemeClr val="tx1"/>
                  </a:solidFill>
                  <a:latin typeface="Arial" panose="020B0604020202020204" pitchFamily="34" charset="0"/>
                  <a:cs typeface="Arial" panose="020B0604020202020204" pitchFamily="34" charset="0"/>
                </a:rPr>
                <a:t>AWS Cloud</a:t>
              </a:r>
            </a:p>
          </p:txBody>
        </p:sp>
        <p:pic>
          <p:nvPicPr>
            <p:cNvPr id="269" name="Graphic 55" descr="AWS Cloud group icon with AWS logo.">
              <a:extLst>
                <a:ext uri="{FF2B5EF4-FFF2-40B4-BE49-F238E27FC236}">
                  <a16:creationId xmlns:a16="http://schemas.microsoft.com/office/drawing/2014/main" id="{87190722-10C8-A0C6-6B11-527A385E1E81}"/>
                </a:ext>
              </a:extLst>
            </p:cNvPr>
            <p:cNvPicPr>
              <a:picLocks noChangeAspect="1"/>
            </p:cNvPicPr>
            <p:nvPr/>
          </p:nvPicPr>
          <p:blipFill>
            <a:blip r:embed="rId12">
              <a:extLst>
                <a:ext uri="{96DAC541-7B7A-43D3-8B79-37D633B846F1}">
                  <asvg:svgBlip xmlns:asvg="http://schemas.microsoft.com/office/drawing/2016/SVG/main" r:embed="rId13"/>
                </a:ext>
              </a:extLst>
            </a:blip>
            <a:srcRect/>
            <a:stretch/>
          </p:blipFill>
          <p:spPr>
            <a:xfrm>
              <a:off x="355598" y="695923"/>
              <a:ext cx="419750" cy="287318"/>
            </a:xfrm>
            <a:prstGeom prst="rect">
              <a:avLst/>
            </a:prstGeom>
          </p:spPr>
        </p:pic>
      </p:grpSp>
      <p:sp>
        <p:nvSpPr>
          <p:cNvPr id="228" name="Rectangle 103" descr="Generic group dashed.">
            <a:extLst>
              <a:ext uri="{FF2B5EF4-FFF2-40B4-BE49-F238E27FC236}">
                <a16:creationId xmlns:a16="http://schemas.microsoft.com/office/drawing/2014/main" id="{884282CF-EA92-622B-07D3-3ED9E7842F4C}"/>
              </a:ext>
            </a:extLst>
          </p:cNvPr>
          <p:cNvSpPr/>
          <p:nvPr/>
        </p:nvSpPr>
        <p:spPr>
          <a:xfrm>
            <a:off x="690522" y="2075537"/>
            <a:ext cx="2621698" cy="1720079"/>
          </a:xfrm>
          <a:prstGeom prst="rect">
            <a:avLst/>
          </a:prstGeom>
          <a:noFill/>
          <a:ln w="15875">
            <a:solidFill>
              <a:srgbClr val="7D8998"/>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a:defRPr/>
            </a:pPr>
            <a:r>
              <a:rPr lang="ja-JP" altLang="en-US" sz="1200" dirty="0">
                <a:solidFill>
                  <a:schemeClr val="tx1"/>
                </a:solidFill>
                <a:latin typeface="Arial" panose="020B0604020202020204" pitchFamily="34" charset="0"/>
                <a:cs typeface="Arial" panose="020B0604020202020204" pitchFamily="34" charset="0"/>
              </a:rPr>
              <a:t>教員部屋（</a:t>
            </a:r>
            <a:r>
              <a:rPr lang="en-US" altLang="ja-JP" sz="1200" dirty="0">
                <a:solidFill>
                  <a:schemeClr val="tx1"/>
                </a:solidFill>
                <a:latin typeface="Arial" panose="020B0604020202020204" pitchFamily="34" charset="0"/>
                <a:cs typeface="Arial" panose="020B0604020202020204" pitchFamily="34" charset="0"/>
              </a:rPr>
              <a:t>J1404</a:t>
            </a:r>
            <a:r>
              <a:rPr lang="ja-JP" altLang="en-US" sz="1200" dirty="0">
                <a:solidFill>
                  <a:schemeClr val="tx1"/>
                </a:solidFill>
                <a:latin typeface="Arial" panose="020B0604020202020204" pitchFamily="34" charset="0"/>
                <a:cs typeface="Arial" panose="020B0604020202020204" pitchFamily="34" charset="0"/>
              </a:rPr>
              <a:t>）</a:t>
            </a:r>
            <a:endParaRPr lang="en-US" sz="1200" dirty="0">
              <a:solidFill>
                <a:schemeClr val="tx1"/>
              </a:solidFill>
              <a:latin typeface="Arial" panose="020B0604020202020204" pitchFamily="34" charset="0"/>
              <a:cs typeface="Arial" panose="020B0604020202020204" pitchFamily="34" charset="0"/>
            </a:endParaRPr>
          </a:p>
        </p:txBody>
      </p:sp>
      <p:pic>
        <p:nvPicPr>
          <p:cNvPr id="302" name="グラフィックス 301">
            <a:extLst>
              <a:ext uri="{FF2B5EF4-FFF2-40B4-BE49-F238E27FC236}">
                <a16:creationId xmlns:a16="http://schemas.microsoft.com/office/drawing/2014/main" id="{BD4E5AF0-B788-5A49-6DAC-41D052705DDC}"/>
              </a:ext>
            </a:extLst>
          </p:cNvPr>
          <p:cNvPicPr>
            <a:picLocks noChangeAspect="1"/>
          </p:cNvPicPr>
          <p:nvPr/>
        </p:nvPicPr>
        <p:blipFill>
          <a:blip r:embed="rId14">
            <a:grayscl/>
            <a:extLst>
              <a:ext uri="{96DAC541-7B7A-43D3-8B79-37D633B846F1}">
                <asvg:svgBlip xmlns:asvg="http://schemas.microsoft.com/office/drawing/2016/SVG/main" r:embed="rId15"/>
              </a:ext>
            </a:extLst>
          </a:blip>
          <a:srcRect l="25148" t="16203" r="25948" b="16205"/>
          <a:stretch/>
        </p:blipFill>
        <p:spPr>
          <a:xfrm>
            <a:off x="1029996" y="2508789"/>
            <a:ext cx="580096" cy="801769"/>
          </a:xfrm>
          <a:prstGeom prst="rect">
            <a:avLst/>
          </a:prstGeom>
        </p:spPr>
      </p:pic>
      <p:cxnSp>
        <p:nvCxnSpPr>
          <p:cNvPr id="303" name="Straight Arrow Connector 100">
            <a:extLst>
              <a:ext uri="{FF2B5EF4-FFF2-40B4-BE49-F238E27FC236}">
                <a16:creationId xmlns:a16="http://schemas.microsoft.com/office/drawing/2014/main" id="{62E1DA41-C793-FD8B-0EAD-18897D873FE2}"/>
              </a:ext>
            </a:extLst>
          </p:cNvPr>
          <p:cNvCxnSpPr>
            <a:cxnSpLocks/>
            <a:stCxn id="302" idx="3"/>
          </p:cNvCxnSpPr>
          <p:nvPr/>
        </p:nvCxnSpPr>
        <p:spPr>
          <a:xfrm>
            <a:off x="1610092" y="2909674"/>
            <a:ext cx="631375" cy="597"/>
          </a:xfrm>
          <a:prstGeom prst="straightConnector1">
            <a:avLst/>
          </a:prstGeom>
          <a:ln w="19050">
            <a:solidFill>
              <a:schemeClr val="tx1"/>
            </a:solidFill>
            <a:headEnd type="none" w="med" len="sm"/>
            <a:tailEnd type="none" w="med" len="sm"/>
          </a:ln>
        </p:spPr>
        <p:style>
          <a:lnRef idx="1">
            <a:schemeClr val="accent1"/>
          </a:lnRef>
          <a:fillRef idx="0">
            <a:schemeClr val="accent1"/>
          </a:fillRef>
          <a:effectRef idx="0">
            <a:schemeClr val="accent1"/>
          </a:effectRef>
          <a:fontRef idx="minor">
            <a:schemeClr val="tx1"/>
          </a:fontRef>
        </p:style>
      </p:cxnSp>
      <p:sp>
        <p:nvSpPr>
          <p:cNvPr id="306" name="Rectangle 103" descr="Generic group dashed.">
            <a:extLst>
              <a:ext uri="{FF2B5EF4-FFF2-40B4-BE49-F238E27FC236}">
                <a16:creationId xmlns:a16="http://schemas.microsoft.com/office/drawing/2014/main" id="{CF2B9624-BE37-33FE-E872-0F7E672AE6C1}"/>
              </a:ext>
            </a:extLst>
          </p:cNvPr>
          <p:cNvSpPr/>
          <p:nvPr/>
        </p:nvSpPr>
        <p:spPr>
          <a:xfrm>
            <a:off x="690522" y="3933107"/>
            <a:ext cx="2615365" cy="2822096"/>
          </a:xfrm>
          <a:prstGeom prst="rect">
            <a:avLst/>
          </a:prstGeom>
          <a:noFill/>
          <a:ln w="15875">
            <a:solidFill>
              <a:srgbClr val="7D8998"/>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a:defRPr/>
            </a:pPr>
            <a:r>
              <a:rPr lang="ja-JP" altLang="en-US" sz="1200" dirty="0">
                <a:solidFill>
                  <a:schemeClr val="tx1"/>
                </a:solidFill>
                <a:latin typeface="Arial" panose="020B0604020202020204" pitchFamily="34" charset="0"/>
                <a:cs typeface="Arial" panose="020B0604020202020204" pitchFamily="34" charset="0"/>
              </a:rPr>
              <a:t>学生部屋（</a:t>
            </a:r>
            <a:r>
              <a:rPr lang="en-US" altLang="ja-JP" sz="1200" dirty="0">
                <a:solidFill>
                  <a:schemeClr val="tx1"/>
                </a:solidFill>
                <a:latin typeface="Arial" panose="020B0604020202020204" pitchFamily="34" charset="0"/>
                <a:cs typeface="Arial" panose="020B0604020202020204" pitchFamily="34" charset="0"/>
              </a:rPr>
              <a:t>J1401</a:t>
            </a:r>
            <a:r>
              <a:rPr lang="ja-JP" altLang="en-US" sz="1200" dirty="0">
                <a:solidFill>
                  <a:schemeClr val="tx1"/>
                </a:solidFill>
                <a:latin typeface="Arial" panose="020B0604020202020204" pitchFamily="34" charset="0"/>
                <a:cs typeface="Arial" panose="020B0604020202020204" pitchFamily="34" charset="0"/>
              </a:rPr>
              <a:t>）</a:t>
            </a:r>
            <a:endParaRPr lang="en-US" sz="1200" dirty="0">
              <a:solidFill>
                <a:schemeClr val="tx1"/>
              </a:solidFill>
              <a:latin typeface="Arial" panose="020B0604020202020204" pitchFamily="34" charset="0"/>
              <a:cs typeface="Arial" panose="020B0604020202020204" pitchFamily="34" charset="0"/>
            </a:endParaRPr>
          </a:p>
        </p:txBody>
      </p:sp>
      <p:pic>
        <p:nvPicPr>
          <p:cNvPr id="307" name="グラフィックス 306">
            <a:extLst>
              <a:ext uri="{FF2B5EF4-FFF2-40B4-BE49-F238E27FC236}">
                <a16:creationId xmlns:a16="http://schemas.microsoft.com/office/drawing/2014/main" id="{51062A5F-5D3D-D8A1-7246-E14D5EBF67E3}"/>
              </a:ext>
            </a:extLst>
          </p:cNvPr>
          <p:cNvPicPr>
            <a:picLocks noChangeAspect="1"/>
          </p:cNvPicPr>
          <p:nvPr/>
        </p:nvPicPr>
        <p:blipFill>
          <a:blip r:embed="rId14">
            <a:grayscl/>
            <a:extLst>
              <a:ext uri="{96DAC541-7B7A-43D3-8B79-37D633B846F1}">
                <asvg:svgBlip xmlns:asvg="http://schemas.microsoft.com/office/drawing/2016/SVG/main" r:embed="rId15"/>
              </a:ext>
            </a:extLst>
          </a:blip>
          <a:srcRect l="25148" t="16203" r="25948" b="16205"/>
          <a:stretch/>
        </p:blipFill>
        <p:spPr>
          <a:xfrm rot="16200000">
            <a:off x="1042395" y="5874413"/>
            <a:ext cx="599552" cy="828660"/>
          </a:xfrm>
          <a:prstGeom prst="rect">
            <a:avLst/>
          </a:prstGeom>
        </p:spPr>
      </p:pic>
      <p:sp>
        <p:nvSpPr>
          <p:cNvPr id="257" name="テキスト ボックス 256">
            <a:extLst>
              <a:ext uri="{FF2B5EF4-FFF2-40B4-BE49-F238E27FC236}">
                <a16:creationId xmlns:a16="http://schemas.microsoft.com/office/drawing/2014/main" id="{CA7FDE6E-F136-683F-45CE-4041A5128C3B}"/>
              </a:ext>
            </a:extLst>
          </p:cNvPr>
          <p:cNvSpPr txBox="1"/>
          <p:nvPr/>
        </p:nvSpPr>
        <p:spPr>
          <a:xfrm>
            <a:off x="4360260" y="3860479"/>
            <a:ext cx="2390492" cy="276999"/>
          </a:xfrm>
          <a:prstGeom prst="rect">
            <a:avLst/>
          </a:prstGeom>
          <a:solidFill>
            <a:srgbClr val="EFECE3"/>
          </a:solidFill>
        </p:spPr>
        <p:txBody>
          <a:bodyPr wrap="square" rtlCol="0">
            <a:spAutoFit/>
          </a:bodyPr>
          <a:lstStyle/>
          <a:p>
            <a:r>
              <a:rPr lang="ja-JP" altLang="en-US" sz="1200" b="1" dirty="0">
                <a:latin typeface="BIZ UDゴシック" panose="020B0400000000000000" pitchFamily="49" charset="-128"/>
                <a:ea typeface="BIZ UDゴシック" panose="020B0400000000000000" pitchFamily="49" charset="-128"/>
              </a:rPr>
              <a:t>ユーザー・在室登録サービス</a:t>
            </a:r>
            <a:endParaRPr kumimoji="1" lang="ja-JP" altLang="en-US" sz="1200" b="1" dirty="0">
              <a:latin typeface="BIZ UDゴシック" panose="020B0400000000000000" pitchFamily="49" charset="-128"/>
              <a:ea typeface="BIZ UDゴシック" panose="020B0400000000000000" pitchFamily="49" charset="-128"/>
            </a:endParaRPr>
          </a:p>
        </p:txBody>
      </p:sp>
      <p:cxnSp>
        <p:nvCxnSpPr>
          <p:cNvPr id="372" name="Straight Arrow Connector 52" descr="Double pointing horizontal arrow.">
            <a:extLst>
              <a:ext uri="{FF2B5EF4-FFF2-40B4-BE49-F238E27FC236}">
                <a16:creationId xmlns:a16="http://schemas.microsoft.com/office/drawing/2014/main" id="{4F782EC0-588E-0835-D6DC-805F2916E019}"/>
              </a:ext>
            </a:extLst>
          </p:cNvPr>
          <p:cNvCxnSpPr>
            <a:cxnSpLocks/>
            <a:stCxn id="286" idx="1"/>
            <a:endCxn id="307" idx="2"/>
          </p:cNvCxnSpPr>
          <p:nvPr/>
        </p:nvCxnSpPr>
        <p:spPr>
          <a:xfrm flipH="1">
            <a:off x="1756501" y="6288743"/>
            <a:ext cx="294775" cy="0"/>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pic>
        <p:nvPicPr>
          <p:cNvPr id="403" name="Picture 2" descr="Raspberry icon - Free download on Iconfinder">
            <a:extLst>
              <a:ext uri="{FF2B5EF4-FFF2-40B4-BE49-F238E27FC236}">
                <a16:creationId xmlns:a16="http://schemas.microsoft.com/office/drawing/2014/main" id="{480ACF1F-93B2-6D51-FBB2-EE7D4E894642}"/>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244769" y="4471085"/>
            <a:ext cx="544810" cy="544810"/>
          </a:xfrm>
          <a:prstGeom prst="rect">
            <a:avLst/>
          </a:prstGeom>
          <a:noFill/>
          <a:extLst>
            <a:ext uri="{909E8E84-426E-40DD-AFC4-6F175D3DCCD1}">
              <a14:hiddenFill xmlns:a14="http://schemas.microsoft.com/office/drawing/2010/main">
                <a:solidFill>
                  <a:srgbClr val="FFFFFF"/>
                </a:solidFill>
              </a14:hiddenFill>
            </a:ext>
          </a:extLst>
        </p:spPr>
      </p:pic>
      <p:pic>
        <p:nvPicPr>
          <p:cNvPr id="404" name="Picture 2" descr="Raspberry icon - Free download on Iconfinder">
            <a:extLst>
              <a:ext uri="{FF2B5EF4-FFF2-40B4-BE49-F238E27FC236}">
                <a16:creationId xmlns:a16="http://schemas.microsoft.com/office/drawing/2014/main" id="{E0ED003C-F762-9283-1A71-84C20332090B}"/>
              </a:ext>
            </a:extLst>
          </p:cNvPr>
          <p:cNvPicPr>
            <a:picLocks noChangeAspect="1" noChangeArrowheads="1"/>
          </p:cNvPicPr>
          <p:nvPr/>
        </p:nvPicPr>
        <p:blipFill>
          <a:blip r:embed="rId16">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244769" y="2641704"/>
            <a:ext cx="544810" cy="544810"/>
          </a:xfrm>
          <a:prstGeom prst="rect">
            <a:avLst/>
          </a:prstGeom>
          <a:noFill/>
          <a:extLst>
            <a:ext uri="{909E8E84-426E-40DD-AFC4-6F175D3DCCD1}">
              <a14:hiddenFill xmlns:a14="http://schemas.microsoft.com/office/drawing/2010/main">
                <a:solidFill>
                  <a:srgbClr val="FFFFFF"/>
                </a:solidFill>
              </a14:hiddenFill>
            </a:ext>
          </a:extLst>
        </p:spPr>
      </p:pic>
      <p:cxnSp>
        <p:nvCxnSpPr>
          <p:cNvPr id="3" name="Straight Arrow Connector 52" descr="Double pointing horizontal arrow.">
            <a:extLst>
              <a:ext uri="{FF2B5EF4-FFF2-40B4-BE49-F238E27FC236}">
                <a16:creationId xmlns:a16="http://schemas.microsoft.com/office/drawing/2014/main" id="{159BF9FD-4012-2A68-516B-27CE104AA6BC}"/>
              </a:ext>
            </a:extLst>
          </p:cNvPr>
          <p:cNvCxnSpPr>
            <a:cxnSpLocks/>
            <a:stCxn id="296" idx="3"/>
            <a:endCxn id="294" idx="1"/>
          </p:cNvCxnSpPr>
          <p:nvPr/>
        </p:nvCxnSpPr>
        <p:spPr>
          <a:xfrm flipV="1">
            <a:off x="5349458" y="4650632"/>
            <a:ext cx="638693" cy="308"/>
          </a:xfrm>
          <a:prstGeom prst="straightConnector1">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6" name="Straight Arrow Connector 52" descr="Double pointing horizontal arrow.">
            <a:extLst>
              <a:ext uri="{FF2B5EF4-FFF2-40B4-BE49-F238E27FC236}">
                <a16:creationId xmlns:a16="http://schemas.microsoft.com/office/drawing/2014/main" id="{1DE0DF02-E66E-8F71-A6F0-EFFFC3F5CD41}"/>
              </a:ext>
            </a:extLst>
          </p:cNvPr>
          <p:cNvCxnSpPr>
            <a:cxnSpLocks/>
            <a:stCxn id="294" idx="3"/>
            <a:endCxn id="298" idx="1"/>
          </p:cNvCxnSpPr>
          <p:nvPr/>
        </p:nvCxnSpPr>
        <p:spPr>
          <a:xfrm>
            <a:off x="6524645" y="4650632"/>
            <a:ext cx="640661" cy="2899"/>
          </a:xfrm>
          <a:prstGeom prst="straightConnector1">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88650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F1E4A2-7876-D2A9-EF18-A2051050283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134E524-9873-A421-9D8B-19F625DC5439}"/>
              </a:ext>
            </a:extLst>
          </p:cNvPr>
          <p:cNvSpPr>
            <a:spLocks noGrp="1"/>
          </p:cNvSpPr>
          <p:nvPr>
            <p:ph type="title"/>
          </p:nvPr>
        </p:nvSpPr>
        <p:spPr/>
        <p:txBody>
          <a:bodyPr/>
          <a:lstStyle/>
          <a:p>
            <a:r>
              <a:rPr kumimoji="1" lang="ja-JP" altLang="en-US" dirty="0"/>
              <a:t>在室確認システムのアーキテクチャ</a:t>
            </a:r>
          </a:p>
        </p:txBody>
      </p:sp>
      <p:grpSp>
        <p:nvGrpSpPr>
          <p:cNvPr id="230" name="グループ化 229">
            <a:extLst>
              <a:ext uri="{FF2B5EF4-FFF2-40B4-BE49-F238E27FC236}">
                <a16:creationId xmlns:a16="http://schemas.microsoft.com/office/drawing/2014/main" id="{DEE1E59C-089B-CE9B-663A-94B600CD03FB}"/>
              </a:ext>
            </a:extLst>
          </p:cNvPr>
          <p:cNvGrpSpPr/>
          <p:nvPr/>
        </p:nvGrpSpPr>
        <p:grpSpPr>
          <a:xfrm>
            <a:off x="6904519" y="4385283"/>
            <a:ext cx="1058068" cy="814611"/>
            <a:chOff x="4098454" y="2667000"/>
            <a:chExt cx="1502808" cy="1157017"/>
          </a:xfrm>
        </p:grpSpPr>
        <p:pic>
          <p:nvPicPr>
            <p:cNvPr id="298" name="Graphic 23" descr="Amazon DynamoDB service icon.">
              <a:extLst>
                <a:ext uri="{FF2B5EF4-FFF2-40B4-BE49-F238E27FC236}">
                  <a16:creationId xmlns:a16="http://schemas.microsoft.com/office/drawing/2014/main" id="{E245938F-9642-3877-12E5-49A47B50C4DE}"/>
                </a:ext>
              </a:extLst>
            </p:cNvPr>
            <p:cNvPicPr>
              <a:picLocks noChangeAspect="1" noChangeArrowheads="1"/>
            </p:cNvPicPr>
            <p:nvPr/>
          </p:nvPicPr>
          <p:blipFill>
            <a:blip r:embed="rId2">
              <a:extLst>
                <a:ext uri="{96DAC541-7B7A-43D3-8B79-37D633B846F1}">
                  <asvg:svgBlip xmlns:asvg="http://schemas.microsoft.com/office/drawing/2016/SVG/main" r:embed="rId3"/>
                </a:ext>
              </a:extLst>
            </a:blip>
            <a:srcRect/>
            <a:stretch/>
          </p:blipFill>
          <p:spPr bwMode="auto">
            <a:xfrm>
              <a:off x="4468858" y="2667000"/>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9" name="TextBox 12">
              <a:extLst>
                <a:ext uri="{FF2B5EF4-FFF2-40B4-BE49-F238E27FC236}">
                  <a16:creationId xmlns:a16="http://schemas.microsoft.com/office/drawing/2014/main" id="{70276BE9-96A0-3FCE-C93B-77AAC43AF62F}"/>
                </a:ext>
              </a:extLst>
            </p:cNvPr>
            <p:cNvSpPr txBox="1">
              <a:spLocks noChangeArrowheads="1"/>
            </p:cNvSpPr>
            <p:nvPr/>
          </p:nvSpPr>
          <p:spPr bwMode="auto">
            <a:xfrm>
              <a:off x="4098454" y="3430587"/>
              <a:ext cx="1502808" cy="393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DynamoDB</a:t>
              </a:r>
            </a:p>
          </p:txBody>
        </p:sp>
      </p:grpSp>
      <p:grpSp>
        <p:nvGrpSpPr>
          <p:cNvPr id="231" name="グループ化 230">
            <a:extLst>
              <a:ext uri="{FF2B5EF4-FFF2-40B4-BE49-F238E27FC236}">
                <a16:creationId xmlns:a16="http://schemas.microsoft.com/office/drawing/2014/main" id="{3877A0EE-F2C0-D339-B67C-F39F15185E85}"/>
              </a:ext>
            </a:extLst>
          </p:cNvPr>
          <p:cNvGrpSpPr/>
          <p:nvPr/>
        </p:nvGrpSpPr>
        <p:grpSpPr>
          <a:xfrm>
            <a:off x="4522361" y="4382693"/>
            <a:ext cx="1117700" cy="998159"/>
            <a:chOff x="2576510" y="1184275"/>
            <a:chExt cx="1587506" cy="1417718"/>
          </a:xfrm>
        </p:grpSpPr>
        <p:pic>
          <p:nvPicPr>
            <p:cNvPr id="296" name="Graphic 7" descr="Amazon API Gateway service icon.">
              <a:extLst>
                <a:ext uri="{FF2B5EF4-FFF2-40B4-BE49-F238E27FC236}">
                  <a16:creationId xmlns:a16="http://schemas.microsoft.com/office/drawing/2014/main" id="{CD1CC16D-35F9-3B3D-15C6-B698FEAE623C}"/>
                </a:ext>
              </a:extLst>
            </p:cNvPr>
            <p:cNvPicPr>
              <a:picLocks noChangeAspect="1" noChangeArrowheads="1"/>
            </p:cNvPicPr>
            <p:nvPr/>
          </p:nvPicPr>
          <p:blipFill>
            <a:blip r:embed="rId4">
              <a:extLst>
                <a:ext uri="{96DAC541-7B7A-43D3-8B79-37D633B846F1}">
                  <asvg:svgBlip xmlns:asvg="http://schemas.microsoft.com/office/drawing/2016/SVG/main" r:embed="rId5"/>
                </a:ext>
              </a:extLst>
            </a:blip>
            <a:srcRect/>
            <a:stretch/>
          </p:blipFill>
          <p:spPr bwMode="auto">
            <a:xfrm>
              <a:off x="2989263" y="1184275"/>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 name="TextBox 9">
              <a:extLst>
                <a:ext uri="{FF2B5EF4-FFF2-40B4-BE49-F238E27FC236}">
                  <a16:creationId xmlns:a16="http://schemas.microsoft.com/office/drawing/2014/main" id="{2F36FEC6-114E-074F-735B-BD91A810359B}"/>
                </a:ext>
              </a:extLst>
            </p:cNvPr>
            <p:cNvSpPr txBox="1">
              <a:spLocks noChangeArrowheads="1"/>
            </p:cNvSpPr>
            <p:nvPr/>
          </p:nvSpPr>
          <p:spPr bwMode="auto">
            <a:xfrm>
              <a:off x="2576510" y="1946275"/>
              <a:ext cx="1587506" cy="655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API Gateway</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(REST API)</a:t>
              </a:r>
            </a:p>
          </p:txBody>
        </p:sp>
      </p:grpSp>
      <p:grpSp>
        <p:nvGrpSpPr>
          <p:cNvPr id="232" name="グループ化 231">
            <a:extLst>
              <a:ext uri="{FF2B5EF4-FFF2-40B4-BE49-F238E27FC236}">
                <a16:creationId xmlns:a16="http://schemas.microsoft.com/office/drawing/2014/main" id="{566CF2E3-766B-946F-0427-99BF42D0F695}"/>
              </a:ext>
            </a:extLst>
          </p:cNvPr>
          <p:cNvGrpSpPr/>
          <p:nvPr/>
        </p:nvGrpSpPr>
        <p:grpSpPr>
          <a:xfrm>
            <a:off x="5850438" y="4382385"/>
            <a:ext cx="820861" cy="812933"/>
            <a:chOff x="5051089" y="1185069"/>
            <a:chExt cx="1165896" cy="1154637"/>
          </a:xfrm>
        </p:grpSpPr>
        <p:pic>
          <p:nvPicPr>
            <p:cNvPr id="294" name="Graphic 10" descr="AWS Lambda service icon.">
              <a:extLst>
                <a:ext uri="{FF2B5EF4-FFF2-40B4-BE49-F238E27FC236}">
                  <a16:creationId xmlns:a16="http://schemas.microsoft.com/office/drawing/2014/main" id="{09E47C88-9B76-95FE-AE69-AF9A5867C84B}"/>
                </a:ext>
              </a:extLst>
            </p:cNvPr>
            <p:cNvPicPr>
              <a:picLocks noChangeAspect="1" noChangeArrowheads="1"/>
            </p:cNvPicPr>
            <p:nvPr/>
          </p:nvPicPr>
          <p:blipFill>
            <a:blip r:embed="rId6">
              <a:extLst>
                <a:ext uri="{96DAC541-7B7A-43D3-8B79-37D633B846F1}">
                  <asvg:svgBlip xmlns:asvg="http://schemas.microsoft.com/office/drawing/2016/SVG/main" r:embed="rId7"/>
                </a:ext>
              </a:extLst>
            </a:blip>
            <a:srcRect/>
            <a:stretch/>
          </p:blipFill>
          <p:spPr bwMode="auto">
            <a:xfrm>
              <a:off x="5246688" y="1185069"/>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5" name="TextBox 20">
              <a:extLst>
                <a:ext uri="{FF2B5EF4-FFF2-40B4-BE49-F238E27FC236}">
                  <a16:creationId xmlns:a16="http://schemas.microsoft.com/office/drawing/2014/main" id="{94FE904D-36D7-FE0D-4F8F-D2DFDBD96B7A}"/>
                </a:ext>
              </a:extLst>
            </p:cNvPr>
            <p:cNvSpPr txBox="1">
              <a:spLocks noChangeArrowheads="1"/>
            </p:cNvSpPr>
            <p:nvPr/>
          </p:nvSpPr>
          <p:spPr bwMode="auto">
            <a:xfrm>
              <a:off x="5051089" y="1946275"/>
              <a:ext cx="1165896" cy="393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Lambda</a:t>
              </a:r>
            </a:p>
          </p:txBody>
        </p:sp>
      </p:grpSp>
      <p:sp>
        <p:nvSpPr>
          <p:cNvPr id="289" name="TextBox 12">
            <a:extLst>
              <a:ext uri="{FF2B5EF4-FFF2-40B4-BE49-F238E27FC236}">
                <a16:creationId xmlns:a16="http://schemas.microsoft.com/office/drawing/2014/main" id="{A010D97A-AAC7-00AD-75A3-2D75F8E90EC6}"/>
              </a:ext>
            </a:extLst>
          </p:cNvPr>
          <p:cNvSpPr txBox="1">
            <a:spLocks noChangeArrowheads="1"/>
          </p:cNvSpPr>
          <p:nvPr/>
        </p:nvSpPr>
        <p:spPr bwMode="auto">
          <a:xfrm>
            <a:off x="1707208" y="5001976"/>
            <a:ext cx="16050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Raspberry Pi 4B</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(172.16.15.8)</a:t>
            </a:r>
          </a:p>
        </p:txBody>
      </p:sp>
      <p:sp>
        <p:nvSpPr>
          <p:cNvPr id="236" name="テキスト ボックス 235">
            <a:extLst>
              <a:ext uri="{FF2B5EF4-FFF2-40B4-BE49-F238E27FC236}">
                <a16:creationId xmlns:a16="http://schemas.microsoft.com/office/drawing/2014/main" id="{1F1F5111-70BC-185D-4734-C7B9F7D147D5}"/>
              </a:ext>
            </a:extLst>
          </p:cNvPr>
          <p:cNvSpPr txBox="1"/>
          <p:nvPr/>
        </p:nvSpPr>
        <p:spPr>
          <a:xfrm>
            <a:off x="1077353" y="4303759"/>
            <a:ext cx="1162293" cy="276999"/>
          </a:xfrm>
          <a:prstGeom prst="rect">
            <a:avLst/>
          </a:prstGeom>
          <a:noFill/>
        </p:spPr>
        <p:txBody>
          <a:bodyPr wrap="square">
            <a:spAutoFit/>
          </a:body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RC-S380 S</a:t>
            </a:r>
          </a:p>
        </p:txBody>
      </p:sp>
      <p:pic>
        <p:nvPicPr>
          <p:cNvPr id="237" name="図 236" descr="黒い背景と白い文字のロゴ&#10;&#10;AI によって生成されたコンテンツは間違っている可能性があります。">
            <a:extLst>
              <a:ext uri="{FF2B5EF4-FFF2-40B4-BE49-F238E27FC236}">
                <a16:creationId xmlns:a16="http://schemas.microsoft.com/office/drawing/2014/main" id="{01BDC840-8561-10D9-038A-97523FFFD0F9}"/>
              </a:ext>
            </a:extLst>
          </p:cNvPr>
          <p:cNvPicPr>
            <a:picLocks noChangeAspect="1"/>
          </p:cNvPicPr>
          <p:nvPr/>
        </p:nvPicPr>
        <p:blipFill>
          <a:blip r:embed="rId8">
            <a:biLevel thresh="50000"/>
            <a:extLst>
              <a:ext uri="{28A0092B-C50C-407E-A947-70E740481C1C}">
                <a14:useLocalDpi xmlns:a14="http://schemas.microsoft.com/office/drawing/2010/main" val="0"/>
              </a:ext>
            </a:extLst>
          </a:blip>
          <a:srcRect t="19474" b="18132"/>
          <a:stretch/>
        </p:blipFill>
        <p:spPr>
          <a:xfrm flipH="1">
            <a:off x="693160" y="4508703"/>
            <a:ext cx="1605014" cy="751622"/>
          </a:xfrm>
          <a:prstGeom prst="rect">
            <a:avLst/>
          </a:prstGeom>
        </p:spPr>
      </p:pic>
      <p:cxnSp>
        <p:nvCxnSpPr>
          <p:cNvPr id="238" name="Straight Arrow Connector 74" descr="Up and down pointing vertical arrow.">
            <a:extLst>
              <a:ext uri="{FF2B5EF4-FFF2-40B4-BE49-F238E27FC236}">
                <a16:creationId xmlns:a16="http://schemas.microsoft.com/office/drawing/2014/main" id="{0193186F-3BBB-00F9-8AD8-B0473936561C}"/>
              </a:ext>
            </a:extLst>
          </p:cNvPr>
          <p:cNvCxnSpPr>
            <a:cxnSpLocks/>
            <a:endCxn id="296" idx="1"/>
          </p:cNvCxnSpPr>
          <p:nvPr/>
        </p:nvCxnSpPr>
        <p:spPr>
          <a:xfrm>
            <a:off x="2777961" y="4650940"/>
            <a:ext cx="2035003" cy="0"/>
          </a:xfrm>
          <a:prstGeom prst="straightConnector1">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grpSp>
        <p:nvGrpSpPr>
          <p:cNvPr id="241" name="グループ化 240">
            <a:extLst>
              <a:ext uri="{FF2B5EF4-FFF2-40B4-BE49-F238E27FC236}">
                <a16:creationId xmlns:a16="http://schemas.microsoft.com/office/drawing/2014/main" id="{26FA5600-E8FC-AF81-2D3D-A6F08C989960}"/>
              </a:ext>
            </a:extLst>
          </p:cNvPr>
          <p:cNvGrpSpPr/>
          <p:nvPr/>
        </p:nvGrpSpPr>
        <p:grpSpPr>
          <a:xfrm>
            <a:off x="2051276" y="6087076"/>
            <a:ext cx="924337" cy="403333"/>
            <a:chOff x="2262291" y="5685876"/>
            <a:chExt cx="924337" cy="403333"/>
          </a:xfrm>
        </p:grpSpPr>
        <p:pic>
          <p:nvPicPr>
            <p:cNvPr id="286" name="図 285" descr="アイコン&#10;&#10;AI によって生成されたコンテンツは間違っている可能性があります。">
              <a:extLst>
                <a:ext uri="{FF2B5EF4-FFF2-40B4-BE49-F238E27FC236}">
                  <a16:creationId xmlns:a16="http://schemas.microsoft.com/office/drawing/2014/main" id="{8EE131D1-F690-657B-DAC5-B74544E74D46}"/>
                </a:ext>
              </a:extLst>
            </p:cNvPr>
            <p:cNvPicPr>
              <a:picLocks noChangeAspect="1"/>
            </p:cNvPicPr>
            <p:nvPr/>
          </p:nvPicPr>
          <p:blipFill>
            <a:blip r:embed="rId9">
              <a:extLst>
                <a:ext uri="{28A0092B-C50C-407E-A947-70E740481C1C}">
                  <a14:useLocalDpi xmlns:a14="http://schemas.microsoft.com/office/drawing/2010/main" val="0"/>
                </a:ext>
              </a:extLst>
            </a:blip>
            <a:srcRect l="10553" t="5709" r="9769" b="4466"/>
            <a:stretch/>
          </p:blipFill>
          <p:spPr>
            <a:xfrm>
              <a:off x="2262291" y="5685876"/>
              <a:ext cx="357774" cy="403333"/>
            </a:xfrm>
            <a:prstGeom prst="rect">
              <a:avLst/>
            </a:prstGeom>
          </p:spPr>
        </p:pic>
        <p:sp>
          <p:nvSpPr>
            <p:cNvPr id="287" name="テキスト ボックス 286">
              <a:extLst>
                <a:ext uri="{FF2B5EF4-FFF2-40B4-BE49-F238E27FC236}">
                  <a16:creationId xmlns:a16="http://schemas.microsoft.com/office/drawing/2014/main" id="{345D8950-E726-B50B-499B-88E77088A1D7}"/>
                </a:ext>
              </a:extLst>
            </p:cNvPr>
            <p:cNvSpPr txBox="1"/>
            <p:nvPr/>
          </p:nvSpPr>
          <p:spPr>
            <a:xfrm>
              <a:off x="2557071" y="5749042"/>
              <a:ext cx="629557" cy="276999"/>
            </a:xfrm>
            <a:prstGeom prst="rect">
              <a:avLst/>
            </a:prstGeom>
            <a:noFill/>
          </p:spPr>
          <p:txBody>
            <a:bodyPr wrap="square">
              <a:spAutoFit/>
            </a:bodyPr>
            <a:lstStyle/>
            <a:p>
              <a:r>
                <a:rPr lang="en-US" altLang="ja-JP" sz="1200" dirty="0"/>
                <a:t>:3000</a:t>
              </a:r>
              <a:endParaRPr lang="ja-JP" altLang="en-US" sz="1200" dirty="0"/>
            </a:p>
          </p:txBody>
        </p:sp>
      </p:grpSp>
      <p:grpSp>
        <p:nvGrpSpPr>
          <p:cNvPr id="242" name="グループ化 241">
            <a:extLst>
              <a:ext uri="{FF2B5EF4-FFF2-40B4-BE49-F238E27FC236}">
                <a16:creationId xmlns:a16="http://schemas.microsoft.com/office/drawing/2014/main" id="{CA1D45CE-5442-23F1-343E-6CD9F91F80EC}"/>
              </a:ext>
            </a:extLst>
          </p:cNvPr>
          <p:cNvGrpSpPr/>
          <p:nvPr/>
        </p:nvGrpSpPr>
        <p:grpSpPr>
          <a:xfrm>
            <a:off x="2043915" y="5648135"/>
            <a:ext cx="931698" cy="372497"/>
            <a:chOff x="2254930" y="5246935"/>
            <a:chExt cx="931698" cy="372497"/>
          </a:xfrm>
        </p:grpSpPr>
        <p:pic>
          <p:nvPicPr>
            <p:cNvPr id="284" name="グラフィックス 283">
              <a:extLst>
                <a:ext uri="{FF2B5EF4-FFF2-40B4-BE49-F238E27FC236}">
                  <a16:creationId xmlns:a16="http://schemas.microsoft.com/office/drawing/2014/main" id="{1EB33CB5-5EC8-85EC-2090-F5A862C91174}"/>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254930" y="5246935"/>
              <a:ext cx="372497" cy="372497"/>
            </a:xfrm>
            <a:prstGeom prst="rect">
              <a:avLst/>
            </a:prstGeom>
          </p:spPr>
        </p:pic>
        <p:sp>
          <p:nvSpPr>
            <p:cNvPr id="285" name="テキスト ボックス 284">
              <a:extLst>
                <a:ext uri="{FF2B5EF4-FFF2-40B4-BE49-F238E27FC236}">
                  <a16:creationId xmlns:a16="http://schemas.microsoft.com/office/drawing/2014/main" id="{F4BC89A4-19EF-CAC0-B8F4-622E5610A51C}"/>
                </a:ext>
              </a:extLst>
            </p:cNvPr>
            <p:cNvSpPr txBox="1"/>
            <p:nvPr/>
          </p:nvSpPr>
          <p:spPr>
            <a:xfrm>
              <a:off x="2557071" y="5306333"/>
              <a:ext cx="629557" cy="276999"/>
            </a:xfrm>
            <a:prstGeom prst="rect">
              <a:avLst/>
            </a:prstGeom>
            <a:noFill/>
          </p:spPr>
          <p:txBody>
            <a:bodyPr wrap="square">
              <a:spAutoFit/>
            </a:bodyPr>
            <a:lstStyle/>
            <a:p>
              <a:r>
                <a:rPr lang="en-US" altLang="ja-JP" sz="1200" dirty="0"/>
                <a:t>:8000</a:t>
              </a:r>
              <a:endParaRPr lang="ja-JP" altLang="en-US" sz="1200" dirty="0"/>
            </a:p>
          </p:txBody>
        </p:sp>
      </p:grpSp>
      <p:sp>
        <p:nvSpPr>
          <p:cNvPr id="277" name="TextBox 12">
            <a:extLst>
              <a:ext uri="{FF2B5EF4-FFF2-40B4-BE49-F238E27FC236}">
                <a16:creationId xmlns:a16="http://schemas.microsoft.com/office/drawing/2014/main" id="{00C6868D-C7B3-8D47-F88E-2BBBBC65A50B}"/>
              </a:ext>
            </a:extLst>
          </p:cNvPr>
          <p:cNvSpPr txBox="1">
            <a:spLocks noChangeArrowheads="1"/>
          </p:cNvSpPr>
          <p:nvPr/>
        </p:nvSpPr>
        <p:spPr bwMode="auto">
          <a:xfrm>
            <a:off x="1707208" y="3178518"/>
            <a:ext cx="16050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Raspberry Pi 5</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(172.16.15.7)</a:t>
            </a:r>
          </a:p>
        </p:txBody>
      </p:sp>
      <p:sp>
        <p:nvSpPr>
          <p:cNvPr id="251" name="Rectangle 103" descr="Generic group dashed.">
            <a:extLst>
              <a:ext uri="{FF2B5EF4-FFF2-40B4-BE49-F238E27FC236}">
                <a16:creationId xmlns:a16="http://schemas.microsoft.com/office/drawing/2014/main" id="{BE9C89A8-5A47-A527-806B-A229706F38C2}"/>
              </a:ext>
            </a:extLst>
          </p:cNvPr>
          <p:cNvSpPr/>
          <p:nvPr/>
        </p:nvSpPr>
        <p:spPr>
          <a:xfrm>
            <a:off x="4457026" y="4158038"/>
            <a:ext cx="3541821" cy="1348227"/>
          </a:xfrm>
          <a:prstGeom prst="rect">
            <a:avLst/>
          </a:prstGeom>
          <a:noFill/>
          <a:ln w="15875">
            <a:solidFill>
              <a:srgbClr val="7D8998"/>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eaLnBrk="1" fontAlgn="auto" hangingPunct="1">
              <a:spcBef>
                <a:spcPts val="0"/>
              </a:spcBef>
              <a:spcAft>
                <a:spcPts val="0"/>
              </a:spcAft>
              <a:defRPr/>
            </a:pPr>
            <a:endParaRPr lang="en-US" sz="1200" dirty="0">
              <a:solidFill>
                <a:schemeClr val="tx1"/>
              </a:solidFill>
              <a:latin typeface="Arial" panose="020B0604020202020204" pitchFamily="34" charset="0"/>
              <a:cs typeface="Arial" panose="020B0604020202020204" pitchFamily="34" charset="0"/>
            </a:endParaRPr>
          </a:p>
        </p:txBody>
      </p:sp>
      <p:grpSp>
        <p:nvGrpSpPr>
          <p:cNvPr id="253" name="グループ化 252">
            <a:extLst>
              <a:ext uri="{FF2B5EF4-FFF2-40B4-BE49-F238E27FC236}">
                <a16:creationId xmlns:a16="http://schemas.microsoft.com/office/drawing/2014/main" id="{46F507EE-BB17-23ED-6E53-1522A46DAA81}"/>
              </a:ext>
            </a:extLst>
          </p:cNvPr>
          <p:cNvGrpSpPr/>
          <p:nvPr/>
        </p:nvGrpSpPr>
        <p:grpSpPr>
          <a:xfrm>
            <a:off x="4717633" y="2645272"/>
            <a:ext cx="730725" cy="813493"/>
            <a:chOff x="3005693" y="1391828"/>
            <a:chExt cx="730725" cy="813493"/>
          </a:xfrm>
        </p:grpSpPr>
        <p:pic>
          <p:nvPicPr>
            <p:cNvPr id="274" name="Graphic 10" descr="AWS Amplify service icon.">
              <a:extLst>
                <a:ext uri="{FF2B5EF4-FFF2-40B4-BE49-F238E27FC236}">
                  <a16:creationId xmlns:a16="http://schemas.microsoft.com/office/drawing/2014/main" id="{9E0695A7-F4D2-08C2-44DD-8984D9DD5C8F}"/>
                </a:ext>
              </a:extLst>
            </p:cNvPr>
            <p:cNvPicPr>
              <a:picLocks noChangeAspect="1" noChangeArrowheads="1"/>
            </p:cNvPicPr>
            <p:nvPr/>
          </p:nvPicPr>
          <p:blipFill>
            <a:blip r:embed="rId12">
              <a:extLst>
                <a:ext uri="{96DAC541-7B7A-43D3-8B79-37D633B846F1}">
                  <asvg:svgBlip xmlns:asvg="http://schemas.microsoft.com/office/drawing/2016/SVG/main" r:embed="rId13"/>
                </a:ext>
              </a:extLst>
            </a:blip>
            <a:srcRect/>
            <a:stretch/>
          </p:blipFill>
          <p:spPr bwMode="auto">
            <a:xfrm>
              <a:off x="3102809" y="1391828"/>
              <a:ext cx="536494" cy="536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5" name="TextBox 6">
              <a:extLst>
                <a:ext uri="{FF2B5EF4-FFF2-40B4-BE49-F238E27FC236}">
                  <a16:creationId xmlns:a16="http://schemas.microsoft.com/office/drawing/2014/main" id="{12D890B7-94BB-A597-3553-F22C6F9463C6}"/>
                </a:ext>
              </a:extLst>
            </p:cNvPr>
            <p:cNvSpPr txBox="1">
              <a:spLocks noChangeArrowheads="1"/>
            </p:cNvSpPr>
            <p:nvPr/>
          </p:nvSpPr>
          <p:spPr bwMode="auto">
            <a:xfrm>
              <a:off x="3005693" y="1928322"/>
              <a:ext cx="7307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Amplify</a:t>
              </a:r>
            </a:p>
          </p:txBody>
        </p:sp>
      </p:grpSp>
      <p:grpSp>
        <p:nvGrpSpPr>
          <p:cNvPr id="267" name="Group 1" descr="AWS Cloud group with AWS logo.">
            <a:extLst>
              <a:ext uri="{FF2B5EF4-FFF2-40B4-BE49-F238E27FC236}">
                <a16:creationId xmlns:a16="http://schemas.microsoft.com/office/drawing/2014/main" id="{7FBBBFF4-7FE8-3630-2BF0-F940FDA6F3F0}"/>
              </a:ext>
            </a:extLst>
          </p:cNvPr>
          <p:cNvGrpSpPr/>
          <p:nvPr/>
        </p:nvGrpSpPr>
        <p:grpSpPr>
          <a:xfrm>
            <a:off x="3528572" y="926869"/>
            <a:ext cx="4825253" cy="5828334"/>
            <a:chOff x="355598" y="689579"/>
            <a:chExt cx="4825253" cy="3747374"/>
          </a:xfrm>
        </p:grpSpPr>
        <p:sp>
          <p:nvSpPr>
            <p:cNvPr id="268" name="Rectangle 54">
              <a:extLst>
                <a:ext uri="{FF2B5EF4-FFF2-40B4-BE49-F238E27FC236}">
                  <a16:creationId xmlns:a16="http://schemas.microsoft.com/office/drawing/2014/main" id="{6548A3D7-7EE8-9420-CF11-3964BAD994F3}"/>
                </a:ext>
              </a:extLst>
            </p:cNvPr>
            <p:cNvSpPr/>
            <p:nvPr/>
          </p:nvSpPr>
          <p:spPr>
            <a:xfrm>
              <a:off x="355599" y="689579"/>
              <a:ext cx="4825252" cy="3747374"/>
            </a:xfrm>
            <a:prstGeom prst="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r>
                <a:rPr lang="en-US" sz="1200" dirty="0">
                  <a:solidFill>
                    <a:schemeClr val="tx1"/>
                  </a:solidFill>
                  <a:latin typeface="Arial" panose="020B0604020202020204" pitchFamily="34" charset="0"/>
                  <a:cs typeface="Arial" panose="020B0604020202020204" pitchFamily="34" charset="0"/>
                </a:rPr>
                <a:t>AWS Cloud</a:t>
              </a:r>
            </a:p>
          </p:txBody>
        </p:sp>
        <p:pic>
          <p:nvPicPr>
            <p:cNvPr id="269" name="Graphic 55" descr="AWS Cloud group icon with AWS logo.">
              <a:extLst>
                <a:ext uri="{FF2B5EF4-FFF2-40B4-BE49-F238E27FC236}">
                  <a16:creationId xmlns:a16="http://schemas.microsoft.com/office/drawing/2014/main" id="{C15FBF04-1A19-9194-1FDF-1F79D1CDB285}"/>
                </a:ext>
              </a:extLst>
            </p:cNvPr>
            <p:cNvPicPr>
              <a:picLocks noChangeAspect="1"/>
            </p:cNvPicPr>
            <p:nvPr/>
          </p:nvPicPr>
          <p:blipFill>
            <a:blip r:embed="rId14">
              <a:extLst>
                <a:ext uri="{96DAC541-7B7A-43D3-8B79-37D633B846F1}">
                  <asvg:svgBlip xmlns:asvg="http://schemas.microsoft.com/office/drawing/2016/SVG/main" r:embed="rId15"/>
                </a:ext>
              </a:extLst>
            </a:blip>
            <a:srcRect/>
            <a:stretch/>
          </p:blipFill>
          <p:spPr>
            <a:xfrm>
              <a:off x="355598" y="695923"/>
              <a:ext cx="419750" cy="287318"/>
            </a:xfrm>
            <a:prstGeom prst="rect">
              <a:avLst/>
            </a:prstGeom>
          </p:spPr>
        </p:pic>
      </p:grpSp>
      <p:sp>
        <p:nvSpPr>
          <p:cNvPr id="228" name="Rectangle 103" descr="Generic group dashed.">
            <a:extLst>
              <a:ext uri="{FF2B5EF4-FFF2-40B4-BE49-F238E27FC236}">
                <a16:creationId xmlns:a16="http://schemas.microsoft.com/office/drawing/2014/main" id="{34BED369-ACA0-DB4D-A597-190778169391}"/>
              </a:ext>
            </a:extLst>
          </p:cNvPr>
          <p:cNvSpPr/>
          <p:nvPr/>
        </p:nvSpPr>
        <p:spPr>
          <a:xfrm>
            <a:off x="690522" y="2075537"/>
            <a:ext cx="2621698" cy="1720079"/>
          </a:xfrm>
          <a:prstGeom prst="rect">
            <a:avLst/>
          </a:prstGeom>
          <a:noFill/>
          <a:ln w="15875">
            <a:solidFill>
              <a:srgbClr val="7D8998"/>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a:defRPr/>
            </a:pPr>
            <a:r>
              <a:rPr lang="ja-JP" altLang="en-US" sz="1200" dirty="0">
                <a:solidFill>
                  <a:schemeClr val="tx1"/>
                </a:solidFill>
                <a:latin typeface="Arial" panose="020B0604020202020204" pitchFamily="34" charset="0"/>
                <a:cs typeface="Arial" panose="020B0604020202020204" pitchFamily="34" charset="0"/>
              </a:rPr>
              <a:t>教員部屋（</a:t>
            </a:r>
            <a:r>
              <a:rPr lang="en-US" altLang="ja-JP" sz="1200" dirty="0">
                <a:solidFill>
                  <a:schemeClr val="tx1"/>
                </a:solidFill>
                <a:latin typeface="Arial" panose="020B0604020202020204" pitchFamily="34" charset="0"/>
                <a:cs typeface="Arial" panose="020B0604020202020204" pitchFamily="34" charset="0"/>
              </a:rPr>
              <a:t>J1404</a:t>
            </a:r>
            <a:r>
              <a:rPr lang="ja-JP" altLang="en-US" sz="1200" dirty="0">
                <a:solidFill>
                  <a:schemeClr val="tx1"/>
                </a:solidFill>
                <a:latin typeface="Arial" panose="020B0604020202020204" pitchFamily="34" charset="0"/>
                <a:cs typeface="Arial" panose="020B0604020202020204" pitchFamily="34" charset="0"/>
              </a:rPr>
              <a:t>）</a:t>
            </a:r>
            <a:endParaRPr lang="en-US" sz="1200" dirty="0">
              <a:solidFill>
                <a:schemeClr val="tx1"/>
              </a:solidFill>
              <a:latin typeface="Arial" panose="020B0604020202020204" pitchFamily="34" charset="0"/>
              <a:cs typeface="Arial" panose="020B0604020202020204" pitchFamily="34" charset="0"/>
            </a:endParaRPr>
          </a:p>
        </p:txBody>
      </p:sp>
      <p:pic>
        <p:nvPicPr>
          <p:cNvPr id="302" name="グラフィックス 301">
            <a:extLst>
              <a:ext uri="{FF2B5EF4-FFF2-40B4-BE49-F238E27FC236}">
                <a16:creationId xmlns:a16="http://schemas.microsoft.com/office/drawing/2014/main" id="{FA9495DD-60F5-4392-18FC-1CC0E0CD2A37}"/>
              </a:ext>
            </a:extLst>
          </p:cNvPr>
          <p:cNvPicPr>
            <a:picLocks noChangeAspect="1"/>
          </p:cNvPicPr>
          <p:nvPr/>
        </p:nvPicPr>
        <p:blipFill>
          <a:blip r:embed="rId16">
            <a:grayscl/>
            <a:extLst>
              <a:ext uri="{96DAC541-7B7A-43D3-8B79-37D633B846F1}">
                <asvg:svgBlip xmlns:asvg="http://schemas.microsoft.com/office/drawing/2016/SVG/main" r:embed="rId17"/>
              </a:ext>
            </a:extLst>
          </a:blip>
          <a:srcRect l="25148" t="16203" r="25948" b="16205"/>
          <a:stretch/>
        </p:blipFill>
        <p:spPr>
          <a:xfrm>
            <a:off x="1029996" y="2508789"/>
            <a:ext cx="580096" cy="801769"/>
          </a:xfrm>
          <a:prstGeom prst="rect">
            <a:avLst/>
          </a:prstGeom>
        </p:spPr>
      </p:pic>
      <p:cxnSp>
        <p:nvCxnSpPr>
          <p:cNvPr id="303" name="Straight Arrow Connector 100">
            <a:extLst>
              <a:ext uri="{FF2B5EF4-FFF2-40B4-BE49-F238E27FC236}">
                <a16:creationId xmlns:a16="http://schemas.microsoft.com/office/drawing/2014/main" id="{A5AC907D-90F9-0AEC-4329-C9F44E62A72C}"/>
              </a:ext>
            </a:extLst>
          </p:cNvPr>
          <p:cNvCxnSpPr>
            <a:cxnSpLocks/>
            <a:stCxn id="302" idx="3"/>
          </p:cNvCxnSpPr>
          <p:nvPr/>
        </p:nvCxnSpPr>
        <p:spPr>
          <a:xfrm>
            <a:off x="1610092" y="2909674"/>
            <a:ext cx="631375" cy="597"/>
          </a:xfrm>
          <a:prstGeom prst="straightConnector1">
            <a:avLst/>
          </a:prstGeom>
          <a:ln w="19050">
            <a:solidFill>
              <a:schemeClr val="tx1"/>
            </a:solidFill>
            <a:headEnd type="none" w="med" len="sm"/>
            <a:tailEnd type="none" w="med" len="sm"/>
          </a:ln>
        </p:spPr>
        <p:style>
          <a:lnRef idx="1">
            <a:schemeClr val="accent1"/>
          </a:lnRef>
          <a:fillRef idx="0">
            <a:schemeClr val="accent1"/>
          </a:fillRef>
          <a:effectRef idx="0">
            <a:schemeClr val="accent1"/>
          </a:effectRef>
          <a:fontRef idx="minor">
            <a:schemeClr val="tx1"/>
          </a:fontRef>
        </p:style>
      </p:cxnSp>
      <p:sp>
        <p:nvSpPr>
          <p:cNvPr id="306" name="Rectangle 103" descr="Generic group dashed.">
            <a:extLst>
              <a:ext uri="{FF2B5EF4-FFF2-40B4-BE49-F238E27FC236}">
                <a16:creationId xmlns:a16="http://schemas.microsoft.com/office/drawing/2014/main" id="{0D52E37C-569F-B62E-69B4-10E295D6EF64}"/>
              </a:ext>
            </a:extLst>
          </p:cNvPr>
          <p:cNvSpPr/>
          <p:nvPr/>
        </p:nvSpPr>
        <p:spPr>
          <a:xfrm>
            <a:off x="690522" y="3933107"/>
            <a:ext cx="2615365" cy="2822096"/>
          </a:xfrm>
          <a:prstGeom prst="rect">
            <a:avLst/>
          </a:prstGeom>
          <a:noFill/>
          <a:ln w="15875">
            <a:solidFill>
              <a:srgbClr val="7D8998"/>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a:defRPr/>
            </a:pPr>
            <a:r>
              <a:rPr lang="ja-JP" altLang="en-US" sz="1200" dirty="0">
                <a:solidFill>
                  <a:schemeClr val="tx1"/>
                </a:solidFill>
                <a:latin typeface="Arial" panose="020B0604020202020204" pitchFamily="34" charset="0"/>
                <a:cs typeface="Arial" panose="020B0604020202020204" pitchFamily="34" charset="0"/>
              </a:rPr>
              <a:t>学生部屋（</a:t>
            </a:r>
            <a:r>
              <a:rPr lang="en-US" altLang="ja-JP" sz="1200" dirty="0">
                <a:solidFill>
                  <a:schemeClr val="tx1"/>
                </a:solidFill>
                <a:latin typeface="Arial" panose="020B0604020202020204" pitchFamily="34" charset="0"/>
                <a:cs typeface="Arial" panose="020B0604020202020204" pitchFamily="34" charset="0"/>
              </a:rPr>
              <a:t>J1401</a:t>
            </a:r>
            <a:r>
              <a:rPr lang="ja-JP" altLang="en-US" sz="1200" dirty="0">
                <a:solidFill>
                  <a:schemeClr val="tx1"/>
                </a:solidFill>
                <a:latin typeface="Arial" panose="020B0604020202020204" pitchFamily="34" charset="0"/>
                <a:cs typeface="Arial" panose="020B0604020202020204" pitchFamily="34" charset="0"/>
              </a:rPr>
              <a:t>）</a:t>
            </a:r>
            <a:endParaRPr lang="en-US" sz="1200" dirty="0">
              <a:solidFill>
                <a:schemeClr val="tx1"/>
              </a:solidFill>
              <a:latin typeface="Arial" panose="020B0604020202020204" pitchFamily="34" charset="0"/>
              <a:cs typeface="Arial" panose="020B0604020202020204" pitchFamily="34" charset="0"/>
            </a:endParaRPr>
          </a:p>
        </p:txBody>
      </p:sp>
      <p:pic>
        <p:nvPicPr>
          <p:cNvPr id="307" name="グラフィックス 306">
            <a:extLst>
              <a:ext uri="{FF2B5EF4-FFF2-40B4-BE49-F238E27FC236}">
                <a16:creationId xmlns:a16="http://schemas.microsoft.com/office/drawing/2014/main" id="{06C92ECB-5F20-38EA-953E-DC43D6DE889D}"/>
              </a:ext>
            </a:extLst>
          </p:cNvPr>
          <p:cNvPicPr>
            <a:picLocks noChangeAspect="1"/>
          </p:cNvPicPr>
          <p:nvPr/>
        </p:nvPicPr>
        <p:blipFill>
          <a:blip r:embed="rId16">
            <a:grayscl/>
            <a:extLst>
              <a:ext uri="{96DAC541-7B7A-43D3-8B79-37D633B846F1}">
                <asvg:svgBlip xmlns:asvg="http://schemas.microsoft.com/office/drawing/2016/SVG/main" r:embed="rId17"/>
              </a:ext>
            </a:extLst>
          </a:blip>
          <a:srcRect l="25148" t="16203" r="25948" b="16205"/>
          <a:stretch/>
        </p:blipFill>
        <p:spPr>
          <a:xfrm rot="16200000">
            <a:off x="1042395" y="5874413"/>
            <a:ext cx="599552" cy="828660"/>
          </a:xfrm>
          <a:prstGeom prst="rect">
            <a:avLst/>
          </a:prstGeom>
        </p:spPr>
      </p:pic>
      <p:cxnSp>
        <p:nvCxnSpPr>
          <p:cNvPr id="369" name="Straight Arrow Connector 52" descr="Double pointing horizontal arrow.">
            <a:extLst>
              <a:ext uri="{FF2B5EF4-FFF2-40B4-BE49-F238E27FC236}">
                <a16:creationId xmlns:a16="http://schemas.microsoft.com/office/drawing/2014/main" id="{4627D41E-AECF-1DE6-CAE9-B8B567209EE0}"/>
              </a:ext>
            </a:extLst>
          </p:cNvPr>
          <p:cNvCxnSpPr>
            <a:cxnSpLocks/>
            <a:stCxn id="274" idx="1"/>
          </p:cNvCxnSpPr>
          <p:nvPr/>
        </p:nvCxnSpPr>
        <p:spPr>
          <a:xfrm flipH="1" flipV="1">
            <a:off x="2777961" y="2910271"/>
            <a:ext cx="2036788" cy="3248"/>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372" name="Straight Arrow Connector 52" descr="Double pointing horizontal arrow.">
            <a:extLst>
              <a:ext uri="{FF2B5EF4-FFF2-40B4-BE49-F238E27FC236}">
                <a16:creationId xmlns:a16="http://schemas.microsoft.com/office/drawing/2014/main" id="{57C1FD5A-418F-6DC7-0751-C452E1070B47}"/>
              </a:ext>
            </a:extLst>
          </p:cNvPr>
          <p:cNvCxnSpPr>
            <a:cxnSpLocks/>
            <a:stCxn id="286" idx="1"/>
            <a:endCxn id="307" idx="2"/>
          </p:cNvCxnSpPr>
          <p:nvPr/>
        </p:nvCxnSpPr>
        <p:spPr>
          <a:xfrm flipH="1">
            <a:off x="1756501" y="6288743"/>
            <a:ext cx="294775" cy="0"/>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sp>
        <p:nvSpPr>
          <p:cNvPr id="380" name="Rectangle 103" descr="Generic group dashed.">
            <a:extLst>
              <a:ext uri="{FF2B5EF4-FFF2-40B4-BE49-F238E27FC236}">
                <a16:creationId xmlns:a16="http://schemas.microsoft.com/office/drawing/2014/main" id="{E3ED572F-6210-31A3-68C3-F37683D224D9}"/>
              </a:ext>
            </a:extLst>
          </p:cNvPr>
          <p:cNvSpPr/>
          <p:nvPr/>
        </p:nvSpPr>
        <p:spPr>
          <a:xfrm>
            <a:off x="4457026" y="1552760"/>
            <a:ext cx="3541821" cy="2158934"/>
          </a:xfrm>
          <a:prstGeom prst="rect">
            <a:avLst/>
          </a:prstGeom>
          <a:noFill/>
          <a:ln w="15875">
            <a:solidFill>
              <a:srgbClr val="7D8998"/>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eaLnBrk="1" fontAlgn="auto" hangingPunct="1">
              <a:spcBef>
                <a:spcPts val="0"/>
              </a:spcBef>
              <a:spcAft>
                <a:spcPts val="0"/>
              </a:spcAft>
              <a:defRPr/>
            </a:pPr>
            <a:endParaRPr lang="en-US" sz="1200" dirty="0">
              <a:solidFill>
                <a:schemeClr val="tx1"/>
              </a:solidFill>
              <a:latin typeface="Arial" panose="020B0604020202020204" pitchFamily="34" charset="0"/>
              <a:cs typeface="Arial" panose="020B0604020202020204" pitchFamily="34" charset="0"/>
            </a:endParaRPr>
          </a:p>
        </p:txBody>
      </p:sp>
      <p:sp>
        <p:nvSpPr>
          <p:cNvPr id="256" name="テキスト ボックス 255">
            <a:extLst>
              <a:ext uri="{FF2B5EF4-FFF2-40B4-BE49-F238E27FC236}">
                <a16:creationId xmlns:a16="http://schemas.microsoft.com/office/drawing/2014/main" id="{C27FD179-A144-2549-3484-81AF822FEE5A}"/>
              </a:ext>
            </a:extLst>
          </p:cNvPr>
          <p:cNvSpPr txBox="1"/>
          <p:nvPr/>
        </p:nvSpPr>
        <p:spPr>
          <a:xfrm>
            <a:off x="4355739" y="1260339"/>
            <a:ext cx="2390492" cy="276999"/>
          </a:xfrm>
          <a:prstGeom prst="rect">
            <a:avLst/>
          </a:prstGeom>
          <a:solidFill>
            <a:srgbClr val="EFECE3"/>
          </a:solidFill>
        </p:spPr>
        <p:txBody>
          <a:bodyPr wrap="square" rtlCol="0">
            <a:spAutoFit/>
          </a:bodyPr>
          <a:lstStyle/>
          <a:p>
            <a:r>
              <a:rPr lang="ja-JP" altLang="en-US" sz="1200" b="1" dirty="0">
                <a:latin typeface="BIZ UDゴシック" panose="020B0400000000000000" pitchFamily="49" charset="-128"/>
                <a:ea typeface="BIZ UDゴシック" panose="020B0400000000000000" pitchFamily="49" charset="-128"/>
              </a:rPr>
              <a:t>ユーザー・在室表示サービス</a:t>
            </a:r>
            <a:endParaRPr kumimoji="1" lang="ja-JP" altLang="en-US" sz="1200" b="1" dirty="0">
              <a:latin typeface="BIZ UDゴシック" panose="020B0400000000000000" pitchFamily="49" charset="-128"/>
              <a:ea typeface="BIZ UDゴシック" panose="020B0400000000000000" pitchFamily="49" charset="-128"/>
            </a:endParaRPr>
          </a:p>
        </p:txBody>
      </p:sp>
      <p:pic>
        <p:nvPicPr>
          <p:cNvPr id="403" name="Picture 2" descr="Raspberry icon - Free download on Iconfinder">
            <a:extLst>
              <a:ext uri="{FF2B5EF4-FFF2-40B4-BE49-F238E27FC236}">
                <a16:creationId xmlns:a16="http://schemas.microsoft.com/office/drawing/2014/main" id="{4182BC5C-4B0E-B8BD-BFE0-E12FF8B8DCC4}"/>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244769" y="4471085"/>
            <a:ext cx="544810" cy="544810"/>
          </a:xfrm>
          <a:prstGeom prst="rect">
            <a:avLst/>
          </a:prstGeom>
          <a:noFill/>
          <a:extLst>
            <a:ext uri="{909E8E84-426E-40DD-AFC4-6F175D3DCCD1}">
              <a14:hiddenFill xmlns:a14="http://schemas.microsoft.com/office/drawing/2010/main">
                <a:solidFill>
                  <a:srgbClr val="FFFFFF"/>
                </a:solidFill>
              </a14:hiddenFill>
            </a:ext>
          </a:extLst>
        </p:spPr>
      </p:pic>
      <p:pic>
        <p:nvPicPr>
          <p:cNvPr id="404" name="Picture 2" descr="Raspberry icon - Free download on Iconfinder">
            <a:extLst>
              <a:ext uri="{FF2B5EF4-FFF2-40B4-BE49-F238E27FC236}">
                <a16:creationId xmlns:a16="http://schemas.microsoft.com/office/drawing/2014/main" id="{72EF67FA-0474-57F8-4627-143607FFFEC0}"/>
              </a:ext>
            </a:extLst>
          </p:cNvPr>
          <p:cNvPicPr>
            <a:picLocks noChangeAspect="1" noChangeArrowheads="1"/>
          </p:cNvPicPr>
          <p:nvPr/>
        </p:nvPicPr>
        <p:blipFill>
          <a:blip r:embed="rId18">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244769" y="2641704"/>
            <a:ext cx="544810" cy="544810"/>
          </a:xfrm>
          <a:prstGeom prst="rect">
            <a:avLst/>
          </a:prstGeom>
          <a:noFill/>
          <a:extLst>
            <a:ext uri="{909E8E84-426E-40DD-AFC4-6F175D3DCCD1}">
              <a14:hiddenFill xmlns:a14="http://schemas.microsoft.com/office/drawing/2010/main">
                <a:solidFill>
                  <a:srgbClr val="FFFFFF"/>
                </a:solidFill>
              </a14:hiddenFill>
            </a:ext>
          </a:extLst>
        </p:spPr>
      </p:pic>
      <p:cxnSp>
        <p:nvCxnSpPr>
          <p:cNvPr id="3" name="Straight Arrow Connector 52" descr="Double pointing horizontal arrow.">
            <a:extLst>
              <a:ext uri="{FF2B5EF4-FFF2-40B4-BE49-F238E27FC236}">
                <a16:creationId xmlns:a16="http://schemas.microsoft.com/office/drawing/2014/main" id="{1E13425C-1446-9691-5D6D-8709B73435DA}"/>
              </a:ext>
            </a:extLst>
          </p:cNvPr>
          <p:cNvCxnSpPr>
            <a:cxnSpLocks/>
            <a:stCxn id="275" idx="2"/>
            <a:endCxn id="296" idx="0"/>
          </p:cNvCxnSpPr>
          <p:nvPr/>
        </p:nvCxnSpPr>
        <p:spPr>
          <a:xfrm flipH="1">
            <a:off x="5081211" y="3458765"/>
            <a:ext cx="1785" cy="923928"/>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sp>
        <p:nvSpPr>
          <p:cNvPr id="257" name="テキスト ボックス 256">
            <a:extLst>
              <a:ext uri="{FF2B5EF4-FFF2-40B4-BE49-F238E27FC236}">
                <a16:creationId xmlns:a16="http://schemas.microsoft.com/office/drawing/2014/main" id="{25A2C072-FEE5-CC11-EB96-153607139BC7}"/>
              </a:ext>
            </a:extLst>
          </p:cNvPr>
          <p:cNvSpPr txBox="1"/>
          <p:nvPr/>
        </p:nvSpPr>
        <p:spPr>
          <a:xfrm>
            <a:off x="4360260" y="3860479"/>
            <a:ext cx="2390492" cy="276999"/>
          </a:xfrm>
          <a:prstGeom prst="rect">
            <a:avLst/>
          </a:prstGeom>
          <a:solidFill>
            <a:srgbClr val="EFECE3"/>
          </a:solidFill>
        </p:spPr>
        <p:txBody>
          <a:bodyPr wrap="square" rtlCol="0">
            <a:spAutoFit/>
          </a:bodyPr>
          <a:lstStyle/>
          <a:p>
            <a:r>
              <a:rPr lang="ja-JP" altLang="en-US" sz="1200" b="1" dirty="0">
                <a:latin typeface="BIZ UDゴシック" panose="020B0400000000000000" pitchFamily="49" charset="-128"/>
                <a:ea typeface="BIZ UDゴシック" panose="020B0400000000000000" pitchFamily="49" charset="-128"/>
              </a:rPr>
              <a:t>ユーザー・在室登録サービス</a:t>
            </a:r>
            <a:endParaRPr kumimoji="1" lang="ja-JP" altLang="en-US" sz="1200" b="1" dirty="0">
              <a:latin typeface="BIZ UDゴシック" panose="020B0400000000000000" pitchFamily="49" charset="-128"/>
              <a:ea typeface="BIZ UDゴシック" panose="020B0400000000000000" pitchFamily="49" charset="-128"/>
            </a:endParaRPr>
          </a:p>
        </p:txBody>
      </p:sp>
      <p:cxnSp>
        <p:nvCxnSpPr>
          <p:cNvPr id="4" name="Straight Arrow Connector 52" descr="Double pointing horizontal arrow.">
            <a:extLst>
              <a:ext uri="{FF2B5EF4-FFF2-40B4-BE49-F238E27FC236}">
                <a16:creationId xmlns:a16="http://schemas.microsoft.com/office/drawing/2014/main" id="{0B2CB4CA-FAA1-DF32-7A0D-F2D8FB009499}"/>
              </a:ext>
            </a:extLst>
          </p:cNvPr>
          <p:cNvCxnSpPr>
            <a:cxnSpLocks/>
            <a:stCxn id="296" idx="3"/>
            <a:endCxn id="294" idx="1"/>
          </p:cNvCxnSpPr>
          <p:nvPr/>
        </p:nvCxnSpPr>
        <p:spPr>
          <a:xfrm flipV="1">
            <a:off x="5349458" y="4650632"/>
            <a:ext cx="638693" cy="308"/>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5" name="Straight Arrow Connector 52" descr="Double pointing horizontal arrow.">
            <a:extLst>
              <a:ext uri="{FF2B5EF4-FFF2-40B4-BE49-F238E27FC236}">
                <a16:creationId xmlns:a16="http://schemas.microsoft.com/office/drawing/2014/main" id="{FEA6E29E-668F-AA0B-69D5-A2D7ADD5E3C2}"/>
              </a:ext>
            </a:extLst>
          </p:cNvPr>
          <p:cNvCxnSpPr>
            <a:cxnSpLocks/>
            <a:stCxn id="294" idx="3"/>
            <a:endCxn id="298" idx="1"/>
          </p:cNvCxnSpPr>
          <p:nvPr/>
        </p:nvCxnSpPr>
        <p:spPr>
          <a:xfrm>
            <a:off x="6524645" y="4650632"/>
            <a:ext cx="640661" cy="2899"/>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47669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A82F2D-1E7F-7D74-339D-240A559C1BE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A9DC2D2-341F-9E94-29AB-3760F36C8ED3}"/>
              </a:ext>
            </a:extLst>
          </p:cNvPr>
          <p:cNvSpPr>
            <a:spLocks noGrp="1"/>
          </p:cNvSpPr>
          <p:nvPr>
            <p:ph type="title"/>
          </p:nvPr>
        </p:nvSpPr>
        <p:spPr/>
        <p:txBody>
          <a:bodyPr/>
          <a:lstStyle/>
          <a:p>
            <a:r>
              <a:rPr kumimoji="1" lang="ja-JP" altLang="en-US" dirty="0"/>
              <a:t>在室確認システムのアーキテクチャ</a:t>
            </a:r>
          </a:p>
        </p:txBody>
      </p:sp>
      <p:grpSp>
        <p:nvGrpSpPr>
          <p:cNvPr id="230" name="グループ化 229">
            <a:extLst>
              <a:ext uri="{FF2B5EF4-FFF2-40B4-BE49-F238E27FC236}">
                <a16:creationId xmlns:a16="http://schemas.microsoft.com/office/drawing/2014/main" id="{EF6A08FF-93C1-CA85-E181-0684772ADCAE}"/>
              </a:ext>
            </a:extLst>
          </p:cNvPr>
          <p:cNvGrpSpPr/>
          <p:nvPr/>
        </p:nvGrpSpPr>
        <p:grpSpPr>
          <a:xfrm>
            <a:off x="6904519" y="4385283"/>
            <a:ext cx="1058068" cy="814611"/>
            <a:chOff x="4098454" y="2667000"/>
            <a:chExt cx="1502808" cy="1157017"/>
          </a:xfrm>
        </p:grpSpPr>
        <p:pic>
          <p:nvPicPr>
            <p:cNvPr id="298" name="Graphic 23" descr="Amazon DynamoDB service icon.">
              <a:extLst>
                <a:ext uri="{FF2B5EF4-FFF2-40B4-BE49-F238E27FC236}">
                  <a16:creationId xmlns:a16="http://schemas.microsoft.com/office/drawing/2014/main" id="{F6C59B48-D949-DE7C-96C0-D69BFFC7C8DC}"/>
                </a:ext>
              </a:extLst>
            </p:cNvPr>
            <p:cNvPicPr>
              <a:picLocks noChangeAspect="1" noChangeArrowheads="1"/>
            </p:cNvPicPr>
            <p:nvPr/>
          </p:nvPicPr>
          <p:blipFill>
            <a:blip r:embed="rId2">
              <a:extLst>
                <a:ext uri="{96DAC541-7B7A-43D3-8B79-37D633B846F1}">
                  <asvg:svgBlip xmlns:asvg="http://schemas.microsoft.com/office/drawing/2016/SVG/main" r:embed="rId3"/>
                </a:ext>
              </a:extLst>
            </a:blip>
            <a:srcRect/>
            <a:stretch/>
          </p:blipFill>
          <p:spPr bwMode="auto">
            <a:xfrm>
              <a:off x="4468858" y="2667000"/>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9" name="TextBox 12">
              <a:extLst>
                <a:ext uri="{FF2B5EF4-FFF2-40B4-BE49-F238E27FC236}">
                  <a16:creationId xmlns:a16="http://schemas.microsoft.com/office/drawing/2014/main" id="{400623D5-1A11-F0E3-1D20-B8B58B7CA0DC}"/>
                </a:ext>
              </a:extLst>
            </p:cNvPr>
            <p:cNvSpPr txBox="1">
              <a:spLocks noChangeArrowheads="1"/>
            </p:cNvSpPr>
            <p:nvPr/>
          </p:nvSpPr>
          <p:spPr bwMode="auto">
            <a:xfrm>
              <a:off x="4098454" y="3430587"/>
              <a:ext cx="1502808" cy="393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DynamoDB</a:t>
              </a:r>
            </a:p>
          </p:txBody>
        </p:sp>
      </p:grpSp>
      <p:grpSp>
        <p:nvGrpSpPr>
          <p:cNvPr id="231" name="グループ化 230">
            <a:extLst>
              <a:ext uri="{FF2B5EF4-FFF2-40B4-BE49-F238E27FC236}">
                <a16:creationId xmlns:a16="http://schemas.microsoft.com/office/drawing/2014/main" id="{10953117-F794-1AC6-26DA-67CAC6599A31}"/>
              </a:ext>
            </a:extLst>
          </p:cNvPr>
          <p:cNvGrpSpPr/>
          <p:nvPr/>
        </p:nvGrpSpPr>
        <p:grpSpPr>
          <a:xfrm>
            <a:off x="4522361" y="4382693"/>
            <a:ext cx="1117700" cy="998159"/>
            <a:chOff x="2576510" y="1184275"/>
            <a:chExt cx="1587506" cy="1417718"/>
          </a:xfrm>
        </p:grpSpPr>
        <p:pic>
          <p:nvPicPr>
            <p:cNvPr id="296" name="Graphic 7" descr="Amazon API Gateway service icon.">
              <a:extLst>
                <a:ext uri="{FF2B5EF4-FFF2-40B4-BE49-F238E27FC236}">
                  <a16:creationId xmlns:a16="http://schemas.microsoft.com/office/drawing/2014/main" id="{81FFAA1F-A247-5FEE-8CAB-4BC041348963}"/>
                </a:ext>
              </a:extLst>
            </p:cNvPr>
            <p:cNvPicPr>
              <a:picLocks noChangeAspect="1" noChangeArrowheads="1"/>
            </p:cNvPicPr>
            <p:nvPr/>
          </p:nvPicPr>
          <p:blipFill>
            <a:blip r:embed="rId4">
              <a:extLst>
                <a:ext uri="{96DAC541-7B7A-43D3-8B79-37D633B846F1}">
                  <asvg:svgBlip xmlns:asvg="http://schemas.microsoft.com/office/drawing/2016/SVG/main" r:embed="rId5"/>
                </a:ext>
              </a:extLst>
            </a:blip>
            <a:srcRect/>
            <a:stretch/>
          </p:blipFill>
          <p:spPr bwMode="auto">
            <a:xfrm>
              <a:off x="2989263" y="1184275"/>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 name="TextBox 9">
              <a:extLst>
                <a:ext uri="{FF2B5EF4-FFF2-40B4-BE49-F238E27FC236}">
                  <a16:creationId xmlns:a16="http://schemas.microsoft.com/office/drawing/2014/main" id="{2D227CF4-7587-B0A6-BD75-76BE7240580A}"/>
                </a:ext>
              </a:extLst>
            </p:cNvPr>
            <p:cNvSpPr txBox="1">
              <a:spLocks noChangeArrowheads="1"/>
            </p:cNvSpPr>
            <p:nvPr/>
          </p:nvSpPr>
          <p:spPr bwMode="auto">
            <a:xfrm>
              <a:off x="2576510" y="1946275"/>
              <a:ext cx="1587506" cy="655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API Gateway</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(REST API)</a:t>
              </a:r>
            </a:p>
          </p:txBody>
        </p:sp>
      </p:grpSp>
      <p:grpSp>
        <p:nvGrpSpPr>
          <p:cNvPr id="232" name="グループ化 231">
            <a:extLst>
              <a:ext uri="{FF2B5EF4-FFF2-40B4-BE49-F238E27FC236}">
                <a16:creationId xmlns:a16="http://schemas.microsoft.com/office/drawing/2014/main" id="{81B24E68-10EB-EC82-455E-DA5235E76088}"/>
              </a:ext>
            </a:extLst>
          </p:cNvPr>
          <p:cNvGrpSpPr/>
          <p:nvPr/>
        </p:nvGrpSpPr>
        <p:grpSpPr>
          <a:xfrm>
            <a:off x="5850438" y="4382385"/>
            <a:ext cx="820861" cy="812933"/>
            <a:chOff x="5051089" y="1185069"/>
            <a:chExt cx="1165896" cy="1154637"/>
          </a:xfrm>
        </p:grpSpPr>
        <p:pic>
          <p:nvPicPr>
            <p:cNvPr id="294" name="Graphic 10" descr="AWS Lambda service icon.">
              <a:extLst>
                <a:ext uri="{FF2B5EF4-FFF2-40B4-BE49-F238E27FC236}">
                  <a16:creationId xmlns:a16="http://schemas.microsoft.com/office/drawing/2014/main" id="{B7EC76B7-4FD8-312A-DBFF-AB82FA31B395}"/>
                </a:ext>
              </a:extLst>
            </p:cNvPr>
            <p:cNvPicPr>
              <a:picLocks noChangeAspect="1" noChangeArrowheads="1"/>
            </p:cNvPicPr>
            <p:nvPr/>
          </p:nvPicPr>
          <p:blipFill>
            <a:blip r:embed="rId6">
              <a:extLst>
                <a:ext uri="{96DAC541-7B7A-43D3-8B79-37D633B846F1}">
                  <asvg:svgBlip xmlns:asvg="http://schemas.microsoft.com/office/drawing/2016/SVG/main" r:embed="rId7"/>
                </a:ext>
              </a:extLst>
            </a:blip>
            <a:srcRect/>
            <a:stretch/>
          </p:blipFill>
          <p:spPr bwMode="auto">
            <a:xfrm>
              <a:off x="5246688" y="1185069"/>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5" name="TextBox 20">
              <a:extLst>
                <a:ext uri="{FF2B5EF4-FFF2-40B4-BE49-F238E27FC236}">
                  <a16:creationId xmlns:a16="http://schemas.microsoft.com/office/drawing/2014/main" id="{1F37B617-7FA8-70E4-80D7-9261652B35DA}"/>
                </a:ext>
              </a:extLst>
            </p:cNvPr>
            <p:cNvSpPr txBox="1">
              <a:spLocks noChangeArrowheads="1"/>
            </p:cNvSpPr>
            <p:nvPr/>
          </p:nvSpPr>
          <p:spPr bwMode="auto">
            <a:xfrm>
              <a:off x="5051089" y="1946275"/>
              <a:ext cx="1165896" cy="393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Lambda</a:t>
              </a:r>
            </a:p>
          </p:txBody>
        </p:sp>
      </p:grpSp>
      <p:sp>
        <p:nvSpPr>
          <p:cNvPr id="289" name="TextBox 12">
            <a:extLst>
              <a:ext uri="{FF2B5EF4-FFF2-40B4-BE49-F238E27FC236}">
                <a16:creationId xmlns:a16="http://schemas.microsoft.com/office/drawing/2014/main" id="{116EB0C6-639B-04B3-B768-014E0B3FC7F9}"/>
              </a:ext>
            </a:extLst>
          </p:cNvPr>
          <p:cNvSpPr txBox="1">
            <a:spLocks noChangeArrowheads="1"/>
          </p:cNvSpPr>
          <p:nvPr/>
        </p:nvSpPr>
        <p:spPr bwMode="auto">
          <a:xfrm>
            <a:off x="1707208" y="5001976"/>
            <a:ext cx="16050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Raspberry Pi 4B</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(172.16.15.8)</a:t>
            </a:r>
          </a:p>
        </p:txBody>
      </p:sp>
      <p:sp>
        <p:nvSpPr>
          <p:cNvPr id="236" name="テキスト ボックス 235">
            <a:extLst>
              <a:ext uri="{FF2B5EF4-FFF2-40B4-BE49-F238E27FC236}">
                <a16:creationId xmlns:a16="http://schemas.microsoft.com/office/drawing/2014/main" id="{D506863C-E93C-3082-56F1-BC7B96466A2E}"/>
              </a:ext>
            </a:extLst>
          </p:cNvPr>
          <p:cNvSpPr txBox="1"/>
          <p:nvPr/>
        </p:nvSpPr>
        <p:spPr>
          <a:xfrm>
            <a:off x="1077353" y="4303759"/>
            <a:ext cx="1162293" cy="276999"/>
          </a:xfrm>
          <a:prstGeom prst="rect">
            <a:avLst/>
          </a:prstGeom>
          <a:noFill/>
        </p:spPr>
        <p:txBody>
          <a:bodyPr wrap="square">
            <a:spAutoFit/>
          </a:body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RC-S380 S</a:t>
            </a:r>
          </a:p>
        </p:txBody>
      </p:sp>
      <p:pic>
        <p:nvPicPr>
          <p:cNvPr id="237" name="図 236" descr="黒い背景と白い文字のロゴ&#10;&#10;AI によって生成されたコンテンツは間違っている可能性があります。">
            <a:extLst>
              <a:ext uri="{FF2B5EF4-FFF2-40B4-BE49-F238E27FC236}">
                <a16:creationId xmlns:a16="http://schemas.microsoft.com/office/drawing/2014/main" id="{9E002D58-5234-2BD4-7F51-8726D2C2316B}"/>
              </a:ext>
            </a:extLst>
          </p:cNvPr>
          <p:cNvPicPr>
            <a:picLocks noChangeAspect="1"/>
          </p:cNvPicPr>
          <p:nvPr/>
        </p:nvPicPr>
        <p:blipFill>
          <a:blip r:embed="rId8">
            <a:biLevel thresh="50000"/>
            <a:extLst>
              <a:ext uri="{28A0092B-C50C-407E-A947-70E740481C1C}">
                <a14:useLocalDpi xmlns:a14="http://schemas.microsoft.com/office/drawing/2010/main" val="0"/>
              </a:ext>
            </a:extLst>
          </a:blip>
          <a:srcRect t="19474" b="18132"/>
          <a:stretch/>
        </p:blipFill>
        <p:spPr>
          <a:xfrm flipH="1">
            <a:off x="693160" y="4508703"/>
            <a:ext cx="1605014" cy="751622"/>
          </a:xfrm>
          <a:prstGeom prst="rect">
            <a:avLst/>
          </a:prstGeom>
        </p:spPr>
      </p:pic>
      <p:cxnSp>
        <p:nvCxnSpPr>
          <p:cNvPr id="238" name="Straight Arrow Connector 74" descr="Up and down pointing vertical arrow.">
            <a:extLst>
              <a:ext uri="{FF2B5EF4-FFF2-40B4-BE49-F238E27FC236}">
                <a16:creationId xmlns:a16="http://schemas.microsoft.com/office/drawing/2014/main" id="{4F8A0D39-2DC5-BBDF-3FB0-1CDD986FC69B}"/>
              </a:ext>
            </a:extLst>
          </p:cNvPr>
          <p:cNvCxnSpPr>
            <a:cxnSpLocks/>
            <a:endCxn id="296" idx="1"/>
          </p:cNvCxnSpPr>
          <p:nvPr/>
        </p:nvCxnSpPr>
        <p:spPr>
          <a:xfrm>
            <a:off x="2777961" y="4650940"/>
            <a:ext cx="2035003" cy="0"/>
          </a:xfrm>
          <a:prstGeom prst="straightConnector1">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grpSp>
        <p:nvGrpSpPr>
          <p:cNvPr id="241" name="グループ化 240">
            <a:extLst>
              <a:ext uri="{FF2B5EF4-FFF2-40B4-BE49-F238E27FC236}">
                <a16:creationId xmlns:a16="http://schemas.microsoft.com/office/drawing/2014/main" id="{F6B47FC9-E3BB-3E99-7A96-4DEE2D0994F6}"/>
              </a:ext>
            </a:extLst>
          </p:cNvPr>
          <p:cNvGrpSpPr/>
          <p:nvPr/>
        </p:nvGrpSpPr>
        <p:grpSpPr>
          <a:xfrm>
            <a:off x="2051276" y="6087076"/>
            <a:ext cx="924337" cy="403333"/>
            <a:chOff x="2262291" y="5685876"/>
            <a:chExt cx="924337" cy="403333"/>
          </a:xfrm>
        </p:grpSpPr>
        <p:pic>
          <p:nvPicPr>
            <p:cNvPr id="286" name="図 285" descr="アイコン&#10;&#10;AI によって生成されたコンテンツは間違っている可能性があります。">
              <a:extLst>
                <a:ext uri="{FF2B5EF4-FFF2-40B4-BE49-F238E27FC236}">
                  <a16:creationId xmlns:a16="http://schemas.microsoft.com/office/drawing/2014/main" id="{CE894DB2-17D6-6078-D281-AAA9FFEBD6BB}"/>
                </a:ext>
              </a:extLst>
            </p:cNvPr>
            <p:cNvPicPr>
              <a:picLocks noChangeAspect="1"/>
            </p:cNvPicPr>
            <p:nvPr/>
          </p:nvPicPr>
          <p:blipFill>
            <a:blip r:embed="rId9">
              <a:extLst>
                <a:ext uri="{28A0092B-C50C-407E-A947-70E740481C1C}">
                  <a14:useLocalDpi xmlns:a14="http://schemas.microsoft.com/office/drawing/2010/main" val="0"/>
                </a:ext>
              </a:extLst>
            </a:blip>
            <a:srcRect l="10553" t="5709" r="9769" b="4466"/>
            <a:stretch/>
          </p:blipFill>
          <p:spPr>
            <a:xfrm>
              <a:off x="2262291" y="5685876"/>
              <a:ext cx="357774" cy="403333"/>
            </a:xfrm>
            <a:prstGeom prst="rect">
              <a:avLst/>
            </a:prstGeom>
          </p:spPr>
        </p:pic>
        <p:sp>
          <p:nvSpPr>
            <p:cNvPr id="287" name="テキスト ボックス 286">
              <a:extLst>
                <a:ext uri="{FF2B5EF4-FFF2-40B4-BE49-F238E27FC236}">
                  <a16:creationId xmlns:a16="http://schemas.microsoft.com/office/drawing/2014/main" id="{39001836-5A3A-573C-18D0-8D404FF6DF94}"/>
                </a:ext>
              </a:extLst>
            </p:cNvPr>
            <p:cNvSpPr txBox="1"/>
            <p:nvPr/>
          </p:nvSpPr>
          <p:spPr>
            <a:xfrm>
              <a:off x="2557071" y="5749042"/>
              <a:ext cx="629557" cy="276999"/>
            </a:xfrm>
            <a:prstGeom prst="rect">
              <a:avLst/>
            </a:prstGeom>
            <a:noFill/>
          </p:spPr>
          <p:txBody>
            <a:bodyPr wrap="square">
              <a:spAutoFit/>
            </a:bodyPr>
            <a:lstStyle/>
            <a:p>
              <a:r>
                <a:rPr lang="en-US" altLang="ja-JP" sz="1200" dirty="0"/>
                <a:t>:3000</a:t>
              </a:r>
              <a:endParaRPr lang="ja-JP" altLang="en-US" sz="1200" dirty="0"/>
            </a:p>
          </p:txBody>
        </p:sp>
      </p:grpSp>
      <p:grpSp>
        <p:nvGrpSpPr>
          <p:cNvPr id="242" name="グループ化 241">
            <a:extLst>
              <a:ext uri="{FF2B5EF4-FFF2-40B4-BE49-F238E27FC236}">
                <a16:creationId xmlns:a16="http://schemas.microsoft.com/office/drawing/2014/main" id="{428088A5-CAC5-7221-BD8D-102D113A85F7}"/>
              </a:ext>
            </a:extLst>
          </p:cNvPr>
          <p:cNvGrpSpPr/>
          <p:nvPr/>
        </p:nvGrpSpPr>
        <p:grpSpPr>
          <a:xfrm>
            <a:off x="2043915" y="5648135"/>
            <a:ext cx="931698" cy="372497"/>
            <a:chOff x="2254930" y="5246935"/>
            <a:chExt cx="931698" cy="372497"/>
          </a:xfrm>
        </p:grpSpPr>
        <p:pic>
          <p:nvPicPr>
            <p:cNvPr id="284" name="グラフィックス 283">
              <a:extLst>
                <a:ext uri="{FF2B5EF4-FFF2-40B4-BE49-F238E27FC236}">
                  <a16:creationId xmlns:a16="http://schemas.microsoft.com/office/drawing/2014/main" id="{B03D7290-2118-BDEA-DA1A-E1E75D75F636}"/>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254930" y="5246935"/>
              <a:ext cx="372497" cy="372497"/>
            </a:xfrm>
            <a:prstGeom prst="rect">
              <a:avLst/>
            </a:prstGeom>
          </p:spPr>
        </p:pic>
        <p:sp>
          <p:nvSpPr>
            <p:cNvPr id="285" name="テキスト ボックス 284">
              <a:extLst>
                <a:ext uri="{FF2B5EF4-FFF2-40B4-BE49-F238E27FC236}">
                  <a16:creationId xmlns:a16="http://schemas.microsoft.com/office/drawing/2014/main" id="{94F96FE4-57E6-3DBC-1A10-C95E4E50CEC0}"/>
                </a:ext>
              </a:extLst>
            </p:cNvPr>
            <p:cNvSpPr txBox="1"/>
            <p:nvPr/>
          </p:nvSpPr>
          <p:spPr>
            <a:xfrm>
              <a:off x="2557071" y="5306333"/>
              <a:ext cx="629557" cy="276999"/>
            </a:xfrm>
            <a:prstGeom prst="rect">
              <a:avLst/>
            </a:prstGeom>
            <a:noFill/>
          </p:spPr>
          <p:txBody>
            <a:bodyPr wrap="square">
              <a:spAutoFit/>
            </a:bodyPr>
            <a:lstStyle/>
            <a:p>
              <a:r>
                <a:rPr lang="en-US" altLang="ja-JP" sz="1200" dirty="0"/>
                <a:t>:8000</a:t>
              </a:r>
              <a:endParaRPr lang="ja-JP" altLang="en-US" sz="1200" dirty="0"/>
            </a:p>
          </p:txBody>
        </p:sp>
      </p:grpSp>
      <p:grpSp>
        <p:nvGrpSpPr>
          <p:cNvPr id="244" name="グループ化 243">
            <a:extLst>
              <a:ext uri="{FF2B5EF4-FFF2-40B4-BE49-F238E27FC236}">
                <a16:creationId xmlns:a16="http://schemas.microsoft.com/office/drawing/2014/main" id="{DEEAC00A-E2B9-4108-96EC-AB92F51BBEDB}"/>
              </a:ext>
            </a:extLst>
          </p:cNvPr>
          <p:cNvGrpSpPr/>
          <p:nvPr/>
        </p:nvGrpSpPr>
        <p:grpSpPr>
          <a:xfrm>
            <a:off x="5550985" y="2647229"/>
            <a:ext cx="1410825" cy="998159"/>
            <a:chOff x="2368342" y="1184275"/>
            <a:chExt cx="2003841" cy="1417718"/>
          </a:xfrm>
        </p:grpSpPr>
        <p:pic>
          <p:nvPicPr>
            <p:cNvPr id="280" name="Graphic 7" descr="Amazon API Gateway service icon.">
              <a:extLst>
                <a:ext uri="{FF2B5EF4-FFF2-40B4-BE49-F238E27FC236}">
                  <a16:creationId xmlns:a16="http://schemas.microsoft.com/office/drawing/2014/main" id="{60931086-9A9C-7DD3-F0F9-E3CC7B8C8AEB}"/>
                </a:ext>
              </a:extLst>
            </p:cNvPr>
            <p:cNvPicPr>
              <a:picLocks noChangeAspect="1" noChangeArrowheads="1"/>
            </p:cNvPicPr>
            <p:nvPr/>
          </p:nvPicPr>
          <p:blipFill>
            <a:blip r:embed="rId4">
              <a:extLst>
                <a:ext uri="{96DAC541-7B7A-43D3-8B79-37D633B846F1}">
                  <asvg:svgBlip xmlns:asvg="http://schemas.microsoft.com/office/drawing/2016/SVG/main" r:embed="rId5"/>
                </a:ext>
              </a:extLst>
            </a:blip>
            <a:srcRect/>
            <a:stretch/>
          </p:blipFill>
          <p:spPr bwMode="auto">
            <a:xfrm>
              <a:off x="2989264" y="1184275"/>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1" name="TextBox 9">
              <a:extLst>
                <a:ext uri="{FF2B5EF4-FFF2-40B4-BE49-F238E27FC236}">
                  <a16:creationId xmlns:a16="http://schemas.microsoft.com/office/drawing/2014/main" id="{18E4BF18-F8D2-B985-8658-4DC1315904CA}"/>
                </a:ext>
              </a:extLst>
            </p:cNvPr>
            <p:cNvSpPr txBox="1">
              <a:spLocks noChangeArrowheads="1"/>
            </p:cNvSpPr>
            <p:nvPr/>
          </p:nvSpPr>
          <p:spPr bwMode="auto">
            <a:xfrm>
              <a:off x="2368342" y="1946275"/>
              <a:ext cx="2003841" cy="655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API Gateway</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(WebSocket)</a:t>
              </a:r>
            </a:p>
          </p:txBody>
        </p:sp>
      </p:grpSp>
      <p:sp>
        <p:nvSpPr>
          <p:cNvPr id="277" name="TextBox 12">
            <a:extLst>
              <a:ext uri="{FF2B5EF4-FFF2-40B4-BE49-F238E27FC236}">
                <a16:creationId xmlns:a16="http://schemas.microsoft.com/office/drawing/2014/main" id="{C2C6EA76-EC99-F246-1AFC-F126C9567177}"/>
              </a:ext>
            </a:extLst>
          </p:cNvPr>
          <p:cNvSpPr txBox="1">
            <a:spLocks noChangeArrowheads="1"/>
          </p:cNvSpPr>
          <p:nvPr/>
        </p:nvSpPr>
        <p:spPr bwMode="auto">
          <a:xfrm>
            <a:off x="1707208" y="3178518"/>
            <a:ext cx="16050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Raspberry Pi 5</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(172.16.15.7)</a:t>
            </a:r>
          </a:p>
        </p:txBody>
      </p:sp>
      <p:sp>
        <p:nvSpPr>
          <p:cNvPr id="251" name="Rectangle 103" descr="Generic group dashed.">
            <a:extLst>
              <a:ext uri="{FF2B5EF4-FFF2-40B4-BE49-F238E27FC236}">
                <a16:creationId xmlns:a16="http://schemas.microsoft.com/office/drawing/2014/main" id="{DD33EFD4-5498-E511-70E4-F95B9B9547BF}"/>
              </a:ext>
            </a:extLst>
          </p:cNvPr>
          <p:cNvSpPr/>
          <p:nvPr/>
        </p:nvSpPr>
        <p:spPr>
          <a:xfrm>
            <a:off x="4457026" y="4158038"/>
            <a:ext cx="3541821" cy="1348227"/>
          </a:xfrm>
          <a:prstGeom prst="rect">
            <a:avLst/>
          </a:prstGeom>
          <a:noFill/>
          <a:ln w="15875">
            <a:solidFill>
              <a:srgbClr val="7D8998"/>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eaLnBrk="1" fontAlgn="auto" hangingPunct="1">
              <a:spcBef>
                <a:spcPts val="0"/>
              </a:spcBef>
              <a:spcAft>
                <a:spcPts val="0"/>
              </a:spcAft>
              <a:defRPr/>
            </a:pPr>
            <a:endParaRPr lang="en-US" sz="1200" dirty="0">
              <a:solidFill>
                <a:schemeClr val="tx1"/>
              </a:solidFill>
              <a:latin typeface="Arial" panose="020B0604020202020204" pitchFamily="34" charset="0"/>
              <a:cs typeface="Arial" panose="020B0604020202020204" pitchFamily="34" charset="0"/>
            </a:endParaRPr>
          </a:p>
        </p:txBody>
      </p:sp>
      <p:grpSp>
        <p:nvGrpSpPr>
          <p:cNvPr id="253" name="グループ化 252">
            <a:extLst>
              <a:ext uri="{FF2B5EF4-FFF2-40B4-BE49-F238E27FC236}">
                <a16:creationId xmlns:a16="http://schemas.microsoft.com/office/drawing/2014/main" id="{6AFD85DC-7DAF-B654-112B-52B8C424B104}"/>
              </a:ext>
            </a:extLst>
          </p:cNvPr>
          <p:cNvGrpSpPr/>
          <p:nvPr/>
        </p:nvGrpSpPr>
        <p:grpSpPr>
          <a:xfrm>
            <a:off x="4717633" y="2645272"/>
            <a:ext cx="730725" cy="813493"/>
            <a:chOff x="3005693" y="1391828"/>
            <a:chExt cx="730725" cy="813493"/>
          </a:xfrm>
        </p:grpSpPr>
        <p:pic>
          <p:nvPicPr>
            <p:cNvPr id="274" name="Graphic 10" descr="AWS Amplify service icon.">
              <a:extLst>
                <a:ext uri="{FF2B5EF4-FFF2-40B4-BE49-F238E27FC236}">
                  <a16:creationId xmlns:a16="http://schemas.microsoft.com/office/drawing/2014/main" id="{2236AE63-8D70-E7C0-3BE4-5F7F52D2AA6B}"/>
                </a:ext>
              </a:extLst>
            </p:cNvPr>
            <p:cNvPicPr>
              <a:picLocks noChangeAspect="1" noChangeArrowheads="1"/>
            </p:cNvPicPr>
            <p:nvPr/>
          </p:nvPicPr>
          <p:blipFill>
            <a:blip r:embed="rId12">
              <a:extLst>
                <a:ext uri="{96DAC541-7B7A-43D3-8B79-37D633B846F1}">
                  <asvg:svgBlip xmlns:asvg="http://schemas.microsoft.com/office/drawing/2016/SVG/main" r:embed="rId13"/>
                </a:ext>
              </a:extLst>
            </a:blip>
            <a:srcRect/>
            <a:stretch/>
          </p:blipFill>
          <p:spPr bwMode="auto">
            <a:xfrm>
              <a:off x="3102809" y="1391828"/>
              <a:ext cx="536494" cy="536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5" name="TextBox 6">
              <a:extLst>
                <a:ext uri="{FF2B5EF4-FFF2-40B4-BE49-F238E27FC236}">
                  <a16:creationId xmlns:a16="http://schemas.microsoft.com/office/drawing/2014/main" id="{6986A306-4E3D-264B-FFBD-61CDE10321A1}"/>
                </a:ext>
              </a:extLst>
            </p:cNvPr>
            <p:cNvSpPr txBox="1">
              <a:spLocks noChangeArrowheads="1"/>
            </p:cNvSpPr>
            <p:nvPr/>
          </p:nvSpPr>
          <p:spPr bwMode="auto">
            <a:xfrm>
              <a:off x="3005693" y="1928322"/>
              <a:ext cx="7307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Amplify</a:t>
              </a:r>
            </a:p>
          </p:txBody>
        </p:sp>
      </p:grpSp>
      <p:grpSp>
        <p:nvGrpSpPr>
          <p:cNvPr id="267" name="Group 1" descr="AWS Cloud group with AWS logo.">
            <a:extLst>
              <a:ext uri="{FF2B5EF4-FFF2-40B4-BE49-F238E27FC236}">
                <a16:creationId xmlns:a16="http://schemas.microsoft.com/office/drawing/2014/main" id="{22AE1928-83F3-CD2C-0EDD-B17B87BE5059}"/>
              </a:ext>
            </a:extLst>
          </p:cNvPr>
          <p:cNvGrpSpPr/>
          <p:nvPr/>
        </p:nvGrpSpPr>
        <p:grpSpPr>
          <a:xfrm>
            <a:off x="3528572" y="926869"/>
            <a:ext cx="4825253" cy="5828334"/>
            <a:chOff x="355598" y="689579"/>
            <a:chExt cx="4825253" cy="3747374"/>
          </a:xfrm>
        </p:grpSpPr>
        <p:sp>
          <p:nvSpPr>
            <p:cNvPr id="268" name="Rectangle 54">
              <a:extLst>
                <a:ext uri="{FF2B5EF4-FFF2-40B4-BE49-F238E27FC236}">
                  <a16:creationId xmlns:a16="http://schemas.microsoft.com/office/drawing/2014/main" id="{DDD37878-D2FC-7854-B6EB-28D87B38E707}"/>
                </a:ext>
              </a:extLst>
            </p:cNvPr>
            <p:cNvSpPr/>
            <p:nvPr/>
          </p:nvSpPr>
          <p:spPr>
            <a:xfrm>
              <a:off x="355599" y="689579"/>
              <a:ext cx="4825252" cy="3747374"/>
            </a:xfrm>
            <a:prstGeom prst="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r>
                <a:rPr lang="en-US" sz="1200" dirty="0">
                  <a:solidFill>
                    <a:schemeClr val="tx1"/>
                  </a:solidFill>
                  <a:latin typeface="Arial" panose="020B0604020202020204" pitchFamily="34" charset="0"/>
                  <a:cs typeface="Arial" panose="020B0604020202020204" pitchFamily="34" charset="0"/>
                </a:rPr>
                <a:t>AWS Cloud</a:t>
              </a:r>
            </a:p>
          </p:txBody>
        </p:sp>
        <p:pic>
          <p:nvPicPr>
            <p:cNvPr id="269" name="Graphic 55" descr="AWS Cloud group icon with AWS logo.">
              <a:extLst>
                <a:ext uri="{FF2B5EF4-FFF2-40B4-BE49-F238E27FC236}">
                  <a16:creationId xmlns:a16="http://schemas.microsoft.com/office/drawing/2014/main" id="{1BA0A7BF-BFB8-AC5A-8A23-5B79816C8084}"/>
                </a:ext>
              </a:extLst>
            </p:cNvPr>
            <p:cNvPicPr>
              <a:picLocks noChangeAspect="1"/>
            </p:cNvPicPr>
            <p:nvPr/>
          </p:nvPicPr>
          <p:blipFill>
            <a:blip r:embed="rId14">
              <a:extLst>
                <a:ext uri="{96DAC541-7B7A-43D3-8B79-37D633B846F1}">
                  <asvg:svgBlip xmlns:asvg="http://schemas.microsoft.com/office/drawing/2016/SVG/main" r:embed="rId15"/>
                </a:ext>
              </a:extLst>
            </a:blip>
            <a:srcRect/>
            <a:stretch/>
          </p:blipFill>
          <p:spPr>
            <a:xfrm>
              <a:off x="355598" y="695923"/>
              <a:ext cx="419750" cy="287318"/>
            </a:xfrm>
            <a:prstGeom prst="rect">
              <a:avLst/>
            </a:prstGeom>
          </p:spPr>
        </p:pic>
      </p:grpSp>
      <p:sp>
        <p:nvSpPr>
          <p:cNvPr id="228" name="Rectangle 103" descr="Generic group dashed.">
            <a:extLst>
              <a:ext uri="{FF2B5EF4-FFF2-40B4-BE49-F238E27FC236}">
                <a16:creationId xmlns:a16="http://schemas.microsoft.com/office/drawing/2014/main" id="{25452B7F-F581-09FD-7F9C-A9B4737063C9}"/>
              </a:ext>
            </a:extLst>
          </p:cNvPr>
          <p:cNvSpPr/>
          <p:nvPr/>
        </p:nvSpPr>
        <p:spPr>
          <a:xfrm>
            <a:off x="690522" y="2075537"/>
            <a:ext cx="2621698" cy="1720079"/>
          </a:xfrm>
          <a:prstGeom prst="rect">
            <a:avLst/>
          </a:prstGeom>
          <a:noFill/>
          <a:ln w="15875">
            <a:solidFill>
              <a:srgbClr val="7D8998"/>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a:defRPr/>
            </a:pPr>
            <a:r>
              <a:rPr lang="ja-JP" altLang="en-US" sz="1200" dirty="0">
                <a:solidFill>
                  <a:schemeClr val="tx1"/>
                </a:solidFill>
                <a:latin typeface="Arial" panose="020B0604020202020204" pitchFamily="34" charset="0"/>
                <a:cs typeface="Arial" panose="020B0604020202020204" pitchFamily="34" charset="0"/>
              </a:rPr>
              <a:t>教員部屋（</a:t>
            </a:r>
            <a:r>
              <a:rPr lang="en-US" altLang="ja-JP" sz="1200" dirty="0">
                <a:solidFill>
                  <a:schemeClr val="tx1"/>
                </a:solidFill>
                <a:latin typeface="Arial" panose="020B0604020202020204" pitchFamily="34" charset="0"/>
                <a:cs typeface="Arial" panose="020B0604020202020204" pitchFamily="34" charset="0"/>
              </a:rPr>
              <a:t>J1404</a:t>
            </a:r>
            <a:r>
              <a:rPr lang="ja-JP" altLang="en-US" sz="1200" dirty="0">
                <a:solidFill>
                  <a:schemeClr val="tx1"/>
                </a:solidFill>
                <a:latin typeface="Arial" panose="020B0604020202020204" pitchFamily="34" charset="0"/>
                <a:cs typeface="Arial" panose="020B0604020202020204" pitchFamily="34" charset="0"/>
              </a:rPr>
              <a:t>）</a:t>
            </a:r>
            <a:endParaRPr lang="en-US" sz="1200" dirty="0">
              <a:solidFill>
                <a:schemeClr val="tx1"/>
              </a:solidFill>
              <a:latin typeface="Arial" panose="020B0604020202020204" pitchFamily="34" charset="0"/>
              <a:cs typeface="Arial" panose="020B0604020202020204" pitchFamily="34" charset="0"/>
            </a:endParaRPr>
          </a:p>
        </p:txBody>
      </p:sp>
      <p:pic>
        <p:nvPicPr>
          <p:cNvPr id="302" name="グラフィックス 301">
            <a:extLst>
              <a:ext uri="{FF2B5EF4-FFF2-40B4-BE49-F238E27FC236}">
                <a16:creationId xmlns:a16="http://schemas.microsoft.com/office/drawing/2014/main" id="{DD0118EA-DCBB-C3AB-6E27-8FC6751B3B5F}"/>
              </a:ext>
            </a:extLst>
          </p:cNvPr>
          <p:cNvPicPr>
            <a:picLocks noChangeAspect="1"/>
          </p:cNvPicPr>
          <p:nvPr/>
        </p:nvPicPr>
        <p:blipFill>
          <a:blip r:embed="rId16">
            <a:grayscl/>
            <a:extLst>
              <a:ext uri="{96DAC541-7B7A-43D3-8B79-37D633B846F1}">
                <asvg:svgBlip xmlns:asvg="http://schemas.microsoft.com/office/drawing/2016/SVG/main" r:embed="rId17"/>
              </a:ext>
            </a:extLst>
          </a:blip>
          <a:srcRect l="25148" t="16203" r="25948" b="16205"/>
          <a:stretch/>
        </p:blipFill>
        <p:spPr>
          <a:xfrm>
            <a:off x="1029996" y="2508789"/>
            <a:ext cx="580096" cy="801769"/>
          </a:xfrm>
          <a:prstGeom prst="rect">
            <a:avLst/>
          </a:prstGeom>
        </p:spPr>
      </p:pic>
      <p:cxnSp>
        <p:nvCxnSpPr>
          <p:cNvPr id="303" name="Straight Arrow Connector 100">
            <a:extLst>
              <a:ext uri="{FF2B5EF4-FFF2-40B4-BE49-F238E27FC236}">
                <a16:creationId xmlns:a16="http://schemas.microsoft.com/office/drawing/2014/main" id="{2914FE90-F275-20EA-2B67-26B0C6A51741}"/>
              </a:ext>
            </a:extLst>
          </p:cNvPr>
          <p:cNvCxnSpPr>
            <a:cxnSpLocks/>
            <a:stCxn id="302" idx="3"/>
          </p:cNvCxnSpPr>
          <p:nvPr/>
        </p:nvCxnSpPr>
        <p:spPr>
          <a:xfrm>
            <a:off x="1610092" y="2909674"/>
            <a:ext cx="631375" cy="597"/>
          </a:xfrm>
          <a:prstGeom prst="straightConnector1">
            <a:avLst/>
          </a:prstGeom>
          <a:ln w="19050">
            <a:solidFill>
              <a:schemeClr val="tx1"/>
            </a:solidFill>
            <a:headEnd type="none" w="med" len="sm"/>
            <a:tailEnd type="none" w="med" len="sm"/>
          </a:ln>
        </p:spPr>
        <p:style>
          <a:lnRef idx="1">
            <a:schemeClr val="accent1"/>
          </a:lnRef>
          <a:fillRef idx="0">
            <a:schemeClr val="accent1"/>
          </a:fillRef>
          <a:effectRef idx="0">
            <a:schemeClr val="accent1"/>
          </a:effectRef>
          <a:fontRef idx="minor">
            <a:schemeClr val="tx1"/>
          </a:fontRef>
        </p:style>
      </p:cxnSp>
      <p:sp>
        <p:nvSpPr>
          <p:cNvPr id="306" name="Rectangle 103" descr="Generic group dashed.">
            <a:extLst>
              <a:ext uri="{FF2B5EF4-FFF2-40B4-BE49-F238E27FC236}">
                <a16:creationId xmlns:a16="http://schemas.microsoft.com/office/drawing/2014/main" id="{C76DE008-6102-17E9-EAE9-4C3A8933FBB4}"/>
              </a:ext>
            </a:extLst>
          </p:cNvPr>
          <p:cNvSpPr/>
          <p:nvPr/>
        </p:nvSpPr>
        <p:spPr>
          <a:xfrm>
            <a:off x="690522" y="3933107"/>
            <a:ext cx="2615365" cy="2822096"/>
          </a:xfrm>
          <a:prstGeom prst="rect">
            <a:avLst/>
          </a:prstGeom>
          <a:noFill/>
          <a:ln w="15875">
            <a:solidFill>
              <a:srgbClr val="7D8998"/>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a:defRPr/>
            </a:pPr>
            <a:r>
              <a:rPr lang="ja-JP" altLang="en-US" sz="1200" dirty="0">
                <a:solidFill>
                  <a:schemeClr val="tx1"/>
                </a:solidFill>
                <a:latin typeface="Arial" panose="020B0604020202020204" pitchFamily="34" charset="0"/>
                <a:cs typeface="Arial" panose="020B0604020202020204" pitchFamily="34" charset="0"/>
              </a:rPr>
              <a:t>学生部屋（</a:t>
            </a:r>
            <a:r>
              <a:rPr lang="en-US" altLang="ja-JP" sz="1200" dirty="0">
                <a:solidFill>
                  <a:schemeClr val="tx1"/>
                </a:solidFill>
                <a:latin typeface="Arial" panose="020B0604020202020204" pitchFamily="34" charset="0"/>
                <a:cs typeface="Arial" panose="020B0604020202020204" pitchFamily="34" charset="0"/>
              </a:rPr>
              <a:t>J1401</a:t>
            </a:r>
            <a:r>
              <a:rPr lang="ja-JP" altLang="en-US" sz="1200" dirty="0">
                <a:solidFill>
                  <a:schemeClr val="tx1"/>
                </a:solidFill>
                <a:latin typeface="Arial" panose="020B0604020202020204" pitchFamily="34" charset="0"/>
                <a:cs typeface="Arial" panose="020B0604020202020204" pitchFamily="34" charset="0"/>
              </a:rPr>
              <a:t>）</a:t>
            </a:r>
            <a:endParaRPr lang="en-US" sz="1200" dirty="0">
              <a:solidFill>
                <a:schemeClr val="tx1"/>
              </a:solidFill>
              <a:latin typeface="Arial" panose="020B0604020202020204" pitchFamily="34" charset="0"/>
              <a:cs typeface="Arial" panose="020B0604020202020204" pitchFamily="34" charset="0"/>
            </a:endParaRPr>
          </a:p>
        </p:txBody>
      </p:sp>
      <p:pic>
        <p:nvPicPr>
          <p:cNvPr id="307" name="グラフィックス 306">
            <a:extLst>
              <a:ext uri="{FF2B5EF4-FFF2-40B4-BE49-F238E27FC236}">
                <a16:creationId xmlns:a16="http://schemas.microsoft.com/office/drawing/2014/main" id="{CE091B76-B194-7A58-79DD-68D7FF114BBF}"/>
              </a:ext>
            </a:extLst>
          </p:cNvPr>
          <p:cNvPicPr>
            <a:picLocks noChangeAspect="1"/>
          </p:cNvPicPr>
          <p:nvPr/>
        </p:nvPicPr>
        <p:blipFill>
          <a:blip r:embed="rId16">
            <a:grayscl/>
            <a:extLst>
              <a:ext uri="{96DAC541-7B7A-43D3-8B79-37D633B846F1}">
                <asvg:svgBlip xmlns:asvg="http://schemas.microsoft.com/office/drawing/2016/SVG/main" r:embed="rId17"/>
              </a:ext>
            </a:extLst>
          </a:blip>
          <a:srcRect l="25148" t="16203" r="25948" b="16205"/>
          <a:stretch/>
        </p:blipFill>
        <p:spPr>
          <a:xfrm rot="16200000">
            <a:off x="1042395" y="5874413"/>
            <a:ext cx="599552" cy="828660"/>
          </a:xfrm>
          <a:prstGeom prst="rect">
            <a:avLst/>
          </a:prstGeom>
        </p:spPr>
      </p:pic>
      <p:cxnSp>
        <p:nvCxnSpPr>
          <p:cNvPr id="341" name="Straight Arrow Connector 52" descr="Double pointing horizontal arrow.">
            <a:extLst>
              <a:ext uri="{FF2B5EF4-FFF2-40B4-BE49-F238E27FC236}">
                <a16:creationId xmlns:a16="http://schemas.microsoft.com/office/drawing/2014/main" id="{13336C61-BBF2-99A3-4443-5C14E698E7FA}"/>
              </a:ext>
            </a:extLst>
          </p:cNvPr>
          <p:cNvCxnSpPr>
            <a:cxnSpLocks/>
            <a:stCxn id="274" idx="3"/>
            <a:endCxn id="280" idx="1"/>
          </p:cNvCxnSpPr>
          <p:nvPr/>
        </p:nvCxnSpPr>
        <p:spPr>
          <a:xfrm>
            <a:off x="5351243" y="2913519"/>
            <a:ext cx="636909" cy="1957"/>
          </a:xfrm>
          <a:prstGeom prst="straightConnector1">
            <a:avLst/>
          </a:prstGeom>
          <a:ln w="15875">
            <a:solidFill>
              <a:schemeClr val="tx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grpSp>
        <p:nvGrpSpPr>
          <p:cNvPr id="345" name="グループ化 344">
            <a:extLst>
              <a:ext uri="{FF2B5EF4-FFF2-40B4-BE49-F238E27FC236}">
                <a16:creationId xmlns:a16="http://schemas.microsoft.com/office/drawing/2014/main" id="{8F862EB5-9441-36C0-8EA8-65F57E2AB8FA}"/>
              </a:ext>
            </a:extLst>
          </p:cNvPr>
          <p:cNvGrpSpPr/>
          <p:nvPr/>
        </p:nvGrpSpPr>
        <p:grpSpPr>
          <a:xfrm>
            <a:off x="7023122" y="2645832"/>
            <a:ext cx="820861" cy="812933"/>
            <a:chOff x="5051089" y="1185069"/>
            <a:chExt cx="1165896" cy="1154637"/>
          </a:xfrm>
        </p:grpSpPr>
        <p:pic>
          <p:nvPicPr>
            <p:cNvPr id="346" name="Graphic 10" descr="AWS Lambda service icon.">
              <a:extLst>
                <a:ext uri="{FF2B5EF4-FFF2-40B4-BE49-F238E27FC236}">
                  <a16:creationId xmlns:a16="http://schemas.microsoft.com/office/drawing/2014/main" id="{F2E2D8D2-A31F-AB9E-75CD-8C62E5336B24}"/>
                </a:ext>
              </a:extLst>
            </p:cNvPr>
            <p:cNvPicPr>
              <a:picLocks noChangeAspect="1" noChangeArrowheads="1"/>
            </p:cNvPicPr>
            <p:nvPr/>
          </p:nvPicPr>
          <p:blipFill>
            <a:blip r:embed="rId6">
              <a:extLst>
                <a:ext uri="{96DAC541-7B7A-43D3-8B79-37D633B846F1}">
                  <asvg:svgBlip xmlns:asvg="http://schemas.microsoft.com/office/drawing/2016/SVG/main" r:embed="rId7"/>
                </a:ext>
              </a:extLst>
            </a:blip>
            <a:srcRect/>
            <a:stretch/>
          </p:blipFill>
          <p:spPr bwMode="auto">
            <a:xfrm>
              <a:off x="5246688" y="1185069"/>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7" name="TextBox 20">
              <a:extLst>
                <a:ext uri="{FF2B5EF4-FFF2-40B4-BE49-F238E27FC236}">
                  <a16:creationId xmlns:a16="http://schemas.microsoft.com/office/drawing/2014/main" id="{B002BD46-1619-57B1-16B1-8714639CE9DB}"/>
                </a:ext>
              </a:extLst>
            </p:cNvPr>
            <p:cNvSpPr txBox="1">
              <a:spLocks noChangeArrowheads="1"/>
            </p:cNvSpPr>
            <p:nvPr/>
          </p:nvSpPr>
          <p:spPr bwMode="auto">
            <a:xfrm>
              <a:off x="5051089" y="1946275"/>
              <a:ext cx="1165896" cy="393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Lambda</a:t>
              </a:r>
            </a:p>
          </p:txBody>
        </p:sp>
      </p:grpSp>
      <p:cxnSp>
        <p:nvCxnSpPr>
          <p:cNvPr id="348" name="Straight Arrow Connector 52" descr="Double pointing horizontal arrow.">
            <a:extLst>
              <a:ext uri="{FF2B5EF4-FFF2-40B4-BE49-F238E27FC236}">
                <a16:creationId xmlns:a16="http://schemas.microsoft.com/office/drawing/2014/main" id="{6126F457-2089-692C-08F5-86709CF8AA10}"/>
              </a:ext>
            </a:extLst>
          </p:cNvPr>
          <p:cNvCxnSpPr>
            <a:cxnSpLocks/>
            <a:stCxn id="280" idx="3"/>
            <a:endCxn id="346" idx="1"/>
          </p:cNvCxnSpPr>
          <p:nvPr/>
        </p:nvCxnSpPr>
        <p:spPr>
          <a:xfrm flipV="1">
            <a:off x="6524646" y="2914079"/>
            <a:ext cx="636189" cy="1397"/>
          </a:xfrm>
          <a:prstGeom prst="straightConnector1">
            <a:avLst/>
          </a:prstGeom>
          <a:ln w="15875">
            <a:solidFill>
              <a:schemeClr val="tx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grpSp>
        <p:nvGrpSpPr>
          <p:cNvPr id="361" name="グループ化 360">
            <a:extLst>
              <a:ext uri="{FF2B5EF4-FFF2-40B4-BE49-F238E27FC236}">
                <a16:creationId xmlns:a16="http://schemas.microsoft.com/office/drawing/2014/main" id="{A4EA73A1-7DD4-C3F3-E518-89DC92AF5471}"/>
              </a:ext>
            </a:extLst>
          </p:cNvPr>
          <p:cNvGrpSpPr/>
          <p:nvPr/>
        </p:nvGrpSpPr>
        <p:grpSpPr>
          <a:xfrm>
            <a:off x="7397897" y="3458765"/>
            <a:ext cx="71896" cy="901612"/>
            <a:chOff x="6937330" y="3141097"/>
            <a:chExt cx="71896" cy="901612"/>
          </a:xfrm>
        </p:grpSpPr>
        <p:cxnSp>
          <p:nvCxnSpPr>
            <p:cNvPr id="354" name="Straight Arrow Connector 52" descr="Double pointing horizontal arrow.">
              <a:extLst>
                <a:ext uri="{FF2B5EF4-FFF2-40B4-BE49-F238E27FC236}">
                  <a16:creationId xmlns:a16="http://schemas.microsoft.com/office/drawing/2014/main" id="{A6CF7C67-0C20-A88E-9A87-F473AB99CE48}"/>
                </a:ext>
              </a:extLst>
            </p:cNvPr>
            <p:cNvCxnSpPr>
              <a:cxnSpLocks/>
              <a:stCxn id="360" idx="0"/>
              <a:endCxn id="347" idx="2"/>
            </p:cNvCxnSpPr>
            <p:nvPr/>
          </p:nvCxnSpPr>
          <p:spPr>
            <a:xfrm flipH="1" flipV="1">
              <a:off x="6972986" y="3141097"/>
              <a:ext cx="292" cy="829716"/>
            </a:xfrm>
            <a:prstGeom prst="straightConnector1">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sp>
          <p:nvSpPr>
            <p:cNvPr id="360" name="楕円 359">
              <a:extLst>
                <a:ext uri="{FF2B5EF4-FFF2-40B4-BE49-F238E27FC236}">
                  <a16:creationId xmlns:a16="http://schemas.microsoft.com/office/drawing/2014/main" id="{6E100467-CCEA-2A17-8817-BC1CCFCDE6D1}"/>
                </a:ext>
              </a:extLst>
            </p:cNvPr>
            <p:cNvSpPr/>
            <p:nvPr/>
          </p:nvSpPr>
          <p:spPr>
            <a:xfrm>
              <a:off x="6937330" y="3970813"/>
              <a:ext cx="71896" cy="71896"/>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62" name="TextBox 9">
            <a:extLst>
              <a:ext uri="{FF2B5EF4-FFF2-40B4-BE49-F238E27FC236}">
                <a16:creationId xmlns:a16="http://schemas.microsoft.com/office/drawing/2014/main" id="{595008C9-D57B-00A3-2F68-0BD1093FFBAE}"/>
              </a:ext>
            </a:extLst>
          </p:cNvPr>
          <p:cNvSpPr txBox="1">
            <a:spLocks noChangeArrowheads="1"/>
          </p:cNvSpPr>
          <p:nvPr/>
        </p:nvSpPr>
        <p:spPr bwMode="auto">
          <a:xfrm>
            <a:off x="7385849" y="3789686"/>
            <a:ext cx="76250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Stream</a:t>
            </a:r>
          </a:p>
        </p:txBody>
      </p:sp>
      <p:cxnSp>
        <p:nvCxnSpPr>
          <p:cNvPr id="369" name="Straight Arrow Connector 52" descr="Double pointing horizontal arrow.">
            <a:extLst>
              <a:ext uri="{FF2B5EF4-FFF2-40B4-BE49-F238E27FC236}">
                <a16:creationId xmlns:a16="http://schemas.microsoft.com/office/drawing/2014/main" id="{17024ED6-264A-FF9B-C3A2-D0BDA75370F1}"/>
              </a:ext>
            </a:extLst>
          </p:cNvPr>
          <p:cNvCxnSpPr>
            <a:cxnSpLocks/>
            <a:stCxn id="274" idx="1"/>
          </p:cNvCxnSpPr>
          <p:nvPr/>
        </p:nvCxnSpPr>
        <p:spPr>
          <a:xfrm flipH="1" flipV="1">
            <a:off x="2777961" y="2910271"/>
            <a:ext cx="2036788" cy="3248"/>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372" name="Straight Arrow Connector 52" descr="Double pointing horizontal arrow.">
            <a:extLst>
              <a:ext uri="{FF2B5EF4-FFF2-40B4-BE49-F238E27FC236}">
                <a16:creationId xmlns:a16="http://schemas.microsoft.com/office/drawing/2014/main" id="{1A4D1060-A146-0C53-E1D7-CAF24D5CA3DA}"/>
              </a:ext>
            </a:extLst>
          </p:cNvPr>
          <p:cNvCxnSpPr>
            <a:cxnSpLocks/>
            <a:stCxn id="286" idx="1"/>
            <a:endCxn id="307" idx="2"/>
          </p:cNvCxnSpPr>
          <p:nvPr/>
        </p:nvCxnSpPr>
        <p:spPr>
          <a:xfrm flipH="1">
            <a:off x="1756501" y="6288743"/>
            <a:ext cx="294775" cy="0"/>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sp>
        <p:nvSpPr>
          <p:cNvPr id="380" name="Rectangle 103" descr="Generic group dashed.">
            <a:extLst>
              <a:ext uri="{FF2B5EF4-FFF2-40B4-BE49-F238E27FC236}">
                <a16:creationId xmlns:a16="http://schemas.microsoft.com/office/drawing/2014/main" id="{3D84B834-F0A8-652E-0091-CC7A1BDB8726}"/>
              </a:ext>
            </a:extLst>
          </p:cNvPr>
          <p:cNvSpPr/>
          <p:nvPr/>
        </p:nvSpPr>
        <p:spPr>
          <a:xfrm>
            <a:off x="4457026" y="1552760"/>
            <a:ext cx="3541821" cy="2158934"/>
          </a:xfrm>
          <a:prstGeom prst="rect">
            <a:avLst/>
          </a:prstGeom>
          <a:noFill/>
          <a:ln w="15875">
            <a:solidFill>
              <a:srgbClr val="7D8998"/>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eaLnBrk="1" fontAlgn="auto" hangingPunct="1">
              <a:spcBef>
                <a:spcPts val="0"/>
              </a:spcBef>
              <a:spcAft>
                <a:spcPts val="0"/>
              </a:spcAft>
              <a:defRPr/>
            </a:pPr>
            <a:endParaRPr lang="en-US" sz="1200" dirty="0">
              <a:solidFill>
                <a:schemeClr val="tx1"/>
              </a:solidFill>
              <a:latin typeface="Arial" panose="020B0604020202020204" pitchFamily="34" charset="0"/>
              <a:cs typeface="Arial" panose="020B0604020202020204" pitchFamily="34" charset="0"/>
            </a:endParaRPr>
          </a:p>
        </p:txBody>
      </p:sp>
      <p:sp>
        <p:nvSpPr>
          <p:cNvPr id="256" name="テキスト ボックス 255">
            <a:extLst>
              <a:ext uri="{FF2B5EF4-FFF2-40B4-BE49-F238E27FC236}">
                <a16:creationId xmlns:a16="http://schemas.microsoft.com/office/drawing/2014/main" id="{18C96BE8-856D-F8A9-FCA2-5FE6747036E0}"/>
              </a:ext>
            </a:extLst>
          </p:cNvPr>
          <p:cNvSpPr txBox="1"/>
          <p:nvPr/>
        </p:nvSpPr>
        <p:spPr>
          <a:xfrm>
            <a:off x="4355739" y="1260339"/>
            <a:ext cx="2390492" cy="276999"/>
          </a:xfrm>
          <a:prstGeom prst="rect">
            <a:avLst/>
          </a:prstGeom>
          <a:solidFill>
            <a:srgbClr val="EFECE3"/>
          </a:solidFill>
        </p:spPr>
        <p:txBody>
          <a:bodyPr wrap="square" rtlCol="0">
            <a:spAutoFit/>
          </a:bodyPr>
          <a:lstStyle/>
          <a:p>
            <a:r>
              <a:rPr lang="ja-JP" altLang="en-US" sz="1200" b="1" dirty="0">
                <a:latin typeface="BIZ UDゴシック" panose="020B0400000000000000" pitchFamily="49" charset="-128"/>
                <a:ea typeface="BIZ UDゴシック" panose="020B0400000000000000" pitchFamily="49" charset="-128"/>
              </a:rPr>
              <a:t>ユーザー・在室表示サービス</a:t>
            </a:r>
            <a:endParaRPr kumimoji="1" lang="ja-JP" altLang="en-US" sz="1200" b="1" dirty="0">
              <a:latin typeface="BIZ UDゴシック" panose="020B0400000000000000" pitchFamily="49" charset="-128"/>
              <a:ea typeface="BIZ UDゴシック" panose="020B0400000000000000" pitchFamily="49" charset="-128"/>
            </a:endParaRPr>
          </a:p>
        </p:txBody>
      </p:sp>
      <p:pic>
        <p:nvPicPr>
          <p:cNvPr id="403" name="Picture 2" descr="Raspberry icon - Free download on Iconfinder">
            <a:extLst>
              <a:ext uri="{FF2B5EF4-FFF2-40B4-BE49-F238E27FC236}">
                <a16:creationId xmlns:a16="http://schemas.microsoft.com/office/drawing/2014/main" id="{3A8D4116-8BB8-1765-1AD2-6E456559A260}"/>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244769" y="4471085"/>
            <a:ext cx="544810" cy="544810"/>
          </a:xfrm>
          <a:prstGeom prst="rect">
            <a:avLst/>
          </a:prstGeom>
          <a:noFill/>
          <a:extLst>
            <a:ext uri="{909E8E84-426E-40DD-AFC4-6F175D3DCCD1}">
              <a14:hiddenFill xmlns:a14="http://schemas.microsoft.com/office/drawing/2010/main">
                <a:solidFill>
                  <a:srgbClr val="FFFFFF"/>
                </a:solidFill>
              </a14:hiddenFill>
            </a:ext>
          </a:extLst>
        </p:spPr>
      </p:pic>
      <p:pic>
        <p:nvPicPr>
          <p:cNvPr id="404" name="Picture 2" descr="Raspberry icon - Free download on Iconfinder">
            <a:extLst>
              <a:ext uri="{FF2B5EF4-FFF2-40B4-BE49-F238E27FC236}">
                <a16:creationId xmlns:a16="http://schemas.microsoft.com/office/drawing/2014/main" id="{CBB4D2F6-4ED3-8A4E-0EDD-0FCE5CC9F371}"/>
              </a:ext>
            </a:extLst>
          </p:cNvPr>
          <p:cNvPicPr>
            <a:picLocks noChangeAspect="1" noChangeArrowheads="1"/>
          </p:cNvPicPr>
          <p:nvPr/>
        </p:nvPicPr>
        <p:blipFill>
          <a:blip r:embed="rId18">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244769" y="2641704"/>
            <a:ext cx="544810" cy="544810"/>
          </a:xfrm>
          <a:prstGeom prst="rect">
            <a:avLst/>
          </a:prstGeom>
          <a:noFill/>
          <a:extLst>
            <a:ext uri="{909E8E84-426E-40DD-AFC4-6F175D3DCCD1}">
              <a14:hiddenFill xmlns:a14="http://schemas.microsoft.com/office/drawing/2010/main">
                <a:solidFill>
                  <a:srgbClr val="FFFFFF"/>
                </a:solidFill>
              </a14:hiddenFill>
            </a:ext>
          </a:extLst>
        </p:spPr>
      </p:pic>
      <p:cxnSp>
        <p:nvCxnSpPr>
          <p:cNvPr id="3" name="Straight Arrow Connector 52" descr="Double pointing horizontal arrow.">
            <a:extLst>
              <a:ext uri="{FF2B5EF4-FFF2-40B4-BE49-F238E27FC236}">
                <a16:creationId xmlns:a16="http://schemas.microsoft.com/office/drawing/2014/main" id="{48C9655D-0A9D-9AC0-354B-61BDEECDCEE6}"/>
              </a:ext>
            </a:extLst>
          </p:cNvPr>
          <p:cNvCxnSpPr>
            <a:cxnSpLocks/>
            <a:stCxn id="275" idx="2"/>
            <a:endCxn id="296" idx="0"/>
          </p:cNvCxnSpPr>
          <p:nvPr/>
        </p:nvCxnSpPr>
        <p:spPr>
          <a:xfrm flipH="1">
            <a:off x="5081211" y="3458765"/>
            <a:ext cx="1785" cy="923928"/>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sp>
        <p:nvSpPr>
          <p:cNvPr id="257" name="テキスト ボックス 256">
            <a:extLst>
              <a:ext uri="{FF2B5EF4-FFF2-40B4-BE49-F238E27FC236}">
                <a16:creationId xmlns:a16="http://schemas.microsoft.com/office/drawing/2014/main" id="{B8137E81-31A9-A19A-B0D9-45DC26D4CE6A}"/>
              </a:ext>
            </a:extLst>
          </p:cNvPr>
          <p:cNvSpPr txBox="1"/>
          <p:nvPr/>
        </p:nvSpPr>
        <p:spPr>
          <a:xfrm>
            <a:off x="4360260" y="3860479"/>
            <a:ext cx="2390492" cy="276999"/>
          </a:xfrm>
          <a:prstGeom prst="rect">
            <a:avLst/>
          </a:prstGeom>
          <a:solidFill>
            <a:srgbClr val="EFECE3"/>
          </a:solidFill>
        </p:spPr>
        <p:txBody>
          <a:bodyPr wrap="square" rtlCol="0">
            <a:spAutoFit/>
          </a:bodyPr>
          <a:lstStyle/>
          <a:p>
            <a:r>
              <a:rPr lang="ja-JP" altLang="en-US" sz="1200" b="1" dirty="0">
                <a:latin typeface="BIZ UDゴシック" panose="020B0400000000000000" pitchFamily="49" charset="-128"/>
                <a:ea typeface="BIZ UDゴシック" panose="020B0400000000000000" pitchFamily="49" charset="-128"/>
              </a:rPr>
              <a:t>ユーザー・在室登録サービス</a:t>
            </a:r>
            <a:endParaRPr kumimoji="1" lang="ja-JP" altLang="en-US" sz="1200" b="1" dirty="0">
              <a:latin typeface="BIZ UDゴシック" panose="020B0400000000000000" pitchFamily="49" charset="-128"/>
              <a:ea typeface="BIZ UDゴシック" panose="020B0400000000000000" pitchFamily="49" charset="-128"/>
            </a:endParaRPr>
          </a:p>
        </p:txBody>
      </p:sp>
      <p:cxnSp>
        <p:nvCxnSpPr>
          <p:cNvPr id="6" name="Straight Arrow Connector 52" descr="Double pointing horizontal arrow.">
            <a:extLst>
              <a:ext uri="{FF2B5EF4-FFF2-40B4-BE49-F238E27FC236}">
                <a16:creationId xmlns:a16="http://schemas.microsoft.com/office/drawing/2014/main" id="{657DAD5B-9B36-58C3-A494-DCD8B41EF3A7}"/>
              </a:ext>
            </a:extLst>
          </p:cNvPr>
          <p:cNvCxnSpPr>
            <a:cxnSpLocks/>
            <a:stCxn id="296" idx="3"/>
            <a:endCxn id="294" idx="1"/>
          </p:cNvCxnSpPr>
          <p:nvPr/>
        </p:nvCxnSpPr>
        <p:spPr>
          <a:xfrm flipV="1">
            <a:off x="5349458" y="4650632"/>
            <a:ext cx="638693" cy="308"/>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10" name="Straight Arrow Connector 52" descr="Double pointing horizontal arrow.">
            <a:extLst>
              <a:ext uri="{FF2B5EF4-FFF2-40B4-BE49-F238E27FC236}">
                <a16:creationId xmlns:a16="http://schemas.microsoft.com/office/drawing/2014/main" id="{60D29773-6A61-71D7-CC81-7AEB6EE294C8}"/>
              </a:ext>
            </a:extLst>
          </p:cNvPr>
          <p:cNvCxnSpPr>
            <a:cxnSpLocks/>
            <a:stCxn id="294" idx="3"/>
            <a:endCxn id="298" idx="1"/>
          </p:cNvCxnSpPr>
          <p:nvPr/>
        </p:nvCxnSpPr>
        <p:spPr>
          <a:xfrm>
            <a:off x="6524645" y="4650632"/>
            <a:ext cx="640661" cy="2899"/>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98925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4EFA0-BC84-ABF4-AF7E-55EAD836148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E871AF1-6DAD-D0D5-B581-00F8BB4D55A2}"/>
              </a:ext>
            </a:extLst>
          </p:cNvPr>
          <p:cNvSpPr>
            <a:spLocks noGrp="1"/>
          </p:cNvSpPr>
          <p:nvPr>
            <p:ph type="title"/>
          </p:nvPr>
        </p:nvSpPr>
        <p:spPr/>
        <p:txBody>
          <a:bodyPr/>
          <a:lstStyle/>
          <a:p>
            <a:r>
              <a:rPr kumimoji="1" lang="ja-JP" altLang="en-US" dirty="0"/>
              <a:t>在室確認システムのアーキテクチャ</a:t>
            </a:r>
          </a:p>
        </p:txBody>
      </p:sp>
      <p:grpSp>
        <p:nvGrpSpPr>
          <p:cNvPr id="230" name="グループ化 229">
            <a:extLst>
              <a:ext uri="{FF2B5EF4-FFF2-40B4-BE49-F238E27FC236}">
                <a16:creationId xmlns:a16="http://schemas.microsoft.com/office/drawing/2014/main" id="{4750A50E-952F-97C3-7789-57562A4B1330}"/>
              </a:ext>
            </a:extLst>
          </p:cNvPr>
          <p:cNvGrpSpPr/>
          <p:nvPr/>
        </p:nvGrpSpPr>
        <p:grpSpPr>
          <a:xfrm>
            <a:off x="6904519" y="4385283"/>
            <a:ext cx="1058068" cy="814611"/>
            <a:chOff x="4098454" y="2667000"/>
            <a:chExt cx="1502808" cy="1157017"/>
          </a:xfrm>
        </p:grpSpPr>
        <p:pic>
          <p:nvPicPr>
            <p:cNvPr id="298" name="Graphic 23" descr="Amazon DynamoDB service icon.">
              <a:extLst>
                <a:ext uri="{FF2B5EF4-FFF2-40B4-BE49-F238E27FC236}">
                  <a16:creationId xmlns:a16="http://schemas.microsoft.com/office/drawing/2014/main" id="{9D7C1735-9689-F500-1EBB-2419E1CED7F2}"/>
                </a:ext>
              </a:extLst>
            </p:cNvPr>
            <p:cNvPicPr>
              <a:picLocks noChangeAspect="1" noChangeArrowheads="1"/>
            </p:cNvPicPr>
            <p:nvPr/>
          </p:nvPicPr>
          <p:blipFill>
            <a:blip r:embed="rId2">
              <a:extLst>
                <a:ext uri="{96DAC541-7B7A-43D3-8B79-37D633B846F1}">
                  <asvg:svgBlip xmlns:asvg="http://schemas.microsoft.com/office/drawing/2016/SVG/main" r:embed="rId3"/>
                </a:ext>
              </a:extLst>
            </a:blip>
            <a:srcRect/>
            <a:stretch/>
          </p:blipFill>
          <p:spPr bwMode="auto">
            <a:xfrm>
              <a:off x="4468858" y="2667000"/>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9" name="TextBox 12">
              <a:extLst>
                <a:ext uri="{FF2B5EF4-FFF2-40B4-BE49-F238E27FC236}">
                  <a16:creationId xmlns:a16="http://schemas.microsoft.com/office/drawing/2014/main" id="{338EEFDE-2CD9-7B2A-3B89-87734A4F10E3}"/>
                </a:ext>
              </a:extLst>
            </p:cNvPr>
            <p:cNvSpPr txBox="1">
              <a:spLocks noChangeArrowheads="1"/>
            </p:cNvSpPr>
            <p:nvPr/>
          </p:nvSpPr>
          <p:spPr bwMode="auto">
            <a:xfrm>
              <a:off x="4098454" y="3430587"/>
              <a:ext cx="1502808" cy="393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DynamoDB</a:t>
              </a:r>
            </a:p>
          </p:txBody>
        </p:sp>
      </p:grpSp>
      <p:grpSp>
        <p:nvGrpSpPr>
          <p:cNvPr id="231" name="グループ化 230">
            <a:extLst>
              <a:ext uri="{FF2B5EF4-FFF2-40B4-BE49-F238E27FC236}">
                <a16:creationId xmlns:a16="http://schemas.microsoft.com/office/drawing/2014/main" id="{7BDC0C0D-216A-4FCE-AC6A-8FA32EA168E6}"/>
              </a:ext>
            </a:extLst>
          </p:cNvPr>
          <p:cNvGrpSpPr/>
          <p:nvPr/>
        </p:nvGrpSpPr>
        <p:grpSpPr>
          <a:xfrm>
            <a:off x="4522361" y="4382693"/>
            <a:ext cx="1117700" cy="998159"/>
            <a:chOff x="2576510" y="1184275"/>
            <a:chExt cx="1587506" cy="1417718"/>
          </a:xfrm>
        </p:grpSpPr>
        <p:pic>
          <p:nvPicPr>
            <p:cNvPr id="296" name="Graphic 7" descr="Amazon API Gateway service icon.">
              <a:extLst>
                <a:ext uri="{FF2B5EF4-FFF2-40B4-BE49-F238E27FC236}">
                  <a16:creationId xmlns:a16="http://schemas.microsoft.com/office/drawing/2014/main" id="{34418248-7A95-082B-9B19-BE3C578A6091}"/>
                </a:ext>
              </a:extLst>
            </p:cNvPr>
            <p:cNvPicPr>
              <a:picLocks noChangeAspect="1" noChangeArrowheads="1"/>
            </p:cNvPicPr>
            <p:nvPr/>
          </p:nvPicPr>
          <p:blipFill>
            <a:blip r:embed="rId4">
              <a:extLst>
                <a:ext uri="{96DAC541-7B7A-43D3-8B79-37D633B846F1}">
                  <asvg:svgBlip xmlns:asvg="http://schemas.microsoft.com/office/drawing/2016/SVG/main" r:embed="rId5"/>
                </a:ext>
              </a:extLst>
            </a:blip>
            <a:srcRect/>
            <a:stretch/>
          </p:blipFill>
          <p:spPr bwMode="auto">
            <a:xfrm>
              <a:off x="2989263" y="1184275"/>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 name="TextBox 9">
              <a:extLst>
                <a:ext uri="{FF2B5EF4-FFF2-40B4-BE49-F238E27FC236}">
                  <a16:creationId xmlns:a16="http://schemas.microsoft.com/office/drawing/2014/main" id="{04198B00-79F3-18B8-F00F-AF83125D10F2}"/>
                </a:ext>
              </a:extLst>
            </p:cNvPr>
            <p:cNvSpPr txBox="1">
              <a:spLocks noChangeArrowheads="1"/>
            </p:cNvSpPr>
            <p:nvPr/>
          </p:nvSpPr>
          <p:spPr bwMode="auto">
            <a:xfrm>
              <a:off x="2576510" y="1946275"/>
              <a:ext cx="1587506" cy="655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API Gateway</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(REST API)</a:t>
              </a:r>
            </a:p>
          </p:txBody>
        </p:sp>
      </p:grpSp>
      <p:grpSp>
        <p:nvGrpSpPr>
          <p:cNvPr id="232" name="グループ化 231">
            <a:extLst>
              <a:ext uri="{FF2B5EF4-FFF2-40B4-BE49-F238E27FC236}">
                <a16:creationId xmlns:a16="http://schemas.microsoft.com/office/drawing/2014/main" id="{4EE598B0-4CA3-F66C-FBD4-0EB57892011D}"/>
              </a:ext>
            </a:extLst>
          </p:cNvPr>
          <p:cNvGrpSpPr/>
          <p:nvPr/>
        </p:nvGrpSpPr>
        <p:grpSpPr>
          <a:xfrm>
            <a:off x="5850438" y="4382385"/>
            <a:ext cx="820861" cy="812933"/>
            <a:chOff x="5051089" y="1185069"/>
            <a:chExt cx="1165896" cy="1154637"/>
          </a:xfrm>
        </p:grpSpPr>
        <p:pic>
          <p:nvPicPr>
            <p:cNvPr id="294" name="Graphic 10" descr="AWS Lambda service icon.">
              <a:extLst>
                <a:ext uri="{FF2B5EF4-FFF2-40B4-BE49-F238E27FC236}">
                  <a16:creationId xmlns:a16="http://schemas.microsoft.com/office/drawing/2014/main" id="{84CA526E-025C-EBD4-9D9D-8767A3A15B0E}"/>
                </a:ext>
              </a:extLst>
            </p:cNvPr>
            <p:cNvPicPr>
              <a:picLocks noChangeAspect="1" noChangeArrowheads="1"/>
            </p:cNvPicPr>
            <p:nvPr/>
          </p:nvPicPr>
          <p:blipFill>
            <a:blip r:embed="rId6">
              <a:extLst>
                <a:ext uri="{96DAC541-7B7A-43D3-8B79-37D633B846F1}">
                  <asvg:svgBlip xmlns:asvg="http://schemas.microsoft.com/office/drawing/2016/SVG/main" r:embed="rId7"/>
                </a:ext>
              </a:extLst>
            </a:blip>
            <a:srcRect/>
            <a:stretch/>
          </p:blipFill>
          <p:spPr bwMode="auto">
            <a:xfrm>
              <a:off x="5246688" y="1185069"/>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5" name="TextBox 20">
              <a:extLst>
                <a:ext uri="{FF2B5EF4-FFF2-40B4-BE49-F238E27FC236}">
                  <a16:creationId xmlns:a16="http://schemas.microsoft.com/office/drawing/2014/main" id="{21B1D606-A208-8FDC-395A-D922E9909B5A}"/>
                </a:ext>
              </a:extLst>
            </p:cNvPr>
            <p:cNvSpPr txBox="1">
              <a:spLocks noChangeArrowheads="1"/>
            </p:cNvSpPr>
            <p:nvPr/>
          </p:nvSpPr>
          <p:spPr bwMode="auto">
            <a:xfrm>
              <a:off x="5051089" y="1946275"/>
              <a:ext cx="1165896" cy="393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Lambda</a:t>
              </a:r>
            </a:p>
          </p:txBody>
        </p:sp>
      </p:grpSp>
      <p:grpSp>
        <p:nvGrpSpPr>
          <p:cNvPr id="234" name="グループ化 233">
            <a:extLst>
              <a:ext uri="{FF2B5EF4-FFF2-40B4-BE49-F238E27FC236}">
                <a16:creationId xmlns:a16="http://schemas.microsoft.com/office/drawing/2014/main" id="{E84EC47F-E688-F761-02D9-1417DB8BEF56}"/>
              </a:ext>
            </a:extLst>
          </p:cNvPr>
          <p:cNvGrpSpPr/>
          <p:nvPr/>
        </p:nvGrpSpPr>
        <p:grpSpPr>
          <a:xfrm>
            <a:off x="4815974" y="5696629"/>
            <a:ext cx="536494" cy="813493"/>
            <a:chOff x="7535863" y="1001200"/>
            <a:chExt cx="762000" cy="1155431"/>
          </a:xfrm>
        </p:grpSpPr>
        <p:pic>
          <p:nvPicPr>
            <p:cNvPr id="290" name="Graphic 19" descr="AWS Identity and Access Management (IAM) service icon.">
              <a:extLst>
                <a:ext uri="{FF2B5EF4-FFF2-40B4-BE49-F238E27FC236}">
                  <a16:creationId xmlns:a16="http://schemas.microsoft.com/office/drawing/2014/main" id="{DA4B1F53-95B3-EEE7-B4C2-C1D32D77EB5D}"/>
                </a:ext>
              </a:extLst>
            </p:cNvPr>
            <p:cNvPicPr>
              <a:picLocks noChangeAspect="1" noChangeArrowheads="1"/>
            </p:cNvPicPr>
            <p:nvPr/>
          </p:nvPicPr>
          <p:blipFill>
            <a:blip r:embed="rId8">
              <a:extLst>
                <a:ext uri="{96DAC541-7B7A-43D3-8B79-37D633B846F1}">
                  <asvg:svgBlip xmlns:asvg="http://schemas.microsoft.com/office/drawing/2016/SVG/main" r:embed="rId9"/>
                </a:ext>
              </a:extLst>
            </a:blip>
            <a:srcRect/>
            <a:stretch/>
          </p:blipFill>
          <p:spPr bwMode="auto">
            <a:xfrm>
              <a:off x="7535863" y="1001200"/>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1" name="TextBox 12">
              <a:extLst>
                <a:ext uri="{FF2B5EF4-FFF2-40B4-BE49-F238E27FC236}">
                  <a16:creationId xmlns:a16="http://schemas.microsoft.com/office/drawing/2014/main" id="{0F6477CF-9301-D4EC-BDCC-61F5FE6F585E}"/>
                </a:ext>
              </a:extLst>
            </p:cNvPr>
            <p:cNvSpPr txBox="1">
              <a:spLocks noChangeArrowheads="1"/>
            </p:cNvSpPr>
            <p:nvPr/>
          </p:nvSpPr>
          <p:spPr bwMode="auto">
            <a:xfrm>
              <a:off x="7535863" y="1763200"/>
              <a:ext cx="758826" cy="393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IAM</a:t>
              </a:r>
            </a:p>
          </p:txBody>
        </p:sp>
      </p:grpSp>
      <p:sp>
        <p:nvSpPr>
          <p:cNvPr id="289" name="TextBox 12">
            <a:extLst>
              <a:ext uri="{FF2B5EF4-FFF2-40B4-BE49-F238E27FC236}">
                <a16:creationId xmlns:a16="http://schemas.microsoft.com/office/drawing/2014/main" id="{C0B60AE3-52D7-3BDB-0C30-936F57AABAA5}"/>
              </a:ext>
            </a:extLst>
          </p:cNvPr>
          <p:cNvSpPr txBox="1">
            <a:spLocks noChangeArrowheads="1"/>
          </p:cNvSpPr>
          <p:nvPr/>
        </p:nvSpPr>
        <p:spPr bwMode="auto">
          <a:xfrm>
            <a:off x="1707208" y="5001976"/>
            <a:ext cx="16050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Raspberry Pi 4B</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(172.16.15.8)</a:t>
            </a:r>
          </a:p>
        </p:txBody>
      </p:sp>
      <p:sp>
        <p:nvSpPr>
          <p:cNvPr id="236" name="テキスト ボックス 235">
            <a:extLst>
              <a:ext uri="{FF2B5EF4-FFF2-40B4-BE49-F238E27FC236}">
                <a16:creationId xmlns:a16="http://schemas.microsoft.com/office/drawing/2014/main" id="{E82B9D2A-84DE-C7F5-EA9A-06407E10F2F3}"/>
              </a:ext>
            </a:extLst>
          </p:cNvPr>
          <p:cNvSpPr txBox="1"/>
          <p:nvPr/>
        </p:nvSpPr>
        <p:spPr>
          <a:xfrm>
            <a:off x="1077353" y="4303759"/>
            <a:ext cx="1162293" cy="276999"/>
          </a:xfrm>
          <a:prstGeom prst="rect">
            <a:avLst/>
          </a:prstGeom>
          <a:noFill/>
        </p:spPr>
        <p:txBody>
          <a:bodyPr wrap="square">
            <a:spAutoFit/>
          </a:body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RC-S380 S</a:t>
            </a:r>
          </a:p>
        </p:txBody>
      </p:sp>
      <p:pic>
        <p:nvPicPr>
          <p:cNvPr id="237" name="図 236" descr="黒い背景と白い文字のロゴ&#10;&#10;AI によって生成されたコンテンツは間違っている可能性があります。">
            <a:extLst>
              <a:ext uri="{FF2B5EF4-FFF2-40B4-BE49-F238E27FC236}">
                <a16:creationId xmlns:a16="http://schemas.microsoft.com/office/drawing/2014/main" id="{BB898763-FFCA-3242-4340-1E645FC339C7}"/>
              </a:ext>
            </a:extLst>
          </p:cNvPr>
          <p:cNvPicPr>
            <a:picLocks noChangeAspect="1"/>
          </p:cNvPicPr>
          <p:nvPr/>
        </p:nvPicPr>
        <p:blipFill>
          <a:blip r:embed="rId10">
            <a:biLevel thresh="50000"/>
            <a:extLst>
              <a:ext uri="{28A0092B-C50C-407E-A947-70E740481C1C}">
                <a14:useLocalDpi xmlns:a14="http://schemas.microsoft.com/office/drawing/2010/main" val="0"/>
              </a:ext>
            </a:extLst>
          </a:blip>
          <a:srcRect t="19474" b="18132"/>
          <a:stretch/>
        </p:blipFill>
        <p:spPr>
          <a:xfrm flipH="1">
            <a:off x="693160" y="4508703"/>
            <a:ext cx="1605014" cy="751622"/>
          </a:xfrm>
          <a:prstGeom prst="rect">
            <a:avLst/>
          </a:prstGeom>
        </p:spPr>
      </p:pic>
      <p:cxnSp>
        <p:nvCxnSpPr>
          <p:cNvPr id="238" name="Straight Arrow Connector 74" descr="Up and down pointing vertical arrow.">
            <a:extLst>
              <a:ext uri="{FF2B5EF4-FFF2-40B4-BE49-F238E27FC236}">
                <a16:creationId xmlns:a16="http://schemas.microsoft.com/office/drawing/2014/main" id="{DC1B3C43-22E9-C4D1-2EB0-F66075B6433A}"/>
              </a:ext>
            </a:extLst>
          </p:cNvPr>
          <p:cNvCxnSpPr>
            <a:cxnSpLocks/>
            <a:endCxn id="296" idx="1"/>
          </p:cNvCxnSpPr>
          <p:nvPr/>
        </p:nvCxnSpPr>
        <p:spPr>
          <a:xfrm>
            <a:off x="2777961" y="4650940"/>
            <a:ext cx="2035003" cy="0"/>
          </a:xfrm>
          <a:prstGeom prst="straightConnector1">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grpSp>
        <p:nvGrpSpPr>
          <p:cNvPr id="241" name="グループ化 240">
            <a:extLst>
              <a:ext uri="{FF2B5EF4-FFF2-40B4-BE49-F238E27FC236}">
                <a16:creationId xmlns:a16="http://schemas.microsoft.com/office/drawing/2014/main" id="{B6AE436D-35C8-5E5B-9966-C724CC376474}"/>
              </a:ext>
            </a:extLst>
          </p:cNvPr>
          <p:cNvGrpSpPr/>
          <p:nvPr/>
        </p:nvGrpSpPr>
        <p:grpSpPr>
          <a:xfrm>
            <a:off x="2051276" y="6087076"/>
            <a:ext cx="924337" cy="403333"/>
            <a:chOff x="2262291" y="5685876"/>
            <a:chExt cx="924337" cy="403333"/>
          </a:xfrm>
        </p:grpSpPr>
        <p:pic>
          <p:nvPicPr>
            <p:cNvPr id="286" name="図 285" descr="アイコン&#10;&#10;AI によって生成されたコンテンツは間違っている可能性があります。">
              <a:extLst>
                <a:ext uri="{FF2B5EF4-FFF2-40B4-BE49-F238E27FC236}">
                  <a16:creationId xmlns:a16="http://schemas.microsoft.com/office/drawing/2014/main" id="{EABF8359-E1C4-F7AC-1C7F-534156FC1F05}"/>
                </a:ext>
              </a:extLst>
            </p:cNvPr>
            <p:cNvPicPr>
              <a:picLocks noChangeAspect="1"/>
            </p:cNvPicPr>
            <p:nvPr/>
          </p:nvPicPr>
          <p:blipFill>
            <a:blip r:embed="rId11">
              <a:extLst>
                <a:ext uri="{28A0092B-C50C-407E-A947-70E740481C1C}">
                  <a14:useLocalDpi xmlns:a14="http://schemas.microsoft.com/office/drawing/2010/main" val="0"/>
                </a:ext>
              </a:extLst>
            </a:blip>
            <a:srcRect l="10553" t="5709" r="9769" b="4466"/>
            <a:stretch/>
          </p:blipFill>
          <p:spPr>
            <a:xfrm>
              <a:off x="2262291" y="5685876"/>
              <a:ext cx="357774" cy="403333"/>
            </a:xfrm>
            <a:prstGeom prst="rect">
              <a:avLst/>
            </a:prstGeom>
          </p:spPr>
        </p:pic>
        <p:sp>
          <p:nvSpPr>
            <p:cNvPr id="287" name="テキスト ボックス 286">
              <a:extLst>
                <a:ext uri="{FF2B5EF4-FFF2-40B4-BE49-F238E27FC236}">
                  <a16:creationId xmlns:a16="http://schemas.microsoft.com/office/drawing/2014/main" id="{403D874D-65DD-6FE5-C28D-4EB0BFB7089B}"/>
                </a:ext>
              </a:extLst>
            </p:cNvPr>
            <p:cNvSpPr txBox="1"/>
            <p:nvPr/>
          </p:nvSpPr>
          <p:spPr>
            <a:xfrm>
              <a:off x="2557071" y="5749042"/>
              <a:ext cx="629557" cy="276999"/>
            </a:xfrm>
            <a:prstGeom prst="rect">
              <a:avLst/>
            </a:prstGeom>
            <a:noFill/>
          </p:spPr>
          <p:txBody>
            <a:bodyPr wrap="square">
              <a:spAutoFit/>
            </a:bodyPr>
            <a:lstStyle/>
            <a:p>
              <a:r>
                <a:rPr lang="en-US" altLang="ja-JP" sz="1200" dirty="0"/>
                <a:t>:3000</a:t>
              </a:r>
              <a:endParaRPr lang="ja-JP" altLang="en-US" sz="1200" dirty="0"/>
            </a:p>
          </p:txBody>
        </p:sp>
      </p:grpSp>
      <p:grpSp>
        <p:nvGrpSpPr>
          <p:cNvPr id="242" name="グループ化 241">
            <a:extLst>
              <a:ext uri="{FF2B5EF4-FFF2-40B4-BE49-F238E27FC236}">
                <a16:creationId xmlns:a16="http://schemas.microsoft.com/office/drawing/2014/main" id="{E5E26E1B-E644-3555-3A62-5DCCA773E7B1}"/>
              </a:ext>
            </a:extLst>
          </p:cNvPr>
          <p:cNvGrpSpPr/>
          <p:nvPr/>
        </p:nvGrpSpPr>
        <p:grpSpPr>
          <a:xfrm>
            <a:off x="2043915" y="5648135"/>
            <a:ext cx="931698" cy="372497"/>
            <a:chOff x="2254930" y="5246935"/>
            <a:chExt cx="931698" cy="372497"/>
          </a:xfrm>
        </p:grpSpPr>
        <p:pic>
          <p:nvPicPr>
            <p:cNvPr id="284" name="グラフィックス 283">
              <a:extLst>
                <a:ext uri="{FF2B5EF4-FFF2-40B4-BE49-F238E27FC236}">
                  <a16:creationId xmlns:a16="http://schemas.microsoft.com/office/drawing/2014/main" id="{FC66A578-3E32-6D0E-0B27-17658097AFEC}"/>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254930" y="5246935"/>
              <a:ext cx="372497" cy="372497"/>
            </a:xfrm>
            <a:prstGeom prst="rect">
              <a:avLst/>
            </a:prstGeom>
          </p:spPr>
        </p:pic>
        <p:sp>
          <p:nvSpPr>
            <p:cNvPr id="285" name="テキスト ボックス 284">
              <a:extLst>
                <a:ext uri="{FF2B5EF4-FFF2-40B4-BE49-F238E27FC236}">
                  <a16:creationId xmlns:a16="http://schemas.microsoft.com/office/drawing/2014/main" id="{13374A6B-7F06-AC87-376C-EF0A4EBC9B3C}"/>
                </a:ext>
              </a:extLst>
            </p:cNvPr>
            <p:cNvSpPr txBox="1"/>
            <p:nvPr/>
          </p:nvSpPr>
          <p:spPr>
            <a:xfrm>
              <a:off x="2557071" y="5306333"/>
              <a:ext cx="629557" cy="276999"/>
            </a:xfrm>
            <a:prstGeom prst="rect">
              <a:avLst/>
            </a:prstGeom>
            <a:noFill/>
          </p:spPr>
          <p:txBody>
            <a:bodyPr wrap="square">
              <a:spAutoFit/>
            </a:bodyPr>
            <a:lstStyle/>
            <a:p>
              <a:r>
                <a:rPr lang="en-US" altLang="ja-JP" sz="1200" dirty="0"/>
                <a:t>:8000</a:t>
              </a:r>
              <a:endParaRPr lang="ja-JP" altLang="en-US" sz="1200" dirty="0"/>
            </a:p>
          </p:txBody>
        </p:sp>
      </p:grpSp>
      <p:grpSp>
        <p:nvGrpSpPr>
          <p:cNvPr id="244" name="グループ化 243">
            <a:extLst>
              <a:ext uri="{FF2B5EF4-FFF2-40B4-BE49-F238E27FC236}">
                <a16:creationId xmlns:a16="http://schemas.microsoft.com/office/drawing/2014/main" id="{35580F41-81A9-EAC7-6B36-7094E3B40EF4}"/>
              </a:ext>
            </a:extLst>
          </p:cNvPr>
          <p:cNvGrpSpPr/>
          <p:nvPr/>
        </p:nvGrpSpPr>
        <p:grpSpPr>
          <a:xfrm>
            <a:off x="5550985" y="2647229"/>
            <a:ext cx="1410825" cy="998159"/>
            <a:chOff x="2368342" y="1184275"/>
            <a:chExt cx="2003841" cy="1417718"/>
          </a:xfrm>
        </p:grpSpPr>
        <p:pic>
          <p:nvPicPr>
            <p:cNvPr id="280" name="Graphic 7" descr="Amazon API Gateway service icon.">
              <a:extLst>
                <a:ext uri="{FF2B5EF4-FFF2-40B4-BE49-F238E27FC236}">
                  <a16:creationId xmlns:a16="http://schemas.microsoft.com/office/drawing/2014/main" id="{B804E069-901D-8988-A987-3CFECA2A3611}"/>
                </a:ext>
              </a:extLst>
            </p:cNvPr>
            <p:cNvPicPr>
              <a:picLocks noChangeAspect="1" noChangeArrowheads="1"/>
            </p:cNvPicPr>
            <p:nvPr/>
          </p:nvPicPr>
          <p:blipFill>
            <a:blip r:embed="rId4">
              <a:extLst>
                <a:ext uri="{96DAC541-7B7A-43D3-8B79-37D633B846F1}">
                  <asvg:svgBlip xmlns:asvg="http://schemas.microsoft.com/office/drawing/2016/SVG/main" r:embed="rId5"/>
                </a:ext>
              </a:extLst>
            </a:blip>
            <a:srcRect/>
            <a:stretch/>
          </p:blipFill>
          <p:spPr bwMode="auto">
            <a:xfrm>
              <a:off x="2989264" y="1184275"/>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1" name="TextBox 9">
              <a:extLst>
                <a:ext uri="{FF2B5EF4-FFF2-40B4-BE49-F238E27FC236}">
                  <a16:creationId xmlns:a16="http://schemas.microsoft.com/office/drawing/2014/main" id="{5D62E4E3-7941-8CF9-FA31-5C01A69A6901}"/>
                </a:ext>
              </a:extLst>
            </p:cNvPr>
            <p:cNvSpPr txBox="1">
              <a:spLocks noChangeArrowheads="1"/>
            </p:cNvSpPr>
            <p:nvPr/>
          </p:nvSpPr>
          <p:spPr bwMode="auto">
            <a:xfrm>
              <a:off x="2368342" y="1946275"/>
              <a:ext cx="2003841" cy="655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API Gateway</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(WebSocket)</a:t>
              </a:r>
            </a:p>
          </p:txBody>
        </p:sp>
      </p:grpSp>
      <p:sp>
        <p:nvSpPr>
          <p:cNvPr id="277" name="TextBox 12">
            <a:extLst>
              <a:ext uri="{FF2B5EF4-FFF2-40B4-BE49-F238E27FC236}">
                <a16:creationId xmlns:a16="http://schemas.microsoft.com/office/drawing/2014/main" id="{59A51F3C-B97C-2C1A-5644-97D389DE6338}"/>
              </a:ext>
            </a:extLst>
          </p:cNvPr>
          <p:cNvSpPr txBox="1">
            <a:spLocks noChangeArrowheads="1"/>
          </p:cNvSpPr>
          <p:nvPr/>
        </p:nvSpPr>
        <p:spPr bwMode="auto">
          <a:xfrm>
            <a:off x="1707208" y="3178518"/>
            <a:ext cx="16050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Raspberry Pi 5</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(172.16.15.7)</a:t>
            </a:r>
          </a:p>
        </p:txBody>
      </p:sp>
      <p:sp>
        <p:nvSpPr>
          <p:cNvPr id="251" name="Rectangle 103" descr="Generic group dashed.">
            <a:extLst>
              <a:ext uri="{FF2B5EF4-FFF2-40B4-BE49-F238E27FC236}">
                <a16:creationId xmlns:a16="http://schemas.microsoft.com/office/drawing/2014/main" id="{C7482BF7-D36F-6E08-1495-7433932372DF}"/>
              </a:ext>
            </a:extLst>
          </p:cNvPr>
          <p:cNvSpPr/>
          <p:nvPr/>
        </p:nvSpPr>
        <p:spPr>
          <a:xfrm>
            <a:off x="4457026" y="4158038"/>
            <a:ext cx="3541821" cy="1348227"/>
          </a:xfrm>
          <a:prstGeom prst="rect">
            <a:avLst/>
          </a:prstGeom>
          <a:noFill/>
          <a:ln w="15875">
            <a:solidFill>
              <a:srgbClr val="7D8998"/>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eaLnBrk="1" fontAlgn="auto" hangingPunct="1">
              <a:spcBef>
                <a:spcPts val="0"/>
              </a:spcBef>
              <a:spcAft>
                <a:spcPts val="0"/>
              </a:spcAft>
              <a:defRPr/>
            </a:pPr>
            <a:endParaRPr lang="en-US" sz="1200" dirty="0">
              <a:solidFill>
                <a:schemeClr val="tx1"/>
              </a:solidFill>
              <a:latin typeface="Arial" panose="020B0604020202020204" pitchFamily="34" charset="0"/>
              <a:cs typeface="Arial" panose="020B0604020202020204" pitchFamily="34" charset="0"/>
            </a:endParaRPr>
          </a:p>
        </p:txBody>
      </p:sp>
      <p:grpSp>
        <p:nvGrpSpPr>
          <p:cNvPr id="253" name="グループ化 252">
            <a:extLst>
              <a:ext uri="{FF2B5EF4-FFF2-40B4-BE49-F238E27FC236}">
                <a16:creationId xmlns:a16="http://schemas.microsoft.com/office/drawing/2014/main" id="{0E200E4B-9D07-904D-6A55-78E576EBF789}"/>
              </a:ext>
            </a:extLst>
          </p:cNvPr>
          <p:cNvGrpSpPr/>
          <p:nvPr/>
        </p:nvGrpSpPr>
        <p:grpSpPr>
          <a:xfrm>
            <a:off x="4717633" y="2645272"/>
            <a:ext cx="730725" cy="813493"/>
            <a:chOff x="3005693" y="1391828"/>
            <a:chExt cx="730725" cy="813493"/>
          </a:xfrm>
        </p:grpSpPr>
        <p:pic>
          <p:nvPicPr>
            <p:cNvPr id="274" name="Graphic 10" descr="AWS Amplify service icon.">
              <a:extLst>
                <a:ext uri="{FF2B5EF4-FFF2-40B4-BE49-F238E27FC236}">
                  <a16:creationId xmlns:a16="http://schemas.microsoft.com/office/drawing/2014/main" id="{38F9BA02-14BB-3830-F111-7BEAF7DE6796}"/>
                </a:ext>
              </a:extLst>
            </p:cNvPr>
            <p:cNvPicPr>
              <a:picLocks noChangeAspect="1" noChangeArrowheads="1"/>
            </p:cNvPicPr>
            <p:nvPr/>
          </p:nvPicPr>
          <p:blipFill>
            <a:blip r:embed="rId14">
              <a:extLst>
                <a:ext uri="{96DAC541-7B7A-43D3-8B79-37D633B846F1}">
                  <asvg:svgBlip xmlns:asvg="http://schemas.microsoft.com/office/drawing/2016/SVG/main" r:embed="rId15"/>
                </a:ext>
              </a:extLst>
            </a:blip>
            <a:srcRect/>
            <a:stretch/>
          </p:blipFill>
          <p:spPr bwMode="auto">
            <a:xfrm>
              <a:off x="3102809" y="1391828"/>
              <a:ext cx="536494" cy="536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5" name="TextBox 6">
              <a:extLst>
                <a:ext uri="{FF2B5EF4-FFF2-40B4-BE49-F238E27FC236}">
                  <a16:creationId xmlns:a16="http://schemas.microsoft.com/office/drawing/2014/main" id="{5F84CCDD-C7C3-3C75-2426-38B21A80E7B1}"/>
                </a:ext>
              </a:extLst>
            </p:cNvPr>
            <p:cNvSpPr txBox="1">
              <a:spLocks noChangeArrowheads="1"/>
            </p:cNvSpPr>
            <p:nvPr/>
          </p:nvSpPr>
          <p:spPr bwMode="auto">
            <a:xfrm>
              <a:off x="3005693" y="1928322"/>
              <a:ext cx="7307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Amplify</a:t>
              </a:r>
            </a:p>
          </p:txBody>
        </p:sp>
      </p:grpSp>
      <p:grpSp>
        <p:nvGrpSpPr>
          <p:cNvPr id="267" name="Group 1" descr="AWS Cloud group with AWS logo.">
            <a:extLst>
              <a:ext uri="{FF2B5EF4-FFF2-40B4-BE49-F238E27FC236}">
                <a16:creationId xmlns:a16="http://schemas.microsoft.com/office/drawing/2014/main" id="{678ACE75-8AAB-1343-0DE2-EFC6A9438E82}"/>
              </a:ext>
            </a:extLst>
          </p:cNvPr>
          <p:cNvGrpSpPr/>
          <p:nvPr/>
        </p:nvGrpSpPr>
        <p:grpSpPr>
          <a:xfrm>
            <a:off x="3528572" y="926869"/>
            <a:ext cx="4825253" cy="5828334"/>
            <a:chOff x="355598" y="689579"/>
            <a:chExt cx="4825253" cy="3747374"/>
          </a:xfrm>
        </p:grpSpPr>
        <p:sp>
          <p:nvSpPr>
            <p:cNvPr id="268" name="Rectangle 54">
              <a:extLst>
                <a:ext uri="{FF2B5EF4-FFF2-40B4-BE49-F238E27FC236}">
                  <a16:creationId xmlns:a16="http://schemas.microsoft.com/office/drawing/2014/main" id="{0F84CD7D-5C33-CE80-F0AF-88C4DFFEE75C}"/>
                </a:ext>
              </a:extLst>
            </p:cNvPr>
            <p:cNvSpPr/>
            <p:nvPr/>
          </p:nvSpPr>
          <p:spPr>
            <a:xfrm>
              <a:off x="355599" y="689579"/>
              <a:ext cx="4825252" cy="3747374"/>
            </a:xfrm>
            <a:prstGeom prst="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r>
                <a:rPr lang="en-US" sz="1200" dirty="0">
                  <a:solidFill>
                    <a:schemeClr val="tx1"/>
                  </a:solidFill>
                  <a:latin typeface="Arial" panose="020B0604020202020204" pitchFamily="34" charset="0"/>
                  <a:cs typeface="Arial" panose="020B0604020202020204" pitchFamily="34" charset="0"/>
                </a:rPr>
                <a:t>AWS Cloud</a:t>
              </a:r>
            </a:p>
          </p:txBody>
        </p:sp>
        <p:pic>
          <p:nvPicPr>
            <p:cNvPr id="269" name="Graphic 55" descr="AWS Cloud group icon with AWS logo.">
              <a:extLst>
                <a:ext uri="{FF2B5EF4-FFF2-40B4-BE49-F238E27FC236}">
                  <a16:creationId xmlns:a16="http://schemas.microsoft.com/office/drawing/2014/main" id="{BA65966A-9149-F814-047A-24159833A831}"/>
                </a:ext>
              </a:extLst>
            </p:cNvPr>
            <p:cNvPicPr>
              <a:picLocks noChangeAspect="1"/>
            </p:cNvPicPr>
            <p:nvPr/>
          </p:nvPicPr>
          <p:blipFill>
            <a:blip r:embed="rId16">
              <a:extLst>
                <a:ext uri="{96DAC541-7B7A-43D3-8B79-37D633B846F1}">
                  <asvg:svgBlip xmlns:asvg="http://schemas.microsoft.com/office/drawing/2016/SVG/main" r:embed="rId17"/>
                </a:ext>
              </a:extLst>
            </a:blip>
            <a:srcRect/>
            <a:stretch/>
          </p:blipFill>
          <p:spPr>
            <a:xfrm>
              <a:off x="355598" y="695923"/>
              <a:ext cx="419750" cy="287318"/>
            </a:xfrm>
            <a:prstGeom prst="rect">
              <a:avLst/>
            </a:prstGeom>
          </p:spPr>
        </p:pic>
      </p:grpSp>
      <p:sp>
        <p:nvSpPr>
          <p:cNvPr id="228" name="Rectangle 103" descr="Generic group dashed.">
            <a:extLst>
              <a:ext uri="{FF2B5EF4-FFF2-40B4-BE49-F238E27FC236}">
                <a16:creationId xmlns:a16="http://schemas.microsoft.com/office/drawing/2014/main" id="{E6B294AD-0E6B-6052-6638-77E352C6A8C1}"/>
              </a:ext>
            </a:extLst>
          </p:cNvPr>
          <p:cNvSpPr/>
          <p:nvPr/>
        </p:nvSpPr>
        <p:spPr>
          <a:xfrm>
            <a:off x="690522" y="2075537"/>
            <a:ext cx="2621698" cy="1720079"/>
          </a:xfrm>
          <a:prstGeom prst="rect">
            <a:avLst/>
          </a:prstGeom>
          <a:noFill/>
          <a:ln w="15875">
            <a:solidFill>
              <a:srgbClr val="7D8998"/>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a:defRPr/>
            </a:pPr>
            <a:r>
              <a:rPr lang="ja-JP" altLang="en-US" sz="1200" dirty="0">
                <a:solidFill>
                  <a:schemeClr val="tx1"/>
                </a:solidFill>
                <a:latin typeface="Arial" panose="020B0604020202020204" pitchFamily="34" charset="0"/>
                <a:cs typeface="Arial" panose="020B0604020202020204" pitchFamily="34" charset="0"/>
              </a:rPr>
              <a:t>教員部屋（</a:t>
            </a:r>
            <a:r>
              <a:rPr lang="en-US" altLang="ja-JP" sz="1200" dirty="0">
                <a:solidFill>
                  <a:schemeClr val="tx1"/>
                </a:solidFill>
                <a:latin typeface="Arial" panose="020B0604020202020204" pitchFamily="34" charset="0"/>
                <a:cs typeface="Arial" panose="020B0604020202020204" pitchFamily="34" charset="0"/>
              </a:rPr>
              <a:t>J1404</a:t>
            </a:r>
            <a:r>
              <a:rPr lang="ja-JP" altLang="en-US" sz="1200" dirty="0">
                <a:solidFill>
                  <a:schemeClr val="tx1"/>
                </a:solidFill>
                <a:latin typeface="Arial" panose="020B0604020202020204" pitchFamily="34" charset="0"/>
                <a:cs typeface="Arial" panose="020B0604020202020204" pitchFamily="34" charset="0"/>
              </a:rPr>
              <a:t>）</a:t>
            </a:r>
            <a:endParaRPr lang="en-US" sz="1200" dirty="0">
              <a:solidFill>
                <a:schemeClr val="tx1"/>
              </a:solidFill>
              <a:latin typeface="Arial" panose="020B0604020202020204" pitchFamily="34" charset="0"/>
              <a:cs typeface="Arial" panose="020B0604020202020204" pitchFamily="34" charset="0"/>
            </a:endParaRPr>
          </a:p>
        </p:txBody>
      </p:sp>
      <p:pic>
        <p:nvPicPr>
          <p:cNvPr id="302" name="グラフィックス 301">
            <a:extLst>
              <a:ext uri="{FF2B5EF4-FFF2-40B4-BE49-F238E27FC236}">
                <a16:creationId xmlns:a16="http://schemas.microsoft.com/office/drawing/2014/main" id="{6D34AB90-74DC-BF07-E9C4-E2298FB675B4}"/>
              </a:ext>
            </a:extLst>
          </p:cNvPr>
          <p:cNvPicPr>
            <a:picLocks noChangeAspect="1"/>
          </p:cNvPicPr>
          <p:nvPr/>
        </p:nvPicPr>
        <p:blipFill>
          <a:blip r:embed="rId18">
            <a:grayscl/>
            <a:extLst>
              <a:ext uri="{96DAC541-7B7A-43D3-8B79-37D633B846F1}">
                <asvg:svgBlip xmlns:asvg="http://schemas.microsoft.com/office/drawing/2016/SVG/main" r:embed="rId19"/>
              </a:ext>
            </a:extLst>
          </a:blip>
          <a:srcRect l="25148" t="16203" r="25948" b="16205"/>
          <a:stretch/>
        </p:blipFill>
        <p:spPr>
          <a:xfrm>
            <a:off x="1029996" y="2508789"/>
            <a:ext cx="580096" cy="801769"/>
          </a:xfrm>
          <a:prstGeom prst="rect">
            <a:avLst/>
          </a:prstGeom>
        </p:spPr>
      </p:pic>
      <p:cxnSp>
        <p:nvCxnSpPr>
          <p:cNvPr id="303" name="Straight Arrow Connector 100">
            <a:extLst>
              <a:ext uri="{FF2B5EF4-FFF2-40B4-BE49-F238E27FC236}">
                <a16:creationId xmlns:a16="http://schemas.microsoft.com/office/drawing/2014/main" id="{2DAD9FF2-F74A-A4BD-FF15-CF7752A8F6B4}"/>
              </a:ext>
            </a:extLst>
          </p:cNvPr>
          <p:cNvCxnSpPr>
            <a:cxnSpLocks/>
            <a:stCxn id="302" idx="3"/>
          </p:cNvCxnSpPr>
          <p:nvPr/>
        </p:nvCxnSpPr>
        <p:spPr>
          <a:xfrm>
            <a:off x="1610092" y="2909674"/>
            <a:ext cx="631375" cy="597"/>
          </a:xfrm>
          <a:prstGeom prst="straightConnector1">
            <a:avLst/>
          </a:prstGeom>
          <a:ln w="19050">
            <a:solidFill>
              <a:schemeClr val="tx1"/>
            </a:solidFill>
            <a:headEnd type="none" w="med" len="sm"/>
            <a:tailEnd type="none" w="med" len="sm"/>
          </a:ln>
        </p:spPr>
        <p:style>
          <a:lnRef idx="1">
            <a:schemeClr val="accent1"/>
          </a:lnRef>
          <a:fillRef idx="0">
            <a:schemeClr val="accent1"/>
          </a:fillRef>
          <a:effectRef idx="0">
            <a:schemeClr val="accent1"/>
          </a:effectRef>
          <a:fontRef idx="minor">
            <a:schemeClr val="tx1"/>
          </a:fontRef>
        </p:style>
      </p:cxnSp>
      <p:sp>
        <p:nvSpPr>
          <p:cNvPr id="306" name="Rectangle 103" descr="Generic group dashed.">
            <a:extLst>
              <a:ext uri="{FF2B5EF4-FFF2-40B4-BE49-F238E27FC236}">
                <a16:creationId xmlns:a16="http://schemas.microsoft.com/office/drawing/2014/main" id="{4A1C73E0-1202-185D-78F4-472B6A19BC59}"/>
              </a:ext>
            </a:extLst>
          </p:cNvPr>
          <p:cNvSpPr/>
          <p:nvPr/>
        </p:nvSpPr>
        <p:spPr>
          <a:xfrm>
            <a:off x="690522" y="3933107"/>
            <a:ext cx="2615365" cy="2822096"/>
          </a:xfrm>
          <a:prstGeom prst="rect">
            <a:avLst/>
          </a:prstGeom>
          <a:noFill/>
          <a:ln w="15875">
            <a:solidFill>
              <a:srgbClr val="7D8998"/>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a:defRPr/>
            </a:pPr>
            <a:r>
              <a:rPr lang="ja-JP" altLang="en-US" sz="1200" dirty="0">
                <a:solidFill>
                  <a:schemeClr val="tx1"/>
                </a:solidFill>
                <a:latin typeface="Arial" panose="020B0604020202020204" pitchFamily="34" charset="0"/>
                <a:cs typeface="Arial" panose="020B0604020202020204" pitchFamily="34" charset="0"/>
              </a:rPr>
              <a:t>学生部屋（</a:t>
            </a:r>
            <a:r>
              <a:rPr lang="en-US" altLang="ja-JP" sz="1200" dirty="0">
                <a:solidFill>
                  <a:schemeClr val="tx1"/>
                </a:solidFill>
                <a:latin typeface="Arial" panose="020B0604020202020204" pitchFamily="34" charset="0"/>
                <a:cs typeface="Arial" panose="020B0604020202020204" pitchFamily="34" charset="0"/>
              </a:rPr>
              <a:t>J1401</a:t>
            </a:r>
            <a:r>
              <a:rPr lang="ja-JP" altLang="en-US" sz="1200" dirty="0">
                <a:solidFill>
                  <a:schemeClr val="tx1"/>
                </a:solidFill>
                <a:latin typeface="Arial" panose="020B0604020202020204" pitchFamily="34" charset="0"/>
                <a:cs typeface="Arial" panose="020B0604020202020204" pitchFamily="34" charset="0"/>
              </a:rPr>
              <a:t>）</a:t>
            </a:r>
            <a:endParaRPr lang="en-US" sz="1200" dirty="0">
              <a:solidFill>
                <a:schemeClr val="tx1"/>
              </a:solidFill>
              <a:latin typeface="Arial" panose="020B0604020202020204" pitchFamily="34" charset="0"/>
              <a:cs typeface="Arial" panose="020B0604020202020204" pitchFamily="34" charset="0"/>
            </a:endParaRPr>
          </a:p>
        </p:txBody>
      </p:sp>
      <p:pic>
        <p:nvPicPr>
          <p:cNvPr id="307" name="グラフィックス 306">
            <a:extLst>
              <a:ext uri="{FF2B5EF4-FFF2-40B4-BE49-F238E27FC236}">
                <a16:creationId xmlns:a16="http://schemas.microsoft.com/office/drawing/2014/main" id="{55B044C0-988D-6AB4-5044-6C8996DB11A7}"/>
              </a:ext>
            </a:extLst>
          </p:cNvPr>
          <p:cNvPicPr>
            <a:picLocks noChangeAspect="1"/>
          </p:cNvPicPr>
          <p:nvPr/>
        </p:nvPicPr>
        <p:blipFill>
          <a:blip r:embed="rId18">
            <a:grayscl/>
            <a:extLst>
              <a:ext uri="{96DAC541-7B7A-43D3-8B79-37D633B846F1}">
                <asvg:svgBlip xmlns:asvg="http://schemas.microsoft.com/office/drawing/2016/SVG/main" r:embed="rId19"/>
              </a:ext>
            </a:extLst>
          </a:blip>
          <a:srcRect l="25148" t="16203" r="25948" b="16205"/>
          <a:stretch/>
        </p:blipFill>
        <p:spPr>
          <a:xfrm rot="16200000">
            <a:off x="1042395" y="5874413"/>
            <a:ext cx="599552" cy="828660"/>
          </a:xfrm>
          <a:prstGeom prst="rect">
            <a:avLst/>
          </a:prstGeom>
        </p:spPr>
      </p:pic>
      <p:cxnSp>
        <p:nvCxnSpPr>
          <p:cNvPr id="329" name="Straight Arrow Connector 52" descr="Double pointing horizontal arrow.">
            <a:extLst>
              <a:ext uri="{FF2B5EF4-FFF2-40B4-BE49-F238E27FC236}">
                <a16:creationId xmlns:a16="http://schemas.microsoft.com/office/drawing/2014/main" id="{9E40B543-C34B-9711-F761-09AACCD0B6D4}"/>
              </a:ext>
            </a:extLst>
          </p:cNvPr>
          <p:cNvCxnSpPr>
            <a:cxnSpLocks/>
            <a:stCxn id="290" idx="0"/>
            <a:endCxn id="297" idx="2"/>
          </p:cNvCxnSpPr>
          <p:nvPr/>
        </p:nvCxnSpPr>
        <p:spPr>
          <a:xfrm flipH="1" flipV="1">
            <a:off x="5081211" y="5380852"/>
            <a:ext cx="3010" cy="315777"/>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341" name="Straight Arrow Connector 52" descr="Double pointing horizontal arrow.">
            <a:extLst>
              <a:ext uri="{FF2B5EF4-FFF2-40B4-BE49-F238E27FC236}">
                <a16:creationId xmlns:a16="http://schemas.microsoft.com/office/drawing/2014/main" id="{6A65CBB2-517C-6848-D53B-A62C7247C7DB}"/>
              </a:ext>
            </a:extLst>
          </p:cNvPr>
          <p:cNvCxnSpPr>
            <a:cxnSpLocks/>
            <a:stCxn id="274" idx="3"/>
            <a:endCxn id="280" idx="1"/>
          </p:cNvCxnSpPr>
          <p:nvPr/>
        </p:nvCxnSpPr>
        <p:spPr>
          <a:xfrm>
            <a:off x="5351243" y="2913519"/>
            <a:ext cx="636909" cy="1957"/>
          </a:xfrm>
          <a:prstGeom prst="straightConnector1">
            <a:avLst/>
          </a:prstGeom>
          <a:ln w="15875">
            <a:solidFill>
              <a:schemeClr val="tx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grpSp>
        <p:nvGrpSpPr>
          <p:cNvPr id="345" name="グループ化 344">
            <a:extLst>
              <a:ext uri="{FF2B5EF4-FFF2-40B4-BE49-F238E27FC236}">
                <a16:creationId xmlns:a16="http://schemas.microsoft.com/office/drawing/2014/main" id="{BB09070E-CDB4-17AE-AEA0-CE486B91FE96}"/>
              </a:ext>
            </a:extLst>
          </p:cNvPr>
          <p:cNvGrpSpPr/>
          <p:nvPr/>
        </p:nvGrpSpPr>
        <p:grpSpPr>
          <a:xfrm>
            <a:off x="7023122" y="2645832"/>
            <a:ext cx="820861" cy="812933"/>
            <a:chOff x="5051089" y="1185069"/>
            <a:chExt cx="1165896" cy="1154637"/>
          </a:xfrm>
        </p:grpSpPr>
        <p:pic>
          <p:nvPicPr>
            <p:cNvPr id="346" name="Graphic 10" descr="AWS Lambda service icon.">
              <a:extLst>
                <a:ext uri="{FF2B5EF4-FFF2-40B4-BE49-F238E27FC236}">
                  <a16:creationId xmlns:a16="http://schemas.microsoft.com/office/drawing/2014/main" id="{846BD1A6-D4AE-650F-F3A4-B625F864D097}"/>
                </a:ext>
              </a:extLst>
            </p:cNvPr>
            <p:cNvPicPr>
              <a:picLocks noChangeAspect="1" noChangeArrowheads="1"/>
            </p:cNvPicPr>
            <p:nvPr/>
          </p:nvPicPr>
          <p:blipFill>
            <a:blip r:embed="rId6">
              <a:extLst>
                <a:ext uri="{96DAC541-7B7A-43D3-8B79-37D633B846F1}">
                  <asvg:svgBlip xmlns:asvg="http://schemas.microsoft.com/office/drawing/2016/SVG/main" r:embed="rId7"/>
                </a:ext>
              </a:extLst>
            </a:blip>
            <a:srcRect/>
            <a:stretch/>
          </p:blipFill>
          <p:spPr bwMode="auto">
            <a:xfrm>
              <a:off x="5246688" y="1185069"/>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7" name="TextBox 20">
              <a:extLst>
                <a:ext uri="{FF2B5EF4-FFF2-40B4-BE49-F238E27FC236}">
                  <a16:creationId xmlns:a16="http://schemas.microsoft.com/office/drawing/2014/main" id="{070B92CB-9E73-6986-AD79-FA7B36D96E03}"/>
                </a:ext>
              </a:extLst>
            </p:cNvPr>
            <p:cNvSpPr txBox="1">
              <a:spLocks noChangeArrowheads="1"/>
            </p:cNvSpPr>
            <p:nvPr/>
          </p:nvSpPr>
          <p:spPr bwMode="auto">
            <a:xfrm>
              <a:off x="5051089" y="1946275"/>
              <a:ext cx="1165896" cy="393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Lambda</a:t>
              </a:r>
            </a:p>
          </p:txBody>
        </p:sp>
      </p:grpSp>
      <p:cxnSp>
        <p:nvCxnSpPr>
          <p:cNvPr id="348" name="Straight Arrow Connector 52" descr="Double pointing horizontal arrow.">
            <a:extLst>
              <a:ext uri="{FF2B5EF4-FFF2-40B4-BE49-F238E27FC236}">
                <a16:creationId xmlns:a16="http://schemas.microsoft.com/office/drawing/2014/main" id="{C2584458-400A-1B96-4E7E-C51DBC550D2F}"/>
              </a:ext>
            </a:extLst>
          </p:cNvPr>
          <p:cNvCxnSpPr>
            <a:cxnSpLocks/>
            <a:stCxn id="280" idx="3"/>
            <a:endCxn id="346" idx="1"/>
          </p:cNvCxnSpPr>
          <p:nvPr/>
        </p:nvCxnSpPr>
        <p:spPr>
          <a:xfrm flipV="1">
            <a:off x="6524646" y="2914079"/>
            <a:ext cx="636189" cy="1397"/>
          </a:xfrm>
          <a:prstGeom prst="straightConnector1">
            <a:avLst/>
          </a:prstGeom>
          <a:ln w="15875">
            <a:solidFill>
              <a:schemeClr val="tx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grpSp>
        <p:nvGrpSpPr>
          <p:cNvPr id="361" name="グループ化 360">
            <a:extLst>
              <a:ext uri="{FF2B5EF4-FFF2-40B4-BE49-F238E27FC236}">
                <a16:creationId xmlns:a16="http://schemas.microsoft.com/office/drawing/2014/main" id="{51190D1F-EFA3-1000-5AAC-E4D96BE22220}"/>
              </a:ext>
            </a:extLst>
          </p:cNvPr>
          <p:cNvGrpSpPr/>
          <p:nvPr/>
        </p:nvGrpSpPr>
        <p:grpSpPr>
          <a:xfrm>
            <a:off x="7397897" y="3458765"/>
            <a:ext cx="71896" cy="901612"/>
            <a:chOff x="6937330" y="3141097"/>
            <a:chExt cx="71896" cy="901612"/>
          </a:xfrm>
        </p:grpSpPr>
        <p:cxnSp>
          <p:nvCxnSpPr>
            <p:cNvPr id="354" name="Straight Arrow Connector 52" descr="Double pointing horizontal arrow.">
              <a:extLst>
                <a:ext uri="{FF2B5EF4-FFF2-40B4-BE49-F238E27FC236}">
                  <a16:creationId xmlns:a16="http://schemas.microsoft.com/office/drawing/2014/main" id="{1B944671-DC4D-21B1-891D-57C2225C6174}"/>
                </a:ext>
              </a:extLst>
            </p:cNvPr>
            <p:cNvCxnSpPr>
              <a:cxnSpLocks/>
              <a:stCxn id="360" idx="0"/>
              <a:endCxn id="347" idx="2"/>
            </p:cNvCxnSpPr>
            <p:nvPr/>
          </p:nvCxnSpPr>
          <p:spPr>
            <a:xfrm flipH="1" flipV="1">
              <a:off x="6972986" y="3141097"/>
              <a:ext cx="292" cy="829716"/>
            </a:xfrm>
            <a:prstGeom prst="straightConnector1">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sp>
          <p:nvSpPr>
            <p:cNvPr id="360" name="楕円 359">
              <a:extLst>
                <a:ext uri="{FF2B5EF4-FFF2-40B4-BE49-F238E27FC236}">
                  <a16:creationId xmlns:a16="http://schemas.microsoft.com/office/drawing/2014/main" id="{ECC77E20-0A20-5794-F29D-CBF119A2601F}"/>
                </a:ext>
              </a:extLst>
            </p:cNvPr>
            <p:cNvSpPr/>
            <p:nvPr/>
          </p:nvSpPr>
          <p:spPr>
            <a:xfrm>
              <a:off x="6937330" y="3970813"/>
              <a:ext cx="71896" cy="71896"/>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62" name="TextBox 9">
            <a:extLst>
              <a:ext uri="{FF2B5EF4-FFF2-40B4-BE49-F238E27FC236}">
                <a16:creationId xmlns:a16="http://schemas.microsoft.com/office/drawing/2014/main" id="{247D3398-40AC-AE6E-F978-1D6809CF7260}"/>
              </a:ext>
            </a:extLst>
          </p:cNvPr>
          <p:cNvSpPr txBox="1">
            <a:spLocks noChangeArrowheads="1"/>
          </p:cNvSpPr>
          <p:nvPr/>
        </p:nvSpPr>
        <p:spPr bwMode="auto">
          <a:xfrm>
            <a:off x="7385849" y="3789686"/>
            <a:ext cx="76250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Stream</a:t>
            </a:r>
          </a:p>
        </p:txBody>
      </p:sp>
      <p:cxnSp>
        <p:nvCxnSpPr>
          <p:cNvPr id="369" name="Straight Arrow Connector 52" descr="Double pointing horizontal arrow.">
            <a:extLst>
              <a:ext uri="{FF2B5EF4-FFF2-40B4-BE49-F238E27FC236}">
                <a16:creationId xmlns:a16="http://schemas.microsoft.com/office/drawing/2014/main" id="{3F91C9DF-AA89-7FD4-EB3B-F64BC46F589F}"/>
              </a:ext>
            </a:extLst>
          </p:cNvPr>
          <p:cNvCxnSpPr>
            <a:cxnSpLocks/>
            <a:stCxn id="274" idx="1"/>
          </p:cNvCxnSpPr>
          <p:nvPr/>
        </p:nvCxnSpPr>
        <p:spPr>
          <a:xfrm flipH="1" flipV="1">
            <a:off x="2777961" y="2910271"/>
            <a:ext cx="2036788" cy="3248"/>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372" name="Straight Arrow Connector 52" descr="Double pointing horizontal arrow.">
            <a:extLst>
              <a:ext uri="{FF2B5EF4-FFF2-40B4-BE49-F238E27FC236}">
                <a16:creationId xmlns:a16="http://schemas.microsoft.com/office/drawing/2014/main" id="{DE5706F7-A512-9825-CD7D-F6673330A96D}"/>
              </a:ext>
            </a:extLst>
          </p:cNvPr>
          <p:cNvCxnSpPr>
            <a:cxnSpLocks/>
            <a:stCxn id="286" idx="1"/>
            <a:endCxn id="307" idx="2"/>
          </p:cNvCxnSpPr>
          <p:nvPr/>
        </p:nvCxnSpPr>
        <p:spPr>
          <a:xfrm flipH="1">
            <a:off x="1756501" y="6288743"/>
            <a:ext cx="294775" cy="0"/>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sp>
        <p:nvSpPr>
          <p:cNvPr id="380" name="Rectangle 103" descr="Generic group dashed.">
            <a:extLst>
              <a:ext uri="{FF2B5EF4-FFF2-40B4-BE49-F238E27FC236}">
                <a16:creationId xmlns:a16="http://schemas.microsoft.com/office/drawing/2014/main" id="{58F76E73-360B-8EE8-3473-1428725BB3E5}"/>
              </a:ext>
            </a:extLst>
          </p:cNvPr>
          <p:cNvSpPr/>
          <p:nvPr/>
        </p:nvSpPr>
        <p:spPr>
          <a:xfrm>
            <a:off x="4457026" y="1552760"/>
            <a:ext cx="3541821" cy="2158934"/>
          </a:xfrm>
          <a:prstGeom prst="rect">
            <a:avLst/>
          </a:prstGeom>
          <a:noFill/>
          <a:ln w="15875">
            <a:solidFill>
              <a:srgbClr val="7D8998"/>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eaLnBrk="1" fontAlgn="auto" hangingPunct="1">
              <a:spcBef>
                <a:spcPts val="0"/>
              </a:spcBef>
              <a:spcAft>
                <a:spcPts val="0"/>
              </a:spcAft>
              <a:defRPr/>
            </a:pPr>
            <a:endParaRPr lang="en-US" sz="1200" dirty="0">
              <a:solidFill>
                <a:schemeClr val="tx1"/>
              </a:solidFill>
              <a:latin typeface="Arial" panose="020B0604020202020204" pitchFamily="34" charset="0"/>
              <a:cs typeface="Arial" panose="020B0604020202020204" pitchFamily="34" charset="0"/>
            </a:endParaRPr>
          </a:p>
        </p:txBody>
      </p:sp>
      <p:sp>
        <p:nvSpPr>
          <p:cNvPr id="256" name="テキスト ボックス 255">
            <a:extLst>
              <a:ext uri="{FF2B5EF4-FFF2-40B4-BE49-F238E27FC236}">
                <a16:creationId xmlns:a16="http://schemas.microsoft.com/office/drawing/2014/main" id="{831597BC-FDF6-DADF-59F0-74ABB1CC304C}"/>
              </a:ext>
            </a:extLst>
          </p:cNvPr>
          <p:cNvSpPr txBox="1"/>
          <p:nvPr/>
        </p:nvSpPr>
        <p:spPr>
          <a:xfrm>
            <a:off x="4355739" y="1260339"/>
            <a:ext cx="2390492" cy="276999"/>
          </a:xfrm>
          <a:prstGeom prst="rect">
            <a:avLst/>
          </a:prstGeom>
          <a:solidFill>
            <a:srgbClr val="EFECE3"/>
          </a:solidFill>
        </p:spPr>
        <p:txBody>
          <a:bodyPr wrap="square" rtlCol="0">
            <a:spAutoFit/>
          </a:bodyPr>
          <a:lstStyle/>
          <a:p>
            <a:r>
              <a:rPr lang="ja-JP" altLang="en-US" sz="1200" b="1" dirty="0">
                <a:latin typeface="BIZ UDゴシック" panose="020B0400000000000000" pitchFamily="49" charset="-128"/>
                <a:ea typeface="BIZ UDゴシック" panose="020B0400000000000000" pitchFamily="49" charset="-128"/>
              </a:rPr>
              <a:t>ユーザー・在室表示サービス</a:t>
            </a:r>
            <a:endParaRPr kumimoji="1" lang="ja-JP" altLang="en-US" sz="1200" b="1" dirty="0">
              <a:latin typeface="BIZ UDゴシック" panose="020B0400000000000000" pitchFamily="49" charset="-128"/>
              <a:ea typeface="BIZ UDゴシック" panose="020B0400000000000000" pitchFamily="49" charset="-128"/>
            </a:endParaRPr>
          </a:p>
        </p:txBody>
      </p:sp>
      <p:pic>
        <p:nvPicPr>
          <p:cNvPr id="403" name="Picture 2" descr="Raspberry icon - Free download on Iconfinder">
            <a:extLst>
              <a:ext uri="{FF2B5EF4-FFF2-40B4-BE49-F238E27FC236}">
                <a16:creationId xmlns:a16="http://schemas.microsoft.com/office/drawing/2014/main" id="{2E92830B-A8A6-1DD3-4B99-24AF1C299994}"/>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244769" y="4471085"/>
            <a:ext cx="544810" cy="544810"/>
          </a:xfrm>
          <a:prstGeom prst="rect">
            <a:avLst/>
          </a:prstGeom>
          <a:noFill/>
          <a:extLst>
            <a:ext uri="{909E8E84-426E-40DD-AFC4-6F175D3DCCD1}">
              <a14:hiddenFill xmlns:a14="http://schemas.microsoft.com/office/drawing/2010/main">
                <a:solidFill>
                  <a:srgbClr val="FFFFFF"/>
                </a:solidFill>
              </a14:hiddenFill>
            </a:ext>
          </a:extLst>
        </p:spPr>
      </p:pic>
      <p:pic>
        <p:nvPicPr>
          <p:cNvPr id="404" name="Picture 2" descr="Raspberry icon - Free download on Iconfinder">
            <a:extLst>
              <a:ext uri="{FF2B5EF4-FFF2-40B4-BE49-F238E27FC236}">
                <a16:creationId xmlns:a16="http://schemas.microsoft.com/office/drawing/2014/main" id="{B97A0F57-25AC-2214-4BB8-2E17F5A912FB}"/>
              </a:ext>
            </a:extLst>
          </p:cNvPr>
          <p:cNvPicPr>
            <a:picLocks noChangeAspect="1" noChangeArrowheads="1"/>
          </p:cNvPicPr>
          <p:nvPr/>
        </p:nvPicPr>
        <p:blipFill>
          <a:blip r:embed="rId20">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244769" y="2641704"/>
            <a:ext cx="544810" cy="544810"/>
          </a:xfrm>
          <a:prstGeom prst="rect">
            <a:avLst/>
          </a:prstGeom>
          <a:noFill/>
          <a:extLst>
            <a:ext uri="{909E8E84-426E-40DD-AFC4-6F175D3DCCD1}">
              <a14:hiddenFill xmlns:a14="http://schemas.microsoft.com/office/drawing/2010/main">
                <a:solidFill>
                  <a:srgbClr val="FFFFFF"/>
                </a:solidFill>
              </a14:hiddenFill>
            </a:ext>
          </a:extLst>
        </p:spPr>
      </p:pic>
      <p:cxnSp>
        <p:nvCxnSpPr>
          <p:cNvPr id="3" name="Straight Arrow Connector 52" descr="Double pointing horizontal arrow.">
            <a:extLst>
              <a:ext uri="{FF2B5EF4-FFF2-40B4-BE49-F238E27FC236}">
                <a16:creationId xmlns:a16="http://schemas.microsoft.com/office/drawing/2014/main" id="{F583EBEC-ABE9-7171-E787-37042A99F3A2}"/>
              </a:ext>
            </a:extLst>
          </p:cNvPr>
          <p:cNvCxnSpPr>
            <a:cxnSpLocks/>
            <a:stCxn id="275" idx="2"/>
            <a:endCxn id="296" idx="0"/>
          </p:cNvCxnSpPr>
          <p:nvPr/>
        </p:nvCxnSpPr>
        <p:spPr>
          <a:xfrm flipH="1">
            <a:off x="5081211" y="3458765"/>
            <a:ext cx="1785" cy="923928"/>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sp>
        <p:nvSpPr>
          <p:cNvPr id="257" name="テキスト ボックス 256">
            <a:extLst>
              <a:ext uri="{FF2B5EF4-FFF2-40B4-BE49-F238E27FC236}">
                <a16:creationId xmlns:a16="http://schemas.microsoft.com/office/drawing/2014/main" id="{13411022-9BD7-3FE6-7148-12631B29FDDE}"/>
              </a:ext>
            </a:extLst>
          </p:cNvPr>
          <p:cNvSpPr txBox="1"/>
          <p:nvPr/>
        </p:nvSpPr>
        <p:spPr>
          <a:xfrm>
            <a:off x="4360260" y="3860479"/>
            <a:ext cx="2390492" cy="276999"/>
          </a:xfrm>
          <a:prstGeom prst="rect">
            <a:avLst/>
          </a:prstGeom>
          <a:solidFill>
            <a:srgbClr val="EFECE3"/>
          </a:solidFill>
        </p:spPr>
        <p:txBody>
          <a:bodyPr wrap="square" rtlCol="0">
            <a:spAutoFit/>
          </a:bodyPr>
          <a:lstStyle/>
          <a:p>
            <a:r>
              <a:rPr lang="ja-JP" altLang="en-US" sz="1200" b="1" dirty="0">
                <a:latin typeface="BIZ UDゴシック" panose="020B0400000000000000" pitchFamily="49" charset="-128"/>
                <a:ea typeface="BIZ UDゴシック" panose="020B0400000000000000" pitchFamily="49" charset="-128"/>
              </a:rPr>
              <a:t>ユーザー・在室登録サービス</a:t>
            </a:r>
            <a:endParaRPr kumimoji="1" lang="ja-JP" altLang="en-US" sz="1200" b="1" dirty="0">
              <a:latin typeface="BIZ UDゴシック" panose="020B0400000000000000" pitchFamily="49" charset="-128"/>
              <a:ea typeface="BIZ UDゴシック" panose="020B0400000000000000" pitchFamily="49" charset="-128"/>
            </a:endParaRPr>
          </a:p>
        </p:txBody>
      </p:sp>
      <p:cxnSp>
        <p:nvCxnSpPr>
          <p:cNvPr id="6" name="Straight Arrow Connector 52" descr="Double pointing horizontal arrow.">
            <a:extLst>
              <a:ext uri="{FF2B5EF4-FFF2-40B4-BE49-F238E27FC236}">
                <a16:creationId xmlns:a16="http://schemas.microsoft.com/office/drawing/2014/main" id="{77AA99C5-845E-A27E-8547-C1CA55726A03}"/>
              </a:ext>
            </a:extLst>
          </p:cNvPr>
          <p:cNvCxnSpPr>
            <a:cxnSpLocks/>
            <a:stCxn id="296" idx="3"/>
            <a:endCxn id="294" idx="1"/>
          </p:cNvCxnSpPr>
          <p:nvPr/>
        </p:nvCxnSpPr>
        <p:spPr>
          <a:xfrm flipV="1">
            <a:off x="5349458" y="4650632"/>
            <a:ext cx="638693" cy="308"/>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10" name="Straight Arrow Connector 52" descr="Double pointing horizontal arrow.">
            <a:extLst>
              <a:ext uri="{FF2B5EF4-FFF2-40B4-BE49-F238E27FC236}">
                <a16:creationId xmlns:a16="http://schemas.microsoft.com/office/drawing/2014/main" id="{97F64CF8-0470-AEA4-197F-49A669891FEF}"/>
              </a:ext>
            </a:extLst>
          </p:cNvPr>
          <p:cNvCxnSpPr>
            <a:cxnSpLocks/>
            <a:stCxn id="294" idx="3"/>
            <a:endCxn id="298" idx="1"/>
          </p:cNvCxnSpPr>
          <p:nvPr/>
        </p:nvCxnSpPr>
        <p:spPr>
          <a:xfrm>
            <a:off x="6524645" y="4650632"/>
            <a:ext cx="640661" cy="2899"/>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pic>
        <p:nvPicPr>
          <p:cNvPr id="4" name="Graphic 78" descr="Long-term security credential resource icon for the IAM service.">
            <a:extLst>
              <a:ext uri="{FF2B5EF4-FFF2-40B4-BE49-F238E27FC236}">
                <a16:creationId xmlns:a16="http://schemas.microsoft.com/office/drawing/2014/main" id="{0C69FE9F-D5CA-5B77-3162-64E509E9FF71}"/>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2804122" y="4178574"/>
            <a:ext cx="457200" cy="457200"/>
          </a:xfrm>
          <a:prstGeom prst="rect">
            <a:avLst/>
          </a:prstGeom>
        </p:spPr>
      </p:pic>
    </p:spTree>
    <p:extLst>
      <p:ext uri="{BB962C8B-B14F-4D97-AF65-F5344CB8AC3E}">
        <p14:creationId xmlns:p14="http://schemas.microsoft.com/office/powerpoint/2010/main" val="30279625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BFD56-350C-5754-5FF0-6A60A07B2E5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FAC0BDB-C125-DE53-0C60-DF64B9A0219C}"/>
              </a:ext>
            </a:extLst>
          </p:cNvPr>
          <p:cNvSpPr>
            <a:spLocks noGrp="1"/>
          </p:cNvSpPr>
          <p:nvPr>
            <p:ph type="title"/>
          </p:nvPr>
        </p:nvSpPr>
        <p:spPr/>
        <p:txBody>
          <a:bodyPr/>
          <a:lstStyle/>
          <a:p>
            <a:r>
              <a:rPr kumimoji="1" lang="ja-JP" altLang="en-US" dirty="0"/>
              <a:t>在室確認システムのアーキテクチャ</a:t>
            </a:r>
          </a:p>
        </p:txBody>
      </p:sp>
      <p:grpSp>
        <p:nvGrpSpPr>
          <p:cNvPr id="230" name="グループ化 229">
            <a:extLst>
              <a:ext uri="{FF2B5EF4-FFF2-40B4-BE49-F238E27FC236}">
                <a16:creationId xmlns:a16="http://schemas.microsoft.com/office/drawing/2014/main" id="{0143AE7E-AD98-D125-DD0C-7E23ED859039}"/>
              </a:ext>
            </a:extLst>
          </p:cNvPr>
          <p:cNvGrpSpPr/>
          <p:nvPr/>
        </p:nvGrpSpPr>
        <p:grpSpPr>
          <a:xfrm>
            <a:off x="6904519" y="4385283"/>
            <a:ext cx="1058068" cy="814611"/>
            <a:chOff x="4098454" y="2667000"/>
            <a:chExt cx="1502808" cy="1157017"/>
          </a:xfrm>
        </p:grpSpPr>
        <p:pic>
          <p:nvPicPr>
            <p:cNvPr id="298" name="Graphic 23" descr="Amazon DynamoDB service icon.">
              <a:extLst>
                <a:ext uri="{FF2B5EF4-FFF2-40B4-BE49-F238E27FC236}">
                  <a16:creationId xmlns:a16="http://schemas.microsoft.com/office/drawing/2014/main" id="{3A37AEC3-4D7B-A266-4DD6-3B7CD5FB431C}"/>
                </a:ext>
              </a:extLst>
            </p:cNvPr>
            <p:cNvPicPr>
              <a:picLocks noChangeAspect="1" noChangeArrowheads="1"/>
            </p:cNvPicPr>
            <p:nvPr/>
          </p:nvPicPr>
          <p:blipFill>
            <a:blip r:embed="rId2">
              <a:extLst>
                <a:ext uri="{96DAC541-7B7A-43D3-8B79-37D633B846F1}">
                  <asvg:svgBlip xmlns:asvg="http://schemas.microsoft.com/office/drawing/2016/SVG/main" r:embed="rId3"/>
                </a:ext>
              </a:extLst>
            </a:blip>
            <a:srcRect/>
            <a:stretch/>
          </p:blipFill>
          <p:spPr bwMode="auto">
            <a:xfrm>
              <a:off x="4468858" y="2667000"/>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9" name="TextBox 12">
              <a:extLst>
                <a:ext uri="{FF2B5EF4-FFF2-40B4-BE49-F238E27FC236}">
                  <a16:creationId xmlns:a16="http://schemas.microsoft.com/office/drawing/2014/main" id="{DB628AB9-02A3-12C2-BA64-CA3E62FA2F58}"/>
                </a:ext>
              </a:extLst>
            </p:cNvPr>
            <p:cNvSpPr txBox="1">
              <a:spLocks noChangeArrowheads="1"/>
            </p:cNvSpPr>
            <p:nvPr/>
          </p:nvSpPr>
          <p:spPr bwMode="auto">
            <a:xfrm>
              <a:off x="4098454" y="3430587"/>
              <a:ext cx="1502808" cy="393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DynamoDB</a:t>
              </a:r>
            </a:p>
          </p:txBody>
        </p:sp>
      </p:grpSp>
      <p:grpSp>
        <p:nvGrpSpPr>
          <p:cNvPr id="231" name="グループ化 230">
            <a:extLst>
              <a:ext uri="{FF2B5EF4-FFF2-40B4-BE49-F238E27FC236}">
                <a16:creationId xmlns:a16="http://schemas.microsoft.com/office/drawing/2014/main" id="{1A588B6C-576A-77C0-D76B-ED3E9A655C93}"/>
              </a:ext>
            </a:extLst>
          </p:cNvPr>
          <p:cNvGrpSpPr/>
          <p:nvPr/>
        </p:nvGrpSpPr>
        <p:grpSpPr>
          <a:xfrm>
            <a:off x="4522361" y="4382693"/>
            <a:ext cx="1117700" cy="998159"/>
            <a:chOff x="2576510" y="1184275"/>
            <a:chExt cx="1587506" cy="1417718"/>
          </a:xfrm>
        </p:grpSpPr>
        <p:pic>
          <p:nvPicPr>
            <p:cNvPr id="296" name="Graphic 7" descr="Amazon API Gateway service icon.">
              <a:extLst>
                <a:ext uri="{FF2B5EF4-FFF2-40B4-BE49-F238E27FC236}">
                  <a16:creationId xmlns:a16="http://schemas.microsoft.com/office/drawing/2014/main" id="{984AE1EE-C678-C893-4354-8E65EF50FAB9}"/>
                </a:ext>
              </a:extLst>
            </p:cNvPr>
            <p:cNvPicPr>
              <a:picLocks noChangeAspect="1" noChangeArrowheads="1"/>
            </p:cNvPicPr>
            <p:nvPr/>
          </p:nvPicPr>
          <p:blipFill>
            <a:blip r:embed="rId4">
              <a:extLst>
                <a:ext uri="{96DAC541-7B7A-43D3-8B79-37D633B846F1}">
                  <asvg:svgBlip xmlns:asvg="http://schemas.microsoft.com/office/drawing/2016/SVG/main" r:embed="rId5"/>
                </a:ext>
              </a:extLst>
            </a:blip>
            <a:srcRect/>
            <a:stretch/>
          </p:blipFill>
          <p:spPr bwMode="auto">
            <a:xfrm>
              <a:off x="2989263" y="1184275"/>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 name="TextBox 9">
              <a:extLst>
                <a:ext uri="{FF2B5EF4-FFF2-40B4-BE49-F238E27FC236}">
                  <a16:creationId xmlns:a16="http://schemas.microsoft.com/office/drawing/2014/main" id="{B191C0C0-674B-8770-9932-7B3CFA4B292C}"/>
                </a:ext>
              </a:extLst>
            </p:cNvPr>
            <p:cNvSpPr txBox="1">
              <a:spLocks noChangeArrowheads="1"/>
            </p:cNvSpPr>
            <p:nvPr/>
          </p:nvSpPr>
          <p:spPr bwMode="auto">
            <a:xfrm>
              <a:off x="2576510" y="1946275"/>
              <a:ext cx="1587506" cy="655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API Gateway</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(REST API)</a:t>
              </a:r>
            </a:p>
          </p:txBody>
        </p:sp>
      </p:grpSp>
      <p:grpSp>
        <p:nvGrpSpPr>
          <p:cNvPr id="232" name="グループ化 231">
            <a:extLst>
              <a:ext uri="{FF2B5EF4-FFF2-40B4-BE49-F238E27FC236}">
                <a16:creationId xmlns:a16="http://schemas.microsoft.com/office/drawing/2014/main" id="{9F6FE498-9874-AA52-5C40-0D8E79444D86}"/>
              </a:ext>
            </a:extLst>
          </p:cNvPr>
          <p:cNvGrpSpPr/>
          <p:nvPr/>
        </p:nvGrpSpPr>
        <p:grpSpPr>
          <a:xfrm>
            <a:off x="5850438" y="4382385"/>
            <a:ext cx="820861" cy="812933"/>
            <a:chOff x="5051089" y="1185069"/>
            <a:chExt cx="1165896" cy="1154637"/>
          </a:xfrm>
        </p:grpSpPr>
        <p:pic>
          <p:nvPicPr>
            <p:cNvPr id="294" name="Graphic 10" descr="AWS Lambda service icon.">
              <a:extLst>
                <a:ext uri="{FF2B5EF4-FFF2-40B4-BE49-F238E27FC236}">
                  <a16:creationId xmlns:a16="http://schemas.microsoft.com/office/drawing/2014/main" id="{3CE0EB1C-8447-A059-65E4-76A944A220BB}"/>
                </a:ext>
              </a:extLst>
            </p:cNvPr>
            <p:cNvPicPr>
              <a:picLocks noChangeAspect="1" noChangeArrowheads="1"/>
            </p:cNvPicPr>
            <p:nvPr/>
          </p:nvPicPr>
          <p:blipFill>
            <a:blip r:embed="rId6">
              <a:extLst>
                <a:ext uri="{96DAC541-7B7A-43D3-8B79-37D633B846F1}">
                  <asvg:svgBlip xmlns:asvg="http://schemas.microsoft.com/office/drawing/2016/SVG/main" r:embed="rId7"/>
                </a:ext>
              </a:extLst>
            </a:blip>
            <a:srcRect/>
            <a:stretch/>
          </p:blipFill>
          <p:spPr bwMode="auto">
            <a:xfrm>
              <a:off x="5246688" y="1185069"/>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5" name="TextBox 20">
              <a:extLst>
                <a:ext uri="{FF2B5EF4-FFF2-40B4-BE49-F238E27FC236}">
                  <a16:creationId xmlns:a16="http://schemas.microsoft.com/office/drawing/2014/main" id="{2E5CEBC0-0339-10C1-28F5-E520762349BE}"/>
                </a:ext>
              </a:extLst>
            </p:cNvPr>
            <p:cNvSpPr txBox="1">
              <a:spLocks noChangeArrowheads="1"/>
            </p:cNvSpPr>
            <p:nvPr/>
          </p:nvSpPr>
          <p:spPr bwMode="auto">
            <a:xfrm>
              <a:off x="5051089" y="1946275"/>
              <a:ext cx="1165896" cy="393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Lambda</a:t>
              </a:r>
            </a:p>
          </p:txBody>
        </p:sp>
      </p:grpSp>
      <p:grpSp>
        <p:nvGrpSpPr>
          <p:cNvPr id="234" name="グループ化 233">
            <a:extLst>
              <a:ext uri="{FF2B5EF4-FFF2-40B4-BE49-F238E27FC236}">
                <a16:creationId xmlns:a16="http://schemas.microsoft.com/office/drawing/2014/main" id="{66F7959B-BF73-8838-EB7A-308A43B1D9F8}"/>
              </a:ext>
            </a:extLst>
          </p:cNvPr>
          <p:cNvGrpSpPr/>
          <p:nvPr/>
        </p:nvGrpSpPr>
        <p:grpSpPr>
          <a:xfrm>
            <a:off x="4815974" y="5696629"/>
            <a:ext cx="536494" cy="813493"/>
            <a:chOff x="7535863" y="1001200"/>
            <a:chExt cx="762000" cy="1155431"/>
          </a:xfrm>
        </p:grpSpPr>
        <p:pic>
          <p:nvPicPr>
            <p:cNvPr id="290" name="Graphic 19" descr="AWS Identity and Access Management (IAM) service icon.">
              <a:extLst>
                <a:ext uri="{FF2B5EF4-FFF2-40B4-BE49-F238E27FC236}">
                  <a16:creationId xmlns:a16="http://schemas.microsoft.com/office/drawing/2014/main" id="{D1D93141-FDEA-B7C1-EC0D-4F8B93F65928}"/>
                </a:ext>
              </a:extLst>
            </p:cNvPr>
            <p:cNvPicPr>
              <a:picLocks noChangeAspect="1" noChangeArrowheads="1"/>
            </p:cNvPicPr>
            <p:nvPr/>
          </p:nvPicPr>
          <p:blipFill>
            <a:blip r:embed="rId8">
              <a:extLst>
                <a:ext uri="{96DAC541-7B7A-43D3-8B79-37D633B846F1}">
                  <asvg:svgBlip xmlns:asvg="http://schemas.microsoft.com/office/drawing/2016/SVG/main" r:embed="rId9"/>
                </a:ext>
              </a:extLst>
            </a:blip>
            <a:srcRect/>
            <a:stretch/>
          </p:blipFill>
          <p:spPr bwMode="auto">
            <a:xfrm>
              <a:off x="7535863" y="1001200"/>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1" name="TextBox 12">
              <a:extLst>
                <a:ext uri="{FF2B5EF4-FFF2-40B4-BE49-F238E27FC236}">
                  <a16:creationId xmlns:a16="http://schemas.microsoft.com/office/drawing/2014/main" id="{7C2E8539-93A9-F760-16B3-E2A1F64A52F6}"/>
                </a:ext>
              </a:extLst>
            </p:cNvPr>
            <p:cNvSpPr txBox="1">
              <a:spLocks noChangeArrowheads="1"/>
            </p:cNvSpPr>
            <p:nvPr/>
          </p:nvSpPr>
          <p:spPr bwMode="auto">
            <a:xfrm>
              <a:off x="7535863" y="1763200"/>
              <a:ext cx="758826" cy="393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IAM</a:t>
              </a:r>
            </a:p>
          </p:txBody>
        </p:sp>
      </p:grpSp>
      <p:sp>
        <p:nvSpPr>
          <p:cNvPr id="289" name="TextBox 12">
            <a:extLst>
              <a:ext uri="{FF2B5EF4-FFF2-40B4-BE49-F238E27FC236}">
                <a16:creationId xmlns:a16="http://schemas.microsoft.com/office/drawing/2014/main" id="{C28A754C-BB4B-F659-030C-3A5523C2BAA5}"/>
              </a:ext>
            </a:extLst>
          </p:cNvPr>
          <p:cNvSpPr txBox="1">
            <a:spLocks noChangeArrowheads="1"/>
          </p:cNvSpPr>
          <p:nvPr/>
        </p:nvSpPr>
        <p:spPr bwMode="auto">
          <a:xfrm>
            <a:off x="1707208" y="5001976"/>
            <a:ext cx="16050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Raspberry Pi 4B</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(172.16.15.8)</a:t>
            </a:r>
          </a:p>
        </p:txBody>
      </p:sp>
      <p:sp>
        <p:nvSpPr>
          <p:cNvPr id="236" name="テキスト ボックス 235">
            <a:extLst>
              <a:ext uri="{FF2B5EF4-FFF2-40B4-BE49-F238E27FC236}">
                <a16:creationId xmlns:a16="http://schemas.microsoft.com/office/drawing/2014/main" id="{D007D00D-8737-A7B1-0CDD-D77883E1F7C2}"/>
              </a:ext>
            </a:extLst>
          </p:cNvPr>
          <p:cNvSpPr txBox="1"/>
          <p:nvPr/>
        </p:nvSpPr>
        <p:spPr>
          <a:xfrm>
            <a:off x="1077353" y="4303759"/>
            <a:ext cx="1162293" cy="276999"/>
          </a:xfrm>
          <a:prstGeom prst="rect">
            <a:avLst/>
          </a:prstGeom>
          <a:noFill/>
        </p:spPr>
        <p:txBody>
          <a:bodyPr wrap="square">
            <a:spAutoFit/>
          </a:body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RC-S380 S</a:t>
            </a:r>
          </a:p>
        </p:txBody>
      </p:sp>
      <p:pic>
        <p:nvPicPr>
          <p:cNvPr id="237" name="図 236" descr="黒い背景と白い文字のロゴ&#10;&#10;AI によって生成されたコンテンツは間違っている可能性があります。">
            <a:extLst>
              <a:ext uri="{FF2B5EF4-FFF2-40B4-BE49-F238E27FC236}">
                <a16:creationId xmlns:a16="http://schemas.microsoft.com/office/drawing/2014/main" id="{40198167-7742-429D-234A-C0EFB0FC149F}"/>
              </a:ext>
            </a:extLst>
          </p:cNvPr>
          <p:cNvPicPr>
            <a:picLocks noChangeAspect="1"/>
          </p:cNvPicPr>
          <p:nvPr/>
        </p:nvPicPr>
        <p:blipFill>
          <a:blip r:embed="rId10">
            <a:biLevel thresh="50000"/>
            <a:extLst>
              <a:ext uri="{28A0092B-C50C-407E-A947-70E740481C1C}">
                <a14:useLocalDpi xmlns:a14="http://schemas.microsoft.com/office/drawing/2010/main" val="0"/>
              </a:ext>
            </a:extLst>
          </a:blip>
          <a:srcRect t="19474" b="18132"/>
          <a:stretch/>
        </p:blipFill>
        <p:spPr>
          <a:xfrm flipH="1">
            <a:off x="693160" y="4508703"/>
            <a:ext cx="1605014" cy="751622"/>
          </a:xfrm>
          <a:prstGeom prst="rect">
            <a:avLst/>
          </a:prstGeom>
        </p:spPr>
      </p:pic>
      <p:cxnSp>
        <p:nvCxnSpPr>
          <p:cNvPr id="238" name="Straight Arrow Connector 74" descr="Up and down pointing vertical arrow.">
            <a:extLst>
              <a:ext uri="{FF2B5EF4-FFF2-40B4-BE49-F238E27FC236}">
                <a16:creationId xmlns:a16="http://schemas.microsoft.com/office/drawing/2014/main" id="{2B73E64B-11A7-3AEC-DF14-881C893C51B6}"/>
              </a:ext>
            </a:extLst>
          </p:cNvPr>
          <p:cNvCxnSpPr>
            <a:cxnSpLocks/>
            <a:endCxn id="296" idx="1"/>
          </p:cNvCxnSpPr>
          <p:nvPr/>
        </p:nvCxnSpPr>
        <p:spPr>
          <a:xfrm>
            <a:off x="2777961" y="4650940"/>
            <a:ext cx="2035003" cy="0"/>
          </a:xfrm>
          <a:prstGeom prst="straightConnector1">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grpSp>
        <p:nvGrpSpPr>
          <p:cNvPr id="241" name="グループ化 240">
            <a:extLst>
              <a:ext uri="{FF2B5EF4-FFF2-40B4-BE49-F238E27FC236}">
                <a16:creationId xmlns:a16="http://schemas.microsoft.com/office/drawing/2014/main" id="{941E5AE7-252F-B8CC-0917-82DAA2707678}"/>
              </a:ext>
            </a:extLst>
          </p:cNvPr>
          <p:cNvGrpSpPr/>
          <p:nvPr/>
        </p:nvGrpSpPr>
        <p:grpSpPr>
          <a:xfrm>
            <a:off x="2051276" y="6087076"/>
            <a:ext cx="924337" cy="403333"/>
            <a:chOff x="2262291" y="5685876"/>
            <a:chExt cx="924337" cy="403333"/>
          </a:xfrm>
        </p:grpSpPr>
        <p:pic>
          <p:nvPicPr>
            <p:cNvPr id="286" name="図 285" descr="アイコン&#10;&#10;AI によって生成されたコンテンツは間違っている可能性があります。">
              <a:extLst>
                <a:ext uri="{FF2B5EF4-FFF2-40B4-BE49-F238E27FC236}">
                  <a16:creationId xmlns:a16="http://schemas.microsoft.com/office/drawing/2014/main" id="{1EF93901-4DFA-B755-6005-1A1EB9AE6A09}"/>
                </a:ext>
              </a:extLst>
            </p:cNvPr>
            <p:cNvPicPr>
              <a:picLocks noChangeAspect="1"/>
            </p:cNvPicPr>
            <p:nvPr/>
          </p:nvPicPr>
          <p:blipFill>
            <a:blip r:embed="rId11">
              <a:extLst>
                <a:ext uri="{28A0092B-C50C-407E-A947-70E740481C1C}">
                  <a14:useLocalDpi xmlns:a14="http://schemas.microsoft.com/office/drawing/2010/main" val="0"/>
                </a:ext>
              </a:extLst>
            </a:blip>
            <a:srcRect l="10553" t="5709" r="9769" b="4466"/>
            <a:stretch/>
          </p:blipFill>
          <p:spPr>
            <a:xfrm>
              <a:off x="2262291" y="5685876"/>
              <a:ext cx="357774" cy="403333"/>
            </a:xfrm>
            <a:prstGeom prst="rect">
              <a:avLst/>
            </a:prstGeom>
          </p:spPr>
        </p:pic>
        <p:sp>
          <p:nvSpPr>
            <p:cNvPr id="287" name="テキスト ボックス 286">
              <a:extLst>
                <a:ext uri="{FF2B5EF4-FFF2-40B4-BE49-F238E27FC236}">
                  <a16:creationId xmlns:a16="http://schemas.microsoft.com/office/drawing/2014/main" id="{FBEDCC4B-A076-7919-6FF0-9CE05DDC4FE2}"/>
                </a:ext>
              </a:extLst>
            </p:cNvPr>
            <p:cNvSpPr txBox="1"/>
            <p:nvPr/>
          </p:nvSpPr>
          <p:spPr>
            <a:xfrm>
              <a:off x="2557071" y="5749042"/>
              <a:ext cx="629557" cy="276999"/>
            </a:xfrm>
            <a:prstGeom prst="rect">
              <a:avLst/>
            </a:prstGeom>
            <a:noFill/>
          </p:spPr>
          <p:txBody>
            <a:bodyPr wrap="square">
              <a:spAutoFit/>
            </a:bodyPr>
            <a:lstStyle/>
            <a:p>
              <a:r>
                <a:rPr lang="en-US" altLang="ja-JP" sz="1200" dirty="0"/>
                <a:t>:3000</a:t>
              </a:r>
              <a:endParaRPr lang="ja-JP" altLang="en-US" sz="1200" dirty="0"/>
            </a:p>
          </p:txBody>
        </p:sp>
      </p:grpSp>
      <p:grpSp>
        <p:nvGrpSpPr>
          <p:cNvPr id="242" name="グループ化 241">
            <a:extLst>
              <a:ext uri="{FF2B5EF4-FFF2-40B4-BE49-F238E27FC236}">
                <a16:creationId xmlns:a16="http://schemas.microsoft.com/office/drawing/2014/main" id="{EB7E3FBE-FA2A-FFB8-0344-6B4E9A51FAD5}"/>
              </a:ext>
            </a:extLst>
          </p:cNvPr>
          <p:cNvGrpSpPr/>
          <p:nvPr/>
        </p:nvGrpSpPr>
        <p:grpSpPr>
          <a:xfrm>
            <a:off x="2043915" y="5648135"/>
            <a:ext cx="931698" cy="372497"/>
            <a:chOff x="2254930" y="5246935"/>
            <a:chExt cx="931698" cy="372497"/>
          </a:xfrm>
        </p:grpSpPr>
        <p:pic>
          <p:nvPicPr>
            <p:cNvPr id="284" name="グラフィックス 283">
              <a:extLst>
                <a:ext uri="{FF2B5EF4-FFF2-40B4-BE49-F238E27FC236}">
                  <a16:creationId xmlns:a16="http://schemas.microsoft.com/office/drawing/2014/main" id="{FC14847F-8296-ADFB-15F0-8E1505D2417C}"/>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254930" y="5246935"/>
              <a:ext cx="372497" cy="372497"/>
            </a:xfrm>
            <a:prstGeom prst="rect">
              <a:avLst/>
            </a:prstGeom>
          </p:spPr>
        </p:pic>
        <p:sp>
          <p:nvSpPr>
            <p:cNvPr id="285" name="テキスト ボックス 284">
              <a:extLst>
                <a:ext uri="{FF2B5EF4-FFF2-40B4-BE49-F238E27FC236}">
                  <a16:creationId xmlns:a16="http://schemas.microsoft.com/office/drawing/2014/main" id="{EB0B8715-ABA6-ED2C-D8D4-F6D9F4FB5906}"/>
                </a:ext>
              </a:extLst>
            </p:cNvPr>
            <p:cNvSpPr txBox="1"/>
            <p:nvPr/>
          </p:nvSpPr>
          <p:spPr>
            <a:xfrm>
              <a:off x="2557071" y="5306333"/>
              <a:ext cx="629557" cy="276999"/>
            </a:xfrm>
            <a:prstGeom prst="rect">
              <a:avLst/>
            </a:prstGeom>
            <a:noFill/>
          </p:spPr>
          <p:txBody>
            <a:bodyPr wrap="square">
              <a:spAutoFit/>
            </a:bodyPr>
            <a:lstStyle/>
            <a:p>
              <a:r>
                <a:rPr lang="en-US" altLang="ja-JP" sz="1200" dirty="0"/>
                <a:t>:8000</a:t>
              </a:r>
              <a:endParaRPr lang="ja-JP" altLang="en-US" sz="1200" dirty="0"/>
            </a:p>
          </p:txBody>
        </p:sp>
      </p:grpSp>
      <p:grpSp>
        <p:nvGrpSpPr>
          <p:cNvPr id="244" name="グループ化 243">
            <a:extLst>
              <a:ext uri="{FF2B5EF4-FFF2-40B4-BE49-F238E27FC236}">
                <a16:creationId xmlns:a16="http://schemas.microsoft.com/office/drawing/2014/main" id="{B559A593-F8D9-00DB-23F6-B8C98E948DC4}"/>
              </a:ext>
            </a:extLst>
          </p:cNvPr>
          <p:cNvGrpSpPr/>
          <p:nvPr/>
        </p:nvGrpSpPr>
        <p:grpSpPr>
          <a:xfrm>
            <a:off x="5550985" y="2647229"/>
            <a:ext cx="1410825" cy="998159"/>
            <a:chOff x="2368342" y="1184275"/>
            <a:chExt cx="2003841" cy="1417718"/>
          </a:xfrm>
        </p:grpSpPr>
        <p:pic>
          <p:nvPicPr>
            <p:cNvPr id="280" name="Graphic 7" descr="Amazon API Gateway service icon.">
              <a:extLst>
                <a:ext uri="{FF2B5EF4-FFF2-40B4-BE49-F238E27FC236}">
                  <a16:creationId xmlns:a16="http://schemas.microsoft.com/office/drawing/2014/main" id="{D4E1EC7D-71BE-68AB-2090-974C4638BD7E}"/>
                </a:ext>
              </a:extLst>
            </p:cNvPr>
            <p:cNvPicPr>
              <a:picLocks noChangeAspect="1" noChangeArrowheads="1"/>
            </p:cNvPicPr>
            <p:nvPr/>
          </p:nvPicPr>
          <p:blipFill>
            <a:blip r:embed="rId4">
              <a:extLst>
                <a:ext uri="{96DAC541-7B7A-43D3-8B79-37D633B846F1}">
                  <asvg:svgBlip xmlns:asvg="http://schemas.microsoft.com/office/drawing/2016/SVG/main" r:embed="rId5"/>
                </a:ext>
              </a:extLst>
            </a:blip>
            <a:srcRect/>
            <a:stretch/>
          </p:blipFill>
          <p:spPr bwMode="auto">
            <a:xfrm>
              <a:off x="2989264" y="1184275"/>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1" name="TextBox 9">
              <a:extLst>
                <a:ext uri="{FF2B5EF4-FFF2-40B4-BE49-F238E27FC236}">
                  <a16:creationId xmlns:a16="http://schemas.microsoft.com/office/drawing/2014/main" id="{F6E744A5-617D-FE61-8E5C-96C8379F3699}"/>
                </a:ext>
              </a:extLst>
            </p:cNvPr>
            <p:cNvSpPr txBox="1">
              <a:spLocks noChangeArrowheads="1"/>
            </p:cNvSpPr>
            <p:nvPr/>
          </p:nvSpPr>
          <p:spPr bwMode="auto">
            <a:xfrm>
              <a:off x="2368342" y="1946275"/>
              <a:ext cx="2003841" cy="655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API Gateway</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(WebSocket)</a:t>
              </a:r>
            </a:p>
          </p:txBody>
        </p:sp>
      </p:grpSp>
      <p:sp>
        <p:nvSpPr>
          <p:cNvPr id="277" name="TextBox 12">
            <a:extLst>
              <a:ext uri="{FF2B5EF4-FFF2-40B4-BE49-F238E27FC236}">
                <a16:creationId xmlns:a16="http://schemas.microsoft.com/office/drawing/2014/main" id="{A2B96B76-9860-E3D1-02FB-7E7C77CEE2BA}"/>
              </a:ext>
            </a:extLst>
          </p:cNvPr>
          <p:cNvSpPr txBox="1">
            <a:spLocks noChangeArrowheads="1"/>
          </p:cNvSpPr>
          <p:nvPr/>
        </p:nvSpPr>
        <p:spPr bwMode="auto">
          <a:xfrm>
            <a:off x="1707208" y="3178518"/>
            <a:ext cx="16050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Raspberry Pi 5</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(172.16.15.7)</a:t>
            </a:r>
          </a:p>
        </p:txBody>
      </p:sp>
      <p:sp>
        <p:nvSpPr>
          <p:cNvPr id="251" name="Rectangle 103" descr="Generic group dashed.">
            <a:extLst>
              <a:ext uri="{FF2B5EF4-FFF2-40B4-BE49-F238E27FC236}">
                <a16:creationId xmlns:a16="http://schemas.microsoft.com/office/drawing/2014/main" id="{1907DAF0-4236-3E66-624D-C27D681B1BA6}"/>
              </a:ext>
            </a:extLst>
          </p:cNvPr>
          <p:cNvSpPr/>
          <p:nvPr/>
        </p:nvSpPr>
        <p:spPr>
          <a:xfrm>
            <a:off x="4457026" y="4158038"/>
            <a:ext cx="3541821" cy="1348227"/>
          </a:xfrm>
          <a:prstGeom prst="rect">
            <a:avLst/>
          </a:prstGeom>
          <a:noFill/>
          <a:ln w="15875">
            <a:solidFill>
              <a:srgbClr val="7D8998"/>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eaLnBrk="1" fontAlgn="auto" hangingPunct="1">
              <a:spcBef>
                <a:spcPts val="0"/>
              </a:spcBef>
              <a:spcAft>
                <a:spcPts val="0"/>
              </a:spcAft>
              <a:defRPr/>
            </a:pPr>
            <a:endParaRPr lang="en-US" sz="1200" dirty="0">
              <a:solidFill>
                <a:schemeClr val="tx1"/>
              </a:solidFill>
              <a:latin typeface="Arial" panose="020B0604020202020204" pitchFamily="34" charset="0"/>
              <a:cs typeface="Arial" panose="020B0604020202020204" pitchFamily="34" charset="0"/>
            </a:endParaRPr>
          </a:p>
        </p:txBody>
      </p:sp>
      <p:grpSp>
        <p:nvGrpSpPr>
          <p:cNvPr id="253" name="グループ化 252">
            <a:extLst>
              <a:ext uri="{FF2B5EF4-FFF2-40B4-BE49-F238E27FC236}">
                <a16:creationId xmlns:a16="http://schemas.microsoft.com/office/drawing/2014/main" id="{D2CC37E9-F562-E82D-EBD9-EFD57A07D9FC}"/>
              </a:ext>
            </a:extLst>
          </p:cNvPr>
          <p:cNvGrpSpPr/>
          <p:nvPr/>
        </p:nvGrpSpPr>
        <p:grpSpPr>
          <a:xfrm>
            <a:off x="4717633" y="2645272"/>
            <a:ext cx="730725" cy="813493"/>
            <a:chOff x="3005693" y="1391828"/>
            <a:chExt cx="730725" cy="813493"/>
          </a:xfrm>
        </p:grpSpPr>
        <p:pic>
          <p:nvPicPr>
            <p:cNvPr id="274" name="Graphic 10" descr="AWS Amplify service icon.">
              <a:extLst>
                <a:ext uri="{FF2B5EF4-FFF2-40B4-BE49-F238E27FC236}">
                  <a16:creationId xmlns:a16="http://schemas.microsoft.com/office/drawing/2014/main" id="{1E3482D3-18D0-EAD5-1C0F-A1D0B8F4FEE9}"/>
                </a:ext>
              </a:extLst>
            </p:cNvPr>
            <p:cNvPicPr>
              <a:picLocks noChangeAspect="1" noChangeArrowheads="1"/>
            </p:cNvPicPr>
            <p:nvPr/>
          </p:nvPicPr>
          <p:blipFill>
            <a:blip r:embed="rId14">
              <a:extLst>
                <a:ext uri="{96DAC541-7B7A-43D3-8B79-37D633B846F1}">
                  <asvg:svgBlip xmlns:asvg="http://schemas.microsoft.com/office/drawing/2016/SVG/main" r:embed="rId15"/>
                </a:ext>
              </a:extLst>
            </a:blip>
            <a:srcRect/>
            <a:stretch/>
          </p:blipFill>
          <p:spPr bwMode="auto">
            <a:xfrm>
              <a:off x="3102809" y="1391828"/>
              <a:ext cx="536494" cy="536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5" name="TextBox 6">
              <a:extLst>
                <a:ext uri="{FF2B5EF4-FFF2-40B4-BE49-F238E27FC236}">
                  <a16:creationId xmlns:a16="http://schemas.microsoft.com/office/drawing/2014/main" id="{8B873385-D5BB-8234-5ABC-AB18289C1F6E}"/>
                </a:ext>
              </a:extLst>
            </p:cNvPr>
            <p:cNvSpPr txBox="1">
              <a:spLocks noChangeArrowheads="1"/>
            </p:cNvSpPr>
            <p:nvPr/>
          </p:nvSpPr>
          <p:spPr bwMode="auto">
            <a:xfrm>
              <a:off x="3005693" y="1928322"/>
              <a:ext cx="7307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Amplify</a:t>
              </a:r>
            </a:p>
          </p:txBody>
        </p:sp>
      </p:grpSp>
      <p:grpSp>
        <p:nvGrpSpPr>
          <p:cNvPr id="261" name="グループ化 260">
            <a:extLst>
              <a:ext uri="{FF2B5EF4-FFF2-40B4-BE49-F238E27FC236}">
                <a16:creationId xmlns:a16="http://schemas.microsoft.com/office/drawing/2014/main" id="{D11ABB8D-0FDF-7933-4AED-BE0711F9DAA1}"/>
              </a:ext>
            </a:extLst>
          </p:cNvPr>
          <p:cNvGrpSpPr/>
          <p:nvPr/>
        </p:nvGrpSpPr>
        <p:grpSpPr>
          <a:xfrm>
            <a:off x="3645809" y="5683375"/>
            <a:ext cx="1020292" cy="992557"/>
            <a:chOff x="3864463" y="3839626"/>
            <a:chExt cx="1020292" cy="992557"/>
          </a:xfrm>
        </p:grpSpPr>
        <p:pic>
          <p:nvPicPr>
            <p:cNvPr id="272" name="Graphic 17" descr="Amazon Cognito service icon.">
              <a:extLst>
                <a:ext uri="{FF2B5EF4-FFF2-40B4-BE49-F238E27FC236}">
                  <a16:creationId xmlns:a16="http://schemas.microsoft.com/office/drawing/2014/main" id="{AB2D1062-3AF1-52CA-AB72-1A4967571A77}"/>
                </a:ext>
              </a:extLst>
            </p:cNvPr>
            <p:cNvPicPr>
              <a:picLocks noChangeAspect="1" noChangeArrowheads="1"/>
            </p:cNvPicPr>
            <p:nvPr/>
          </p:nvPicPr>
          <p:blipFill>
            <a:blip r:embed="rId16">
              <a:extLst>
                <a:ext uri="{96DAC541-7B7A-43D3-8B79-37D633B846F1}">
                  <asvg:svgBlip xmlns:asvg="http://schemas.microsoft.com/office/drawing/2016/SVG/main" r:embed="rId17"/>
                </a:ext>
              </a:extLst>
            </a:blip>
            <a:srcRect/>
            <a:stretch/>
          </p:blipFill>
          <p:spPr bwMode="auto">
            <a:xfrm>
              <a:off x="4106362" y="3839626"/>
              <a:ext cx="536494" cy="536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3" name="TextBox 11">
              <a:extLst>
                <a:ext uri="{FF2B5EF4-FFF2-40B4-BE49-F238E27FC236}">
                  <a16:creationId xmlns:a16="http://schemas.microsoft.com/office/drawing/2014/main" id="{2C723860-B8E2-47F7-8BB0-66F3A71C7A39}"/>
                </a:ext>
              </a:extLst>
            </p:cNvPr>
            <p:cNvSpPr txBox="1">
              <a:spLocks noChangeArrowheads="1"/>
            </p:cNvSpPr>
            <p:nvPr/>
          </p:nvSpPr>
          <p:spPr bwMode="auto">
            <a:xfrm>
              <a:off x="3864463" y="4370518"/>
              <a:ext cx="102029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Cognito</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(ID Pool)</a:t>
              </a:r>
            </a:p>
          </p:txBody>
        </p:sp>
      </p:grpSp>
      <p:cxnSp>
        <p:nvCxnSpPr>
          <p:cNvPr id="263" name="Elbow Connector 22" descr="Elbow horizontal arrow pointing right (1).">
            <a:extLst>
              <a:ext uri="{FF2B5EF4-FFF2-40B4-BE49-F238E27FC236}">
                <a16:creationId xmlns:a16="http://schemas.microsoft.com/office/drawing/2014/main" id="{0F0F1CBC-3519-48EB-80AC-1EF1F94E4C18}"/>
              </a:ext>
            </a:extLst>
          </p:cNvPr>
          <p:cNvCxnSpPr>
            <a:cxnSpLocks/>
            <a:stCxn id="272" idx="0"/>
          </p:cNvCxnSpPr>
          <p:nvPr/>
        </p:nvCxnSpPr>
        <p:spPr>
          <a:xfrm rot="16200000" flipV="1">
            <a:off x="3030452" y="4557872"/>
            <a:ext cx="866319" cy="1384688"/>
          </a:xfrm>
          <a:prstGeom prst="bentConnector2">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pic>
        <p:nvPicPr>
          <p:cNvPr id="264" name="Graphic 86" descr="Temporary security credential resource icon for the IAM service.">
            <a:extLst>
              <a:ext uri="{FF2B5EF4-FFF2-40B4-BE49-F238E27FC236}">
                <a16:creationId xmlns:a16="http://schemas.microsoft.com/office/drawing/2014/main" id="{85730D8E-8306-02A1-A3FA-426874CA29CC}"/>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3663828" y="5053261"/>
            <a:ext cx="416212" cy="416212"/>
          </a:xfrm>
          <a:prstGeom prst="rect">
            <a:avLst/>
          </a:prstGeom>
        </p:spPr>
      </p:pic>
      <p:grpSp>
        <p:nvGrpSpPr>
          <p:cNvPr id="267" name="Group 1" descr="AWS Cloud group with AWS logo.">
            <a:extLst>
              <a:ext uri="{FF2B5EF4-FFF2-40B4-BE49-F238E27FC236}">
                <a16:creationId xmlns:a16="http://schemas.microsoft.com/office/drawing/2014/main" id="{12E63C67-E70C-D8C9-9D4E-787E4C5D7A42}"/>
              </a:ext>
            </a:extLst>
          </p:cNvPr>
          <p:cNvGrpSpPr/>
          <p:nvPr/>
        </p:nvGrpSpPr>
        <p:grpSpPr>
          <a:xfrm>
            <a:off x="3528572" y="926869"/>
            <a:ext cx="4825253" cy="5828334"/>
            <a:chOff x="355598" y="689579"/>
            <a:chExt cx="4825253" cy="3747374"/>
          </a:xfrm>
        </p:grpSpPr>
        <p:sp>
          <p:nvSpPr>
            <p:cNvPr id="268" name="Rectangle 54">
              <a:extLst>
                <a:ext uri="{FF2B5EF4-FFF2-40B4-BE49-F238E27FC236}">
                  <a16:creationId xmlns:a16="http://schemas.microsoft.com/office/drawing/2014/main" id="{26B7CFBA-2126-E886-ECBF-A9C878393357}"/>
                </a:ext>
              </a:extLst>
            </p:cNvPr>
            <p:cNvSpPr/>
            <p:nvPr/>
          </p:nvSpPr>
          <p:spPr>
            <a:xfrm>
              <a:off x="355599" y="689579"/>
              <a:ext cx="4825252" cy="3747374"/>
            </a:xfrm>
            <a:prstGeom prst="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r>
                <a:rPr lang="en-US" sz="1200" dirty="0">
                  <a:solidFill>
                    <a:schemeClr val="tx1"/>
                  </a:solidFill>
                  <a:latin typeface="Arial" panose="020B0604020202020204" pitchFamily="34" charset="0"/>
                  <a:cs typeface="Arial" panose="020B0604020202020204" pitchFamily="34" charset="0"/>
                </a:rPr>
                <a:t>AWS Cloud</a:t>
              </a:r>
            </a:p>
          </p:txBody>
        </p:sp>
        <p:pic>
          <p:nvPicPr>
            <p:cNvPr id="269" name="Graphic 55" descr="AWS Cloud group icon with AWS logo.">
              <a:extLst>
                <a:ext uri="{FF2B5EF4-FFF2-40B4-BE49-F238E27FC236}">
                  <a16:creationId xmlns:a16="http://schemas.microsoft.com/office/drawing/2014/main" id="{66102DE5-D320-DEAA-F037-91B9B50FEB47}"/>
                </a:ext>
              </a:extLst>
            </p:cNvPr>
            <p:cNvPicPr>
              <a:picLocks noChangeAspect="1"/>
            </p:cNvPicPr>
            <p:nvPr/>
          </p:nvPicPr>
          <p:blipFill>
            <a:blip r:embed="rId20">
              <a:extLst>
                <a:ext uri="{96DAC541-7B7A-43D3-8B79-37D633B846F1}">
                  <asvg:svgBlip xmlns:asvg="http://schemas.microsoft.com/office/drawing/2016/SVG/main" r:embed="rId21"/>
                </a:ext>
              </a:extLst>
            </a:blip>
            <a:srcRect/>
            <a:stretch/>
          </p:blipFill>
          <p:spPr>
            <a:xfrm>
              <a:off x="355598" y="695923"/>
              <a:ext cx="419750" cy="287318"/>
            </a:xfrm>
            <a:prstGeom prst="rect">
              <a:avLst/>
            </a:prstGeom>
          </p:spPr>
        </p:pic>
      </p:grpSp>
      <p:sp>
        <p:nvSpPr>
          <p:cNvPr id="228" name="Rectangle 103" descr="Generic group dashed.">
            <a:extLst>
              <a:ext uri="{FF2B5EF4-FFF2-40B4-BE49-F238E27FC236}">
                <a16:creationId xmlns:a16="http://schemas.microsoft.com/office/drawing/2014/main" id="{862F2158-DAE2-A650-E904-489A8C0F425D}"/>
              </a:ext>
            </a:extLst>
          </p:cNvPr>
          <p:cNvSpPr/>
          <p:nvPr/>
        </p:nvSpPr>
        <p:spPr>
          <a:xfrm>
            <a:off x="690522" y="2075537"/>
            <a:ext cx="2621698" cy="1720079"/>
          </a:xfrm>
          <a:prstGeom prst="rect">
            <a:avLst/>
          </a:prstGeom>
          <a:noFill/>
          <a:ln w="15875">
            <a:solidFill>
              <a:srgbClr val="7D8998"/>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a:defRPr/>
            </a:pPr>
            <a:r>
              <a:rPr lang="ja-JP" altLang="en-US" sz="1200" dirty="0">
                <a:solidFill>
                  <a:schemeClr val="tx1"/>
                </a:solidFill>
                <a:latin typeface="Arial" panose="020B0604020202020204" pitchFamily="34" charset="0"/>
                <a:cs typeface="Arial" panose="020B0604020202020204" pitchFamily="34" charset="0"/>
              </a:rPr>
              <a:t>教員部屋（</a:t>
            </a:r>
            <a:r>
              <a:rPr lang="en-US" altLang="ja-JP" sz="1200" dirty="0">
                <a:solidFill>
                  <a:schemeClr val="tx1"/>
                </a:solidFill>
                <a:latin typeface="Arial" panose="020B0604020202020204" pitchFamily="34" charset="0"/>
                <a:cs typeface="Arial" panose="020B0604020202020204" pitchFamily="34" charset="0"/>
              </a:rPr>
              <a:t>J1404</a:t>
            </a:r>
            <a:r>
              <a:rPr lang="ja-JP" altLang="en-US" sz="1200" dirty="0">
                <a:solidFill>
                  <a:schemeClr val="tx1"/>
                </a:solidFill>
                <a:latin typeface="Arial" panose="020B0604020202020204" pitchFamily="34" charset="0"/>
                <a:cs typeface="Arial" panose="020B0604020202020204" pitchFamily="34" charset="0"/>
              </a:rPr>
              <a:t>）</a:t>
            </a:r>
            <a:endParaRPr lang="en-US" sz="1200" dirty="0">
              <a:solidFill>
                <a:schemeClr val="tx1"/>
              </a:solidFill>
              <a:latin typeface="Arial" panose="020B0604020202020204" pitchFamily="34" charset="0"/>
              <a:cs typeface="Arial" panose="020B0604020202020204" pitchFamily="34" charset="0"/>
            </a:endParaRPr>
          </a:p>
        </p:txBody>
      </p:sp>
      <p:pic>
        <p:nvPicPr>
          <p:cNvPr id="302" name="グラフィックス 301">
            <a:extLst>
              <a:ext uri="{FF2B5EF4-FFF2-40B4-BE49-F238E27FC236}">
                <a16:creationId xmlns:a16="http://schemas.microsoft.com/office/drawing/2014/main" id="{9B9502E6-EFB8-7A4D-47E2-191AE3C39FE2}"/>
              </a:ext>
            </a:extLst>
          </p:cNvPr>
          <p:cNvPicPr>
            <a:picLocks noChangeAspect="1"/>
          </p:cNvPicPr>
          <p:nvPr/>
        </p:nvPicPr>
        <p:blipFill>
          <a:blip r:embed="rId22">
            <a:grayscl/>
            <a:extLst>
              <a:ext uri="{96DAC541-7B7A-43D3-8B79-37D633B846F1}">
                <asvg:svgBlip xmlns:asvg="http://schemas.microsoft.com/office/drawing/2016/SVG/main" r:embed="rId23"/>
              </a:ext>
            </a:extLst>
          </a:blip>
          <a:srcRect l="25148" t="16203" r="25948" b="16205"/>
          <a:stretch/>
        </p:blipFill>
        <p:spPr>
          <a:xfrm>
            <a:off x="1029996" y="2508789"/>
            <a:ext cx="580096" cy="801769"/>
          </a:xfrm>
          <a:prstGeom prst="rect">
            <a:avLst/>
          </a:prstGeom>
        </p:spPr>
      </p:pic>
      <p:cxnSp>
        <p:nvCxnSpPr>
          <p:cNvPr id="303" name="Straight Arrow Connector 100">
            <a:extLst>
              <a:ext uri="{FF2B5EF4-FFF2-40B4-BE49-F238E27FC236}">
                <a16:creationId xmlns:a16="http://schemas.microsoft.com/office/drawing/2014/main" id="{330ED0B3-E6A9-0E46-2655-4A3655AD5C24}"/>
              </a:ext>
            </a:extLst>
          </p:cNvPr>
          <p:cNvCxnSpPr>
            <a:cxnSpLocks/>
            <a:stCxn id="302" idx="3"/>
          </p:cNvCxnSpPr>
          <p:nvPr/>
        </p:nvCxnSpPr>
        <p:spPr>
          <a:xfrm>
            <a:off x="1610092" y="2909674"/>
            <a:ext cx="631375" cy="597"/>
          </a:xfrm>
          <a:prstGeom prst="straightConnector1">
            <a:avLst/>
          </a:prstGeom>
          <a:ln w="19050">
            <a:solidFill>
              <a:schemeClr val="tx1"/>
            </a:solidFill>
            <a:headEnd type="none" w="med" len="sm"/>
            <a:tailEnd type="none" w="med" len="sm"/>
          </a:ln>
        </p:spPr>
        <p:style>
          <a:lnRef idx="1">
            <a:schemeClr val="accent1"/>
          </a:lnRef>
          <a:fillRef idx="0">
            <a:schemeClr val="accent1"/>
          </a:fillRef>
          <a:effectRef idx="0">
            <a:schemeClr val="accent1"/>
          </a:effectRef>
          <a:fontRef idx="minor">
            <a:schemeClr val="tx1"/>
          </a:fontRef>
        </p:style>
      </p:cxnSp>
      <p:sp>
        <p:nvSpPr>
          <p:cNvPr id="306" name="Rectangle 103" descr="Generic group dashed.">
            <a:extLst>
              <a:ext uri="{FF2B5EF4-FFF2-40B4-BE49-F238E27FC236}">
                <a16:creationId xmlns:a16="http://schemas.microsoft.com/office/drawing/2014/main" id="{961D148E-290F-CE04-5288-104A8F2E029E}"/>
              </a:ext>
            </a:extLst>
          </p:cNvPr>
          <p:cNvSpPr/>
          <p:nvPr/>
        </p:nvSpPr>
        <p:spPr>
          <a:xfrm>
            <a:off x="690522" y="3933107"/>
            <a:ext cx="2615365" cy="2822096"/>
          </a:xfrm>
          <a:prstGeom prst="rect">
            <a:avLst/>
          </a:prstGeom>
          <a:noFill/>
          <a:ln w="15875">
            <a:solidFill>
              <a:srgbClr val="7D8998"/>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a:defRPr/>
            </a:pPr>
            <a:r>
              <a:rPr lang="ja-JP" altLang="en-US" sz="1200" dirty="0">
                <a:solidFill>
                  <a:schemeClr val="tx1"/>
                </a:solidFill>
                <a:latin typeface="Arial" panose="020B0604020202020204" pitchFamily="34" charset="0"/>
                <a:cs typeface="Arial" panose="020B0604020202020204" pitchFamily="34" charset="0"/>
              </a:rPr>
              <a:t>学生部屋（</a:t>
            </a:r>
            <a:r>
              <a:rPr lang="en-US" altLang="ja-JP" sz="1200" dirty="0">
                <a:solidFill>
                  <a:schemeClr val="tx1"/>
                </a:solidFill>
                <a:latin typeface="Arial" panose="020B0604020202020204" pitchFamily="34" charset="0"/>
                <a:cs typeface="Arial" panose="020B0604020202020204" pitchFamily="34" charset="0"/>
              </a:rPr>
              <a:t>J1401</a:t>
            </a:r>
            <a:r>
              <a:rPr lang="ja-JP" altLang="en-US" sz="1200" dirty="0">
                <a:solidFill>
                  <a:schemeClr val="tx1"/>
                </a:solidFill>
                <a:latin typeface="Arial" panose="020B0604020202020204" pitchFamily="34" charset="0"/>
                <a:cs typeface="Arial" panose="020B0604020202020204" pitchFamily="34" charset="0"/>
              </a:rPr>
              <a:t>）</a:t>
            </a:r>
            <a:endParaRPr lang="en-US" sz="1200" dirty="0">
              <a:solidFill>
                <a:schemeClr val="tx1"/>
              </a:solidFill>
              <a:latin typeface="Arial" panose="020B0604020202020204" pitchFamily="34" charset="0"/>
              <a:cs typeface="Arial" panose="020B0604020202020204" pitchFamily="34" charset="0"/>
            </a:endParaRPr>
          </a:p>
        </p:txBody>
      </p:sp>
      <p:pic>
        <p:nvPicPr>
          <p:cNvPr id="307" name="グラフィックス 306">
            <a:extLst>
              <a:ext uri="{FF2B5EF4-FFF2-40B4-BE49-F238E27FC236}">
                <a16:creationId xmlns:a16="http://schemas.microsoft.com/office/drawing/2014/main" id="{3DE25341-BDD3-6763-3735-1D5BBCD373B5}"/>
              </a:ext>
            </a:extLst>
          </p:cNvPr>
          <p:cNvPicPr>
            <a:picLocks noChangeAspect="1"/>
          </p:cNvPicPr>
          <p:nvPr/>
        </p:nvPicPr>
        <p:blipFill>
          <a:blip r:embed="rId22">
            <a:grayscl/>
            <a:extLst>
              <a:ext uri="{96DAC541-7B7A-43D3-8B79-37D633B846F1}">
                <asvg:svgBlip xmlns:asvg="http://schemas.microsoft.com/office/drawing/2016/SVG/main" r:embed="rId23"/>
              </a:ext>
            </a:extLst>
          </a:blip>
          <a:srcRect l="25148" t="16203" r="25948" b="16205"/>
          <a:stretch/>
        </p:blipFill>
        <p:spPr>
          <a:xfrm rot="16200000">
            <a:off x="1042395" y="5874413"/>
            <a:ext cx="599552" cy="828660"/>
          </a:xfrm>
          <a:prstGeom prst="rect">
            <a:avLst/>
          </a:prstGeom>
        </p:spPr>
      </p:pic>
      <p:cxnSp>
        <p:nvCxnSpPr>
          <p:cNvPr id="329" name="Straight Arrow Connector 52" descr="Double pointing horizontal arrow.">
            <a:extLst>
              <a:ext uri="{FF2B5EF4-FFF2-40B4-BE49-F238E27FC236}">
                <a16:creationId xmlns:a16="http://schemas.microsoft.com/office/drawing/2014/main" id="{58B458BE-0274-A00B-C8A9-FA82C57EE732}"/>
              </a:ext>
            </a:extLst>
          </p:cNvPr>
          <p:cNvCxnSpPr>
            <a:cxnSpLocks/>
            <a:stCxn id="290" idx="0"/>
            <a:endCxn id="297" idx="2"/>
          </p:cNvCxnSpPr>
          <p:nvPr/>
        </p:nvCxnSpPr>
        <p:spPr>
          <a:xfrm flipH="1" flipV="1">
            <a:off x="5081211" y="5380852"/>
            <a:ext cx="3010" cy="315777"/>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341" name="Straight Arrow Connector 52" descr="Double pointing horizontal arrow.">
            <a:extLst>
              <a:ext uri="{FF2B5EF4-FFF2-40B4-BE49-F238E27FC236}">
                <a16:creationId xmlns:a16="http://schemas.microsoft.com/office/drawing/2014/main" id="{F46D0DC4-2906-718B-FC98-D40F82D9DFCD}"/>
              </a:ext>
            </a:extLst>
          </p:cNvPr>
          <p:cNvCxnSpPr>
            <a:cxnSpLocks/>
            <a:stCxn id="274" idx="3"/>
            <a:endCxn id="280" idx="1"/>
          </p:cNvCxnSpPr>
          <p:nvPr/>
        </p:nvCxnSpPr>
        <p:spPr>
          <a:xfrm>
            <a:off x="5351243" y="2913519"/>
            <a:ext cx="636909" cy="1957"/>
          </a:xfrm>
          <a:prstGeom prst="straightConnector1">
            <a:avLst/>
          </a:prstGeom>
          <a:ln w="15875">
            <a:solidFill>
              <a:schemeClr val="tx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grpSp>
        <p:nvGrpSpPr>
          <p:cNvPr id="345" name="グループ化 344">
            <a:extLst>
              <a:ext uri="{FF2B5EF4-FFF2-40B4-BE49-F238E27FC236}">
                <a16:creationId xmlns:a16="http://schemas.microsoft.com/office/drawing/2014/main" id="{385BB542-A80C-5D94-D42A-0DACACF04020}"/>
              </a:ext>
            </a:extLst>
          </p:cNvPr>
          <p:cNvGrpSpPr/>
          <p:nvPr/>
        </p:nvGrpSpPr>
        <p:grpSpPr>
          <a:xfrm>
            <a:off x="7023122" y="2645832"/>
            <a:ext cx="820861" cy="812933"/>
            <a:chOff x="5051089" y="1185069"/>
            <a:chExt cx="1165896" cy="1154637"/>
          </a:xfrm>
        </p:grpSpPr>
        <p:pic>
          <p:nvPicPr>
            <p:cNvPr id="346" name="Graphic 10" descr="AWS Lambda service icon.">
              <a:extLst>
                <a:ext uri="{FF2B5EF4-FFF2-40B4-BE49-F238E27FC236}">
                  <a16:creationId xmlns:a16="http://schemas.microsoft.com/office/drawing/2014/main" id="{E13546F4-11DD-AE3F-29E9-4E566C57BFC9}"/>
                </a:ext>
              </a:extLst>
            </p:cNvPr>
            <p:cNvPicPr>
              <a:picLocks noChangeAspect="1" noChangeArrowheads="1"/>
            </p:cNvPicPr>
            <p:nvPr/>
          </p:nvPicPr>
          <p:blipFill>
            <a:blip r:embed="rId6">
              <a:extLst>
                <a:ext uri="{96DAC541-7B7A-43D3-8B79-37D633B846F1}">
                  <asvg:svgBlip xmlns:asvg="http://schemas.microsoft.com/office/drawing/2016/SVG/main" r:embed="rId7"/>
                </a:ext>
              </a:extLst>
            </a:blip>
            <a:srcRect/>
            <a:stretch/>
          </p:blipFill>
          <p:spPr bwMode="auto">
            <a:xfrm>
              <a:off x="5246688" y="1185069"/>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7" name="TextBox 20">
              <a:extLst>
                <a:ext uri="{FF2B5EF4-FFF2-40B4-BE49-F238E27FC236}">
                  <a16:creationId xmlns:a16="http://schemas.microsoft.com/office/drawing/2014/main" id="{340DF0F3-3F94-61AB-BCEB-2D69A67D6146}"/>
                </a:ext>
              </a:extLst>
            </p:cNvPr>
            <p:cNvSpPr txBox="1">
              <a:spLocks noChangeArrowheads="1"/>
            </p:cNvSpPr>
            <p:nvPr/>
          </p:nvSpPr>
          <p:spPr bwMode="auto">
            <a:xfrm>
              <a:off x="5051089" y="1946275"/>
              <a:ext cx="1165896" cy="393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Lambda</a:t>
              </a:r>
            </a:p>
          </p:txBody>
        </p:sp>
      </p:grpSp>
      <p:cxnSp>
        <p:nvCxnSpPr>
          <p:cNvPr id="348" name="Straight Arrow Connector 52" descr="Double pointing horizontal arrow.">
            <a:extLst>
              <a:ext uri="{FF2B5EF4-FFF2-40B4-BE49-F238E27FC236}">
                <a16:creationId xmlns:a16="http://schemas.microsoft.com/office/drawing/2014/main" id="{0AC78B7D-9E14-F9D9-1450-68A86332F9AA}"/>
              </a:ext>
            </a:extLst>
          </p:cNvPr>
          <p:cNvCxnSpPr>
            <a:cxnSpLocks/>
            <a:stCxn id="280" idx="3"/>
            <a:endCxn id="346" idx="1"/>
          </p:cNvCxnSpPr>
          <p:nvPr/>
        </p:nvCxnSpPr>
        <p:spPr>
          <a:xfrm flipV="1">
            <a:off x="6524646" y="2914079"/>
            <a:ext cx="636189" cy="1397"/>
          </a:xfrm>
          <a:prstGeom prst="straightConnector1">
            <a:avLst/>
          </a:prstGeom>
          <a:ln w="15875">
            <a:solidFill>
              <a:schemeClr val="tx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grpSp>
        <p:nvGrpSpPr>
          <p:cNvPr id="361" name="グループ化 360">
            <a:extLst>
              <a:ext uri="{FF2B5EF4-FFF2-40B4-BE49-F238E27FC236}">
                <a16:creationId xmlns:a16="http://schemas.microsoft.com/office/drawing/2014/main" id="{38EBA9ED-22A6-BDCB-3CAC-CA3E017A9BA4}"/>
              </a:ext>
            </a:extLst>
          </p:cNvPr>
          <p:cNvGrpSpPr/>
          <p:nvPr/>
        </p:nvGrpSpPr>
        <p:grpSpPr>
          <a:xfrm>
            <a:off x="7397897" y="3458765"/>
            <a:ext cx="71896" cy="901612"/>
            <a:chOff x="6937330" y="3141097"/>
            <a:chExt cx="71896" cy="901612"/>
          </a:xfrm>
        </p:grpSpPr>
        <p:cxnSp>
          <p:nvCxnSpPr>
            <p:cNvPr id="354" name="Straight Arrow Connector 52" descr="Double pointing horizontal arrow.">
              <a:extLst>
                <a:ext uri="{FF2B5EF4-FFF2-40B4-BE49-F238E27FC236}">
                  <a16:creationId xmlns:a16="http://schemas.microsoft.com/office/drawing/2014/main" id="{84289BFD-C0D3-9866-580F-D6621DDD82FA}"/>
                </a:ext>
              </a:extLst>
            </p:cNvPr>
            <p:cNvCxnSpPr>
              <a:cxnSpLocks/>
              <a:stCxn id="360" idx="0"/>
              <a:endCxn id="347" idx="2"/>
            </p:cNvCxnSpPr>
            <p:nvPr/>
          </p:nvCxnSpPr>
          <p:spPr>
            <a:xfrm flipH="1" flipV="1">
              <a:off x="6972986" y="3141097"/>
              <a:ext cx="292" cy="829716"/>
            </a:xfrm>
            <a:prstGeom prst="straightConnector1">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sp>
          <p:nvSpPr>
            <p:cNvPr id="360" name="楕円 359">
              <a:extLst>
                <a:ext uri="{FF2B5EF4-FFF2-40B4-BE49-F238E27FC236}">
                  <a16:creationId xmlns:a16="http://schemas.microsoft.com/office/drawing/2014/main" id="{B209B8C9-5C2B-CF38-8829-B34A09B8EB63}"/>
                </a:ext>
              </a:extLst>
            </p:cNvPr>
            <p:cNvSpPr/>
            <p:nvPr/>
          </p:nvSpPr>
          <p:spPr>
            <a:xfrm>
              <a:off x="6937330" y="3970813"/>
              <a:ext cx="71896" cy="71896"/>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62" name="TextBox 9">
            <a:extLst>
              <a:ext uri="{FF2B5EF4-FFF2-40B4-BE49-F238E27FC236}">
                <a16:creationId xmlns:a16="http://schemas.microsoft.com/office/drawing/2014/main" id="{195B2184-C739-D264-8BDA-CE895FFAB146}"/>
              </a:ext>
            </a:extLst>
          </p:cNvPr>
          <p:cNvSpPr txBox="1">
            <a:spLocks noChangeArrowheads="1"/>
          </p:cNvSpPr>
          <p:nvPr/>
        </p:nvSpPr>
        <p:spPr bwMode="auto">
          <a:xfrm>
            <a:off x="7385849" y="3789686"/>
            <a:ext cx="76250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Stream</a:t>
            </a:r>
          </a:p>
        </p:txBody>
      </p:sp>
      <p:cxnSp>
        <p:nvCxnSpPr>
          <p:cNvPr id="369" name="Straight Arrow Connector 52" descr="Double pointing horizontal arrow.">
            <a:extLst>
              <a:ext uri="{FF2B5EF4-FFF2-40B4-BE49-F238E27FC236}">
                <a16:creationId xmlns:a16="http://schemas.microsoft.com/office/drawing/2014/main" id="{2DC4A0E1-AA81-6CBF-85D2-8AE3F8117F1A}"/>
              </a:ext>
            </a:extLst>
          </p:cNvPr>
          <p:cNvCxnSpPr>
            <a:cxnSpLocks/>
            <a:stCxn id="274" idx="1"/>
          </p:cNvCxnSpPr>
          <p:nvPr/>
        </p:nvCxnSpPr>
        <p:spPr>
          <a:xfrm flipH="1" flipV="1">
            <a:off x="2777961" y="2910271"/>
            <a:ext cx="2036788" cy="3248"/>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372" name="Straight Arrow Connector 52" descr="Double pointing horizontal arrow.">
            <a:extLst>
              <a:ext uri="{FF2B5EF4-FFF2-40B4-BE49-F238E27FC236}">
                <a16:creationId xmlns:a16="http://schemas.microsoft.com/office/drawing/2014/main" id="{AFA8512D-C66C-595F-3200-F583ACC01FDC}"/>
              </a:ext>
            </a:extLst>
          </p:cNvPr>
          <p:cNvCxnSpPr>
            <a:cxnSpLocks/>
            <a:stCxn id="286" idx="1"/>
            <a:endCxn id="307" idx="2"/>
          </p:cNvCxnSpPr>
          <p:nvPr/>
        </p:nvCxnSpPr>
        <p:spPr>
          <a:xfrm flipH="1">
            <a:off x="1756501" y="6288743"/>
            <a:ext cx="294775" cy="0"/>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sp>
        <p:nvSpPr>
          <p:cNvPr id="380" name="Rectangle 103" descr="Generic group dashed.">
            <a:extLst>
              <a:ext uri="{FF2B5EF4-FFF2-40B4-BE49-F238E27FC236}">
                <a16:creationId xmlns:a16="http://schemas.microsoft.com/office/drawing/2014/main" id="{49597F22-191B-D87C-34B8-1BCBD04B0320}"/>
              </a:ext>
            </a:extLst>
          </p:cNvPr>
          <p:cNvSpPr/>
          <p:nvPr/>
        </p:nvSpPr>
        <p:spPr>
          <a:xfrm>
            <a:off x="4457026" y="1552760"/>
            <a:ext cx="3541821" cy="2158934"/>
          </a:xfrm>
          <a:prstGeom prst="rect">
            <a:avLst/>
          </a:prstGeom>
          <a:noFill/>
          <a:ln w="15875">
            <a:solidFill>
              <a:srgbClr val="7D8998"/>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eaLnBrk="1" fontAlgn="auto" hangingPunct="1">
              <a:spcBef>
                <a:spcPts val="0"/>
              </a:spcBef>
              <a:spcAft>
                <a:spcPts val="0"/>
              </a:spcAft>
              <a:defRPr/>
            </a:pPr>
            <a:endParaRPr lang="en-US" sz="1200" dirty="0">
              <a:solidFill>
                <a:schemeClr val="tx1"/>
              </a:solidFill>
              <a:latin typeface="Arial" panose="020B0604020202020204" pitchFamily="34" charset="0"/>
              <a:cs typeface="Arial" panose="020B0604020202020204" pitchFamily="34" charset="0"/>
            </a:endParaRPr>
          </a:p>
        </p:txBody>
      </p:sp>
      <p:sp>
        <p:nvSpPr>
          <p:cNvPr id="256" name="テキスト ボックス 255">
            <a:extLst>
              <a:ext uri="{FF2B5EF4-FFF2-40B4-BE49-F238E27FC236}">
                <a16:creationId xmlns:a16="http://schemas.microsoft.com/office/drawing/2014/main" id="{0497BBFA-554A-41F4-7C49-FD5EC029BC59}"/>
              </a:ext>
            </a:extLst>
          </p:cNvPr>
          <p:cNvSpPr txBox="1"/>
          <p:nvPr/>
        </p:nvSpPr>
        <p:spPr>
          <a:xfrm>
            <a:off x="4355739" y="1260339"/>
            <a:ext cx="2390492" cy="276999"/>
          </a:xfrm>
          <a:prstGeom prst="rect">
            <a:avLst/>
          </a:prstGeom>
          <a:solidFill>
            <a:srgbClr val="EFECE3"/>
          </a:solidFill>
        </p:spPr>
        <p:txBody>
          <a:bodyPr wrap="square" rtlCol="0">
            <a:spAutoFit/>
          </a:bodyPr>
          <a:lstStyle/>
          <a:p>
            <a:r>
              <a:rPr lang="ja-JP" altLang="en-US" sz="1200" b="1" dirty="0">
                <a:latin typeface="BIZ UDゴシック" panose="020B0400000000000000" pitchFamily="49" charset="-128"/>
                <a:ea typeface="BIZ UDゴシック" panose="020B0400000000000000" pitchFamily="49" charset="-128"/>
              </a:rPr>
              <a:t>ユーザー・在室表示サービス</a:t>
            </a:r>
            <a:endParaRPr kumimoji="1" lang="ja-JP" altLang="en-US" sz="1200" b="1" dirty="0">
              <a:latin typeface="BIZ UDゴシック" panose="020B0400000000000000" pitchFamily="49" charset="-128"/>
              <a:ea typeface="BIZ UDゴシック" panose="020B0400000000000000" pitchFamily="49" charset="-128"/>
            </a:endParaRPr>
          </a:p>
        </p:txBody>
      </p:sp>
      <p:cxnSp>
        <p:nvCxnSpPr>
          <p:cNvPr id="394" name="Elbow Connector 22" descr="Elbow horizontal arrow pointing right (1).">
            <a:extLst>
              <a:ext uri="{FF2B5EF4-FFF2-40B4-BE49-F238E27FC236}">
                <a16:creationId xmlns:a16="http://schemas.microsoft.com/office/drawing/2014/main" id="{B9886A2C-409D-E7B1-E348-3FD60D307F41}"/>
              </a:ext>
            </a:extLst>
          </p:cNvPr>
          <p:cNvCxnSpPr>
            <a:cxnSpLocks/>
            <a:endCxn id="272" idx="0"/>
          </p:cNvCxnSpPr>
          <p:nvPr/>
        </p:nvCxnSpPr>
        <p:spPr>
          <a:xfrm>
            <a:off x="2781957" y="4817404"/>
            <a:ext cx="1373998" cy="865971"/>
          </a:xfrm>
          <a:prstGeom prst="bentConnector2">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pic>
        <p:nvPicPr>
          <p:cNvPr id="403" name="Picture 2" descr="Raspberry icon - Free download on Iconfinder">
            <a:extLst>
              <a:ext uri="{FF2B5EF4-FFF2-40B4-BE49-F238E27FC236}">
                <a16:creationId xmlns:a16="http://schemas.microsoft.com/office/drawing/2014/main" id="{90EBD45A-BB82-5FE2-C440-2DE2ADD77ED2}"/>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244769" y="4471085"/>
            <a:ext cx="544810" cy="544810"/>
          </a:xfrm>
          <a:prstGeom prst="rect">
            <a:avLst/>
          </a:prstGeom>
          <a:noFill/>
          <a:extLst>
            <a:ext uri="{909E8E84-426E-40DD-AFC4-6F175D3DCCD1}">
              <a14:hiddenFill xmlns:a14="http://schemas.microsoft.com/office/drawing/2010/main">
                <a:solidFill>
                  <a:srgbClr val="FFFFFF"/>
                </a:solidFill>
              </a14:hiddenFill>
            </a:ext>
          </a:extLst>
        </p:spPr>
      </p:pic>
      <p:pic>
        <p:nvPicPr>
          <p:cNvPr id="404" name="Picture 2" descr="Raspberry icon - Free download on Iconfinder">
            <a:extLst>
              <a:ext uri="{FF2B5EF4-FFF2-40B4-BE49-F238E27FC236}">
                <a16:creationId xmlns:a16="http://schemas.microsoft.com/office/drawing/2014/main" id="{B1FBE2E0-3B49-4F3F-2712-668139DBF168}"/>
              </a:ext>
            </a:extLst>
          </p:cNvPr>
          <p:cNvPicPr>
            <a:picLocks noChangeAspect="1" noChangeArrowheads="1"/>
          </p:cNvPicPr>
          <p:nvPr/>
        </p:nvPicPr>
        <p:blipFill>
          <a:blip r:embed="rId24">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244769" y="2641704"/>
            <a:ext cx="544810" cy="544810"/>
          </a:xfrm>
          <a:prstGeom prst="rect">
            <a:avLst/>
          </a:prstGeom>
          <a:noFill/>
          <a:extLst>
            <a:ext uri="{909E8E84-426E-40DD-AFC4-6F175D3DCCD1}">
              <a14:hiddenFill xmlns:a14="http://schemas.microsoft.com/office/drawing/2010/main">
                <a:solidFill>
                  <a:srgbClr val="FFFFFF"/>
                </a:solidFill>
              </a14:hiddenFill>
            </a:ext>
          </a:extLst>
        </p:spPr>
      </p:pic>
      <p:cxnSp>
        <p:nvCxnSpPr>
          <p:cNvPr id="3" name="Straight Arrow Connector 52" descr="Double pointing horizontal arrow.">
            <a:extLst>
              <a:ext uri="{FF2B5EF4-FFF2-40B4-BE49-F238E27FC236}">
                <a16:creationId xmlns:a16="http://schemas.microsoft.com/office/drawing/2014/main" id="{F09B1EAA-DB6F-2D75-72D5-C3B6E1BBC752}"/>
              </a:ext>
            </a:extLst>
          </p:cNvPr>
          <p:cNvCxnSpPr>
            <a:cxnSpLocks/>
            <a:stCxn id="275" idx="2"/>
            <a:endCxn id="296" idx="0"/>
          </p:cNvCxnSpPr>
          <p:nvPr/>
        </p:nvCxnSpPr>
        <p:spPr>
          <a:xfrm flipH="1">
            <a:off x="5081211" y="3458765"/>
            <a:ext cx="1785" cy="923928"/>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sp>
        <p:nvSpPr>
          <p:cNvPr id="257" name="テキスト ボックス 256">
            <a:extLst>
              <a:ext uri="{FF2B5EF4-FFF2-40B4-BE49-F238E27FC236}">
                <a16:creationId xmlns:a16="http://schemas.microsoft.com/office/drawing/2014/main" id="{8A3E94AD-5AA4-AD4E-66F0-081CC8668D59}"/>
              </a:ext>
            </a:extLst>
          </p:cNvPr>
          <p:cNvSpPr txBox="1"/>
          <p:nvPr/>
        </p:nvSpPr>
        <p:spPr>
          <a:xfrm>
            <a:off x="4360260" y="3860479"/>
            <a:ext cx="2390492" cy="276999"/>
          </a:xfrm>
          <a:prstGeom prst="rect">
            <a:avLst/>
          </a:prstGeom>
          <a:solidFill>
            <a:srgbClr val="EFECE3"/>
          </a:solidFill>
        </p:spPr>
        <p:txBody>
          <a:bodyPr wrap="square" rtlCol="0">
            <a:spAutoFit/>
          </a:bodyPr>
          <a:lstStyle/>
          <a:p>
            <a:r>
              <a:rPr lang="ja-JP" altLang="en-US" sz="1200" b="1" dirty="0">
                <a:latin typeface="BIZ UDゴシック" panose="020B0400000000000000" pitchFamily="49" charset="-128"/>
                <a:ea typeface="BIZ UDゴシック" panose="020B0400000000000000" pitchFamily="49" charset="-128"/>
              </a:rPr>
              <a:t>ユーザー・在室登録サービス</a:t>
            </a:r>
            <a:endParaRPr kumimoji="1" lang="ja-JP" altLang="en-US" sz="1200" b="1" dirty="0">
              <a:latin typeface="BIZ UDゴシック" panose="020B0400000000000000" pitchFamily="49" charset="-128"/>
              <a:ea typeface="BIZ UDゴシック" panose="020B0400000000000000" pitchFamily="49" charset="-128"/>
            </a:endParaRPr>
          </a:p>
        </p:txBody>
      </p:sp>
      <p:cxnSp>
        <p:nvCxnSpPr>
          <p:cNvPr id="6" name="Straight Arrow Connector 52" descr="Double pointing horizontal arrow.">
            <a:extLst>
              <a:ext uri="{FF2B5EF4-FFF2-40B4-BE49-F238E27FC236}">
                <a16:creationId xmlns:a16="http://schemas.microsoft.com/office/drawing/2014/main" id="{DF1AEF14-C671-6C55-43AE-A1EE3A5BC1C1}"/>
              </a:ext>
            </a:extLst>
          </p:cNvPr>
          <p:cNvCxnSpPr>
            <a:cxnSpLocks/>
            <a:stCxn id="296" idx="3"/>
            <a:endCxn id="294" idx="1"/>
          </p:cNvCxnSpPr>
          <p:nvPr/>
        </p:nvCxnSpPr>
        <p:spPr>
          <a:xfrm flipV="1">
            <a:off x="5349458" y="4650632"/>
            <a:ext cx="638693" cy="308"/>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10" name="Straight Arrow Connector 52" descr="Double pointing horizontal arrow.">
            <a:extLst>
              <a:ext uri="{FF2B5EF4-FFF2-40B4-BE49-F238E27FC236}">
                <a16:creationId xmlns:a16="http://schemas.microsoft.com/office/drawing/2014/main" id="{EE0A49FF-01DC-57BE-C94F-E3DF425972C1}"/>
              </a:ext>
            </a:extLst>
          </p:cNvPr>
          <p:cNvCxnSpPr>
            <a:cxnSpLocks/>
            <a:stCxn id="294" idx="3"/>
            <a:endCxn id="298" idx="1"/>
          </p:cNvCxnSpPr>
          <p:nvPr/>
        </p:nvCxnSpPr>
        <p:spPr>
          <a:xfrm>
            <a:off x="6524645" y="4650632"/>
            <a:ext cx="640661" cy="2899"/>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4870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8F0EED-7CE8-B414-EB57-94792F64184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7D0425E-84F7-F6DE-C128-B816B23428EB}"/>
              </a:ext>
            </a:extLst>
          </p:cNvPr>
          <p:cNvSpPr>
            <a:spLocks noGrp="1"/>
          </p:cNvSpPr>
          <p:nvPr>
            <p:ph type="title"/>
          </p:nvPr>
        </p:nvSpPr>
        <p:spPr/>
        <p:txBody>
          <a:bodyPr/>
          <a:lstStyle/>
          <a:p>
            <a:r>
              <a:rPr kumimoji="1" lang="ja-JP" altLang="en-US" dirty="0"/>
              <a:t>在室確認システムのアーキテクチャ</a:t>
            </a:r>
          </a:p>
        </p:txBody>
      </p:sp>
      <p:grpSp>
        <p:nvGrpSpPr>
          <p:cNvPr id="230" name="グループ化 229">
            <a:extLst>
              <a:ext uri="{FF2B5EF4-FFF2-40B4-BE49-F238E27FC236}">
                <a16:creationId xmlns:a16="http://schemas.microsoft.com/office/drawing/2014/main" id="{814A2E26-9E54-3B5D-ADB0-DA83FC274747}"/>
              </a:ext>
            </a:extLst>
          </p:cNvPr>
          <p:cNvGrpSpPr/>
          <p:nvPr/>
        </p:nvGrpSpPr>
        <p:grpSpPr>
          <a:xfrm>
            <a:off x="6904519" y="4385283"/>
            <a:ext cx="1058068" cy="814611"/>
            <a:chOff x="4098454" y="2667000"/>
            <a:chExt cx="1502808" cy="1157017"/>
          </a:xfrm>
        </p:grpSpPr>
        <p:pic>
          <p:nvPicPr>
            <p:cNvPr id="298" name="Graphic 23" descr="Amazon DynamoDB service icon.">
              <a:extLst>
                <a:ext uri="{FF2B5EF4-FFF2-40B4-BE49-F238E27FC236}">
                  <a16:creationId xmlns:a16="http://schemas.microsoft.com/office/drawing/2014/main" id="{5B38219D-76AC-6E6F-7915-BC7275C021B9}"/>
                </a:ext>
              </a:extLst>
            </p:cNvPr>
            <p:cNvPicPr>
              <a:picLocks noChangeAspect="1" noChangeArrowheads="1"/>
            </p:cNvPicPr>
            <p:nvPr/>
          </p:nvPicPr>
          <p:blipFill>
            <a:blip r:embed="rId2">
              <a:extLst>
                <a:ext uri="{96DAC541-7B7A-43D3-8B79-37D633B846F1}">
                  <asvg:svgBlip xmlns:asvg="http://schemas.microsoft.com/office/drawing/2016/SVG/main" r:embed="rId3"/>
                </a:ext>
              </a:extLst>
            </a:blip>
            <a:srcRect/>
            <a:stretch/>
          </p:blipFill>
          <p:spPr bwMode="auto">
            <a:xfrm>
              <a:off x="4468858" y="2667000"/>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9" name="TextBox 12">
              <a:extLst>
                <a:ext uri="{FF2B5EF4-FFF2-40B4-BE49-F238E27FC236}">
                  <a16:creationId xmlns:a16="http://schemas.microsoft.com/office/drawing/2014/main" id="{24393448-04CA-89A5-569E-FC3A632B4B07}"/>
                </a:ext>
              </a:extLst>
            </p:cNvPr>
            <p:cNvSpPr txBox="1">
              <a:spLocks noChangeArrowheads="1"/>
            </p:cNvSpPr>
            <p:nvPr/>
          </p:nvSpPr>
          <p:spPr bwMode="auto">
            <a:xfrm>
              <a:off x="4098454" y="3430587"/>
              <a:ext cx="1502808" cy="393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DynamoDB</a:t>
              </a:r>
            </a:p>
          </p:txBody>
        </p:sp>
      </p:grpSp>
      <p:grpSp>
        <p:nvGrpSpPr>
          <p:cNvPr id="231" name="グループ化 230">
            <a:extLst>
              <a:ext uri="{FF2B5EF4-FFF2-40B4-BE49-F238E27FC236}">
                <a16:creationId xmlns:a16="http://schemas.microsoft.com/office/drawing/2014/main" id="{007548CE-165A-46B0-CA6B-7028B8A20450}"/>
              </a:ext>
            </a:extLst>
          </p:cNvPr>
          <p:cNvGrpSpPr/>
          <p:nvPr/>
        </p:nvGrpSpPr>
        <p:grpSpPr>
          <a:xfrm>
            <a:off x="4522361" y="4382693"/>
            <a:ext cx="1117700" cy="998159"/>
            <a:chOff x="2576510" y="1184275"/>
            <a:chExt cx="1587506" cy="1417718"/>
          </a:xfrm>
        </p:grpSpPr>
        <p:pic>
          <p:nvPicPr>
            <p:cNvPr id="296" name="Graphic 7" descr="Amazon API Gateway service icon.">
              <a:extLst>
                <a:ext uri="{FF2B5EF4-FFF2-40B4-BE49-F238E27FC236}">
                  <a16:creationId xmlns:a16="http://schemas.microsoft.com/office/drawing/2014/main" id="{B8AEBC80-7EAA-1C91-05D0-8F4BC03037F5}"/>
                </a:ext>
              </a:extLst>
            </p:cNvPr>
            <p:cNvPicPr>
              <a:picLocks noChangeAspect="1" noChangeArrowheads="1"/>
            </p:cNvPicPr>
            <p:nvPr/>
          </p:nvPicPr>
          <p:blipFill>
            <a:blip r:embed="rId4">
              <a:extLst>
                <a:ext uri="{96DAC541-7B7A-43D3-8B79-37D633B846F1}">
                  <asvg:svgBlip xmlns:asvg="http://schemas.microsoft.com/office/drawing/2016/SVG/main" r:embed="rId5"/>
                </a:ext>
              </a:extLst>
            </a:blip>
            <a:srcRect/>
            <a:stretch/>
          </p:blipFill>
          <p:spPr bwMode="auto">
            <a:xfrm>
              <a:off x="2989263" y="1184275"/>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 name="TextBox 9">
              <a:extLst>
                <a:ext uri="{FF2B5EF4-FFF2-40B4-BE49-F238E27FC236}">
                  <a16:creationId xmlns:a16="http://schemas.microsoft.com/office/drawing/2014/main" id="{690ABD9E-2E2A-67AB-0BFC-4FCE42FFF92A}"/>
                </a:ext>
              </a:extLst>
            </p:cNvPr>
            <p:cNvSpPr txBox="1">
              <a:spLocks noChangeArrowheads="1"/>
            </p:cNvSpPr>
            <p:nvPr/>
          </p:nvSpPr>
          <p:spPr bwMode="auto">
            <a:xfrm>
              <a:off x="2576510" y="1946275"/>
              <a:ext cx="1587506" cy="655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API Gateway</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(REST API)</a:t>
              </a:r>
            </a:p>
          </p:txBody>
        </p:sp>
      </p:grpSp>
      <p:grpSp>
        <p:nvGrpSpPr>
          <p:cNvPr id="232" name="グループ化 231">
            <a:extLst>
              <a:ext uri="{FF2B5EF4-FFF2-40B4-BE49-F238E27FC236}">
                <a16:creationId xmlns:a16="http://schemas.microsoft.com/office/drawing/2014/main" id="{38313332-1621-DFE1-2587-B18581033ABE}"/>
              </a:ext>
            </a:extLst>
          </p:cNvPr>
          <p:cNvGrpSpPr/>
          <p:nvPr/>
        </p:nvGrpSpPr>
        <p:grpSpPr>
          <a:xfrm>
            <a:off x="5850438" y="4382385"/>
            <a:ext cx="820861" cy="812933"/>
            <a:chOff x="5051089" y="1185069"/>
            <a:chExt cx="1165896" cy="1154637"/>
          </a:xfrm>
        </p:grpSpPr>
        <p:pic>
          <p:nvPicPr>
            <p:cNvPr id="294" name="Graphic 10" descr="AWS Lambda service icon.">
              <a:extLst>
                <a:ext uri="{FF2B5EF4-FFF2-40B4-BE49-F238E27FC236}">
                  <a16:creationId xmlns:a16="http://schemas.microsoft.com/office/drawing/2014/main" id="{993C5294-3929-2310-E39D-A9684C245BB1}"/>
                </a:ext>
              </a:extLst>
            </p:cNvPr>
            <p:cNvPicPr>
              <a:picLocks noChangeAspect="1" noChangeArrowheads="1"/>
            </p:cNvPicPr>
            <p:nvPr/>
          </p:nvPicPr>
          <p:blipFill>
            <a:blip r:embed="rId6">
              <a:extLst>
                <a:ext uri="{96DAC541-7B7A-43D3-8B79-37D633B846F1}">
                  <asvg:svgBlip xmlns:asvg="http://schemas.microsoft.com/office/drawing/2016/SVG/main" r:embed="rId7"/>
                </a:ext>
              </a:extLst>
            </a:blip>
            <a:srcRect/>
            <a:stretch/>
          </p:blipFill>
          <p:spPr bwMode="auto">
            <a:xfrm>
              <a:off x="5246688" y="1185069"/>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5" name="TextBox 20">
              <a:extLst>
                <a:ext uri="{FF2B5EF4-FFF2-40B4-BE49-F238E27FC236}">
                  <a16:creationId xmlns:a16="http://schemas.microsoft.com/office/drawing/2014/main" id="{44767FFF-F174-B58B-ACDA-840391501A5E}"/>
                </a:ext>
              </a:extLst>
            </p:cNvPr>
            <p:cNvSpPr txBox="1">
              <a:spLocks noChangeArrowheads="1"/>
            </p:cNvSpPr>
            <p:nvPr/>
          </p:nvSpPr>
          <p:spPr bwMode="auto">
            <a:xfrm>
              <a:off x="5051089" y="1946275"/>
              <a:ext cx="1165896" cy="393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Lambda</a:t>
              </a:r>
            </a:p>
          </p:txBody>
        </p:sp>
      </p:grpSp>
      <p:grpSp>
        <p:nvGrpSpPr>
          <p:cNvPr id="233" name="グループ化 232">
            <a:extLst>
              <a:ext uri="{FF2B5EF4-FFF2-40B4-BE49-F238E27FC236}">
                <a16:creationId xmlns:a16="http://schemas.microsoft.com/office/drawing/2014/main" id="{E685BADC-4674-B8E5-AE5A-0CB3821516F2}"/>
              </a:ext>
            </a:extLst>
          </p:cNvPr>
          <p:cNvGrpSpPr/>
          <p:nvPr/>
        </p:nvGrpSpPr>
        <p:grpSpPr>
          <a:xfrm>
            <a:off x="6894823" y="5692118"/>
            <a:ext cx="1068518" cy="813493"/>
            <a:chOff x="-6240556" y="-4075450"/>
            <a:chExt cx="1517651" cy="1155431"/>
          </a:xfrm>
        </p:grpSpPr>
        <p:pic>
          <p:nvPicPr>
            <p:cNvPr id="292" name="Graphic 17" descr="Amazon CloudWatch service icon.">
              <a:extLst>
                <a:ext uri="{FF2B5EF4-FFF2-40B4-BE49-F238E27FC236}">
                  <a16:creationId xmlns:a16="http://schemas.microsoft.com/office/drawing/2014/main" id="{BCA1AB9F-9866-F346-761F-BFF45A148DDA}"/>
                </a:ext>
              </a:extLst>
            </p:cNvPr>
            <p:cNvPicPr>
              <a:picLocks noChangeAspect="1" noChangeArrowheads="1"/>
            </p:cNvPicPr>
            <p:nvPr/>
          </p:nvPicPr>
          <p:blipFill>
            <a:blip r:embed="rId8">
              <a:extLst>
                <a:ext uri="{96DAC541-7B7A-43D3-8B79-37D633B846F1}">
                  <asvg:svgBlip xmlns:asvg="http://schemas.microsoft.com/office/drawing/2016/SVG/main" r:embed="rId9"/>
                </a:ext>
              </a:extLst>
            </a:blip>
            <a:srcRect/>
            <a:stretch/>
          </p:blipFill>
          <p:spPr bwMode="auto">
            <a:xfrm>
              <a:off x="-5862730" y="-4075450"/>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3" name="TextBox 9">
              <a:extLst>
                <a:ext uri="{FF2B5EF4-FFF2-40B4-BE49-F238E27FC236}">
                  <a16:creationId xmlns:a16="http://schemas.microsoft.com/office/drawing/2014/main" id="{B73B1D3A-20EB-9302-4924-2CDE9277D3EA}"/>
                </a:ext>
              </a:extLst>
            </p:cNvPr>
            <p:cNvSpPr txBox="1">
              <a:spLocks noChangeArrowheads="1"/>
            </p:cNvSpPr>
            <p:nvPr/>
          </p:nvSpPr>
          <p:spPr bwMode="auto">
            <a:xfrm>
              <a:off x="-6240556" y="-3313450"/>
              <a:ext cx="1517651" cy="393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CloudWatch</a:t>
              </a:r>
            </a:p>
          </p:txBody>
        </p:sp>
      </p:grpSp>
      <p:grpSp>
        <p:nvGrpSpPr>
          <p:cNvPr id="234" name="グループ化 233">
            <a:extLst>
              <a:ext uri="{FF2B5EF4-FFF2-40B4-BE49-F238E27FC236}">
                <a16:creationId xmlns:a16="http://schemas.microsoft.com/office/drawing/2014/main" id="{746E84D6-9240-118C-4E8F-86824BCF10DF}"/>
              </a:ext>
            </a:extLst>
          </p:cNvPr>
          <p:cNvGrpSpPr/>
          <p:nvPr/>
        </p:nvGrpSpPr>
        <p:grpSpPr>
          <a:xfrm>
            <a:off x="4815974" y="5696629"/>
            <a:ext cx="536494" cy="813493"/>
            <a:chOff x="7535863" y="1001200"/>
            <a:chExt cx="762000" cy="1155431"/>
          </a:xfrm>
        </p:grpSpPr>
        <p:pic>
          <p:nvPicPr>
            <p:cNvPr id="290" name="Graphic 19" descr="AWS Identity and Access Management (IAM) service icon.">
              <a:extLst>
                <a:ext uri="{FF2B5EF4-FFF2-40B4-BE49-F238E27FC236}">
                  <a16:creationId xmlns:a16="http://schemas.microsoft.com/office/drawing/2014/main" id="{97F24834-436B-ECCF-9D7D-48DF2B4932FA}"/>
                </a:ext>
              </a:extLst>
            </p:cNvPr>
            <p:cNvPicPr>
              <a:picLocks noChangeAspect="1" noChangeArrowheads="1"/>
            </p:cNvPicPr>
            <p:nvPr/>
          </p:nvPicPr>
          <p:blipFill>
            <a:blip r:embed="rId10">
              <a:extLst>
                <a:ext uri="{96DAC541-7B7A-43D3-8B79-37D633B846F1}">
                  <asvg:svgBlip xmlns:asvg="http://schemas.microsoft.com/office/drawing/2016/SVG/main" r:embed="rId11"/>
                </a:ext>
              </a:extLst>
            </a:blip>
            <a:srcRect/>
            <a:stretch/>
          </p:blipFill>
          <p:spPr bwMode="auto">
            <a:xfrm>
              <a:off x="7535863" y="1001200"/>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1" name="TextBox 12">
              <a:extLst>
                <a:ext uri="{FF2B5EF4-FFF2-40B4-BE49-F238E27FC236}">
                  <a16:creationId xmlns:a16="http://schemas.microsoft.com/office/drawing/2014/main" id="{20C22514-E926-F603-8694-FBF95240FB6E}"/>
                </a:ext>
              </a:extLst>
            </p:cNvPr>
            <p:cNvSpPr txBox="1">
              <a:spLocks noChangeArrowheads="1"/>
            </p:cNvSpPr>
            <p:nvPr/>
          </p:nvSpPr>
          <p:spPr bwMode="auto">
            <a:xfrm>
              <a:off x="7535863" y="1763200"/>
              <a:ext cx="758826" cy="393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IAM</a:t>
              </a:r>
            </a:p>
          </p:txBody>
        </p:sp>
      </p:grpSp>
      <p:sp>
        <p:nvSpPr>
          <p:cNvPr id="289" name="TextBox 12">
            <a:extLst>
              <a:ext uri="{FF2B5EF4-FFF2-40B4-BE49-F238E27FC236}">
                <a16:creationId xmlns:a16="http://schemas.microsoft.com/office/drawing/2014/main" id="{3CBCC3F2-21D5-9D90-8707-090C213ADB46}"/>
              </a:ext>
            </a:extLst>
          </p:cNvPr>
          <p:cNvSpPr txBox="1">
            <a:spLocks noChangeArrowheads="1"/>
          </p:cNvSpPr>
          <p:nvPr/>
        </p:nvSpPr>
        <p:spPr bwMode="auto">
          <a:xfrm>
            <a:off x="1707208" y="5001976"/>
            <a:ext cx="16050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Raspberry Pi 4B</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(172.16.15.8)</a:t>
            </a:r>
          </a:p>
        </p:txBody>
      </p:sp>
      <p:sp>
        <p:nvSpPr>
          <p:cNvPr id="236" name="テキスト ボックス 235">
            <a:extLst>
              <a:ext uri="{FF2B5EF4-FFF2-40B4-BE49-F238E27FC236}">
                <a16:creationId xmlns:a16="http://schemas.microsoft.com/office/drawing/2014/main" id="{993AFCC0-FC3D-EA10-9993-5D85B8DFEA9A}"/>
              </a:ext>
            </a:extLst>
          </p:cNvPr>
          <p:cNvSpPr txBox="1"/>
          <p:nvPr/>
        </p:nvSpPr>
        <p:spPr>
          <a:xfrm>
            <a:off x="1077353" y="4303759"/>
            <a:ext cx="1162293" cy="276999"/>
          </a:xfrm>
          <a:prstGeom prst="rect">
            <a:avLst/>
          </a:prstGeom>
          <a:noFill/>
        </p:spPr>
        <p:txBody>
          <a:bodyPr wrap="square">
            <a:spAutoFit/>
          </a:body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RC-S380 S</a:t>
            </a:r>
          </a:p>
        </p:txBody>
      </p:sp>
      <p:pic>
        <p:nvPicPr>
          <p:cNvPr id="237" name="図 236" descr="黒い背景と白い文字のロゴ&#10;&#10;AI によって生成されたコンテンツは間違っている可能性があります。">
            <a:extLst>
              <a:ext uri="{FF2B5EF4-FFF2-40B4-BE49-F238E27FC236}">
                <a16:creationId xmlns:a16="http://schemas.microsoft.com/office/drawing/2014/main" id="{287EDB12-2543-C59F-CDC0-FFBD1F0DD786}"/>
              </a:ext>
            </a:extLst>
          </p:cNvPr>
          <p:cNvPicPr>
            <a:picLocks noChangeAspect="1"/>
          </p:cNvPicPr>
          <p:nvPr/>
        </p:nvPicPr>
        <p:blipFill>
          <a:blip r:embed="rId12">
            <a:biLevel thresh="50000"/>
            <a:extLst>
              <a:ext uri="{28A0092B-C50C-407E-A947-70E740481C1C}">
                <a14:useLocalDpi xmlns:a14="http://schemas.microsoft.com/office/drawing/2010/main" val="0"/>
              </a:ext>
            </a:extLst>
          </a:blip>
          <a:srcRect t="19474" b="18132"/>
          <a:stretch/>
        </p:blipFill>
        <p:spPr>
          <a:xfrm flipH="1">
            <a:off x="693160" y="4508703"/>
            <a:ext cx="1605014" cy="751622"/>
          </a:xfrm>
          <a:prstGeom prst="rect">
            <a:avLst/>
          </a:prstGeom>
        </p:spPr>
      </p:pic>
      <p:cxnSp>
        <p:nvCxnSpPr>
          <p:cNvPr id="238" name="Straight Arrow Connector 74" descr="Up and down pointing vertical arrow.">
            <a:extLst>
              <a:ext uri="{FF2B5EF4-FFF2-40B4-BE49-F238E27FC236}">
                <a16:creationId xmlns:a16="http://schemas.microsoft.com/office/drawing/2014/main" id="{4F066557-8186-1E8F-AF1A-D352CD6CEE55}"/>
              </a:ext>
            </a:extLst>
          </p:cNvPr>
          <p:cNvCxnSpPr>
            <a:cxnSpLocks/>
            <a:endCxn id="296" idx="1"/>
          </p:cNvCxnSpPr>
          <p:nvPr/>
        </p:nvCxnSpPr>
        <p:spPr>
          <a:xfrm>
            <a:off x="2777961" y="4650940"/>
            <a:ext cx="2035003" cy="0"/>
          </a:xfrm>
          <a:prstGeom prst="straightConnector1">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grpSp>
        <p:nvGrpSpPr>
          <p:cNvPr id="241" name="グループ化 240">
            <a:extLst>
              <a:ext uri="{FF2B5EF4-FFF2-40B4-BE49-F238E27FC236}">
                <a16:creationId xmlns:a16="http://schemas.microsoft.com/office/drawing/2014/main" id="{6CF48345-50D9-3DBD-3410-9B220F49C07D}"/>
              </a:ext>
            </a:extLst>
          </p:cNvPr>
          <p:cNvGrpSpPr/>
          <p:nvPr/>
        </p:nvGrpSpPr>
        <p:grpSpPr>
          <a:xfrm>
            <a:off x="2051276" y="6087076"/>
            <a:ext cx="924337" cy="403333"/>
            <a:chOff x="2262291" y="5685876"/>
            <a:chExt cx="924337" cy="403333"/>
          </a:xfrm>
        </p:grpSpPr>
        <p:pic>
          <p:nvPicPr>
            <p:cNvPr id="286" name="図 285" descr="アイコン&#10;&#10;AI によって生成されたコンテンツは間違っている可能性があります。">
              <a:extLst>
                <a:ext uri="{FF2B5EF4-FFF2-40B4-BE49-F238E27FC236}">
                  <a16:creationId xmlns:a16="http://schemas.microsoft.com/office/drawing/2014/main" id="{E0A3FA2F-06BA-26B0-D179-3DE7E5A3A8C8}"/>
                </a:ext>
              </a:extLst>
            </p:cNvPr>
            <p:cNvPicPr>
              <a:picLocks noChangeAspect="1"/>
            </p:cNvPicPr>
            <p:nvPr/>
          </p:nvPicPr>
          <p:blipFill>
            <a:blip r:embed="rId13">
              <a:extLst>
                <a:ext uri="{28A0092B-C50C-407E-A947-70E740481C1C}">
                  <a14:useLocalDpi xmlns:a14="http://schemas.microsoft.com/office/drawing/2010/main" val="0"/>
                </a:ext>
              </a:extLst>
            </a:blip>
            <a:srcRect l="10553" t="5709" r="9769" b="4466"/>
            <a:stretch/>
          </p:blipFill>
          <p:spPr>
            <a:xfrm>
              <a:off x="2262291" y="5685876"/>
              <a:ext cx="357774" cy="403333"/>
            </a:xfrm>
            <a:prstGeom prst="rect">
              <a:avLst/>
            </a:prstGeom>
          </p:spPr>
        </p:pic>
        <p:sp>
          <p:nvSpPr>
            <p:cNvPr id="287" name="テキスト ボックス 286">
              <a:extLst>
                <a:ext uri="{FF2B5EF4-FFF2-40B4-BE49-F238E27FC236}">
                  <a16:creationId xmlns:a16="http://schemas.microsoft.com/office/drawing/2014/main" id="{1DF448B6-04BF-C82B-A9A8-1FE94A4AF245}"/>
                </a:ext>
              </a:extLst>
            </p:cNvPr>
            <p:cNvSpPr txBox="1"/>
            <p:nvPr/>
          </p:nvSpPr>
          <p:spPr>
            <a:xfrm>
              <a:off x="2557071" y="5749042"/>
              <a:ext cx="629557" cy="276999"/>
            </a:xfrm>
            <a:prstGeom prst="rect">
              <a:avLst/>
            </a:prstGeom>
            <a:noFill/>
          </p:spPr>
          <p:txBody>
            <a:bodyPr wrap="square">
              <a:spAutoFit/>
            </a:bodyPr>
            <a:lstStyle/>
            <a:p>
              <a:r>
                <a:rPr lang="en-US" altLang="ja-JP" sz="1200" dirty="0"/>
                <a:t>:3000</a:t>
              </a:r>
              <a:endParaRPr lang="ja-JP" altLang="en-US" sz="1200" dirty="0"/>
            </a:p>
          </p:txBody>
        </p:sp>
      </p:grpSp>
      <p:grpSp>
        <p:nvGrpSpPr>
          <p:cNvPr id="242" name="グループ化 241">
            <a:extLst>
              <a:ext uri="{FF2B5EF4-FFF2-40B4-BE49-F238E27FC236}">
                <a16:creationId xmlns:a16="http://schemas.microsoft.com/office/drawing/2014/main" id="{23E416AC-4EB9-3838-824D-9AC77DBEB8F9}"/>
              </a:ext>
            </a:extLst>
          </p:cNvPr>
          <p:cNvGrpSpPr/>
          <p:nvPr/>
        </p:nvGrpSpPr>
        <p:grpSpPr>
          <a:xfrm>
            <a:off x="2043915" y="5648135"/>
            <a:ext cx="931698" cy="372497"/>
            <a:chOff x="2254930" y="5246935"/>
            <a:chExt cx="931698" cy="372497"/>
          </a:xfrm>
        </p:grpSpPr>
        <p:pic>
          <p:nvPicPr>
            <p:cNvPr id="284" name="グラフィックス 283">
              <a:extLst>
                <a:ext uri="{FF2B5EF4-FFF2-40B4-BE49-F238E27FC236}">
                  <a16:creationId xmlns:a16="http://schemas.microsoft.com/office/drawing/2014/main" id="{A56E5453-92F6-5AE4-3E8C-0E66642FDD0B}"/>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2254930" y="5246935"/>
              <a:ext cx="372497" cy="372497"/>
            </a:xfrm>
            <a:prstGeom prst="rect">
              <a:avLst/>
            </a:prstGeom>
          </p:spPr>
        </p:pic>
        <p:sp>
          <p:nvSpPr>
            <p:cNvPr id="285" name="テキスト ボックス 284">
              <a:extLst>
                <a:ext uri="{FF2B5EF4-FFF2-40B4-BE49-F238E27FC236}">
                  <a16:creationId xmlns:a16="http://schemas.microsoft.com/office/drawing/2014/main" id="{AB409314-CC55-26E2-7B0A-ABAAB8FF8AD0}"/>
                </a:ext>
              </a:extLst>
            </p:cNvPr>
            <p:cNvSpPr txBox="1"/>
            <p:nvPr/>
          </p:nvSpPr>
          <p:spPr>
            <a:xfrm>
              <a:off x="2557071" y="5306333"/>
              <a:ext cx="629557" cy="276999"/>
            </a:xfrm>
            <a:prstGeom prst="rect">
              <a:avLst/>
            </a:prstGeom>
            <a:noFill/>
          </p:spPr>
          <p:txBody>
            <a:bodyPr wrap="square">
              <a:spAutoFit/>
            </a:bodyPr>
            <a:lstStyle/>
            <a:p>
              <a:r>
                <a:rPr lang="en-US" altLang="ja-JP" sz="1200" dirty="0"/>
                <a:t>:8000</a:t>
              </a:r>
              <a:endParaRPr lang="ja-JP" altLang="en-US" sz="1200" dirty="0"/>
            </a:p>
          </p:txBody>
        </p:sp>
      </p:grpSp>
      <p:grpSp>
        <p:nvGrpSpPr>
          <p:cNvPr id="244" name="グループ化 243">
            <a:extLst>
              <a:ext uri="{FF2B5EF4-FFF2-40B4-BE49-F238E27FC236}">
                <a16:creationId xmlns:a16="http://schemas.microsoft.com/office/drawing/2014/main" id="{F24CACE4-A94A-8EB3-5622-B3721CE53C6D}"/>
              </a:ext>
            </a:extLst>
          </p:cNvPr>
          <p:cNvGrpSpPr/>
          <p:nvPr/>
        </p:nvGrpSpPr>
        <p:grpSpPr>
          <a:xfrm>
            <a:off x="5550985" y="2647229"/>
            <a:ext cx="1410825" cy="998159"/>
            <a:chOff x="2368342" y="1184275"/>
            <a:chExt cx="2003841" cy="1417718"/>
          </a:xfrm>
        </p:grpSpPr>
        <p:pic>
          <p:nvPicPr>
            <p:cNvPr id="280" name="Graphic 7" descr="Amazon API Gateway service icon.">
              <a:extLst>
                <a:ext uri="{FF2B5EF4-FFF2-40B4-BE49-F238E27FC236}">
                  <a16:creationId xmlns:a16="http://schemas.microsoft.com/office/drawing/2014/main" id="{B4EE0A56-3BEA-25FC-2FF3-7928BA8DBE23}"/>
                </a:ext>
              </a:extLst>
            </p:cNvPr>
            <p:cNvPicPr>
              <a:picLocks noChangeAspect="1" noChangeArrowheads="1"/>
            </p:cNvPicPr>
            <p:nvPr/>
          </p:nvPicPr>
          <p:blipFill>
            <a:blip r:embed="rId4">
              <a:extLst>
                <a:ext uri="{96DAC541-7B7A-43D3-8B79-37D633B846F1}">
                  <asvg:svgBlip xmlns:asvg="http://schemas.microsoft.com/office/drawing/2016/SVG/main" r:embed="rId5"/>
                </a:ext>
              </a:extLst>
            </a:blip>
            <a:srcRect/>
            <a:stretch/>
          </p:blipFill>
          <p:spPr bwMode="auto">
            <a:xfrm>
              <a:off x="2989264" y="1184275"/>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1" name="TextBox 9">
              <a:extLst>
                <a:ext uri="{FF2B5EF4-FFF2-40B4-BE49-F238E27FC236}">
                  <a16:creationId xmlns:a16="http://schemas.microsoft.com/office/drawing/2014/main" id="{D5A7A3C5-04B4-250E-C9F0-32970380C935}"/>
                </a:ext>
              </a:extLst>
            </p:cNvPr>
            <p:cNvSpPr txBox="1">
              <a:spLocks noChangeArrowheads="1"/>
            </p:cNvSpPr>
            <p:nvPr/>
          </p:nvSpPr>
          <p:spPr bwMode="auto">
            <a:xfrm>
              <a:off x="2368342" y="1946275"/>
              <a:ext cx="2003841" cy="655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API Gateway</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(WebSocket)</a:t>
              </a:r>
            </a:p>
          </p:txBody>
        </p:sp>
      </p:grpSp>
      <p:sp>
        <p:nvSpPr>
          <p:cNvPr id="277" name="TextBox 12">
            <a:extLst>
              <a:ext uri="{FF2B5EF4-FFF2-40B4-BE49-F238E27FC236}">
                <a16:creationId xmlns:a16="http://schemas.microsoft.com/office/drawing/2014/main" id="{57AF970E-A38B-F71A-31DC-B9F3FAF171F2}"/>
              </a:ext>
            </a:extLst>
          </p:cNvPr>
          <p:cNvSpPr txBox="1">
            <a:spLocks noChangeArrowheads="1"/>
          </p:cNvSpPr>
          <p:nvPr/>
        </p:nvSpPr>
        <p:spPr bwMode="auto">
          <a:xfrm>
            <a:off x="1707208" y="3178518"/>
            <a:ext cx="16050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Raspberry Pi 5</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(172.16.15.7)</a:t>
            </a:r>
          </a:p>
        </p:txBody>
      </p:sp>
      <p:sp>
        <p:nvSpPr>
          <p:cNvPr id="251" name="Rectangle 103" descr="Generic group dashed.">
            <a:extLst>
              <a:ext uri="{FF2B5EF4-FFF2-40B4-BE49-F238E27FC236}">
                <a16:creationId xmlns:a16="http://schemas.microsoft.com/office/drawing/2014/main" id="{8E9455BE-A61A-5ABB-AF1A-BDCADE4B11A4}"/>
              </a:ext>
            </a:extLst>
          </p:cNvPr>
          <p:cNvSpPr/>
          <p:nvPr/>
        </p:nvSpPr>
        <p:spPr>
          <a:xfrm>
            <a:off x="4457026" y="4158038"/>
            <a:ext cx="3541821" cy="1348227"/>
          </a:xfrm>
          <a:prstGeom prst="rect">
            <a:avLst/>
          </a:prstGeom>
          <a:noFill/>
          <a:ln w="15875">
            <a:solidFill>
              <a:srgbClr val="7D8998"/>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eaLnBrk="1" fontAlgn="auto" hangingPunct="1">
              <a:spcBef>
                <a:spcPts val="0"/>
              </a:spcBef>
              <a:spcAft>
                <a:spcPts val="0"/>
              </a:spcAft>
              <a:defRPr/>
            </a:pPr>
            <a:endParaRPr lang="en-US" sz="1200" dirty="0">
              <a:solidFill>
                <a:schemeClr val="tx1"/>
              </a:solidFill>
              <a:latin typeface="Arial" panose="020B0604020202020204" pitchFamily="34" charset="0"/>
              <a:cs typeface="Arial" panose="020B0604020202020204" pitchFamily="34" charset="0"/>
            </a:endParaRPr>
          </a:p>
        </p:txBody>
      </p:sp>
      <p:grpSp>
        <p:nvGrpSpPr>
          <p:cNvPr id="253" name="グループ化 252">
            <a:extLst>
              <a:ext uri="{FF2B5EF4-FFF2-40B4-BE49-F238E27FC236}">
                <a16:creationId xmlns:a16="http://schemas.microsoft.com/office/drawing/2014/main" id="{1DB5EECE-FF23-9B21-8C8F-E3E0EFBCCD51}"/>
              </a:ext>
            </a:extLst>
          </p:cNvPr>
          <p:cNvGrpSpPr/>
          <p:nvPr/>
        </p:nvGrpSpPr>
        <p:grpSpPr>
          <a:xfrm>
            <a:off x="4717633" y="2645272"/>
            <a:ext cx="730725" cy="813493"/>
            <a:chOff x="3005693" y="1391828"/>
            <a:chExt cx="730725" cy="813493"/>
          </a:xfrm>
        </p:grpSpPr>
        <p:pic>
          <p:nvPicPr>
            <p:cNvPr id="274" name="Graphic 10" descr="AWS Amplify service icon.">
              <a:extLst>
                <a:ext uri="{FF2B5EF4-FFF2-40B4-BE49-F238E27FC236}">
                  <a16:creationId xmlns:a16="http://schemas.microsoft.com/office/drawing/2014/main" id="{2B058E88-006A-DEDC-42F8-05D9DC981170}"/>
                </a:ext>
              </a:extLst>
            </p:cNvPr>
            <p:cNvPicPr>
              <a:picLocks noChangeAspect="1" noChangeArrowheads="1"/>
            </p:cNvPicPr>
            <p:nvPr/>
          </p:nvPicPr>
          <p:blipFill>
            <a:blip r:embed="rId16">
              <a:extLst>
                <a:ext uri="{96DAC541-7B7A-43D3-8B79-37D633B846F1}">
                  <asvg:svgBlip xmlns:asvg="http://schemas.microsoft.com/office/drawing/2016/SVG/main" r:embed="rId17"/>
                </a:ext>
              </a:extLst>
            </a:blip>
            <a:srcRect/>
            <a:stretch/>
          </p:blipFill>
          <p:spPr bwMode="auto">
            <a:xfrm>
              <a:off x="3102809" y="1391828"/>
              <a:ext cx="536494" cy="536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5" name="TextBox 6">
              <a:extLst>
                <a:ext uri="{FF2B5EF4-FFF2-40B4-BE49-F238E27FC236}">
                  <a16:creationId xmlns:a16="http://schemas.microsoft.com/office/drawing/2014/main" id="{0F954A59-468B-42C5-A467-6A4641F425C4}"/>
                </a:ext>
              </a:extLst>
            </p:cNvPr>
            <p:cNvSpPr txBox="1">
              <a:spLocks noChangeArrowheads="1"/>
            </p:cNvSpPr>
            <p:nvPr/>
          </p:nvSpPr>
          <p:spPr bwMode="auto">
            <a:xfrm>
              <a:off x="3005693" y="1928322"/>
              <a:ext cx="7307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Amplify</a:t>
              </a:r>
            </a:p>
          </p:txBody>
        </p:sp>
      </p:grpSp>
      <p:grpSp>
        <p:nvGrpSpPr>
          <p:cNvPr id="261" name="グループ化 260">
            <a:extLst>
              <a:ext uri="{FF2B5EF4-FFF2-40B4-BE49-F238E27FC236}">
                <a16:creationId xmlns:a16="http://schemas.microsoft.com/office/drawing/2014/main" id="{36C356FB-466A-0675-9424-FBB63B7D007A}"/>
              </a:ext>
            </a:extLst>
          </p:cNvPr>
          <p:cNvGrpSpPr/>
          <p:nvPr/>
        </p:nvGrpSpPr>
        <p:grpSpPr>
          <a:xfrm>
            <a:off x="3645809" y="5683375"/>
            <a:ext cx="1020292" cy="992557"/>
            <a:chOff x="3864463" y="3839626"/>
            <a:chExt cx="1020292" cy="992557"/>
          </a:xfrm>
        </p:grpSpPr>
        <p:pic>
          <p:nvPicPr>
            <p:cNvPr id="272" name="Graphic 17" descr="Amazon Cognito service icon.">
              <a:extLst>
                <a:ext uri="{FF2B5EF4-FFF2-40B4-BE49-F238E27FC236}">
                  <a16:creationId xmlns:a16="http://schemas.microsoft.com/office/drawing/2014/main" id="{82A12096-734C-E655-60E9-A776181DF279}"/>
                </a:ext>
              </a:extLst>
            </p:cNvPr>
            <p:cNvPicPr>
              <a:picLocks noChangeAspect="1" noChangeArrowheads="1"/>
            </p:cNvPicPr>
            <p:nvPr/>
          </p:nvPicPr>
          <p:blipFill>
            <a:blip r:embed="rId18">
              <a:extLst>
                <a:ext uri="{96DAC541-7B7A-43D3-8B79-37D633B846F1}">
                  <asvg:svgBlip xmlns:asvg="http://schemas.microsoft.com/office/drawing/2016/SVG/main" r:embed="rId19"/>
                </a:ext>
              </a:extLst>
            </a:blip>
            <a:srcRect/>
            <a:stretch/>
          </p:blipFill>
          <p:spPr bwMode="auto">
            <a:xfrm>
              <a:off x="4106362" y="3839626"/>
              <a:ext cx="536494" cy="536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3" name="TextBox 11">
              <a:extLst>
                <a:ext uri="{FF2B5EF4-FFF2-40B4-BE49-F238E27FC236}">
                  <a16:creationId xmlns:a16="http://schemas.microsoft.com/office/drawing/2014/main" id="{510E2C31-478D-4168-FEB9-628CF869FDED}"/>
                </a:ext>
              </a:extLst>
            </p:cNvPr>
            <p:cNvSpPr txBox="1">
              <a:spLocks noChangeArrowheads="1"/>
            </p:cNvSpPr>
            <p:nvPr/>
          </p:nvSpPr>
          <p:spPr bwMode="auto">
            <a:xfrm>
              <a:off x="3864463" y="4370518"/>
              <a:ext cx="102029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Cognito</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(ID Pool)</a:t>
              </a:r>
            </a:p>
          </p:txBody>
        </p:sp>
      </p:grpSp>
      <p:cxnSp>
        <p:nvCxnSpPr>
          <p:cNvPr id="263" name="Elbow Connector 22" descr="Elbow horizontal arrow pointing right (1).">
            <a:extLst>
              <a:ext uri="{FF2B5EF4-FFF2-40B4-BE49-F238E27FC236}">
                <a16:creationId xmlns:a16="http://schemas.microsoft.com/office/drawing/2014/main" id="{2D7745F7-A5B1-0918-AD7C-BABD9A04BC47}"/>
              </a:ext>
            </a:extLst>
          </p:cNvPr>
          <p:cNvCxnSpPr>
            <a:cxnSpLocks/>
            <a:stCxn id="272" idx="0"/>
          </p:cNvCxnSpPr>
          <p:nvPr/>
        </p:nvCxnSpPr>
        <p:spPr>
          <a:xfrm rot="16200000" flipV="1">
            <a:off x="3030452" y="4557872"/>
            <a:ext cx="866319" cy="1384688"/>
          </a:xfrm>
          <a:prstGeom prst="bentConnector2">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pic>
        <p:nvPicPr>
          <p:cNvPr id="264" name="Graphic 86" descr="Temporary security credential resource icon for the IAM service.">
            <a:extLst>
              <a:ext uri="{FF2B5EF4-FFF2-40B4-BE49-F238E27FC236}">
                <a16:creationId xmlns:a16="http://schemas.microsoft.com/office/drawing/2014/main" id="{3D24E470-D017-32B4-20EC-58B62418EBF4}"/>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3663828" y="5053261"/>
            <a:ext cx="416212" cy="416212"/>
          </a:xfrm>
          <a:prstGeom prst="rect">
            <a:avLst/>
          </a:prstGeom>
        </p:spPr>
      </p:pic>
      <p:grpSp>
        <p:nvGrpSpPr>
          <p:cNvPr id="267" name="Group 1" descr="AWS Cloud group with AWS logo.">
            <a:extLst>
              <a:ext uri="{FF2B5EF4-FFF2-40B4-BE49-F238E27FC236}">
                <a16:creationId xmlns:a16="http://schemas.microsoft.com/office/drawing/2014/main" id="{BC5D102A-FDC9-D3D4-8F1C-C536DD179831}"/>
              </a:ext>
            </a:extLst>
          </p:cNvPr>
          <p:cNvGrpSpPr/>
          <p:nvPr/>
        </p:nvGrpSpPr>
        <p:grpSpPr>
          <a:xfrm>
            <a:off x="3528572" y="926869"/>
            <a:ext cx="4825253" cy="5828334"/>
            <a:chOff x="355598" y="689579"/>
            <a:chExt cx="4825253" cy="3747374"/>
          </a:xfrm>
        </p:grpSpPr>
        <p:sp>
          <p:nvSpPr>
            <p:cNvPr id="268" name="Rectangle 54">
              <a:extLst>
                <a:ext uri="{FF2B5EF4-FFF2-40B4-BE49-F238E27FC236}">
                  <a16:creationId xmlns:a16="http://schemas.microsoft.com/office/drawing/2014/main" id="{39341245-42A3-7202-4072-F7E1DFA3639E}"/>
                </a:ext>
              </a:extLst>
            </p:cNvPr>
            <p:cNvSpPr/>
            <p:nvPr/>
          </p:nvSpPr>
          <p:spPr>
            <a:xfrm>
              <a:off x="355599" y="689579"/>
              <a:ext cx="4825252" cy="3747374"/>
            </a:xfrm>
            <a:prstGeom prst="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r>
                <a:rPr lang="en-US" sz="1200" dirty="0">
                  <a:solidFill>
                    <a:schemeClr val="tx1"/>
                  </a:solidFill>
                  <a:latin typeface="Arial" panose="020B0604020202020204" pitchFamily="34" charset="0"/>
                  <a:cs typeface="Arial" panose="020B0604020202020204" pitchFamily="34" charset="0"/>
                </a:rPr>
                <a:t>AWS Cloud</a:t>
              </a:r>
            </a:p>
          </p:txBody>
        </p:sp>
        <p:pic>
          <p:nvPicPr>
            <p:cNvPr id="269" name="Graphic 55" descr="AWS Cloud group icon with AWS logo.">
              <a:extLst>
                <a:ext uri="{FF2B5EF4-FFF2-40B4-BE49-F238E27FC236}">
                  <a16:creationId xmlns:a16="http://schemas.microsoft.com/office/drawing/2014/main" id="{D3388784-9BAD-D708-6122-39D15F1990E2}"/>
                </a:ext>
              </a:extLst>
            </p:cNvPr>
            <p:cNvPicPr>
              <a:picLocks noChangeAspect="1"/>
            </p:cNvPicPr>
            <p:nvPr/>
          </p:nvPicPr>
          <p:blipFill>
            <a:blip r:embed="rId22">
              <a:extLst>
                <a:ext uri="{96DAC541-7B7A-43D3-8B79-37D633B846F1}">
                  <asvg:svgBlip xmlns:asvg="http://schemas.microsoft.com/office/drawing/2016/SVG/main" r:embed="rId23"/>
                </a:ext>
              </a:extLst>
            </a:blip>
            <a:srcRect/>
            <a:stretch/>
          </p:blipFill>
          <p:spPr>
            <a:xfrm>
              <a:off x="355598" y="695923"/>
              <a:ext cx="419750" cy="287318"/>
            </a:xfrm>
            <a:prstGeom prst="rect">
              <a:avLst/>
            </a:prstGeom>
          </p:spPr>
        </p:pic>
      </p:grpSp>
      <p:sp>
        <p:nvSpPr>
          <p:cNvPr id="228" name="Rectangle 103" descr="Generic group dashed.">
            <a:extLst>
              <a:ext uri="{FF2B5EF4-FFF2-40B4-BE49-F238E27FC236}">
                <a16:creationId xmlns:a16="http://schemas.microsoft.com/office/drawing/2014/main" id="{EF6F9C73-DE76-045B-37B8-EC99C77F3B5B}"/>
              </a:ext>
            </a:extLst>
          </p:cNvPr>
          <p:cNvSpPr/>
          <p:nvPr/>
        </p:nvSpPr>
        <p:spPr>
          <a:xfrm>
            <a:off x="690522" y="2075537"/>
            <a:ext cx="2621698" cy="1720079"/>
          </a:xfrm>
          <a:prstGeom prst="rect">
            <a:avLst/>
          </a:prstGeom>
          <a:noFill/>
          <a:ln w="15875">
            <a:solidFill>
              <a:srgbClr val="7D8998"/>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a:defRPr/>
            </a:pPr>
            <a:r>
              <a:rPr lang="ja-JP" altLang="en-US" sz="1200" dirty="0">
                <a:solidFill>
                  <a:schemeClr val="tx1"/>
                </a:solidFill>
                <a:latin typeface="Arial" panose="020B0604020202020204" pitchFamily="34" charset="0"/>
                <a:cs typeface="Arial" panose="020B0604020202020204" pitchFamily="34" charset="0"/>
              </a:rPr>
              <a:t>教員部屋（</a:t>
            </a:r>
            <a:r>
              <a:rPr lang="en-US" altLang="ja-JP" sz="1200" dirty="0">
                <a:solidFill>
                  <a:schemeClr val="tx1"/>
                </a:solidFill>
                <a:latin typeface="Arial" panose="020B0604020202020204" pitchFamily="34" charset="0"/>
                <a:cs typeface="Arial" panose="020B0604020202020204" pitchFamily="34" charset="0"/>
              </a:rPr>
              <a:t>J1404</a:t>
            </a:r>
            <a:r>
              <a:rPr lang="ja-JP" altLang="en-US" sz="1200" dirty="0">
                <a:solidFill>
                  <a:schemeClr val="tx1"/>
                </a:solidFill>
                <a:latin typeface="Arial" panose="020B0604020202020204" pitchFamily="34" charset="0"/>
                <a:cs typeface="Arial" panose="020B0604020202020204" pitchFamily="34" charset="0"/>
              </a:rPr>
              <a:t>）</a:t>
            </a:r>
            <a:endParaRPr lang="en-US" sz="1200" dirty="0">
              <a:solidFill>
                <a:schemeClr val="tx1"/>
              </a:solidFill>
              <a:latin typeface="Arial" panose="020B0604020202020204" pitchFamily="34" charset="0"/>
              <a:cs typeface="Arial" panose="020B0604020202020204" pitchFamily="34" charset="0"/>
            </a:endParaRPr>
          </a:p>
        </p:txBody>
      </p:sp>
      <p:pic>
        <p:nvPicPr>
          <p:cNvPr id="302" name="グラフィックス 301">
            <a:extLst>
              <a:ext uri="{FF2B5EF4-FFF2-40B4-BE49-F238E27FC236}">
                <a16:creationId xmlns:a16="http://schemas.microsoft.com/office/drawing/2014/main" id="{F62170FD-739B-E03D-5AEC-F70D139DD66A}"/>
              </a:ext>
            </a:extLst>
          </p:cNvPr>
          <p:cNvPicPr>
            <a:picLocks noChangeAspect="1"/>
          </p:cNvPicPr>
          <p:nvPr/>
        </p:nvPicPr>
        <p:blipFill>
          <a:blip r:embed="rId24">
            <a:grayscl/>
            <a:extLst>
              <a:ext uri="{96DAC541-7B7A-43D3-8B79-37D633B846F1}">
                <asvg:svgBlip xmlns:asvg="http://schemas.microsoft.com/office/drawing/2016/SVG/main" r:embed="rId25"/>
              </a:ext>
            </a:extLst>
          </a:blip>
          <a:srcRect l="25148" t="16203" r="25948" b="16205"/>
          <a:stretch/>
        </p:blipFill>
        <p:spPr>
          <a:xfrm>
            <a:off x="1029996" y="2508789"/>
            <a:ext cx="580096" cy="801769"/>
          </a:xfrm>
          <a:prstGeom prst="rect">
            <a:avLst/>
          </a:prstGeom>
        </p:spPr>
      </p:pic>
      <p:cxnSp>
        <p:nvCxnSpPr>
          <p:cNvPr id="303" name="Straight Arrow Connector 100">
            <a:extLst>
              <a:ext uri="{FF2B5EF4-FFF2-40B4-BE49-F238E27FC236}">
                <a16:creationId xmlns:a16="http://schemas.microsoft.com/office/drawing/2014/main" id="{ED05CD41-B441-CBFF-F898-861CD71695A8}"/>
              </a:ext>
            </a:extLst>
          </p:cNvPr>
          <p:cNvCxnSpPr>
            <a:cxnSpLocks/>
            <a:stCxn id="302" idx="3"/>
          </p:cNvCxnSpPr>
          <p:nvPr/>
        </p:nvCxnSpPr>
        <p:spPr>
          <a:xfrm>
            <a:off x="1610092" y="2909674"/>
            <a:ext cx="631375" cy="597"/>
          </a:xfrm>
          <a:prstGeom prst="straightConnector1">
            <a:avLst/>
          </a:prstGeom>
          <a:ln w="19050">
            <a:solidFill>
              <a:schemeClr val="tx1"/>
            </a:solidFill>
            <a:headEnd type="none" w="med" len="sm"/>
            <a:tailEnd type="none" w="med" len="sm"/>
          </a:ln>
        </p:spPr>
        <p:style>
          <a:lnRef idx="1">
            <a:schemeClr val="accent1"/>
          </a:lnRef>
          <a:fillRef idx="0">
            <a:schemeClr val="accent1"/>
          </a:fillRef>
          <a:effectRef idx="0">
            <a:schemeClr val="accent1"/>
          </a:effectRef>
          <a:fontRef idx="minor">
            <a:schemeClr val="tx1"/>
          </a:fontRef>
        </p:style>
      </p:cxnSp>
      <p:sp>
        <p:nvSpPr>
          <p:cNvPr id="306" name="Rectangle 103" descr="Generic group dashed.">
            <a:extLst>
              <a:ext uri="{FF2B5EF4-FFF2-40B4-BE49-F238E27FC236}">
                <a16:creationId xmlns:a16="http://schemas.microsoft.com/office/drawing/2014/main" id="{5B84DDF3-8118-11DF-4C06-0810B6745DCC}"/>
              </a:ext>
            </a:extLst>
          </p:cNvPr>
          <p:cNvSpPr/>
          <p:nvPr/>
        </p:nvSpPr>
        <p:spPr>
          <a:xfrm>
            <a:off x="690522" y="3933107"/>
            <a:ext cx="2615365" cy="2822096"/>
          </a:xfrm>
          <a:prstGeom prst="rect">
            <a:avLst/>
          </a:prstGeom>
          <a:noFill/>
          <a:ln w="15875">
            <a:solidFill>
              <a:srgbClr val="7D8998"/>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a:defRPr/>
            </a:pPr>
            <a:r>
              <a:rPr lang="ja-JP" altLang="en-US" sz="1200" dirty="0">
                <a:solidFill>
                  <a:schemeClr val="tx1"/>
                </a:solidFill>
                <a:latin typeface="Arial" panose="020B0604020202020204" pitchFamily="34" charset="0"/>
                <a:cs typeface="Arial" panose="020B0604020202020204" pitchFamily="34" charset="0"/>
              </a:rPr>
              <a:t>学生部屋（</a:t>
            </a:r>
            <a:r>
              <a:rPr lang="en-US" altLang="ja-JP" sz="1200" dirty="0">
                <a:solidFill>
                  <a:schemeClr val="tx1"/>
                </a:solidFill>
                <a:latin typeface="Arial" panose="020B0604020202020204" pitchFamily="34" charset="0"/>
                <a:cs typeface="Arial" panose="020B0604020202020204" pitchFamily="34" charset="0"/>
              </a:rPr>
              <a:t>J1401</a:t>
            </a:r>
            <a:r>
              <a:rPr lang="ja-JP" altLang="en-US" sz="1200" dirty="0">
                <a:solidFill>
                  <a:schemeClr val="tx1"/>
                </a:solidFill>
                <a:latin typeface="Arial" panose="020B0604020202020204" pitchFamily="34" charset="0"/>
                <a:cs typeface="Arial" panose="020B0604020202020204" pitchFamily="34" charset="0"/>
              </a:rPr>
              <a:t>）</a:t>
            </a:r>
            <a:endParaRPr lang="en-US" sz="1200" dirty="0">
              <a:solidFill>
                <a:schemeClr val="tx1"/>
              </a:solidFill>
              <a:latin typeface="Arial" panose="020B0604020202020204" pitchFamily="34" charset="0"/>
              <a:cs typeface="Arial" panose="020B0604020202020204" pitchFamily="34" charset="0"/>
            </a:endParaRPr>
          </a:p>
        </p:txBody>
      </p:sp>
      <p:pic>
        <p:nvPicPr>
          <p:cNvPr id="307" name="グラフィックス 306">
            <a:extLst>
              <a:ext uri="{FF2B5EF4-FFF2-40B4-BE49-F238E27FC236}">
                <a16:creationId xmlns:a16="http://schemas.microsoft.com/office/drawing/2014/main" id="{76B6C615-2370-06E2-060D-CE15A0C66DA7}"/>
              </a:ext>
            </a:extLst>
          </p:cNvPr>
          <p:cNvPicPr>
            <a:picLocks noChangeAspect="1"/>
          </p:cNvPicPr>
          <p:nvPr/>
        </p:nvPicPr>
        <p:blipFill>
          <a:blip r:embed="rId24">
            <a:grayscl/>
            <a:extLst>
              <a:ext uri="{96DAC541-7B7A-43D3-8B79-37D633B846F1}">
                <asvg:svgBlip xmlns:asvg="http://schemas.microsoft.com/office/drawing/2016/SVG/main" r:embed="rId25"/>
              </a:ext>
            </a:extLst>
          </a:blip>
          <a:srcRect l="25148" t="16203" r="25948" b="16205"/>
          <a:stretch/>
        </p:blipFill>
        <p:spPr>
          <a:xfrm rot="16200000">
            <a:off x="1042395" y="5874413"/>
            <a:ext cx="599552" cy="828660"/>
          </a:xfrm>
          <a:prstGeom prst="rect">
            <a:avLst/>
          </a:prstGeom>
        </p:spPr>
      </p:pic>
      <p:cxnSp>
        <p:nvCxnSpPr>
          <p:cNvPr id="329" name="Straight Arrow Connector 52" descr="Double pointing horizontal arrow.">
            <a:extLst>
              <a:ext uri="{FF2B5EF4-FFF2-40B4-BE49-F238E27FC236}">
                <a16:creationId xmlns:a16="http://schemas.microsoft.com/office/drawing/2014/main" id="{B20EDF4A-5D40-0972-6884-5D70F97C9CF1}"/>
              </a:ext>
            </a:extLst>
          </p:cNvPr>
          <p:cNvCxnSpPr>
            <a:cxnSpLocks/>
            <a:stCxn id="290" idx="0"/>
            <a:endCxn id="297" idx="2"/>
          </p:cNvCxnSpPr>
          <p:nvPr/>
        </p:nvCxnSpPr>
        <p:spPr>
          <a:xfrm flipH="1" flipV="1">
            <a:off x="5081211" y="5380852"/>
            <a:ext cx="3010" cy="315777"/>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341" name="Straight Arrow Connector 52" descr="Double pointing horizontal arrow.">
            <a:extLst>
              <a:ext uri="{FF2B5EF4-FFF2-40B4-BE49-F238E27FC236}">
                <a16:creationId xmlns:a16="http://schemas.microsoft.com/office/drawing/2014/main" id="{22843453-4FBC-41B4-64B2-C0610DBB2A6D}"/>
              </a:ext>
            </a:extLst>
          </p:cNvPr>
          <p:cNvCxnSpPr>
            <a:cxnSpLocks/>
            <a:stCxn id="274" idx="3"/>
            <a:endCxn id="280" idx="1"/>
          </p:cNvCxnSpPr>
          <p:nvPr/>
        </p:nvCxnSpPr>
        <p:spPr>
          <a:xfrm>
            <a:off x="5351243" y="2913519"/>
            <a:ext cx="636909" cy="1957"/>
          </a:xfrm>
          <a:prstGeom prst="straightConnector1">
            <a:avLst/>
          </a:prstGeom>
          <a:ln w="15875">
            <a:solidFill>
              <a:schemeClr val="tx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grpSp>
        <p:nvGrpSpPr>
          <p:cNvPr id="345" name="グループ化 344">
            <a:extLst>
              <a:ext uri="{FF2B5EF4-FFF2-40B4-BE49-F238E27FC236}">
                <a16:creationId xmlns:a16="http://schemas.microsoft.com/office/drawing/2014/main" id="{A5F700DC-40CC-F531-4DAF-A4C7CC1996B3}"/>
              </a:ext>
            </a:extLst>
          </p:cNvPr>
          <p:cNvGrpSpPr/>
          <p:nvPr/>
        </p:nvGrpSpPr>
        <p:grpSpPr>
          <a:xfrm>
            <a:off x="7023122" y="2645832"/>
            <a:ext cx="820861" cy="812933"/>
            <a:chOff x="5051089" y="1185069"/>
            <a:chExt cx="1165896" cy="1154637"/>
          </a:xfrm>
        </p:grpSpPr>
        <p:pic>
          <p:nvPicPr>
            <p:cNvPr id="346" name="Graphic 10" descr="AWS Lambda service icon.">
              <a:extLst>
                <a:ext uri="{FF2B5EF4-FFF2-40B4-BE49-F238E27FC236}">
                  <a16:creationId xmlns:a16="http://schemas.microsoft.com/office/drawing/2014/main" id="{DD3AEEDD-09C2-D4EA-3A95-5FED85DF7020}"/>
                </a:ext>
              </a:extLst>
            </p:cNvPr>
            <p:cNvPicPr>
              <a:picLocks noChangeAspect="1" noChangeArrowheads="1"/>
            </p:cNvPicPr>
            <p:nvPr/>
          </p:nvPicPr>
          <p:blipFill>
            <a:blip r:embed="rId6">
              <a:extLst>
                <a:ext uri="{96DAC541-7B7A-43D3-8B79-37D633B846F1}">
                  <asvg:svgBlip xmlns:asvg="http://schemas.microsoft.com/office/drawing/2016/SVG/main" r:embed="rId7"/>
                </a:ext>
              </a:extLst>
            </a:blip>
            <a:srcRect/>
            <a:stretch/>
          </p:blipFill>
          <p:spPr bwMode="auto">
            <a:xfrm>
              <a:off x="5246688" y="1185069"/>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7" name="TextBox 20">
              <a:extLst>
                <a:ext uri="{FF2B5EF4-FFF2-40B4-BE49-F238E27FC236}">
                  <a16:creationId xmlns:a16="http://schemas.microsoft.com/office/drawing/2014/main" id="{32AA5517-4F2A-F9A4-7F00-2606047D1786}"/>
                </a:ext>
              </a:extLst>
            </p:cNvPr>
            <p:cNvSpPr txBox="1">
              <a:spLocks noChangeArrowheads="1"/>
            </p:cNvSpPr>
            <p:nvPr/>
          </p:nvSpPr>
          <p:spPr bwMode="auto">
            <a:xfrm>
              <a:off x="5051089" y="1946275"/>
              <a:ext cx="1165896" cy="393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Lambda</a:t>
              </a:r>
            </a:p>
          </p:txBody>
        </p:sp>
      </p:grpSp>
      <p:cxnSp>
        <p:nvCxnSpPr>
          <p:cNvPr id="348" name="Straight Arrow Connector 52" descr="Double pointing horizontal arrow.">
            <a:extLst>
              <a:ext uri="{FF2B5EF4-FFF2-40B4-BE49-F238E27FC236}">
                <a16:creationId xmlns:a16="http://schemas.microsoft.com/office/drawing/2014/main" id="{98FB23B4-8561-E2A3-018A-301A3D95D41C}"/>
              </a:ext>
            </a:extLst>
          </p:cNvPr>
          <p:cNvCxnSpPr>
            <a:cxnSpLocks/>
            <a:stCxn id="280" idx="3"/>
            <a:endCxn id="346" idx="1"/>
          </p:cNvCxnSpPr>
          <p:nvPr/>
        </p:nvCxnSpPr>
        <p:spPr>
          <a:xfrm flipV="1">
            <a:off x="6524646" y="2914079"/>
            <a:ext cx="636189" cy="1397"/>
          </a:xfrm>
          <a:prstGeom prst="straightConnector1">
            <a:avLst/>
          </a:prstGeom>
          <a:ln w="15875">
            <a:solidFill>
              <a:schemeClr val="tx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grpSp>
        <p:nvGrpSpPr>
          <p:cNvPr id="361" name="グループ化 360">
            <a:extLst>
              <a:ext uri="{FF2B5EF4-FFF2-40B4-BE49-F238E27FC236}">
                <a16:creationId xmlns:a16="http://schemas.microsoft.com/office/drawing/2014/main" id="{EDCAB2C9-5216-E717-5E38-5C096022D64D}"/>
              </a:ext>
            </a:extLst>
          </p:cNvPr>
          <p:cNvGrpSpPr/>
          <p:nvPr/>
        </p:nvGrpSpPr>
        <p:grpSpPr>
          <a:xfrm>
            <a:off x="7397897" y="3458765"/>
            <a:ext cx="71896" cy="901612"/>
            <a:chOff x="6937330" y="3141097"/>
            <a:chExt cx="71896" cy="901612"/>
          </a:xfrm>
        </p:grpSpPr>
        <p:cxnSp>
          <p:nvCxnSpPr>
            <p:cNvPr id="354" name="Straight Arrow Connector 52" descr="Double pointing horizontal arrow.">
              <a:extLst>
                <a:ext uri="{FF2B5EF4-FFF2-40B4-BE49-F238E27FC236}">
                  <a16:creationId xmlns:a16="http://schemas.microsoft.com/office/drawing/2014/main" id="{6B3ADAB1-FCB0-82CB-D682-6AFC91919841}"/>
                </a:ext>
              </a:extLst>
            </p:cNvPr>
            <p:cNvCxnSpPr>
              <a:cxnSpLocks/>
              <a:stCxn id="360" idx="0"/>
              <a:endCxn id="347" idx="2"/>
            </p:cNvCxnSpPr>
            <p:nvPr/>
          </p:nvCxnSpPr>
          <p:spPr>
            <a:xfrm flipH="1" flipV="1">
              <a:off x="6972986" y="3141097"/>
              <a:ext cx="292" cy="829716"/>
            </a:xfrm>
            <a:prstGeom prst="straightConnector1">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sp>
          <p:nvSpPr>
            <p:cNvPr id="360" name="楕円 359">
              <a:extLst>
                <a:ext uri="{FF2B5EF4-FFF2-40B4-BE49-F238E27FC236}">
                  <a16:creationId xmlns:a16="http://schemas.microsoft.com/office/drawing/2014/main" id="{6271BCE8-0B27-A8EC-3ED6-81B5F96EDDEF}"/>
                </a:ext>
              </a:extLst>
            </p:cNvPr>
            <p:cNvSpPr/>
            <p:nvPr/>
          </p:nvSpPr>
          <p:spPr>
            <a:xfrm>
              <a:off x="6937330" y="3970813"/>
              <a:ext cx="71896" cy="71896"/>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62" name="TextBox 9">
            <a:extLst>
              <a:ext uri="{FF2B5EF4-FFF2-40B4-BE49-F238E27FC236}">
                <a16:creationId xmlns:a16="http://schemas.microsoft.com/office/drawing/2014/main" id="{F05F9B9E-2ECA-28BF-BF60-B67D56290587}"/>
              </a:ext>
            </a:extLst>
          </p:cNvPr>
          <p:cNvSpPr txBox="1">
            <a:spLocks noChangeArrowheads="1"/>
          </p:cNvSpPr>
          <p:nvPr/>
        </p:nvSpPr>
        <p:spPr bwMode="auto">
          <a:xfrm>
            <a:off x="7385849" y="3789686"/>
            <a:ext cx="76250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Stream</a:t>
            </a:r>
          </a:p>
        </p:txBody>
      </p:sp>
      <p:cxnSp>
        <p:nvCxnSpPr>
          <p:cNvPr id="369" name="Straight Arrow Connector 52" descr="Double pointing horizontal arrow.">
            <a:extLst>
              <a:ext uri="{FF2B5EF4-FFF2-40B4-BE49-F238E27FC236}">
                <a16:creationId xmlns:a16="http://schemas.microsoft.com/office/drawing/2014/main" id="{E03B64C4-0D39-62FA-BCB6-1BC49D7E63D5}"/>
              </a:ext>
            </a:extLst>
          </p:cNvPr>
          <p:cNvCxnSpPr>
            <a:cxnSpLocks/>
            <a:stCxn id="274" idx="1"/>
          </p:cNvCxnSpPr>
          <p:nvPr/>
        </p:nvCxnSpPr>
        <p:spPr>
          <a:xfrm flipH="1" flipV="1">
            <a:off x="2777961" y="2910271"/>
            <a:ext cx="2036788" cy="3248"/>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372" name="Straight Arrow Connector 52" descr="Double pointing horizontal arrow.">
            <a:extLst>
              <a:ext uri="{FF2B5EF4-FFF2-40B4-BE49-F238E27FC236}">
                <a16:creationId xmlns:a16="http://schemas.microsoft.com/office/drawing/2014/main" id="{14EC760E-177B-E604-E54B-449D1D3CAE55}"/>
              </a:ext>
            </a:extLst>
          </p:cNvPr>
          <p:cNvCxnSpPr>
            <a:cxnSpLocks/>
            <a:stCxn id="286" idx="1"/>
            <a:endCxn id="307" idx="2"/>
          </p:cNvCxnSpPr>
          <p:nvPr/>
        </p:nvCxnSpPr>
        <p:spPr>
          <a:xfrm flipH="1">
            <a:off x="1756501" y="6288743"/>
            <a:ext cx="294775" cy="0"/>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sp>
        <p:nvSpPr>
          <p:cNvPr id="380" name="Rectangle 103" descr="Generic group dashed.">
            <a:extLst>
              <a:ext uri="{FF2B5EF4-FFF2-40B4-BE49-F238E27FC236}">
                <a16:creationId xmlns:a16="http://schemas.microsoft.com/office/drawing/2014/main" id="{EFFF7EE8-4D54-BD7E-2FAF-0C6222283146}"/>
              </a:ext>
            </a:extLst>
          </p:cNvPr>
          <p:cNvSpPr/>
          <p:nvPr/>
        </p:nvSpPr>
        <p:spPr>
          <a:xfrm>
            <a:off x="4457026" y="1552760"/>
            <a:ext cx="3541821" cy="2158934"/>
          </a:xfrm>
          <a:prstGeom prst="rect">
            <a:avLst/>
          </a:prstGeom>
          <a:noFill/>
          <a:ln w="15875">
            <a:solidFill>
              <a:srgbClr val="7D8998"/>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eaLnBrk="1" fontAlgn="auto" hangingPunct="1">
              <a:spcBef>
                <a:spcPts val="0"/>
              </a:spcBef>
              <a:spcAft>
                <a:spcPts val="0"/>
              </a:spcAft>
              <a:defRPr/>
            </a:pPr>
            <a:endParaRPr lang="en-US" sz="1200" dirty="0">
              <a:solidFill>
                <a:schemeClr val="tx1"/>
              </a:solidFill>
              <a:latin typeface="Arial" panose="020B0604020202020204" pitchFamily="34" charset="0"/>
              <a:cs typeface="Arial" panose="020B0604020202020204" pitchFamily="34" charset="0"/>
            </a:endParaRPr>
          </a:p>
        </p:txBody>
      </p:sp>
      <p:sp>
        <p:nvSpPr>
          <p:cNvPr id="256" name="テキスト ボックス 255">
            <a:extLst>
              <a:ext uri="{FF2B5EF4-FFF2-40B4-BE49-F238E27FC236}">
                <a16:creationId xmlns:a16="http://schemas.microsoft.com/office/drawing/2014/main" id="{83FC815A-C4C2-D1FE-EBFB-EF67D4ADFE46}"/>
              </a:ext>
            </a:extLst>
          </p:cNvPr>
          <p:cNvSpPr txBox="1"/>
          <p:nvPr/>
        </p:nvSpPr>
        <p:spPr>
          <a:xfrm>
            <a:off x="4355739" y="1260339"/>
            <a:ext cx="2390492" cy="276999"/>
          </a:xfrm>
          <a:prstGeom prst="rect">
            <a:avLst/>
          </a:prstGeom>
          <a:solidFill>
            <a:srgbClr val="EFECE3"/>
          </a:solidFill>
        </p:spPr>
        <p:txBody>
          <a:bodyPr wrap="square" rtlCol="0">
            <a:spAutoFit/>
          </a:bodyPr>
          <a:lstStyle/>
          <a:p>
            <a:r>
              <a:rPr lang="ja-JP" altLang="en-US" sz="1200" b="1" dirty="0">
                <a:latin typeface="BIZ UDゴシック" panose="020B0400000000000000" pitchFamily="49" charset="-128"/>
                <a:ea typeface="BIZ UDゴシック" panose="020B0400000000000000" pitchFamily="49" charset="-128"/>
              </a:rPr>
              <a:t>ユーザー・在室表示サービス</a:t>
            </a:r>
            <a:endParaRPr kumimoji="1" lang="ja-JP" altLang="en-US" sz="1200" b="1" dirty="0">
              <a:latin typeface="BIZ UDゴシック" panose="020B0400000000000000" pitchFamily="49" charset="-128"/>
              <a:ea typeface="BIZ UDゴシック" panose="020B0400000000000000" pitchFamily="49" charset="-128"/>
            </a:endParaRPr>
          </a:p>
        </p:txBody>
      </p:sp>
      <p:cxnSp>
        <p:nvCxnSpPr>
          <p:cNvPr id="394" name="Elbow Connector 22" descr="Elbow horizontal arrow pointing right (1).">
            <a:extLst>
              <a:ext uri="{FF2B5EF4-FFF2-40B4-BE49-F238E27FC236}">
                <a16:creationId xmlns:a16="http://schemas.microsoft.com/office/drawing/2014/main" id="{2263776E-934D-C2A9-CB7A-22B91D83C9C2}"/>
              </a:ext>
            </a:extLst>
          </p:cNvPr>
          <p:cNvCxnSpPr>
            <a:cxnSpLocks/>
            <a:endCxn id="272" idx="0"/>
          </p:cNvCxnSpPr>
          <p:nvPr/>
        </p:nvCxnSpPr>
        <p:spPr>
          <a:xfrm>
            <a:off x="2781957" y="4817404"/>
            <a:ext cx="1373998" cy="865971"/>
          </a:xfrm>
          <a:prstGeom prst="bentConnector2">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pic>
        <p:nvPicPr>
          <p:cNvPr id="403" name="Picture 2" descr="Raspberry icon - Free download on Iconfinder">
            <a:extLst>
              <a:ext uri="{FF2B5EF4-FFF2-40B4-BE49-F238E27FC236}">
                <a16:creationId xmlns:a16="http://schemas.microsoft.com/office/drawing/2014/main" id="{91FBDDFE-0E47-CF86-0151-977099672886}"/>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244769" y="4471085"/>
            <a:ext cx="544810" cy="544810"/>
          </a:xfrm>
          <a:prstGeom prst="rect">
            <a:avLst/>
          </a:prstGeom>
          <a:noFill/>
          <a:extLst>
            <a:ext uri="{909E8E84-426E-40DD-AFC4-6F175D3DCCD1}">
              <a14:hiddenFill xmlns:a14="http://schemas.microsoft.com/office/drawing/2010/main">
                <a:solidFill>
                  <a:srgbClr val="FFFFFF"/>
                </a:solidFill>
              </a14:hiddenFill>
            </a:ext>
          </a:extLst>
        </p:spPr>
      </p:pic>
      <p:pic>
        <p:nvPicPr>
          <p:cNvPr id="404" name="Picture 2" descr="Raspberry icon - Free download on Iconfinder">
            <a:extLst>
              <a:ext uri="{FF2B5EF4-FFF2-40B4-BE49-F238E27FC236}">
                <a16:creationId xmlns:a16="http://schemas.microsoft.com/office/drawing/2014/main" id="{672D924D-3834-F1F3-CE1A-0F1FC3F50E99}"/>
              </a:ext>
            </a:extLst>
          </p:cNvPr>
          <p:cNvPicPr>
            <a:picLocks noChangeAspect="1" noChangeArrowheads="1"/>
          </p:cNvPicPr>
          <p:nvPr/>
        </p:nvPicPr>
        <p:blipFill>
          <a:blip r:embed="rId26">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244769" y="2641704"/>
            <a:ext cx="544810" cy="544810"/>
          </a:xfrm>
          <a:prstGeom prst="rect">
            <a:avLst/>
          </a:prstGeom>
          <a:noFill/>
          <a:extLst>
            <a:ext uri="{909E8E84-426E-40DD-AFC4-6F175D3DCCD1}">
              <a14:hiddenFill xmlns:a14="http://schemas.microsoft.com/office/drawing/2010/main">
                <a:solidFill>
                  <a:srgbClr val="FFFFFF"/>
                </a:solidFill>
              </a14:hiddenFill>
            </a:ext>
          </a:extLst>
        </p:spPr>
      </p:pic>
      <p:cxnSp>
        <p:nvCxnSpPr>
          <p:cNvPr id="3" name="Straight Arrow Connector 52" descr="Double pointing horizontal arrow.">
            <a:extLst>
              <a:ext uri="{FF2B5EF4-FFF2-40B4-BE49-F238E27FC236}">
                <a16:creationId xmlns:a16="http://schemas.microsoft.com/office/drawing/2014/main" id="{60DC58FF-6C84-6AD7-9D32-50771135BB32}"/>
              </a:ext>
            </a:extLst>
          </p:cNvPr>
          <p:cNvCxnSpPr>
            <a:cxnSpLocks/>
            <a:stCxn id="275" idx="2"/>
            <a:endCxn id="296" idx="0"/>
          </p:cNvCxnSpPr>
          <p:nvPr/>
        </p:nvCxnSpPr>
        <p:spPr>
          <a:xfrm flipH="1">
            <a:off x="5081211" y="3458765"/>
            <a:ext cx="1785" cy="923928"/>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sp>
        <p:nvSpPr>
          <p:cNvPr id="257" name="テキスト ボックス 256">
            <a:extLst>
              <a:ext uri="{FF2B5EF4-FFF2-40B4-BE49-F238E27FC236}">
                <a16:creationId xmlns:a16="http://schemas.microsoft.com/office/drawing/2014/main" id="{E1065BC2-71CF-EF1C-B359-B69C4D0C3CCB}"/>
              </a:ext>
            </a:extLst>
          </p:cNvPr>
          <p:cNvSpPr txBox="1"/>
          <p:nvPr/>
        </p:nvSpPr>
        <p:spPr>
          <a:xfrm>
            <a:off x="4360260" y="3860479"/>
            <a:ext cx="2390492" cy="276999"/>
          </a:xfrm>
          <a:prstGeom prst="rect">
            <a:avLst/>
          </a:prstGeom>
          <a:solidFill>
            <a:srgbClr val="EFECE3"/>
          </a:solidFill>
        </p:spPr>
        <p:txBody>
          <a:bodyPr wrap="square" rtlCol="0">
            <a:spAutoFit/>
          </a:bodyPr>
          <a:lstStyle/>
          <a:p>
            <a:r>
              <a:rPr lang="ja-JP" altLang="en-US" sz="1200" b="1" dirty="0">
                <a:latin typeface="BIZ UDゴシック" panose="020B0400000000000000" pitchFamily="49" charset="-128"/>
                <a:ea typeface="BIZ UDゴシック" panose="020B0400000000000000" pitchFamily="49" charset="-128"/>
              </a:rPr>
              <a:t>ユーザー・在室登録サービス</a:t>
            </a:r>
            <a:endParaRPr kumimoji="1" lang="ja-JP" altLang="en-US" sz="1200" b="1" dirty="0">
              <a:latin typeface="BIZ UDゴシック" panose="020B0400000000000000" pitchFamily="49" charset="-128"/>
              <a:ea typeface="BIZ UDゴシック" panose="020B0400000000000000" pitchFamily="49" charset="-128"/>
            </a:endParaRPr>
          </a:p>
        </p:txBody>
      </p:sp>
      <p:cxnSp>
        <p:nvCxnSpPr>
          <p:cNvPr id="6" name="Straight Arrow Connector 52" descr="Double pointing horizontal arrow.">
            <a:extLst>
              <a:ext uri="{FF2B5EF4-FFF2-40B4-BE49-F238E27FC236}">
                <a16:creationId xmlns:a16="http://schemas.microsoft.com/office/drawing/2014/main" id="{18CB04EA-A27A-72A3-9647-938D2E0D424D}"/>
              </a:ext>
            </a:extLst>
          </p:cNvPr>
          <p:cNvCxnSpPr>
            <a:cxnSpLocks/>
            <a:stCxn id="296" idx="3"/>
            <a:endCxn id="294" idx="1"/>
          </p:cNvCxnSpPr>
          <p:nvPr/>
        </p:nvCxnSpPr>
        <p:spPr>
          <a:xfrm flipV="1">
            <a:off x="5349458" y="4650632"/>
            <a:ext cx="638693" cy="308"/>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10" name="Straight Arrow Connector 52" descr="Double pointing horizontal arrow.">
            <a:extLst>
              <a:ext uri="{FF2B5EF4-FFF2-40B4-BE49-F238E27FC236}">
                <a16:creationId xmlns:a16="http://schemas.microsoft.com/office/drawing/2014/main" id="{20FC12ED-91FD-2F1F-42D5-884AA7DCF2CB}"/>
              </a:ext>
            </a:extLst>
          </p:cNvPr>
          <p:cNvCxnSpPr>
            <a:cxnSpLocks/>
            <a:stCxn id="294" idx="3"/>
            <a:endCxn id="298" idx="1"/>
          </p:cNvCxnSpPr>
          <p:nvPr/>
        </p:nvCxnSpPr>
        <p:spPr>
          <a:xfrm>
            <a:off x="6524645" y="4650632"/>
            <a:ext cx="640661" cy="2899"/>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166017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283AC7-EE02-683D-7B33-6359C7193D5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A5D94B9-E3CB-43AD-6249-EDBB1C163729}"/>
              </a:ext>
            </a:extLst>
          </p:cNvPr>
          <p:cNvSpPr>
            <a:spLocks noGrp="1"/>
          </p:cNvSpPr>
          <p:nvPr>
            <p:ph type="title"/>
          </p:nvPr>
        </p:nvSpPr>
        <p:spPr/>
        <p:txBody>
          <a:bodyPr/>
          <a:lstStyle/>
          <a:p>
            <a:r>
              <a:rPr kumimoji="1" lang="ja-JP" altLang="en-US" dirty="0"/>
              <a:t>在室確認システムのアーキテクチャ</a:t>
            </a:r>
          </a:p>
        </p:txBody>
      </p:sp>
      <p:grpSp>
        <p:nvGrpSpPr>
          <p:cNvPr id="230" name="グループ化 229">
            <a:extLst>
              <a:ext uri="{FF2B5EF4-FFF2-40B4-BE49-F238E27FC236}">
                <a16:creationId xmlns:a16="http://schemas.microsoft.com/office/drawing/2014/main" id="{1760D6C0-40F6-2D9C-C5B2-CF18B321BE38}"/>
              </a:ext>
            </a:extLst>
          </p:cNvPr>
          <p:cNvGrpSpPr/>
          <p:nvPr/>
        </p:nvGrpSpPr>
        <p:grpSpPr>
          <a:xfrm>
            <a:off x="6904519" y="4385283"/>
            <a:ext cx="1058068" cy="814611"/>
            <a:chOff x="4098454" y="2667000"/>
            <a:chExt cx="1502808" cy="1157017"/>
          </a:xfrm>
        </p:grpSpPr>
        <p:pic>
          <p:nvPicPr>
            <p:cNvPr id="298" name="Graphic 23" descr="Amazon DynamoDB service icon.">
              <a:extLst>
                <a:ext uri="{FF2B5EF4-FFF2-40B4-BE49-F238E27FC236}">
                  <a16:creationId xmlns:a16="http://schemas.microsoft.com/office/drawing/2014/main" id="{7F95D302-D74E-8210-C1F8-F052AD9E4DAA}"/>
                </a:ext>
              </a:extLst>
            </p:cNvPr>
            <p:cNvPicPr>
              <a:picLocks noChangeAspect="1" noChangeArrowheads="1"/>
            </p:cNvPicPr>
            <p:nvPr/>
          </p:nvPicPr>
          <p:blipFill>
            <a:blip r:embed="rId2">
              <a:extLst>
                <a:ext uri="{96DAC541-7B7A-43D3-8B79-37D633B846F1}">
                  <asvg:svgBlip xmlns:asvg="http://schemas.microsoft.com/office/drawing/2016/SVG/main" r:embed="rId3"/>
                </a:ext>
              </a:extLst>
            </a:blip>
            <a:srcRect/>
            <a:stretch/>
          </p:blipFill>
          <p:spPr bwMode="auto">
            <a:xfrm>
              <a:off x="4468858" y="2667000"/>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9" name="TextBox 12">
              <a:extLst>
                <a:ext uri="{FF2B5EF4-FFF2-40B4-BE49-F238E27FC236}">
                  <a16:creationId xmlns:a16="http://schemas.microsoft.com/office/drawing/2014/main" id="{0736C9F0-B92D-3694-341B-422CC815685A}"/>
                </a:ext>
              </a:extLst>
            </p:cNvPr>
            <p:cNvSpPr txBox="1">
              <a:spLocks noChangeArrowheads="1"/>
            </p:cNvSpPr>
            <p:nvPr/>
          </p:nvSpPr>
          <p:spPr bwMode="auto">
            <a:xfrm>
              <a:off x="4098454" y="3430587"/>
              <a:ext cx="1502808" cy="393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DynamoDB</a:t>
              </a:r>
            </a:p>
          </p:txBody>
        </p:sp>
      </p:grpSp>
      <p:grpSp>
        <p:nvGrpSpPr>
          <p:cNvPr id="231" name="グループ化 230">
            <a:extLst>
              <a:ext uri="{FF2B5EF4-FFF2-40B4-BE49-F238E27FC236}">
                <a16:creationId xmlns:a16="http://schemas.microsoft.com/office/drawing/2014/main" id="{E2FD2C8F-5EE6-C1CC-02F5-E4E43AA980FC}"/>
              </a:ext>
            </a:extLst>
          </p:cNvPr>
          <p:cNvGrpSpPr/>
          <p:nvPr/>
        </p:nvGrpSpPr>
        <p:grpSpPr>
          <a:xfrm>
            <a:off x="4522361" y="4382693"/>
            <a:ext cx="1117700" cy="998159"/>
            <a:chOff x="2576510" y="1184275"/>
            <a:chExt cx="1587506" cy="1417718"/>
          </a:xfrm>
        </p:grpSpPr>
        <p:pic>
          <p:nvPicPr>
            <p:cNvPr id="296" name="Graphic 7" descr="Amazon API Gateway service icon.">
              <a:extLst>
                <a:ext uri="{FF2B5EF4-FFF2-40B4-BE49-F238E27FC236}">
                  <a16:creationId xmlns:a16="http://schemas.microsoft.com/office/drawing/2014/main" id="{9CC13B01-1747-4529-0F0B-FD1C404140E9}"/>
                </a:ext>
              </a:extLst>
            </p:cNvPr>
            <p:cNvPicPr>
              <a:picLocks noChangeAspect="1" noChangeArrowheads="1"/>
            </p:cNvPicPr>
            <p:nvPr/>
          </p:nvPicPr>
          <p:blipFill>
            <a:blip r:embed="rId4">
              <a:extLst>
                <a:ext uri="{96DAC541-7B7A-43D3-8B79-37D633B846F1}">
                  <asvg:svgBlip xmlns:asvg="http://schemas.microsoft.com/office/drawing/2016/SVG/main" r:embed="rId5"/>
                </a:ext>
              </a:extLst>
            </a:blip>
            <a:srcRect/>
            <a:stretch/>
          </p:blipFill>
          <p:spPr bwMode="auto">
            <a:xfrm>
              <a:off x="2989263" y="1184275"/>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 name="TextBox 9">
              <a:extLst>
                <a:ext uri="{FF2B5EF4-FFF2-40B4-BE49-F238E27FC236}">
                  <a16:creationId xmlns:a16="http://schemas.microsoft.com/office/drawing/2014/main" id="{A29EC8F4-4C72-5F50-09BF-7C285FB8969D}"/>
                </a:ext>
              </a:extLst>
            </p:cNvPr>
            <p:cNvSpPr txBox="1">
              <a:spLocks noChangeArrowheads="1"/>
            </p:cNvSpPr>
            <p:nvPr/>
          </p:nvSpPr>
          <p:spPr bwMode="auto">
            <a:xfrm>
              <a:off x="2576510" y="1946275"/>
              <a:ext cx="1587506" cy="655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API Gateway</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(REST API)</a:t>
              </a:r>
            </a:p>
          </p:txBody>
        </p:sp>
      </p:grpSp>
      <p:grpSp>
        <p:nvGrpSpPr>
          <p:cNvPr id="232" name="グループ化 231">
            <a:extLst>
              <a:ext uri="{FF2B5EF4-FFF2-40B4-BE49-F238E27FC236}">
                <a16:creationId xmlns:a16="http://schemas.microsoft.com/office/drawing/2014/main" id="{B4ED0BDC-343A-BA99-CE4D-DBF048A16E29}"/>
              </a:ext>
            </a:extLst>
          </p:cNvPr>
          <p:cNvGrpSpPr/>
          <p:nvPr/>
        </p:nvGrpSpPr>
        <p:grpSpPr>
          <a:xfrm>
            <a:off x="5850438" y="4382385"/>
            <a:ext cx="820861" cy="812933"/>
            <a:chOff x="5051089" y="1185069"/>
            <a:chExt cx="1165896" cy="1154637"/>
          </a:xfrm>
        </p:grpSpPr>
        <p:pic>
          <p:nvPicPr>
            <p:cNvPr id="294" name="Graphic 10" descr="AWS Lambda service icon.">
              <a:extLst>
                <a:ext uri="{FF2B5EF4-FFF2-40B4-BE49-F238E27FC236}">
                  <a16:creationId xmlns:a16="http://schemas.microsoft.com/office/drawing/2014/main" id="{AC0E66BE-0A3B-9B15-4682-9AE3F9F0AF78}"/>
                </a:ext>
              </a:extLst>
            </p:cNvPr>
            <p:cNvPicPr>
              <a:picLocks noChangeAspect="1" noChangeArrowheads="1"/>
            </p:cNvPicPr>
            <p:nvPr/>
          </p:nvPicPr>
          <p:blipFill>
            <a:blip r:embed="rId6">
              <a:extLst>
                <a:ext uri="{96DAC541-7B7A-43D3-8B79-37D633B846F1}">
                  <asvg:svgBlip xmlns:asvg="http://schemas.microsoft.com/office/drawing/2016/SVG/main" r:embed="rId7"/>
                </a:ext>
              </a:extLst>
            </a:blip>
            <a:srcRect/>
            <a:stretch/>
          </p:blipFill>
          <p:spPr bwMode="auto">
            <a:xfrm>
              <a:off x="5246688" y="1185069"/>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5" name="TextBox 20">
              <a:extLst>
                <a:ext uri="{FF2B5EF4-FFF2-40B4-BE49-F238E27FC236}">
                  <a16:creationId xmlns:a16="http://schemas.microsoft.com/office/drawing/2014/main" id="{87619373-58FD-D3DB-9F06-56914C65D32E}"/>
                </a:ext>
              </a:extLst>
            </p:cNvPr>
            <p:cNvSpPr txBox="1">
              <a:spLocks noChangeArrowheads="1"/>
            </p:cNvSpPr>
            <p:nvPr/>
          </p:nvSpPr>
          <p:spPr bwMode="auto">
            <a:xfrm>
              <a:off x="5051089" y="1946275"/>
              <a:ext cx="1165896" cy="393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Lambda</a:t>
              </a:r>
            </a:p>
          </p:txBody>
        </p:sp>
      </p:grpSp>
      <p:grpSp>
        <p:nvGrpSpPr>
          <p:cNvPr id="233" name="グループ化 232">
            <a:extLst>
              <a:ext uri="{FF2B5EF4-FFF2-40B4-BE49-F238E27FC236}">
                <a16:creationId xmlns:a16="http://schemas.microsoft.com/office/drawing/2014/main" id="{4A3C815E-C508-D9F4-D030-07C50878FCDA}"/>
              </a:ext>
            </a:extLst>
          </p:cNvPr>
          <p:cNvGrpSpPr/>
          <p:nvPr/>
        </p:nvGrpSpPr>
        <p:grpSpPr>
          <a:xfrm>
            <a:off x="6894823" y="5692118"/>
            <a:ext cx="1068518" cy="813493"/>
            <a:chOff x="-6240556" y="-4075450"/>
            <a:chExt cx="1517651" cy="1155431"/>
          </a:xfrm>
        </p:grpSpPr>
        <p:pic>
          <p:nvPicPr>
            <p:cNvPr id="292" name="Graphic 17" descr="Amazon CloudWatch service icon.">
              <a:extLst>
                <a:ext uri="{FF2B5EF4-FFF2-40B4-BE49-F238E27FC236}">
                  <a16:creationId xmlns:a16="http://schemas.microsoft.com/office/drawing/2014/main" id="{9AF0BD86-83CB-C9E5-E0CD-62F6C073C1B8}"/>
                </a:ext>
              </a:extLst>
            </p:cNvPr>
            <p:cNvPicPr>
              <a:picLocks noChangeAspect="1" noChangeArrowheads="1"/>
            </p:cNvPicPr>
            <p:nvPr/>
          </p:nvPicPr>
          <p:blipFill>
            <a:blip r:embed="rId8">
              <a:extLst>
                <a:ext uri="{96DAC541-7B7A-43D3-8B79-37D633B846F1}">
                  <asvg:svgBlip xmlns:asvg="http://schemas.microsoft.com/office/drawing/2016/SVG/main" r:embed="rId9"/>
                </a:ext>
              </a:extLst>
            </a:blip>
            <a:srcRect/>
            <a:stretch/>
          </p:blipFill>
          <p:spPr bwMode="auto">
            <a:xfrm>
              <a:off x="-5862730" y="-4075450"/>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3" name="TextBox 9">
              <a:extLst>
                <a:ext uri="{FF2B5EF4-FFF2-40B4-BE49-F238E27FC236}">
                  <a16:creationId xmlns:a16="http://schemas.microsoft.com/office/drawing/2014/main" id="{5166DC44-66D1-0DAF-79E8-55B6E0994EC2}"/>
                </a:ext>
              </a:extLst>
            </p:cNvPr>
            <p:cNvSpPr txBox="1">
              <a:spLocks noChangeArrowheads="1"/>
            </p:cNvSpPr>
            <p:nvPr/>
          </p:nvSpPr>
          <p:spPr bwMode="auto">
            <a:xfrm>
              <a:off x="-6240556" y="-3313450"/>
              <a:ext cx="1517651" cy="393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CloudWatch</a:t>
              </a:r>
            </a:p>
          </p:txBody>
        </p:sp>
      </p:grpSp>
      <p:grpSp>
        <p:nvGrpSpPr>
          <p:cNvPr id="234" name="グループ化 233">
            <a:extLst>
              <a:ext uri="{FF2B5EF4-FFF2-40B4-BE49-F238E27FC236}">
                <a16:creationId xmlns:a16="http://schemas.microsoft.com/office/drawing/2014/main" id="{E28217FF-2484-7C17-BA24-67CD7C336958}"/>
              </a:ext>
            </a:extLst>
          </p:cNvPr>
          <p:cNvGrpSpPr/>
          <p:nvPr/>
        </p:nvGrpSpPr>
        <p:grpSpPr>
          <a:xfrm>
            <a:off x="4815974" y="5696629"/>
            <a:ext cx="536494" cy="813493"/>
            <a:chOff x="7535863" y="1001200"/>
            <a:chExt cx="762000" cy="1155431"/>
          </a:xfrm>
        </p:grpSpPr>
        <p:pic>
          <p:nvPicPr>
            <p:cNvPr id="290" name="Graphic 19" descr="AWS Identity and Access Management (IAM) service icon.">
              <a:extLst>
                <a:ext uri="{FF2B5EF4-FFF2-40B4-BE49-F238E27FC236}">
                  <a16:creationId xmlns:a16="http://schemas.microsoft.com/office/drawing/2014/main" id="{F82AC00F-CDCF-E3CF-8564-283AD6035E47}"/>
                </a:ext>
              </a:extLst>
            </p:cNvPr>
            <p:cNvPicPr>
              <a:picLocks noChangeAspect="1" noChangeArrowheads="1"/>
            </p:cNvPicPr>
            <p:nvPr/>
          </p:nvPicPr>
          <p:blipFill>
            <a:blip r:embed="rId10">
              <a:extLst>
                <a:ext uri="{96DAC541-7B7A-43D3-8B79-37D633B846F1}">
                  <asvg:svgBlip xmlns:asvg="http://schemas.microsoft.com/office/drawing/2016/SVG/main" r:embed="rId11"/>
                </a:ext>
              </a:extLst>
            </a:blip>
            <a:srcRect/>
            <a:stretch/>
          </p:blipFill>
          <p:spPr bwMode="auto">
            <a:xfrm>
              <a:off x="7535863" y="1001200"/>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1" name="TextBox 12">
              <a:extLst>
                <a:ext uri="{FF2B5EF4-FFF2-40B4-BE49-F238E27FC236}">
                  <a16:creationId xmlns:a16="http://schemas.microsoft.com/office/drawing/2014/main" id="{E0364E53-7444-54DE-3E5A-B3E2B957ECF5}"/>
                </a:ext>
              </a:extLst>
            </p:cNvPr>
            <p:cNvSpPr txBox="1">
              <a:spLocks noChangeArrowheads="1"/>
            </p:cNvSpPr>
            <p:nvPr/>
          </p:nvSpPr>
          <p:spPr bwMode="auto">
            <a:xfrm>
              <a:off x="7535863" y="1763200"/>
              <a:ext cx="758826" cy="393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IAM</a:t>
              </a:r>
            </a:p>
          </p:txBody>
        </p:sp>
      </p:grpSp>
      <p:sp>
        <p:nvSpPr>
          <p:cNvPr id="289" name="TextBox 12">
            <a:extLst>
              <a:ext uri="{FF2B5EF4-FFF2-40B4-BE49-F238E27FC236}">
                <a16:creationId xmlns:a16="http://schemas.microsoft.com/office/drawing/2014/main" id="{A5433161-5C2D-4AF4-110A-CA967DCD49F3}"/>
              </a:ext>
            </a:extLst>
          </p:cNvPr>
          <p:cNvSpPr txBox="1">
            <a:spLocks noChangeArrowheads="1"/>
          </p:cNvSpPr>
          <p:nvPr/>
        </p:nvSpPr>
        <p:spPr bwMode="auto">
          <a:xfrm>
            <a:off x="1707208" y="5001976"/>
            <a:ext cx="16050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Raspberry Pi 4B</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(172.16.15.8)</a:t>
            </a:r>
          </a:p>
        </p:txBody>
      </p:sp>
      <p:sp>
        <p:nvSpPr>
          <p:cNvPr id="236" name="テキスト ボックス 235">
            <a:extLst>
              <a:ext uri="{FF2B5EF4-FFF2-40B4-BE49-F238E27FC236}">
                <a16:creationId xmlns:a16="http://schemas.microsoft.com/office/drawing/2014/main" id="{D68C78AE-EA91-2BAF-856D-1BB01AFB3847}"/>
              </a:ext>
            </a:extLst>
          </p:cNvPr>
          <p:cNvSpPr txBox="1"/>
          <p:nvPr/>
        </p:nvSpPr>
        <p:spPr>
          <a:xfrm>
            <a:off x="1077353" y="4303759"/>
            <a:ext cx="1162293" cy="276999"/>
          </a:xfrm>
          <a:prstGeom prst="rect">
            <a:avLst/>
          </a:prstGeom>
          <a:noFill/>
        </p:spPr>
        <p:txBody>
          <a:bodyPr wrap="square">
            <a:spAutoFit/>
          </a:body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RC-S380 S</a:t>
            </a:r>
          </a:p>
        </p:txBody>
      </p:sp>
      <p:pic>
        <p:nvPicPr>
          <p:cNvPr id="237" name="図 236" descr="黒い背景と白い文字のロゴ&#10;&#10;AI によって生成されたコンテンツは間違っている可能性があります。">
            <a:extLst>
              <a:ext uri="{FF2B5EF4-FFF2-40B4-BE49-F238E27FC236}">
                <a16:creationId xmlns:a16="http://schemas.microsoft.com/office/drawing/2014/main" id="{5183E8E2-52E8-3878-B6E3-A3C0906B4E7E}"/>
              </a:ext>
            </a:extLst>
          </p:cNvPr>
          <p:cNvPicPr>
            <a:picLocks noChangeAspect="1"/>
          </p:cNvPicPr>
          <p:nvPr/>
        </p:nvPicPr>
        <p:blipFill>
          <a:blip r:embed="rId12">
            <a:biLevel thresh="50000"/>
            <a:extLst>
              <a:ext uri="{28A0092B-C50C-407E-A947-70E740481C1C}">
                <a14:useLocalDpi xmlns:a14="http://schemas.microsoft.com/office/drawing/2010/main" val="0"/>
              </a:ext>
            </a:extLst>
          </a:blip>
          <a:srcRect t="19474" b="18132"/>
          <a:stretch/>
        </p:blipFill>
        <p:spPr>
          <a:xfrm flipH="1">
            <a:off x="693160" y="4508703"/>
            <a:ext cx="1605014" cy="751622"/>
          </a:xfrm>
          <a:prstGeom prst="rect">
            <a:avLst/>
          </a:prstGeom>
        </p:spPr>
      </p:pic>
      <p:cxnSp>
        <p:nvCxnSpPr>
          <p:cNvPr id="238" name="Straight Arrow Connector 74" descr="Up and down pointing vertical arrow.">
            <a:extLst>
              <a:ext uri="{FF2B5EF4-FFF2-40B4-BE49-F238E27FC236}">
                <a16:creationId xmlns:a16="http://schemas.microsoft.com/office/drawing/2014/main" id="{B439C67F-B26A-DFB7-9F59-202969E6959D}"/>
              </a:ext>
            </a:extLst>
          </p:cNvPr>
          <p:cNvCxnSpPr>
            <a:cxnSpLocks/>
            <a:endCxn id="296" idx="1"/>
          </p:cNvCxnSpPr>
          <p:nvPr/>
        </p:nvCxnSpPr>
        <p:spPr>
          <a:xfrm>
            <a:off x="2777961" y="4650940"/>
            <a:ext cx="2035003" cy="0"/>
          </a:xfrm>
          <a:prstGeom prst="straightConnector1">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grpSp>
        <p:nvGrpSpPr>
          <p:cNvPr id="241" name="グループ化 240">
            <a:extLst>
              <a:ext uri="{FF2B5EF4-FFF2-40B4-BE49-F238E27FC236}">
                <a16:creationId xmlns:a16="http://schemas.microsoft.com/office/drawing/2014/main" id="{74A5B395-0FC6-7BFD-FD86-0065EBFD43A5}"/>
              </a:ext>
            </a:extLst>
          </p:cNvPr>
          <p:cNvGrpSpPr/>
          <p:nvPr/>
        </p:nvGrpSpPr>
        <p:grpSpPr>
          <a:xfrm>
            <a:off x="2051276" y="6087076"/>
            <a:ext cx="924337" cy="403333"/>
            <a:chOff x="2262291" y="5685876"/>
            <a:chExt cx="924337" cy="403333"/>
          </a:xfrm>
        </p:grpSpPr>
        <p:pic>
          <p:nvPicPr>
            <p:cNvPr id="286" name="図 285" descr="アイコン&#10;&#10;AI によって生成されたコンテンツは間違っている可能性があります。">
              <a:extLst>
                <a:ext uri="{FF2B5EF4-FFF2-40B4-BE49-F238E27FC236}">
                  <a16:creationId xmlns:a16="http://schemas.microsoft.com/office/drawing/2014/main" id="{C99D7B7B-375D-BA0A-7243-760F4D69D5B4}"/>
                </a:ext>
              </a:extLst>
            </p:cNvPr>
            <p:cNvPicPr>
              <a:picLocks noChangeAspect="1"/>
            </p:cNvPicPr>
            <p:nvPr/>
          </p:nvPicPr>
          <p:blipFill>
            <a:blip r:embed="rId13">
              <a:extLst>
                <a:ext uri="{28A0092B-C50C-407E-A947-70E740481C1C}">
                  <a14:useLocalDpi xmlns:a14="http://schemas.microsoft.com/office/drawing/2010/main" val="0"/>
                </a:ext>
              </a:extLst>
            </a:blip>
            <a:srcRect l="10553" t="5709" r="9769" b="4466"/>
            <a:stretch/>
          </p:blipFill>
          <p:spPr>
            <a:xfrm>
              <a:off x="2262291" y="5685876"/>
              <a:ext cx="357774" cy="403333"/>
            </a:xfrm>
            <a:prstGeom prst="rect">
              <a:avLst/>
            </a:prstGeom>
          </p:spPr>
        </p:pic>
        <p:sp>
          <p:nvSpPr>
            <p:cNvPr id="287" name="テキスト ボックス 286">
              <a:extLst>
                <a:ext uri="{FF2B5EF4-FFF2-40B4-BE49-F238E27FC236}">
                  <a16:creationId xmlns:a16="http://schemas.microsoft.com/office/drawing/2014/main" id="{E21565F9-D837-1586-B41F-22DA4231449D}"/>
                </a:ext>
              </a:extLst>
            </p:cNvPr>
            <p:cNvSpPr txBox="1"/>
            <p:nvPr/>
          </p:nvSpPr>
          <p:spPr>
            <a:xfrm>
              <a:off x="2557071" y="5749042"/>
              <a:ext cx="629557" cy="276999"/>
            </a:xfrm>
            <a:prstGeom prst="rect">
              <a:avLst/>
            </a:prstGeom>
            <a:noFill/>
          </p:spPr>
          <p:txBody>
            <a:bodyPr wrap="square">
              <a:spAutoFit/>
            </a:bodyPr>
            <a:lstStyle/>
            <a:p>
              <a:r>
                <a:rPr lang="en-US" altLang="ja-JP" sz="1200" dirty="0"/>
                <a:t>:3000</a:t>
              </a:r>
              <a:endParaRPr lang="ja-JP" altLang="en-US" sz="1200" dirty="0"/>
            </a:p>
          </p:txBody>
        </p:sp>
      </p:grpSp>
      <p:grpSp>
        <p:nvGrpSpPr>
          <p:cNvPr id="242" name="グループ化 241">
            <a:extLst>
              <a:ext uri="{FF2B5EF4-FFF2-40B4-BE49-F238E27FC236}">
                <a16:creationId xmlns:a16="http://schemas.microsoft.com/office/drawing/2014/main" id="{A8A68378-B416-DABF-490D-58C5B00CE10C}"/>
              </a:ext>
            </a:extLst>
          </p:cNvPr>
          <p:cNvGrpSpPr/>
          <p:nvPr/>
        </p:nvGrpSpPr>
        <p:grpSpPr>
          <a:xfrm>
            <a:off x="2043915" y="5648135"/>
            <a:ext cx="931698" cy="372497"/>
            <a:chOff x="2254930" y="5246935"/>
            <a:chExt cx="931698" cy="372497"/>
          </a:xfrm>
        </p:grpSpPr>
        <p:pic>
          <p:nvPicPr>
            <p:cNvPr id="284" name="グラフィックス 283">
              <a:extLst>
                <a:ext uri="{FF2B5EF4-FFF2-40B4-BE49-F238E27FC236}">
                  <a16:creationId xmlns:a16="http://schemas.microsoft.com/office/drawing/2014/main" id="{C65901B5-E40A-BEBC-8643-C63A6153A054}"/>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2254930" y="5246935"/>
              <a:ext cx="372497" cy="372497"/>
            </a:xfrm>
            <a:prstGeom prst="rect">
              <a:avLst/>
            </a:prstGeom>
          </p:spPr>
        </p:pic>
        <p:sp>
          <p:nvSpPr>
            <p:cNvPr id="285" name="テキスト ボックス 284">
              <a:extLst>
                <a:ext uri="{FF2B5EF4-FFF2-40B4-BE49-F238E27FC236}">
                  <a16:creationId xmlns:a16="http://schemas.microsoft.com/office/drawing/2014/main" id="{3B874E29-CB9B-94E8-1E33-ACE7195C192E}"/>
                </a:ext>
              </a:extLst>
            </p:cNvPr>
            <p:cNvSpPr txBox="1"/>
            <p:nvPr/>
          </p:nvSpPr>
          <p:spPr>
            <a:xfrm>
              <a:off x="2557071" y="5306333"/>
              <a:ext cx="629557" cy="276999"/>
            </a:xfrm>
            <a:prstGeom prst="rect">
              <a:avLst/>
            </a:prstGeom>
            <a:noFill/>
          </p:spPr>
          <p:txBody>
            <a:bodyPr wrap="square">
              <a:spAutoFit/>
            </a:bodyPr>
            <a:lstStyle/>
            <a:p>
              <a:r>
                <a:rPr lang="en-US" altLang="ja-JP" sz="1200" dirty="0"/>
                <a:t>:8000</a:t>
              </a:r>
              <a:endParaRPr lang="ja-JP" altLang="en-US" sz="1200" dirty="0"/>
            </a:p>
          </p:txBody>
        </p:sp>
      </p:grpSp>
      <p:grpSp>
        <p:nvGrpSpPr>
          <p:cNvPr id="244" name="グループ化 243">
            <a:extLst>
              <a:ext uri="{FF2B5EF4-FFF2-40B4-BE49-F238E27FC236}">
                <a16:creationId xmlns:a16="http://schemas.microsoft.com/office/drawing/2014/main" id="{F7C803A3-F591-AE6C-9510-15D31E40B404}"/>
              </a:ext>
            </a:extLst>
          </p:cNvPr>
          <p:cNvGrpSpPr/>
          <p:nvPr/>
        </p:nvGrpSpPr>
        <p:grpSpPr>
          <a:xfrm>
            <a:off x="5550985" y="2647229"/>
            <a:ext cx="1410825" cy="998159"/>
            <a:chOff x="2368342" y="1184275"/>
            <a:chExt cx="2003841" cy="1417718"/>
          </a:xfrm>
        </p:grpSpPr>
        <p:pic>
          <p:nvPicPr>
            <p:cNvPr id="280" name="Graphic 7" descr="Amazon API Gateway service icon.">
              <a:extLst>
                <a:ext uri="{FF2B5EF4-FFF2-40B4-BE49-F238E27FC236}">
                  <a16:creationId xmlns:a16="http://schemas.microsoft.com/office/drawing/2014/main" id="{D9B05810-5FBD-B283-BB6C-6A1645B62150}"/>
                </a:ext>
              </a:extLst>
            </p:cNvPr>
            <p:cNvPicPr>
              <a:picLocks noChangeAspect="1" noChangeArrowheads="1"/>
            </p:cNvPicPr>
            <p:nvPr/>
          </p:nvPicPr>
          <p:blipFill>
            <a:blip r:embed="rId4">
              <a:extLst>
                <a:ext uri="{96DAC541-7B7A-43D3-8B79-37D633B846F1}">
                  <asvg:svgBlip xmlns:asvg="http://schemas.microsoft.com/office/drawing/2016/SVG/main" r:embed="rId5"/>
                </a:ext>
              </a:extLst>
            </a:blip>
            <a:srcRect/>
            <a:stretch/>
          </p:blipFill>
          <p:spPr bwMode="auto">
            <a:xfrm>
              <a:off x="2989264" y="1184275"/>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1" name="TextBox 9">
              <a:extLst>
                <a:ext uri="{FF2B5EF4-FFF2-40B4-BE49-F238E27FC236}">
                  <a16:creationId xmlns:a16="http://schemas.microsoft.com/office/drawing/2014/main" id="{759C0DF0-988F-062D-75C7-96F7E255E9D7}"/>
                </a:ext>
              </a:extLst>
            </p:cNvPr>
            <p:cNvSpPr txBox="1">
              <a:spLocks noChangeArrowheads="1"/>
            </p:cNvSpPr>
            <p:nvPr/>
          </p:nvSpPr>
          <p:spPr bwMode="auto">
            <a:xfrm>
              <a:off x="2368342" y="1946275"/>
              <a:ext cx="2003841" cy="655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API Gateway</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(WebSocket)</a:t>
              </a:r>
            </a:p>
          </p:txBody>
        </p:sp>
      </p:grpSp>
      <p:sp>
        <p:nvSpPr>
          <p:cNvPr id="277" name="TextBox 12">
            <a:extLst>
              <a:ext uri="{FF2B5EF4-FFF2-40B4-BE49-F238E27FC236}">
                <a16:creationId xmlns:a16="http://schemas.microsoft.com/office/drawing/2014/main" id="{58D7FB2C-F2E7-5335-9ED8-49880B70E1FE}"/>
              </a:ext>
            </a:extLst>
          </p:cNvPr>
          <p:cNvSpPr txBox="1">
            <a:spLocks noChangeArrowheads="1"/>
          </p:cNvSpPr>
          <p:nvPr/>
        </p:nvSpPr>
        <p:spPr bwMode="auto">
          <a:xfrm>
            <a:off x="1707208" y="3178518"/>
            <a:ext cx="16050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Raspberry Pi 5</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(172.16.15.7)</a:t>
            </a:r>
          </a:p>
        </p:txBody>
      </p:sp>
      <p:sp>
        <p:nvSpPr>
          <p:cNvPr id="251" name="Rectangle 103" descr="Generic group dashed.">
            <a:extLst>
              <a:ext uri="{FF2B5EF4-FFF2-40B4-BE49-F238E27FC236}">
                <a16:creationId xmlns:a16="http://schemas.microsoft.com/office/drawing/2014/main" id="{8D1F589E-6D75-4426-60A2-B8F50E134F3A}"/>
              </a:ext>
            </a:extLst>
          </p:cNvPr>
          <p:cNvSpPr/>
          <p:nvPr/>
        </p:nvSpPr>
        <p:spPr>
          <a:xfrm>
            <a:off x="4457026" y="4158038"/>
            <a:ext cx="3541821" cy="1348227"/>
          </a:xfrm>
          <a:prstGeom prst="rect">
            <a:avLst/>
          </a:prstGeom>
          <a:noFill/>
          <a:ln w="15875">
            <a:solidFill>
              <a:srgbClr val="7D8998"/>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eaLnBrk="1" fontAlgn="auto" hangingPunct="1">
              <a:spcBef>
                <a:spcPts val="0"/>
              </a:spcBef>
              <a:spcAft>
                <a:spcPts val="0"/>
              </a:spcAft>
              <a:defRPr/>
            </a:pPr>
            <a:endParaRPr lang="en-US" sz="1200" dirty="0">
              <a:solidFill>
                <a:schemeClr val="tx1"/>
              </a:solidFill>
              <a:latin typeface="Arial" panose="020B0604020202020204" pitchFamily="34" charset="0"/>
              <a:cs typeface="Arial" panose="020B0604020202020204" pitchFamily="34" charset="0"/>
            </a:endParaRPr>
          </a:p>
        </p:txBody>
      </p:sp>
      <p:grpSp>
        <p:nvGrpSpPr>
          <p:cNvPr id="253" name="グループ化 252">
            <a:extLst>
              <a:ext uri="{FF2B5EF4-FFF2-40B4-BE49-F238E27FC236}">
                <a16:creationId xmlns:a16="http://schemas.microsoft.com/office/drawing/2014/main" id="{C4A581D1-A362-A489-F898-C81ED0C2B861}"/>
              </a:ext>
            </a:extLst>
          </p:cNvPr>
          <p:cNvGrpSpPr/>
          <p:nvPr/>
        </p:nvGrpSpPr>
        <p:grpSpPr>
          <a:xfrm>
            <a:off x="4717633" y="2645272"/>
            <a:ext cx="730725" cy="813493"/>
            <a:chOff x="3005693" y="1391828"/>
            <a:chExt cx="730725" cy="813493"/>
          </a:xfrm>
        </p:grpSpPr>
        <p:pic>
          <p:nvPicPr>
            <p:cNvPr id="274" name="Graphic 10" descr="AWS Amplify service icon.">
              <a:extLst>
                <a:ext uri="{FF2B5EF4-FFF2-40B4-BE49-F238E27FC236}">
                  <a16:creationId xmlns:a16="http://schemas.microsoft.com/office/drawing/2014/main" id="{DEE72994-218C-04FD-81EE-53005B3CA3D4}"/>
                </a:ext>
              </a:extLst>
            </p:cNvPr>
            <p:cNvPicPr>
              <a:picLocks noChangeAspect="1" noChangeArrowheads="1"/>
            </p:cNvPicPr>
            <p:nvPr/>
          </p:nvPicPr>
          <p:blipFill>
            <a:blip r:embed="rId16">
              <a:extLst>
                <a:ext uri="{96DAC541-7B7A-43D3-8B79-37D633B846F1}">
                  <asvg:svgBlip xmlns:asvg="http://schemas.microsoft.com/office/drawing/2016/SVG/main" r:embed="rId17"/>
                </a:ext>
              </a:extLst>
            </a:blip>
            <a:srcRect/>
            <a:stretch/>
          </p:blipFill>
          <p:spPr bwMode="auto">
            <a:xfrm>
              <a:off x="3102809" y="1391828"/>
              <a:ext cx="536494" cy="536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5" name="TextBox 6">
              <a:extLst>
                <a:ext uri="{FF2B5EF4-FFF2-40B4-BE49-F238E27FC236}">
                  <a16:creationId xmlns:a16="http://schemas.microsoft.com/office/drawing/2014/main" id="{F7483319-3BFF-ECA5-3122-39E7BC12549C}"/>
                </a:ext>
              </a:extLst>
            </p:cNvPr>
            <p:cNvSpPr txBox="1">
              <a:spLocks noChangeArrowheads="1"/>
            </p:cNvSpPr>
            <p:nvPr/>
          </p:nvSpPr>
          <p:spPr bwMode="auto">
            <a:xfrm>
              <a:off x="3005693" y="1928322"/>
              <a:ext cx="7307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Amplify</a:t>
              </a:r>
            </a:p>
          </p:txBody>
        </p:sp>
      </p:grpSp>
      <p:grpSp>
        <p:nvGrpSpPr>
          <p:cNvPr id="261" name="グループ化 260">
            <a:extLst>
              <a:ext uri="{FF2B5EF4-FFF2-40B4-BE49-F238E27FC236}">
                <a16:creationId xmlns:a16="http://schemas.microsoft.com/office/drawing/2014/main" id="{C390C892-80EE-330F-B328-0D14EBC7C49C}"/>
              </a:ext>
            </a:extLst>
          </p:cNvPr>
          <p:cNvGrpSpPr/>
          <p:nvPr/>
        </p:nvGrpSpPr>
        <p:grpSpPr>
          <a:xfrm>
            <a:off x="3645809" y="5683375"/>
            <a:ext cx="1020292" cy="992557"/>
            <a:chOff x="3864463" y="3839626"/>
            <a:chExt cx="1020292" cy="992557"/>
          </a:xfrm>
        </p:grpSpPr>
        <p:pic>
          <p:nvPicPr>
            <p:cNvPr id="272" name="Graphic 17" descr="Amazon Cognito service icon.">
              <a:extLst>
                <a:ext uri="{FF2B5EF4-FFF2-40B4-BE49-F238E27FC236}">
                  <a16:creationId xmlns:a16="http://schemas.microsoft.com/office/drawing/2014/main" id="{AE12E335-1608-52E4-C03C-8F6631FE2625}"/>
                </a:ext>
              </a:extLst>
            </p:cNvPr>
            <p:cNvPicPr>
              <a:picLocks noChangeAspect="1" noChangeArrowheads="1"/>
            </p:cNvPicPr>
            <p:nvPr/>
          </p:nvPicPr>
          <p:blipFill>
            <a:blip r:embed="rId18">
              <a:extLst>
                <a:ext uri="{96DAC541-7B7A-43D3-8B79-37D633B846F1}">
                  <asvg:svgBlip xmlns:asvg="http://schemas.microsoft.com/office/drawing/2016/SVG/main" r:embed="rId19"/>
                </a:ext>
              </a:extLst>
            </a:blip>
            <a:srcRect/>
            <a:stretch/>
          </p:blipFill>
          <p:spPr bwMode="auto">
            <a:xfrm>
              <a:off x="4106362" y="3839626"/>
              <a:ext cx="536494" cy="536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3" name="TextBox 11">
              <a:extLst>
                <a:ext uri="{FF2B5EF4-FFF2-40B4-BE49-F238E27FC236}">
                  <a16:creationId xmlns:a16="http://schemas.microsoft.com/office/drawing/2014/main" id="{2A4861C1-7A0E-9FA9-2089-FDFC84F11893}"/>
                </a:ext>
              </a:extLst>
            </p:cNvPr>
            <p:cNvSpPr txBox="1">
              <a:spLocks noChangeArrowheads="1"/>
            </p:cNvSpPr>
            <p:nvPr/>
          </p:nvSpPr>
          <p:spPr bwMode="auto">
            <a:xfrm>
              <a:off x="3864463" y="4370518"/>
              <a:ext cx="102029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Cognito</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(ID Pool)</a:t>
              </a:r>
            </a:p>
          </p:txBody>
        </p:sp>
      </p:grpSp>
      <p:cxnSp>
        <p:nvCxnSpPr>
          <p:cNvPr id="263" name="Elbow Connector 22" descr="Elbow horizontal arrow pointing right (1).">
            <a:extLst>
              <a:ext uri="{FF2B5EF4-FFF2-40B4-BE49-F238E27FC236}">
                <a16:creationId xmlns:a16="http://schemas.microsoft.com/office/drawing/2014/main" id="{C4E886D2-F8AF-07DA-C8AE-867B846A3C67}"/>
              </a:ext>
            </a:extLst>
          </p:cNvPr>
          <p:cNvCxnSpPr>
            <a:cxnSpLocks/>
            <a:stCxn id="272" idx="0"/>
          </p:cNvCxnSpPr>
          <p:nvPr/>
        </p:nvCxnSpPr>
        <p:spPr>
          <a:xfrm rot="16200000" flipV="1">
            <a:off x="3030452" y="4557872"/>
            <a:ext cx="866319" cy="1384688"/>
          </a:xfrm>
          <a:prstGeom prst="bentConnector2">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pic>
        <p:nvPicPr>
          <p:cNvPr id="264" name="Graphic 86" descr="Temporary security credential resource icon for the IAM service.">
            <a:extLst>
              <a:ext uri="{FF2B5EF4-FFF2-40B4-BE49-F238E27FC236}">
                <a16:creationId xmlns:a16="http://schemas.microsoft.com/office/drawing/2014/main" id="{2D4BD550-617C-3F86-B703-1CD10F688490}"/>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3663828" y="5053261"/>
            <a:ext cx="416212" cy="416212"/>
          </a:xfrm>
          <a:prstGeom prst="rect">
            <a:avLst/>
          </a:prstGeom>
        </p:spPr>
      </p:pic>
      <p:grpSp>
        <p:nvGrpSpPr>
          <p:cNvPr id="265" name="グループ化 264">
            <a:extLst>
              <a:ext uri="{FF2B5EF4-FFF2-40B4-BE49-F238E27FC236}">
                <a16:creationId xmlns:a16="http://schemas.microsoft.com/office/drawing/2014/main" id="{E3D97E8E-B00C-416E-B462-2F1106FC372E}"/>
              </a:ext>
            </a:extLst>
          </p:cNvPr>
          <p:cNvGrpSpPr/>
          <p:nvPr/>
        </p:nvGrpSpPr>
        <p:grpSpPr>
          <a:xfrm>
            <a:off x="5746251" y="1644835"/>
            <a:ext cx="1020292" cy="992557"/>
            <a:chOff x="3864463" y="3839626"/>
            <a:chExt cx="1020292" cy="992557"/>
          </a:xfrm>
        </p:grpSpPr>
        <p:pic>
          <p:nvPicPr>
            <p:cNvPr id="270" name="Graphic 17" descr="Amazon Cognito service icon.">
              <a:extLst>
                <a:ext uri="{FF2B5EF4-FFF2-40B4-BE49-F238E27FC236}">
                  <a16:creationId xmlns:a16="http://schemas.microsoft.com/office/drawing/2014/main" id="{AE96ED44-6CD5-9893-A018-28FE946B45DD}"/>
                </a:ext>
              </a:extLst>
            </p:cNvPr>
            <p:cNvPicPr>
              <a:picLocks noChangeAspect="1" noChangeArrowheads="1"/>
            </p:cNvPicPr>
            <p:nvPr/>
          </p:nvPicPr>
          <p:blipFill>
            <a:blip r:embed="rId18">
              <a:extLst>
                <a:ext uri="{96DAC541-7B7A-43D3-8B79-37D633B846F1}">
                  <asvg:svgBlip xmlns:asvg="http://schemas.microsoft.com/office/drawing/2016/SVG/main" r:embed="rId19"/>
                </a:ext>
              </a:extLst>
            </a:blip>
            <a:srcRect/>
            <a:stretch/>
          </p:blipFill>
          <p:spPr bwMode="auto">
            <a:xfrm>
              <a:off x="4106362" y="3839626"/>
              <a:ext cx="536494" cy="536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1" name="TextBox 11">
              <a:extLst>
                <a:ext uri="{FF2B5EF4-FFF2-40B4-BE49-F238E27FC236}">
                  <a16:creationId xmlns:a16="http://schemas.microsoft.com/office/drawing/2014/main" id="{7A6D1F79-E38C-707C-BA5B-E5F6594FA3C4}"/>
                </a:ext>
              </a:extLst>
            </p:cNvPr>
            <p:cNvSpPr txBox="1">
              <a:spLocks noChangeArrowheads="1"/>
            </p:cNvSpPr>
            <p:nvPr/>
          </p:nvSpPr>
          <p:spPr bwMode="auto">
            <a:xfrm>
              <a:off x="3864463" y="4370518"/>
              <a:ext cx="102029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Cognito (User Pool)</a:t>
              </a:r>
            </a:p>
          </p:txBody>
        </p:sp>
      </p:grpSp>
      <p:grpSp>
        <p:nvGrpSpPr>
          <p:cNvPr id="267" name="Group 1" descr="AWS Cloud group with AWS logo.">
            <a:extLst>
              <a:ext uri="{FF2B5EF4-FFF2-40B4-BE49-F238E27FC236}">
                <a16:creationId xmlns:a16="http://schemas.microsoft.com/office/drawing/2014/main" id="{0F5D6F92-760F-C11A-4056-20C625F39D7B}"/>
              </a:ext>
            </a:extLst>
          </p:cNvPr>
          <p:cNvGrpSpPr/>
          <p:nvPr/>
        </p:nvGrpSpPr>
        <p:grpSpPr>
          <a:xfrm>
            <a:off x="3528572" y="926869"/>
            <a:ext cx="4825253" cy="5828334"/>
            <a:chOff x="355598" y="689579"/>
            <a:chExt cx="4825253" cy="3747374"/>
          </a:xfrm>
        </p:grpSpPr>
        <p:sp>
          <p:nvSpPr>
            <p:cNvPr id="268" name="Rectangle 54">
              <a:extLst>
                <a:ext uri="{FF2B5EF4-FFF2-40B4-BE49-F238E27FC236}">
                  <a16:creationId xmlns:a16="http://schemas.microsoft.com/office/drawing/2014/main" id="{932F6E13-EB3D-CF46-2C95-4552F098257F}"/>
                </a:ext>
              </a:extLst>
            </p:cNvPr>
            <p:cNvSpPr/>
            <p:nvPr/>
          </p:nvSpPr>
          <p:spPr>
            <a:xfrm>
              <a:off x="355599" y="689579"/>
              <a:ext cx="4825252" cy="3747374"/>
            </a:xfrm>
            <a:prstGeom prst="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r>
                <a:rPr lang="en-US" sz="1200" dirty="0">
                  <a:solidFill>
                    <a:schemeClr val="tx1"/>
                  </a:solidFill>
                  <a:latin typeface="Arial" panose="020B0604020202020204" pitchFamily="34" charset="0"/>
                  <a:cs typeface="Arial" panose="020B0604020202020204" pitchFamily="34" charset="0"/>
                </a:rPr>
                <a:t>AWS Cloud</a:t>
              </a:r>
            </a:p>
          </p:txBody>
        </p:sp>
        <p:pic>
          <p:nvPicPr>
            <p:cNvPr id="269" name="Graphic 55" descr="AWS Cloud group icon with AWS logo.">
              <a:extLst>
                <a:ext uri="{FF2B5EF4-FFF2-40B4-BE49-F238E27FC236}">
                  <a16:creationId xmlns:a16="http://schemas.microsoft.com/office/drawing/2014/main" id="{5D297655-A806-585A-E93A-89F29727DF7E}"/>
                </a:ext>
              </a:extLst>
            </p:cNvPr>
            <p:cNvPicPr>
              <a:picLocks noChangeAspect="1"/>
            </p:cNvPicPr>
            <p:nvPr/>
          </p:nvPicPr>
          <p:blipFill>
            <a:blip r:embed="rId22">
              <a:extLst>
                <a:ext uri="{96DAC541-7B7A-43D3-8B79-37D633B846F1}">
                  <asvg:svgBlip xmlns:asvg="http://schemas.microsoft.com/office/drawing/2016/SVG/main" r:embed="rId23"/>
                </a:ext>
              </a:extLst>
            </a:blip>
            <a:srcRect/>
            <a:stretch/>
          </p:blipFill>
          <p:spPr>
            <a:xfrm>
              <a:off x="355598" y="695923"/>
              <a:ext cx="419750" cy="287318"/>
            </a:xfrm>
            <a:prstGeom prst="rect">
              <a:avLst/>
            </a:prstGeom>
          </p:spPr>
        </p:pic>
      </p:grpSp>
      <p:sp>
        <p:nvSpPr>
          <p:cNvPr id="228" name="Rectangle 103" descr="Generic group dashed.">
            <a:extLst>
              <a:ext uri="{FF2B5EF4-FFF2-40B4-BE49-F238E27FC236}">
                <a16:creationId xmlns:a16="http://schemas.microsoft.com/office/drawing/2014/main" id="{63C40A4D-8237-899D-01E6-5DC36AB8CFCB}"/>
              </a:ext>
            </a:extLst>
          </p:cNvPr>
          <p:cNvSpPr/>
          <p:nvPr/>
        </p:nvSpPr>
        <p:spPr>
          <a:xfrm>
            <a:off x="690522" y="2075537"/>
            <a:ext cx="2621698" cy="1720079"/>
          </a:xfrm>
          <a:prstGeom prst="rect">
            <a:avLst/>
          </a:prstGeom>
          <a:noFill/>
          <a:ln w="15875">
            <a:solidFill>
              <a:srgbClr val="7D8998"/>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a:defRPr/>
            </a:pPr>
            <a:r>
              <a:rPr lang="ja-JP" altLang="en-US" sz="1200" dirty="0">
                <a:solidFill>
                  <a:schemeClr val="tx1"/>
                </a:solidFill>
                <a:latin typeface="Arial" panose="020B0604020202020204" pitchFamily="34" charset="0"/>
                <a:cs typeface="Arial" panose="020B0604020202020204" pitchFamily="34" charset="0"/>
              </a:rPr>
              <a:t>教員部屋（</a:t>
            </a:r>
            <a:r>
              <a:rPr lang="en-US" altLang="ja-JP" sz="1200" dirty="0">
                <a:solidFill>
                  <a:schemeClr val="tx1"/>
                </a:solidFill>
                <a:latin typeface="Arial" panose="020B0604020202020204" pitchFamily="34" charset="0"/>
                <a:cs typeface="Arial" panose="020B0604020202020204" pitchFamily="34" charset="0"/>
              </a:rPr>
              <a:t>J1404</a:t>
            </a:r>
            <a:r>
              <a:rPr lang="ja-JP" altLang="en-US" sz="1200" dirty="0">
                <a:solidFill>
                  <a:schemeClr val="tx1"/>
                </a:solidFill>
                <a:latin typeface="Arial" panose="020B0604020202020204" pitchFamily="34" charset="0"/>
                <a:cs typeface="Arial" panose="020B0604020202020204" pitchFamily="34" charset="0"/>
              </a:rPr>
              <a:t>）</a:t>
            </a:r>
            <a:endParaRPr lang="en-US" sz="1200" dirty="0">
              <a:solidFill>
                <a:schemeClr val="tx1"/>
              </a:solidFill>
              <a:latin typeface="Arial" panose="020B0604020202020204" pitchFamily="34" charset="0"/>
              <a:cs typeface="Arial" panose="020B0604020202020204" pitchFamily="34" charset="0"/>
            </a:endParaRPr>
          </a:p>
        </p:txBody>
      </p:sp>
      <p:pic>
        <p:nvPicPr>
          <p:cNvPr id="302" name="グラフィックス 301">
            <a:extLst>
              <a:ext uri="{FF2B5EF4-FFF2-40B4-BE49-F238E27FC236}">
                <a16:creationId xmlns:a16="http://schemas.microsoft.com/office/drawing/2014/main" id="{B4CB0908-BF60-5849-58FC-3DAB1D1D8A29}"/>
              </a:ext>
            </a:extLst>
          </p:cNvPr>
          <p:cNvPicPr>
            <a:picLocks noChangeAspect="1"/>
          </p:cNvPicPr>
          <p:nvPr/>
        </p:nvPicPr>
        <p:blipFill>
          <a:blip r:embed="rId24">
            <a:grayscl/>
            <a:extLst>
              <a:ext uri="{96DAC541-7B7A-43D3-8B79-37D633B846F1}">
                <asvg:svgBlip xmlns:asvg="http://schemas.microsoft.com/office/drawing/2016/SVG/main" r:embed="rId25"/>
              </a:ext>
            </a:extLst>
          </a:blip>
          <a:srcRect l="25148" t="16203" r="25948" b="16205"/>
          <a:stretch/>
        </p:blipFill>
        <p:spPr>
          <a:xfrm>
            <a:off x="1029996" y="2508789"/>
            <a:ext cx="580096" cy="801769"/>
          </a:xfrm>
          <a:prstGeom prst="rect">
            <a:avLst/>
          </a:prstGeom>
        </p:spPr>
      </p:pic>
      <p:cxnSp>
        <p:nvCxnSpPr>
          <p:cNvPr id="303" name="Straight Arrow Connector 100">
            <a:extLst>
              <a:ext uri="{FF2B5EF4-FFF2-40B4-BE49-F238E27FC236}">
                <a16:creationId xmlns:a16="http://schemas.microsoft.com/office/drawing/2014/main" id="{49B4A7C4-43A7-6C16-5304-3C0BB98DCCA6}"/>
              </a:ext>
            </a:extLst>
          </p:cNvPr>
          <p:cNvCxnSpPr>
            <a:cxnSpLocks/>
            <a:stCxn id="302" idx="3"/>
          </p:cNvCxnSpPr>
          <p:nvPr/>
        </p:nvCxnSpPr>
        <p:spPr>
          <a:xfrm>
            <a:off x="1610092" y="2909674"/>
            <a:ext cx="631375" cy="597"/>
          </a:xfrm>
          <a:prstGeom prst="straightConnector1">
            <a:avLst/>
          </a:prstGeom>
          <a:ln w="19050">
            <a:solidFill>
              <a:schemeClr val="tx1"/>
            </a:solidFill>
            <a:headEnd type="none" w="med" len="sm"/>
            <a:tailEnd type="none" w="med" len="sm"/>
          </a:ln>
        </p:spPr>
        <p:style>
          <a:lnRef idx="1">
            <a:schemeClr val="accent1"/>
          </a:lnRef>
          <a:fillRef idx="0">
            <a:schemeClr val="accent1"/>
          </a:fillRef>
          <a:effectRef idx="0">
            <a:schemeClr val="accent1"/>
          </a:effectRef>
          <a:fontRef idx="minor">
            <a:schemeClr val="tx1"/>
          </a:fontRef>
        </p:style>
      </p:cxnSp>
      <p:sp>
        <p:nvSpPr>
          <p:cNvPr id="306" name="Rectangle 103" descr="Generic group dashed.">
            <a:extLst>
              <a:ext uri="{FF2B5EF4-FFF2-40B4-BE49-F238E27FC236}">
                <a16:creationId xmlns:a16="http://schemas.microsoft.com/office/drawing/2014/main" id="{B169E397-AB9E-FC09-6158-8B500C2767D8}"/>
              </a:ext>
            </a:extLst>
          </p:cNvPr>
          <p:cNvSpPr/>
          <p:nvPr/>
        </p:nvSpPr>
        <p:spPr>
          <a:xfrm>
            <a:off x="690522" y="3933107"/>
            <a:ext cx="2615365" cy="2822096"/>
          </a:xfrm>
          <a:prstGeom prst="rect">
            <a:avLst/>
          </a:prstGeom>
          <a:noFill/>
          <a:ln w="15875">
            <a:solidFill>
              <a:srgbClr val="7D8998"/>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a:defRPr/>
            </a:pPr>
            <a:r>
              <a:rPr lang="ja-JP" altLang="en-US" sz="1200" dirty="0">
                <a:solidFill>
                  <a:schemeClr val="tx1"/>
                </a:solidFill>
                <a:latin typeface="Arial" panose="020B0604020202020204" pitchFamily="34" charset="0"/>
                <a:cs typeface="Arial" panose="020B0604020202020204" pitchFamily="34" charset="0"/>
              </a:rPr>
              <a:t>学生部屋（</a:t>
            </a:r>
            <a:r>
              <a:rPr lang="en-US" altLang="ja-JP" sz="1200" dirty="0">
                <a:solidFill>
                  <a:schemeClr val="tx1"/>
                </a:solidFill>
                <a:latin typeface="Arial" panose="020B0604020202020204" pitchFamily="34" charset="0"/>
                <a:cs typeface="Arial" panose="020B0604020202020204" pitchFamily="34" charset="0"/>
              </a:rPr>
              <a:t>J1401</a:t>
            </a:r>
            <a:r>
              <a:rPr lang="ja-JP" altLang="en-US" sz="1200" dirty="0">
                <a:solidFill>
                  <a:schemeClr val="tx1"/>
                </a:solidFill>
                <a:latin typeface="Arial" panose="020B0604020202020204" pitchFamily="34" charset="0"/>
                <a:cs typeface="Arial" panose="020B0604020202020204" pitchFamily="34" charset="0"/>
              </a:rPr>
              <a:t>）</a:t>
            </a:r>
            <a:endParaRPr lang="en-US" sz="1200" dirty="0">
              <a:solidFill>
                <a:schemeClr val="tx1"/>
              </a:solidFill>
              <a:latin typeface="Arial" panose="020B0604020202020204" pitchFamily="34" charset="0"/>
              <a:cs typeface="Arial" panose="020B0604020202020204" pitchFamily="34" charset="0"/>
            </a:endParaRPr>
          </a:p>
        </p:txBody>
      </p:sp>
      <p:pic>
        <p:nvPicPr>
          <p:cNvPr id="307" name="グラフィックス 306">
            <a:extLst>
              <a:ext uri="{FF2B5EF4-FFF2-40B4-BE49-F238E27FC236}">
                <a16:creationId xmlns:a16="http://schemas.microsoft.com/office/drawing/2014/main" id="{62C842E9-6176-00FD-0484-7D7206557019}"/>
              </a:ext>
            </a:extLst>
          </p:cNvPr>
          <p:cNvPicPr>
            <a:picLocks noChangeAspect="1"/>
          </p:cNvPicPr>
          <p:nvPr/>
        </p:nvPicPr>
        <p:blipFill>
          <a:blip r:embed="rId24">
            <a:grayscl/>
            <a:extLst>
              <a:ext uri="{96DAC541-7B7A-43D3-8B79-37D633B846F1}">
                <asvg:svgBlip xmlns:asvg="http://schemas.microsoft.com/office/drawing/2016/SVG/main" r:embed="rId25"/>
              </a:ext>
            </a:extLst>
          </a:blip>
          <a:srcRect l="25148" t="16203" r="25948" b="16205"/>
          <a:stretch/>
        </p:blipFill>
        <p:spPr>
          <a:xfrm rot="16200000">
            <a:off x="1042395" y="5874413"/>
            <a:ext cx="599552" cy="828660"/>
          </a:xfrm>
          <a:prstGeom prst="rect">
            <a:avLst/>
          </a:prstGeom>
        </p:spPr>
      </p:pic>
      <p:cxnSp>
        <p:nvCxnSpPr>
          <p:cNvPr id="329" name="Straight Arrow Connector 52" descr="Double pointing horizontal arrow.">
            <a:extLst>
              <a:ext uri="{FF2B5EF4-FFF2-40B4-BE49-F238E27FC236}">
                <a16:creationId xmlns:a16="http://schemas.microsoft.com/office/drawing/2014/main" id="{E18719DD-96A6-9462-C356-EC662933750B}"/>
              </a:ext>
            </a:extLst>
          </p:cNvPr>
          <p:cNvCxnSpPr>
            <a:cxnSpLocks/>
            <a:stCxn id="290" idx="0"/>
            <a:endCxn id="297" idx="2"/>
          </p:cNvCxnSpPr>
          <p:nvPr/>
        </p:nvCxnSpPr>
        <p:spPr>
          <a:xfrm flipH="1" flipV="1">
            <a:off x="5081211" y="5380852"/>
            <a:ext cx="3010" cy="315777"/>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341" name="Straight Arrow Connector 52" descr="Double pointing horizontal arrow.">
            <a:extLst>
              <a:ext uri="{FF2B5EF4-FFF2-40B4-BE49-F238E27FC236}">
                <a16:creationId xmlns:a16="http://schemas.microsoft.com/office/drawing/2014/main" id="{998BC15A-07A5-F27F-9138-5005CAEA5B2C}"/>
              </a:ext>
            </a:extLst>
          </p:cNvPr>
          <p:cNvCxnSpPr>
            <a:cxnSpLocks/>
            <a:stCxn id="274" idx="3"/>
            <a:endCxn id="280" idx="1"/>
          </p:cNvCxnSpPr>
          <p:nvPr/>
        </p:nvCxnSpPr>
        <p:spPr>
          <a:xfrm>
            <a:off x="5351243" y="2913519"/>
            <a:ext cx="636909" cy="1957"/>
          </a:xfrm>
          <a:prstGeom prst="straightConnector1">
            <a:avLst/>
          </a:prstGeom>
          <a:ln w="15875">
            <a:solidFill>
              <a:schemeClr val="tx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grpSp>
        <p:nvGrpSpPr>
          <p:cNvPr id="345" name="グループ化 344">
            <a:extLst>
              <a:ext uri="{FF2B5EF4-FFF2-40B4-BE49-F238E27FC236}">
                <a16:creationId xmlns:a16="http://schemas.microsoft.com/office/drawing/2014/main" id="{1B6C32E2-AF53-18A1-4D5A-5D64894D45E6}"/>
              </a:ext>
            </a:extLst>
          </p:cNvPr>
          <p:cNvGrpSpPr/>
          <p:nvPr/>
        </p:nvGrpSpPr>
        <p:grpSpPr>
          <a:xfrm>
            <a:off x="7023122" y="2645832"/>
            <a:ext cx="820861" cy="812933"/>
            <a:chOff x="5051089" y="1185069"/>
            <a:chExt cx="1165896" cy="1154637"/>
          </a:xfrm>
        </p:grpSpPr>
        <p:pic>
          <p:nvPicPr>
            <p:cNvPr id="346" name="Graphic 10" descr="AWS Lambda service icon.">
              <a:extLst>
                <a:ext uri="{FF2B5EF4-FFF2-40B4-BE49-F238E27FC236}">
                  <a16:creationId xmlns:a16="http://schemas.microsoft.com/office/drawing/2014/main" id="{BB50D693-1C9C-EC5C-0806-85E00263DC0B}"/>
                </a:ext>
              </a:extLst>
            </p:cNvPr>
            <p:cNvPicPr>
              <a:picLocks noChangeAspect="1" noChangeArrowheads="1"/>
            </p:cNvPicPr>
            <p:nvPr/>
          </p:nvPicPr>
          <p:blipFill>
            <a:blip r:embed="rId6">
              <a:extLst>
                <a:ext uri="{96DAC541-7B7A-43D3-8B79-37D633B846F1}">
                  <asvg:svgBlip xmlns:asvg="http://schemas.microsoft.com/office/drawing/2016/SVG/main" r:embed="rId7"/>
                </a:ext>
              </a:extLst>
            </a:blip>
            <a:srcRect/>
            <a:stretch/>
          </p:blipFill>
          <p:spPr bwMode="auto">
            <a:xfrm>
              <a:off x="5246688" y="1185069"/>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7" name="TextBox 20">
              <a:extLst>
                <a:ext uri="{FF2B5EF4-FFF2-40B4-BE49-F238E27FC236}">
                  <a16:creationId xmlns:a16="http://schemas.microsoft.com/office/drawing/2014/main" id="{34E6BD83-78AF-F585-A705-C5E2BE7F8670}"/>
                </a:ext>
              </a:extLst>
            </p:cNvPr>
            <p:cNvSpPr txBox="1">
              <a:spLocks noChangeArrowheads="1"/>
            </p:cNvSpPr>
            <p:nvPr/>
          </p:nvSpPr>
          <p:spPr bwMode="auto">
            <a:xfrm>
              <a:off x="5051089" y="1946275"/>
              <a:ext cx="1165896" cy="393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Lambda</a:t>
              </a:r>
            </a:p>
          </p:txBody>
        </p:sp>
      </p:grpSp>
      <p:cxnSp>
        <p:nvCxnSpPr>
          <p:cNvPr id="348" name="Straight Arrow Connector 52" descr="Double pointing horizontal arrow.">
            <a:extLst>
              <a:ext uri="{FF2B5EF4-FFF2-40B4-BE49-F238E27FC236}">
                <a16:creationId xmlns:a16="http://schemas.microsoft.com/office/drawing/2014/main" id="{EBF97763-F227-9A39-9562-478285E6B3BD}"/>
              </a:ext>
            </a:extLst>
          </p:cNvPr>
          <p:cNvCxnSpPr>
            <a:cxnSpLocks/>
            <a:stCxn id="280" idx="3"/>
            <a:endCxn id="346" idx="1"/>
          </p:cNvCxnSpPr>
          <p:nvPr/>
        </p:nvCxnSpPr>
        <p:spPr>
          <a:xfrm flipV="1">
            <a:off x="6524646" y="2914079"/>
            <a:ext cx="636189" cy="1397"/>
          </a:xfrm>
          <a:prstGeom prst="straightConnector1">
            <a:avLst/>
          </a:prstGeom>
          <a:ln w="15875">
            <a:solidFill>
              <a:schemeClr val="tx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grpSp>
        <p:nvGrpSpPr>
          <p:cNvPr id="361" name="グループ化 360">
            <a:extLst>
              <a:ext uri="{FF2B5EF4-FFF2-40B4-BE49-F238E27FC236}">
                <a16:creationId xmlns:a16="http://schemas.microsoft.com/office/drawing/2014/main" id="{9CAD4475-89BB-4B76-D163-EF75008FF279}"/>
              </a:ext>
            </a:extLst>
          </p:cNvPr>
          <p:cNvGrpSpPr/>
          <p:nvPr/>
        </p:nvGrpSpPr>
        <p:grpSpPr>
          <a:xfrm>
            <a:off x="7397897" y="3458765"/>
            <a:ext cx="71896" cy="901612"/>
            <a:chOff x="6937330" y="3141097"/>
            <a:chExt cx="71896" cy="901612"/>
          </a:xfrm>
        </p:grpSpPr>
        <p:cxnSp>
          <p:nvCxnSpPr>
            <p:cNvPr id="354" name="Straight Arrow Connector 52" descr="Double pointing horizontal arrow.">
              <a:extLst>
                <a:ext uri="{FF2B5EF4-FFF2-40B4-BE49-F238E27FC236}">
                  <a16:creationId xmlns:a16="http://schemas.microsoft.com/office/drawing/2014/main" id="{21581EFC-9DEA-3762-281D-2329A05D1EC0}"/>
                </a:ext>
              </a:extLst>
            </p:cNvPr>
            <p:cNvCxnSpPr>
              <a:cxnSpLocks/>
              <a:stCxn id="360" idx="0"/>
              <a:endCxn id="347" idx="2"/>
            </p:cNvCxnSpPr>
            <p:nvPr/>
          </p:nvCxnSpPr>
          <p:spPr>
            <a:xfrm flipH="1" flipV="1">
              <a:off x="6972986" y="3141097"/>
              <a:ext cx="292" cy="829716"/>
            </a:xfrm>
            <a:prstGeom prst="straightConnector1">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sp>
          <p:nvSpPr>
            <p:cNvPr id="360" name="楕円 359">
              <a:extLst>
                <a:ext uri="{FF2B5EF4-FFF2-40B4-BE49-F238E27FC236}">
                  <a16:creationId xmlns:a16="http://schemas.microsoft.com/office/drawing/2014/main" id="{1645250E-3BE0-EC99-62D9-73EC5502C6B1}"/>
                </a:ext>
              </a:extLst>
            </p:cNvPr>
            <p:cNvSpPr/>
            <p:nvPr/>
          </p:nvSpPr>
          <p:spPr>
            <a:xfrm>
              <a:off x="6937330" y="3970813"/>
              <a:ext cx="71896" cy="71896"/>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62" name="TextBox 9">
            <a:extLst>
              <a:ext uri="{FF2B5EF4-FFF2-40B4-BE49-F238E27FC236}">
                <a16:creationId xmlns:a16="http://schemas.microsoft.com/office/drawing/2014/main" id="{B3956ADF-B1D4-3B0B-47E7-556AD2E6BCC0}"/>
              </a:ext>
            </a:extLst>
          </p:cNvPr>
          <p:cNvSpPr txBox="1">
            <a:spLocks noChangeArrowheads="1"/>
          </p:cNvSpPr>
          <p:nvPr/>
        </p:nvSpPr>
        <p:spPr bwMode="auto">
          <a:xfrm>
            <a:off x="7385849" y="3789686"/>
            <a:ext cx="76250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Stream</a:t>
            </a:r>
          </a:p>
        </p:txBody>
      </p:sp>
      <p:cxnSp>
        <p:nvCxnSpPr>
          <p:cNvPr id="369" name="Straight Arrow Connector 52" descr="Double pointing horizontal arrow.">
            <a:extLst>
              <a:ext uri="{FF2B5EF4-FFF2-40B4-BE49-F238E27FC236}">
                <a16:creationId xmlns:a16="http://schemas.microsoft.com/office/drawing/2014/main" id="{1AB9C7AD-8D99-4690-27E7-E71864F8AE01}"/>
              </a:ext>
            </a:extLst>
          </p:cNvPr>
          <p:cNvCxnSpPr>
            <a:cxnSpLocks/>
            <a:stCxn id="274" idx="1"/>
          </p:cNvCxnSpPr>
          <p:nvPr/>
        </p:nvCxnSpPr>
        <p:spPr>
          <a:xfrm flipH="1" flipV="1">
            <a:off x="2777961" y="2910271"/>
            <a:ext cx="2036788" cy="3248"/>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372" name="Straight Arrow Connector 52" descr="Double pointing horizontal arrow.">
            <a:extLst>
              <a:ext uri="{FF2B5EF4-FFF2-40B4-BE49-F238E27FC236}">
                <a16:creationId xmlns:a16="http://schemas.microsoft.com/office/drawing/2014/main" id="{25F7F49A-E810-9A46-41EE-A002EFF249AC}"/>
              </a:ext>
            </a:extLst>
          </p:cNvPr>
          <p:cNvCxnSpPr>
            <a:cxnSpLocks/>
            <a:stCxn id="286" idx="1"/>
            <a:endCxn id="307" idx="2"/>
          </p:cNvCxnSpPr>
          <p:nvPr/>
        </p:nvCxnSpPr>
        <p:spPr>
          <a:xfrm flipH="1">
            <a:off x="1756501" y="6288743"/>
            <a:ext cx="294775" cy="0"/>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sp>
        <p:nvSpPr>
          <p:cNvPr id="380" name="Rectangle 103" descr="Generic group dashed.">
            <a:extLst>
              <a:ext uri="{FF2B5EF4-FFF2-40B4-BE49-F238E27FC236}">
                <a16:creationId xmlns:a16="http://schemas.microsoft.com/office/drawing/2014/main" id="{8D97E660-9C15-7CE3-E0C8-34C9BC8888D1}"/>
              </a:ext>
            </a:extLst>
          </p:cNvPr>
          <p:cNvSpPr/>
          <p:nvPr/>
        </p:nvSpPr>
        <p:spPr>
          <a:xfrm>
            <a:off x="4457026" y="1552760"/>
            <a:ext cx="3541821" cy="2158934"/>
          </a:xfrm>
          <a:prstGeom prst="rect">
            <a:avLst/>
          </a:prstGeom>
          <a:noFill/>
          <a:ln w="15875">
            <a:solidFill>
              <a:srgbClr val="7D8998"/>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eaLnBrk="1" fontAlgn="auto" hangingPunct="1">
              <a:spcBef>
                <a:spcPts val="0"/>
              </a:spcBef>
              <a:spcAft>
                <a:spcPts val="0"/>
              </a:spcAft>
              <a:defRPr/>
            </a:pPr>
            <a:endParaRPr lang="en-US" sz="1200" dirty="0">
              <a:solidFill>
                <a:schemeClr val="tx1"/>
              </a:solidFill>
              <a:latin typeface="Arial" panose="020B0604020202020204" pitchFamily="34" charset="0"/>
              <a:cs typeface="Arial" panose="020B0604020202020204" pitchFamily="34" charset="0"/>
            </a:endParaRPr>
          </a:p>
        </p:txBody>
      </p:sp>
      <p:sp>
        <p:nvSpPr>
          <p:cNvPr id="256" name="テキスト ボックス 255">
            <a:extLst>
              <a:ext uri="{FF2B5EF4-FFF2-40B4-BE49-F238E27FC236}">
                <a16:creationId xmlns:a16="http://schemas.microsoft.com/office/drawing/2014/main" id="{DDDC401C-1E32-528A-8A4A-C228A75322C7}"/>
              </a:ext>
            </a:extLst>
          </p:cNvPr>
          <p:cNvSpPr txBox="1"/>
          <p:nvPr/>
        </p:nvSpPr>
        <p:spPr>
          <a:xfrm>
            <a:off x="4355739" y="1260339"/>
            <a:ext cx="2390492" cy="276999"/>
          </a:xfrm>
          <a:prstGeom prst="rect">
            <a:avLst/>
          </a:prstGeom>
          <a:solidFill>
            <a:srgbClr val="EFECE3"/>
          </a:solidFill>
        </p:spPr>
        <p:txBody>
          <a:bodyPr wrap="square" rtlCol="0">
            <a:spAutoFit/>
          </a:bodyPr>
          <a:lstStyle/>
          <a:p>
            <a:r>
              <a:rPr lang="ja-JP" altLang="en-US" sz="1200" b="1" dirty="0">
                <a:latin typeface="BIZ UDゴシック" panose="020B0400000000000000" pitchFamily="49" charset="-128"/>
                <a:ea typeface="BIZ UDゴシック" panose="020B0400000000000000" pitchFamily="49" charset="-128"/>
              </a:rPr>
              <a:t>ユーザー・在室表示サービス</a:t>
            </a:r>
            <a:endParaRPr kumimoji="1" lang="ja-JP" altLang="en-US" sz="1200" b="1" dirty="0">
              <a:latin typeface="BIZ UDゴシック" panose="020B0400000000000000" pitchFamily="49" charset="-128"/>
              <a:ea typeface="BIZ UDゴシック" panose="020B0400000000000000" pitchFamily="49" charset="-128"/>
            </a:endParaRPr>
          </a:p>
        </p:txBody>
      </p:sp>
      <p:cxnSp>
        <p:nvCxnSpPr>
          <p:cNvPr id="388" name="Elbow Connector 22" descr="Elbow horizontal arrow pointing right (1).">
            <a:extLst>
              <a:ext uri="{FF2B5EF4-FFF2-40B4-BE49-F238E27FC236}">
                <a16:creationId xmlns:a16="http://schemas.microsoft.com/office/drawing/2014/main" id="{D7F2B5F3-9E7B-726F-FE52-551D0A87D618}"/>
              </a:ext>
            </a:extLst>
          </p:cNvPr>
          <p:cNvCxnSpPr>
            <a:cxnSpLocks/>
            <a:stCxn id="270" idx="1"/>
            <a:endCxn id="274" idx="0"/>
          </p:cNvCxnSpPr>
          <p:nvPr/>
        </p:nvCxnSpPr>
        <p:spPr>
          <a:xfrm rot="10800000" flipV="1">
            <a:off x="5082996" y="1913082"/>
            <a:ext cx="905154" cy="732190"/>
          </a:xfrm>
          <a:prstGeom prst="bentConnector2">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391" name="Elbow Connector 22" descr="Elbow horizontal arrow pointing right (1).">
            <a:extLst>
              <a:ext uri="{FF2B5EF4-FFF2-40B4-BE49-F238E27FC236}">
                <a16:creationId xmlns:a16="http://schemas.microsoft.com/office/drawing/2014/main" id="{73453ED3-F294-C3F4-5568-7A2900BE767E}"/>
              </a:ext>
            </a:extLst>
          </p:cNvPr>
          <p:cNvCxnSpPr>
            <a:cxnSpLocks/>
            <a:stCxn id="274" idx="0"/>
            <a:endCxn id="270" idx="1"/>
          </p:cNvCxnSpPr>
          <p:nvPr/>
        </p:nvCxnSpPr>
        <p:spPr>
          <a:xfrm rot="5400000" flipH="1" flipV="1">
            <a:off x="5169478" y="1826600"/>
            <a:ext cx="732190" cy="905154"/>
          </a:xfrm>
          <a:prstGeom prst="bentConnector2">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394" name="Elbow Connector 22" descr="Elbow horizontal arrow pointing right (1).">
            <a:extLst>
              <a:ext uri="{FF2B5EF4-FFF2-40B4-BE49-F238E27FC236}">
                <a16:creationId xmlns:a16="http://schemas.microsoft.com/office/drawing/2014/main" id="{DF20083B-1D53-9864-5F7A-5D3E6BCA9DAF}"/>
              </a:ext>
            </a:extLst>
          </p:cNvPr>
          <p:cNvCxnSpPr>
            <a:cxnSpLocks/>
            <a:endCxn id="272" idx="0"/>
          </p:cNvCxnSpPr>
          <p:nvPr/>
        </p:nvCxnSpPr>
        <p:spPr>
          <a:xfrm>
            <a:off x="2781957" y="4817404"/>
            <a:ext cx="1373998" cy="865971"/>
          </a:xfrm>
          <a:prstGeom prst="bentConnector2">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pic>
        <p:nvPicPr>
          <p:cNvPr id="403" name="Picture 2" descr="Raspberry icon - Free download on Iconfinder">
            <a:extLst>
              <a:ext uri="{FF2B5EF4-FFF2-40B4-BE49-F238E27FC236}">
                <a16:creationId xmlns:a16="http://schemas.microsoft.com/office/drawing/2014/main" id="{A12E06BA-4D45-2392-B938-25FA436F971B}"/>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244769" y="4471085"/>
            <a:ext cx="544810" cy="544810"/>
          </a:xfrm>
          <a:prstGeom prst="rect">
            <a:avLst/>
          </a:prstGeom>
          <a:noFill/>
          <a:extLst>
            <a:ext uri="{909E8E84-426E-40DD-AFC4-6F175D3DCCD1}">
              <a14:hiddenFill xmlns:a14="http://schemas.microsoft.com/office/drawing/2010/main">
                <a:solidFill>
                  <a:srgbClr val="FFFFFF"/>
                </a:solidFill>
              </a14:hiddenFill>
            </a:ext>
          </a:extLst>
        </p:spPr>
      </p:pic>
      <p:pic>
        <p:nvPicPr>
          <p:cNvPr id="404" name="Picture 2" descr="Raspberry icon - Free download on Iconfinder">
            <a:extLst>
              <a:ext uri="{FF2B5EF4-FFF2-40B4-BE49-F238E27FC236}">
                <a16:creationId xmlns:a16="http://schemas.microsoft.com/office/drawing/2014/main" id="{6F15027A-F092-787F-25B4-52CC7A65B015}"/>
              </a:ext>
            </a:extLst>
          </p:cNvPr>
          <p:cNvPicPr>
            <a:picLocks noChangeAspect="1" noChangeArrowheads="1"/>
          </p:cNvPicPr>
          <p:nvPr/>
        </p:nvPicPr>
        <p:blipFill>
          <a:blip r:embed="rId26">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244769" y="2641704"/>
            <a:ext cx="544810" cy="544810"/>
          </a:xfrm>
          <a:prstGeom prst="rect">
            <a:avLst/>
          </a:prstGeom>
          <a:noFill/>
          <a:extLst>
            <a:ext uri="{909E8E84-426E-40DD-AFC4-6F175D3DCCD1}">
              <a14:hiddenFill xmlns:a14="http://schemas.microsoft.com/office/drawing/2010/main">
                <a:solidFill>
                  <a:srgbClr val="FFFFFF"/>
                </a:solidFill>
              </a14:hiddenFill>
            </a:ext>
          </a:extLst>
        </p:spPr>
      </p:pic>
      <p:cxnSp>
        <p:nvCxnSpPr>
          <p:cNvPr id="3" name="Straight Arrow Connector 52" descr="Double pointing horizontal arrow.">
            <a:extLst>
              <a:ext uri="{FF2B5EF4-FFF2-40B4-BE49-F238E27FC236}">
                <a16:creationId xmlns:a16="http://schemas.microsoft.com/office/drawing/2014/main" id="{ED9CAA8E-D1EA-DB02-4D5B-5FD311ED7A25}"/>
              </a:ext>
            </a:extLst>
          </p:cNvPr>
          <p:cNvCxnSpPr>
            <a:cxnSpLocks/>
            <a:stCxn id="275" idx="2"/>
            <a:endCxn id="296" idx="0"/>
          </p:cNvCxnSpPr>
          <p:nvPr/>
        </p:nvCxnSpPr>
        <p:spPr>
          <a:xfrm flipH="1">
            <a:off x="5081211" y="3458765"/>
            <a:ext cx="1785" cy="923928"/>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sp>
        <p:nvSpPr>
          <p:cNvPr id="257" name="テキスト ボックス 256">
            <a:extLst>
              <a:ext uri="{FF2B5EF4-FFF2-40B4-BE49-F238E27FC236}">
                <a16:creationId xmlns:a16="http://schemas.microsoft.com/office/drawing/2014/main" id="{F751EC11-BA82-ABC2-53BB-C409B43AA305}"/>
              </a:ext>
            </a:extLst>
          </p:cNvPr>
          <p:cNvSpPr txBox="1"/>
          <p:nvPr/>
        </p:nvSpPr>
        <p:spPr>
          <a:xfrm>
            <a:off x="4360260" y="3860479"/>
            <a:ext cx="2390492" cy="276999"/>
          </a:xfrm>
          <a:prstGeom prst="rect">
            <a:avLst/>
          </a:prstGeom>
          <a:solidFill>
            <a:srgbClr val="EFECE3"/>
          </a:solidFill>
        </p:spPr>
        <p:txBody>
          <a:bodyPr wrap="square" rtlCol="0">
            <a:spAutoFit/>
          </a:bodyPr>
          <a:lstStyle/>
          <a:p>
            <a:r>
              <a:rPr lang="ja-JP" altLang="en-US" sz="1200" b="1" dirty="0">
                <a:latin typeface="BIZ UDゴシック" panose="020B0400000000000000" pitchFamily="49" charset="-128"/>
                <a:ea typeface="BIZ UDゴシック" panose="020B0400000000000000" pitchFamily="49" charset="-128"/>
              </a:rPr>
              <a:t>ユーザー・在室登録サービス</a:t>
            </a:r>
            <a:endParaRPr kumimoji="1" lang="ja-JP" altLang="en-US" sz="1200" b="1" dirty="0">
              <a:latin typeface="BIZ UDゴシック" panose="020B0400000000000000" pitchFamily="49" charset="-128"/>
              <a:ea typeface="BIZ UDゴシック" panose="020B0400000000000000" pitchFamily="49" charset="-128"/>
            </a:endParaRPr>
          </a:p>
        </p:txBody>
      </p:sp>
      <p:cxnSp>
        <p:nvCxnSpPr>
          <p:cNvPr id="6" name="Straight Arrow Connector 52" descr="Double pointing horizontal arrow.">
            <a:extLst>
              <a:ext uri="{FF2B5EF4-FFF2-40B4-BE49-F238E27FC236}">
                <a16:creationId xmlns:a16="http://schemas.microsoft.com/office/drawing/2014/main" id="{D12E09B4-EF1F-8755-8851-3EBB762B405A}"/>
              </a:ext>
            </a:extLst>
          </p:cNvPr>
          <p:cNvCxnSpPr>
            <a:cxnSpLocks/>
            <a:stCxn id="296" idx="3"/>
            <a:endCxn id="294" idx="1"/>
          </p:cNvCxnSpPr>
          <p:nvPr/>
        </p:nvCxnSpPr>
        <p:spPr>
          <a:xfrm flipV="1">
            <a:off x="5349458" y="4650632"/>
            <a:ext cx="638693" cy="308"/>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10" name="Straight Arrow Connector 52" descr="Double pointing horizontal arrow.">
            <a:extLst>
              <a:ext uri="{FF2B5EF4-FFF2-40B4-BE49-F238E27FC236}">
                <a16:creationId xmlns:a16="http://schemas.microsoft.com/office/drawing/2014/main" id="{93B3AC4B-3816-2D23-E362-D1F223535D55}"/>
              </a:ext>
            </a:extLst>
          </p:cNvPr>
          <p:cNvCxnSpPr>
            <a:cxnSpLocks/>
            <a:stCxn id="294" idx="3"/>
            <a:endCxn id="298" idx="1"/>
          </p:cNvCxnSpPr>
          <p:nvPr/>
        </p:nvCxnSpPr>
        <p:spPr>
          <a:xfrm>
            <a:off x="6524645" y="4650632"/>
            <a:ext cx="640661" cy="2899"/>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4436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B6D48-A938-8239-08C7-D20C9B5D76F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E494FA9-7EF7-5E32-6D1D-8DAF59E52E44}"/>
              </a:ext>
            </a:extLst>
          </p:cNvPr>
          <p:cNvSpPr>
            <a:spLocks noGrp="1"/>
          </p:cNvSpPr>
          <p:nvPr>
            <p:ph type="title"/>
          </p:nvPr>
        </p:nvSpPr>
        <p:spPr/>
        <p:txBody>
          <a:bodyPr/>
          <a:lstStyle/>
          <a:p>
            <a:r>
              <a:rPr kumimoji="1" lang="ja-JP" altLang="en-US" dirty="0"/>
              <a:t>在室確認システムのアーキテクチャ</a:t>
            </a:r>
          </a:p>
        </p:txBody>
      </p:sp>
      <p:grpSp>
        <p:nvGrpSpPr>
          <p:cNvPr id="230" name="グループ化 229">
            <a:extLst>
              <a:ext uri="{FF2B5EF4-FFF2-40B4-BE49-F238E27FC236}">
                <a16:creationId xmlns:a16="http://schemas.microsoft.com/office/drawing/2014/main" id="{2F4F7246-B433-E83C-8110-B6974354C59D}"/>
              </a:ext>
            </a:extLst>
          </p:cNvPr>
          <p:cNvGrpSpPr/>
          <p:nvPr/>
        </p:nvGrpSpPr>
        <p:grpSpPr>
          <a:xfrm>
            <a:off x="6904519" y="4385283"/>
            <a:ext cx="1058068" cy="814611"/>
            <a:chOff x="4098454" y="2667000"/>
            <a:chExt cx="1502808" cy="1157017"/>
          </a:xfrm>
        </p:grpSpPr>
        <p:pic>
          <p:nvPicPr>
            <p:cNvPr id="298" name="Graphic 23" descr="Amazon DynamoDB service icon.">
              <a:extLst>
                <a:ext uri="{FF2B5EF4-FFF2-40B4-BE49-F238E27FC236}">
                  <a16:creationId xmlns:a16="http://schemas.microsoft.com/office/drawing/2014/main" id="{0A1498F6-1C45-1EA0-2B14-F5903A24DDF8}"/>
                </a:ext>
              </a:extLst>
            </p:cNvPr>
            <p:cNvPicPr>
              <a:picLocks noChangeAspect="1" noChangeArrowheads="1"/>
            </p:cNvPicPr>
            <p:nvPr/>
          </p:nvPicPr>
          <p:blipFill>
            <a:blip r:embed="rId2">
              <a:extLst>
                <a:ext uri="{96DAC541-7B7A-43D3-8B79-37D633B846F1}">
                  <asvg:svgBlip xmlns:asvg="http://schemas.microsoft.com/office/drawing/2016/SVG/main" r:embed="rId3"/>
                </a:ext>
              </a:extLst>
            </a:blip>
            <a:srcRect/>
            <a:stretch/>
          </p:blipFill>
          <p:spPr bwMode="auto">
            <a:xfrm>
              <a:off x="4468858" y="2667000"/>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9" name="TextBox 12">
              <a:extLst>
                <a:ext uri="{FF2B5EF4-FFF2-40B4-BE49-F238E27FC236}">
                  <a16:creationId xmlns:a16="http://schemas.microsoft.com/office/drawing/2014/main" id="{E4F559D5-D550-E3F2-AD79-7476B0D6F7A5}"/>
                </a:ext>
              </a:extLst>
            </p:cNvPr>
            <p:cNvSpPr txBox="1">
              <a:spLocks noChangeArrowheads="1"/>
            </p:cNvSpPr>
            <p:nvPr/>
          </p:nvSpPr>
          <p:spPr bwMode="auto">
            <a:xfrm>
              <a:off x="4098454" y="3430587"/>
              <a:ext cx="1502808" cy="393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DynamoDB</a:t>
              </a:r>
            </a:p>
          </p:txBody>
        </p:sp>
      </p:grpSp>
      <p:grpSp>
        <p:nvGrpSpPr>
          <p:cNvPr id="231" name="グループ化 230">
            <a:extLst>
              <a:ext uri="{FF2B5EF4-FFF2-40B4-BE49-F238E27FC236}">
                <a16:creationId xmlns:a16="http://schemas.microsoft.com/office/drawing/2014/main" id="{E43E9518-86D2-CBCF-52EF-0F981FA0E4D1}"/>
              </a:ext>
            </a:extLst>
          </p:cNvPr>
          <p:cNvGrpSpPr/>
          <p:nvPr/>
        </p:nvGrpSpPr>
        <p:grpSpPr>
          <a:xfrm>
            <a:off x="4522361" y="4382693"/>
            <a:ext cx="1117700" cy="998159"/>
            <a:chOff x="2576510" y="1184275"/>
            <a:chExt cx="1587506" cy="1417718"/>
          </a:xfrm>
        </p:grpSpPr>
        <p:pic>
          <p:nvPicPr>
            <p:cNvPr id="296" name="Graphic 7" descr="Amazon API Gateway service icon.">
              <a:extLst>
                <a:ext uri="{FF2B5EF4-FFF2-40B4-BE49-F238E27FC236}">
                  <a16:creationId xmlns:a16="http://schemas.microsoft.com/office/drawing/2014/main" id="{16F89749-1A2E-EF2E-B33D-5F130EEBA538}"/>
                </a:ext>
              </a:extLst>
            </p:cNvPr>
            <p:cNvPicPr>
              <a:picLocks noChangeAspect="1" noChangeArrowheads="1"/>
            </p:cNvPicPr>
            <p:nvPr/>
          </p:nvPicPr>
          <p:blipFill>
            <a:blip r:embed="rId4">
              <a:extLst>
                <a:ext uri="{96DAC541-7B7A-43D3-8B79-37D633B846F1}">
                  <asvg:svgBlip xmlns:asvg="http://schemas.microsoft.com/office/drawing/2016/SVG/main" r:embed="rId5"/>
                </a:ext>
              </a:extLst>
            </a:blip>
            <a:srcRect/>
            <a:stretch/>
          </p:blipFill>
          <p:spPr bwMode="auto">
            <a:xfrm>
              <a:off x="2989263" y="1184275"/>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 name="TextBox 9">
              <a:extLst>
                <a:ext uri="{FF2B5EF4-FFF2-40B4-BE49-F238E27FC236}">
                  <a16:creationId xmlns:a16="http://schemas.microsoft.com/office/drawing/2014/main" id="{AEF57244-564D-7637-3482-9815813181B4}"/>
                </a:ext>
              </a:extLst>
            </p:cNvPr>
            <p:cNvSpPr txBox="1">
              <a:spLocks noChangeArrowheads="1"/>
            </p:cNvSpPr>
            <p:nvPr/>
          </p:nvSpPr>
          <p:spPr bwMode="auto">
            <a:xfrm>
              <a:off x="2576510" y="1946275"/>
              <a:ext cx="1587506" cy="655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API Gateway</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(REST API)</a:t>
              </a:r>
            </a:p>
          </p:txBody>
        </p:sp>
      </p:grpSp>
      <p:grpSp>
        <p:nvGrpSpPr>
          <p:cNvPr id="232" name="グループ化 231">
            <a:extLst>
              <a:ext uri="{FF2B5EF4-FFF2-40B4-BE49-F238E27FC236}">
                <a16:creationId xmlns:a16="http://schemas.microsoft.com/office/drawing/2014/main" id="{8B4A9965-2F81-FC97-BB91-32D3E3346459}"/>
              </a:ext>
            </a:extLst>
          </p:cNvPr>
          <p:cNvGrpSpPr/>
          <p:nvPr/>
        </p:nvGrpSpPr>
        <p:grpSpPr>
          <a:xfrm>
            <a:off x="5850438" y="4382385"/>
            <a:ext cx="820861" cy="812933"/>
            <a:chOff x="5051089" y="1185069"/>
            <a:chExt cx="1165896" cy="1154637"/>
          </a:xfrm>
        </p:grpSpPr>
        <p:pic>
          <p:nvPicPr>
            <p:cNvPr id="294" name="Graphic 10" descr="AWS Lambda service icon.">
              <a:extLst>
                <a:ext uri="{FF2B5EF4-FFF2-40B4-BE49-F238E27FC236}">
                  <a16:creationId xmlns:a16="http://schemas.microsoft.com/office/drawing/2014/main" id="{9690F786-7A8D-7213-A0DD-8BB82972ADEB}"/>
                </a:ext>
              </a:extLst>
            </p:cNvPr>
            <p:cNvPicPr>
              <a:picLocks noChangeAspect="1" noChangeArrowheads="1"/>
            </p:cNvPicPr>
            <p:nvPr/>
          </p:nvPicPr>
          <p:blipFill>
            <a:blip r:embed="rId6">
              <a:extLst>
                <a:ext uri="{96DAC541-7B7A-43D3-8B79-37D633B846F1}">
                  <asvg:svgBlip xmlns:asvg="http://schemas.microsoft.com/office/drawing/2016/SVG/main" r:embed="rId7"/>
                </a:ext>
              </a:extLst>
            </a:blip>
            <a:srcRect/>
            <a:stretch/>
          </p:blipFill>
          <p:spPr bwMode="auto">
            <a:xfrm>
              <a:off x="5246688" y="1185069"/>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5" name="TextBox 20">
              <a:extLst>
                <a:ext uri="{FF2B5EF4-FFF2-40B4-BE49-F238E27FC236}">
                  <a16:creationId xmlns:a16="http://schemas.microsoft.com/office/drawing/2014/main" id="{91E0FB77-A10B-6825-586C-708F47EF91B3}"/>
                </a:ext>
              </a:extLst>
            </p:cNvPr>
            <p:cNvSpPr txBox="1">
              <a:spLocks noChangeArrowheads="1"/>
            </p:cNvSpPr>
            <p:nvPr/>
          </p:nvSpPr>
          <p:spPr bwMode="auto">
            <a:xfrm>
              <a:off x="5051089" y="1946275"/>
              <a:ext cx="1165896" cy="393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Lambda</a:t>
              </a:r>
            </a:p>
          </p:txBody>
        </p:sp>
      </p:grpSp>
      <p:grpSp>
        <p:nvGrpSpPr>
          <p:cNvPr id="233" name="グループ化 232">
            <a:extLst>
              <a:ext uri="{FF2B5EF4-FFF2-40B4-BE49-F238E27FC236}">
                <a16:creationId xmlns:a16="http://schemas.microsoft.com/office/drawing/2014/main" id="{12A3E045-13E6-1B7C-DE7F-A8D0DE9E63EC}"/>
              </a:ext>
            </a:extLst>
          </p:cNvPr>
          <p:cNvGrpSpPr/>
          <p:nvPr/>
        </p:nvGrpSpPr>
        <p:grpSpPr>
          <a:xfrm>
            <a:off x="6894823" y="5692118"/>
            <a:ext cx="1068518" cy="813493"/>
            <a:chOff x="-6240556" y="-4075450"/>
            <a:chExt cx="1517651" cy="1155431"/>
          </a:xfrm>
        </p:grpSpPr>
        <p:pic>
          <p:nvPicPr>
            <p:cNvPr id="292" name="Graphic 17" descr="Amazon CloudWatch service icon.">
              <a:extLst>
                <a:ext uri="{FF2B5EF4-FFF2-40B4-BE49-F238E27FC236}">
                  <a16:creationId xmlns:a16="http://schemas.microsoft.com/office/drawing/2014/main" id="{CEB89874-CA9D-61AB-EFE4-E30F91EB0917}"/>
                </a:ext>
              </a:extLst>
            </p:cNvPr>
            <p:cNvPicPr>
              <a:picLocks noChangeAspect="1" noChangeArrowheads="1"/>
            </p:cNvPicPr>
            <p:nvPr/>
          </p:nvPicPr>
          <p:blipFill>
            <a:blip r:embed="rId8">
              <a:extLst>
                <a:ext uri="{96DAC541-7B7A-43D3-8B79-37D633B846F1}">
                  <asvg:svgBlip xmlns:asvg="http://schemas.microsoft.com/office/drawing/2016/SVG/main" r:embed="rId9"/>
                </a:ext>
              </a:extLst>
            </a:blip>
            <a:srcRect/>
            <a:stretch/>
          </p:blipFill>
          <p:spPr bwMode="auto">
            <a:xfrm>
              <a:off x="-5862730" y="-4075450"/>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3" name="TextBox 9">
              <a:extLst>
                <a:ext uri="{FF2B5EF4-FFF2-40B4-BE49-F238E27FC236}">
                  <a16:creationId xmlns:a16="http://schemas.microsoft.com/office/drawing/2014/main" id="{4BB4737E-526F-736B-6FB7-A27EAA6C01BE}"/>
                </a:ext>
              </a:extLst>
            </p:cNvPr>
            <p:cNvSpPr txBox="1">
              <a:spLocks noChangeArrowheads="1"/>
            </p:cNvSpPr>
            <p:nvPr/>
          </p:nvSpPr>
          <p:spPr bwMode="auto">
            <a:xfrm>
              <a:off x="-6240556" y="-3313450"/>
              <a:ext cx="1517651" cy="393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CloudWatch</a:t>
              </a:r>
            </a:p>
          </p:txBody>
        </p:sp>
      </p:grpSp>
      <p:grpSp>
        <p:nvGrpSpPr>
          <p:cNvPr id="234" name="グループ化 233">
            <a:extLst>
              <a:ext uri="{FF2B5EF4-FFF2-40B4-BE49-F238E27FC236}">
                <a16:creationId xmlns:a16="http://schemas.microsoft.com/office/drawing/2014/main" id="{F8C5558A-B546-C22F-1293-E0B897BF7B62}"/>
              </a:ext>
            </a:extLst>
          </p:cNvPr>
          <p:cNvGrpSpPr/>
          <p:nvPr/>
        </p:nvGrpSpPr>
        <p:grpSpPr>
          <a:xfrm>
            <a:off x="4815974" y="5696629"/>
            <a:ext cx="536494" cy="813493"/>
            <a:chOff x="7535863" y="1001200"/>
            <a:chExt cx="762000" cy="1155431"/>
          </a:xfrm>
        </p:grpSpPr>
        <p:pic>
          <p:nvPicPr>
            <p:cNvPr id="290" name="Graphic 19" descr="AWS Identity and Access Management (IAM) service icon.">
              <a:extLst>
                <a:ext uri="{FF2B5EF4-FFF2-40B4-BE49-F238E27FC236}">
                  <a16:creationId xmlns:a16="http://schemas.microsoft.com/office/drawing/2014/main" id="{149B8296-A1C8-4D80-6A41-85009726196D}"/>
                </a:ext>
              </a:extLst>
            </p:cNvPr>
            <p:cNvPicPr>
              <a:picLocks noChangeAspect="1" noChangeArrowheads="1"/>
            </p:cNvPicPr>
            <p:nvPr/>
          </p:nvPicPr>
          <p:blipFill>
            <a:blip r:embed="rId10">
              <a:extLst>
                <a:ext uri="{96DAC541-7B7A-43D3-8B79-37D633B846F1}">
                  <asvg:svgBlip xmlns:asvg="http://schemas.microsoft.com/office/drawing/2016/SVG/main" r:embed="rId11"/>
                </a:ext>
              </a:extLst>
            </a:blip>
            <a:srcRect/>
            <a:stretch/>
          </p:blipFill>
          <p:spPr bwMode="auto">
            <a:xfrm>
              <a:off x="7535863" y="1001200"/>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1" name="TextBox 12">
              <a:extLst>
                <a:ext uri="{FF2B5EF4-FFF2-40B4-BE49-F238E27FC236}">
                  <a16:creationId xmlns:a16="http://schemas.microsoft.com/office/drawing/2014/main" id="{27496E09-2BEA-5E64-5A81-A17B443619C6}"/>
                </a:ext>
              </a:extLst>
            </p:cNvPr>
            <p:cNvSpPr txBox="1">
              <a:spLocks noChangeArrowheads="1"/>
            </p:cNvSpPr>
            <p:nvPr/>
          </p:nvSpPr>
          <p:spPr bwMode="auto">
            <a:xfrm>
              <a:off x="7535863" y="1763200"/>
              <a:ext cx="758826" cy="393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IAM</a:t>
              </a:r>
            </a:p>
          </p:txBody>
        </p:sp>
      </p:grpSp>
      <p:sp>
        <p:nvSpPr>
          <p:cNvPr id="289" name="TextBox 12">
            <a:extLst>
              <a:ext uri="{FF2B5EF4-FFF2-40B4-BE49-F238E27FC236}">
                <a16:creationId xmlns:a16="http://schemas.microsoft.com/office/drawing/2014/main" id="{ED780B21-AC70-83ED-500C-A86E088BDC7F}"/>
              </a:ext>
            </a:extLst>
          </p:cNvPr>
          <p:cNvSpPr txBox="1">
            <a:spLocks noChangeArrowheads="1"/>
          </p:cNvSpPr>
          <p:nvPr/>
        </p:nvSpPr>
        <p:spPr bwMode="auto">
          <a:xfrm>
            <a:off x="1707208" y="5001976"/>
            <a:ext cx="16050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Raspberry Pi 4B</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(172.16.15.8)</a:t>
            </a:r>
          </a:p>
        </p:txBody>
      </p:sp>
      <p:sp>
        <p:nvSpPr>
          <p:cNvPr id="236" name="テキスト ボックス 235">
            <a:extLst>
              <a:ext uri="{FF2B5EF4-FFF2-40B4-BE49-F238E27FC236}">
                <a16:creationId xmlns:a16="http://schemas.microsoft.com/office/drawing/2014/main" id="{2BCCEE63-FD30-D586-21D3-3A8BE063B223}"/>
              </a:ext>
            </a:extLst>
          </p:cNvPr>
          <p:cNvSpPr txBox="1"/>
          <p:nvPr/>
        </p:nvSpPr>
        <p:spPr>
          <a:xfrm>
            <a:off x="1077353" y="4303759"/>
            <a:ext cx="1162293" cy="276999"/>
          </a:xfrm>
          <a:prstGeom prst="rect">
            <a:avLst/>
          </a:prstGeom>
          <a:noFill/>
        </p:spPr>
        <p:txBody>
          <a:bodyPr wrap="square">
            <a:spAutoFit/>
          </a:body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RC-S380 S</a:t>
            </a:r>
          </a:p>
        </p:txBody>
      </p:sp>
      <p:pic>
        <p:nvPicPr>
          <p:cNvPr id="237" name="図 236" descr="黒い背景と白い文字のロゴ&#10;&#10;AI によって生成されたコンテンツは間違っている可能性があります。">
            <a:extLst>
              <a:ext uri="{FF2B5EF4-FFF2-40B4-BE49-F238E27FC236}">
                <a16:creationId xmlns:a16="http://schemas.microsoft.com/office/drawing/2014/main" id="{B18A7783-3BC2-2835-2404-E9529E6E133D}"/>
              </a:ext>
            </a:extLst>
          </p:cNvPr>
          <p:cNvPicPr>
            <a:picLocks noChangeAspect="1"/>
          </p:cNvPicPr>
          <p:nvPr/>
        </p:nvPicPr>
        <p:blipFill>
          <a:blip r:embed="rId12">
            <a:biLevel thresh="50000"/>
            <a:extLst>
              <a:ext uri="{28A0092B-C50C-407E-A947-70E740481C1C}">
                <a14:useLocalDpi xmlns:a14="http://schemas.microsoft.com/office/drawing/2010/main" val="0"/>
              </a:ext>
            </a:extLst>
          </a:blip>
          <a:srcRect t="19474" b="18132"/>
          <a:stretch/>
        </p:blipFill>
        <p:spPr>
          <a:xfrm flipH="1">
            <a:off x="693160" y="4508703"/>
            <a:ext cx="1605014" cy="751622"/>
          </a:xfrm>
          <a:prstGeom prst="rect">
            <a:avLst/>
          </a:prstGeom>
        </p:spPr>
      </p:pic>
      <p:cxnSp>
        <p:nvCxnSpPr>
          <p:cNvPr id="238" name="Straight Arrow Connector 74" descr="Up and down pointing vertical arrow.">
            <a:extLst>
              <a:ext uri="{FF2B5EF4-FFF2-40B4-BE49-F238E27FC236}">
                <a16:creationId xmlns:a16="http://schemas.microsoft.com/office/drawing/2014/main" id="{4EB7121A-577E-2D36-334F-6A4D06113EF4}"/>
              </a:ext>
            </a:extLst>
          </p:cNvPr>
          <p:cNvCxnSpPr>
            <a:cxnSpLocks/>
            <a:endCxn id="296" idx="1"/>
          </p:cNvCxnSpPr>
          <p:nvPr/>
        </p:nvCxnSpPr>
        <p:spPr>
          <a:xfrm>
            <a:off x="2777961" y="4650940"/>
            <a:ext cx="2035003" cy="0"/>
          </a:xfrm>
          <a:prstGeom prst="straightConnector1">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grpSp>
        <p:nvGrpSpPr>
          <p:cNvPr id="241" name="グループ化 240">
            <a:extLst>
              <a:ext uri="{FF2B5EF4-FFF2-40B4-BE49-F238E27FC236}">
                <a16:creationId xmlns:a16="http://schemas.microsoft.com/office/drawing/2014/main" id="{795F3E01-6E3B-81FA-A805-57EE5F31B168}"/>
              </a:ext>
            </a:extLst>
          </p:cNvPr>
          <p:cNvGrpSpPr/>
          <p:nvPr/>
        </p:nvGrpSpPr>
        <p:grpSpPr>
          <a:xfrm>
            <a:off x="2051276" y="6087076"/>
            <a:ext cx="924337" cy="403333"/>
            <a:chOff x="2262291" y="5685876"/>
            <a:chExt cx="924337" cy="403333"/>
          </a:xfrm>
        </p:grpSpPr>
        <p:pic>
          <p:nvPicPr>
            <p:cNvPr id="286" name="図 285" descr="アイコン&#10;&#10;AI によって生成されたコンテンツは間違っている可能性があります。">
              <a:extLst>
                <a:ext uri="{FF2B5EF4-FFF2-40B4-BE49-F238E27FC236}">
                  <a16:creationId xmlns:a16="http://schemas.microsoft.com/office/drawing/2014/main" id="{AA877027-43EC-00A7-61E0-170277565911}"/>
                </a:ext>
              </a:extLst>
            </p:cNvPr>
            <p:cNvPicPr>
              <a:picLocks noChangeAspect="1"/>
            </p:cNvPicPr>
            <p:nvPr/>
          </p:nvPicPr>
          <p:blipFill>
            <a:blip r:embed="rId13">
              <a:extLst>
                <a:ext uri="{28A0092B-C50C-407E-A947-70E740481C1C}">
                  <a14:useLocalDpi xmlns:a14="http://schemas.microsoft.com/office/drawing/2010/main" val="0"/>
                </a:ext>
              </a:extLst>
            </a:blip>
            <a:srcRect l="10553" t="5709" r="9769" b="4466"/>
            <a:stretch/>
          </p:blipFill>
          <p:spPr>
            <a:xfrm>
              <a:off x="2262291" y="5685876"/>
              <a:ext cx="357774" cy="403333"/>
            </a:xfrm>
            <a:prstGeom prst="rect">
              <a:avLst/>
            </a:prstGeom>
          </p:spPr>
        </p:pic>
        <p:sp>
          <p:nvSpPr>
            <p:cNvPr id="287" name="テキスト ボックス 286">
              <a:extLst>
                <a:ext uri="{FF2B5EF4-FFF2-40B4-BE49-F238E27FC236}">
                  <a16:creationId xmlns:a16="http://schemas.microsoft.com/office/drawing/2014/main" id="{F40D8FB5-0AE9-0588-DECB-D0641330DD00}"/>
                </a:ext>
              </a:extLst>
            </p:cNvPr>
            <p:cNvSpPr txBox="1"/>
            <p:nvPr/>
          </p:nvSpPr>
          <p:spPr>
            <a:xfrm>
              <a:off x="2557071" y="5749042"/>
              <a:ext cx="629557" cy="276999"/>
            </a:xfrm>
            <a:prstGeom prst="rect">
              <a:avLst/>
            </a:prstGeom>
            <a:noFill/>
          </p:spPr>
          <p:txBody>
            <a:bodyPr wrap="square">
              <a:spAutoFit/>
            </a:bodyPr>
            <a:lstStyle/>
            <a:p>
              <a:r>
                <a:rPr lang="en-US" altLang="ja-JP" sz="1200" dirty="0"/>
                <a:t>:3000</a:t>
              </a:r>
              <a:endParaRPr lang="ja-JP" altLang="en-US" sz="1200" dirty="0"/>
            </a:p>
          </p:txBody>
        </p:sp>
      </p:grpSp>
      <p:grpSp>
        <p:nvGrpSpPr>
          <p:cNvPr id="242" name="グループ化 241">
            <a:extLst>
              <a:ext uri="{FF2B5EF4-FFF2-40B4-BE49-F238E27FC236}">
                <a16:creationId xmlns:a16="http://schemas.microsoft.com/office/drawing/2014/main" id="{EFE80B18-159B-7E5F-4B1F-40CA644006FA}"/>
              </a:ext>
            </a:extLst>
          </p:cNvPr>
          <p:cNvGrpSpPr/>
          <p:nvPr/>
        </p:nvGrpSpPr>
        <p:grpSpPr>
          <a:xfrm>
            <a:off x="2043915" y="5648135"/>
            <a:ext cx="931698" cy="372497"/>
            <a:chOff x="2254930" y="5246935"/>
            <a:chExt cx="931698" cy="372497"/>
          </a:xfrm>
        </p:grpSpPr>
        <p:pic>
          <p:nvPicPr>
            <p:cNvPr id="284" name="グラフィックス 283">
              <a:extLst>
                <a:ext uri="{FF2B5EF4-FFF2-40B4-BE49-F238E27FC236}">
                  <a16:creationId xmlns:a16="http://schemas.microsoft.com/office/drawing/2014/main" id="{755B829E-E3B1-A7AA-3B90-E8FDE35B42AF}"/>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2254930" y="5246935"/>
              <a:ext cx="372497" cy="372497"/>
            </a:xfrm>
            <a:prstGeom prst="rect">
              <a:avLst/>
            </a:prstGeom>
          </p:spPr>
        </p:pic>
        <p:sp>
          <p:nvSpPr>
            <p:cNvPr id="285" name="テキスト ボックス 284">
              <a:extLst>
                <a:ext uri="{FF2B5EF4-FFF2-40B4-BE49-F238E27FC236}">
                  <a16:creationId xmlns:a16="http://schemas.microsoft.com/office/drawing/2014/main" id="{BB033714-B7B7-4FA3-597B-0D3D923EE013}"/>
                </a:ext>
              </a:extLst>
            </p:cNvPr>
            <p:cNvSpPr txBox="1"/>
            <p:nvPr/>
          </p:nvSpPr>
          <p:spPr>
            <a:xfrm>
              <a:off x="2557071" y="5306333"/>
              <a:ext cx="629557" cy="276999"/>
            </a:xfrm>
            <a:prstGeom prst="rect">
              <a:avLst/>
            </a:prstGeom>
            <a:noFill/>
          </p:spPr>
          <p:txBody>
            <a:bodyPr wrap="square">
              <a:spAutoFit/>
            </a:bodyPr>
            <a:lstStyle/>
            <a:p>
              <a:r>
                <a:rPr lang="en-US" altLang="ja-JP" sz="1200" dirty="0"/>
                <a:t>:8000</a:t>
              </a:r>
              <a:endParaRPr lang="ja-JP" altLang="en-US" sz="1200" dirty="0"/>
            </a:p>
          </p:txBody>
        </p:sp>
      </p:grpSp>
      <p:grpSp>
        <p:nvGrpSpPr>
          <p:cNvPr id="243" name="グループ化 242">
            <a:extLst>
              <a:ext uri="{FF2B5EF4-FFF2-40B4-BE49-F238E27FC236}">
                <a16:creationId xmlns:a16="http://schemas.microsoft.com/office/drawing/2014/main" id="{936C80E0-1EC0-EE3D-97D4-FA87AA64C20D}"/>
              </a:ext>
            </a:extLst>
          </p:cNvPr>
          <p:cNvGrpSpPr/>
          <p:nvPr/>
        </p:nvGrpSpPr>
        <p:grpSpPr>
          <a:xfrm>
            <a:off x="5655352" y="5692118"/>
            <a:ext cx="1211032" cy="802921"/>
            <a:chOff x="3129557" y="4452843"/>
            <a:chExt cx="1211032" cy="802921"/>
          </a:xfrm>
        </p:grpSpPr>
        <p:pic>
          <p:nvPicPr>
            <p:cNvPr id="282" name="Graphic 19" descr="Amazon EventBridge service icon.">
              <a:extLst>
                <a:ext uri="{FF2B5EF4-FFF2-40B4-BE49-F238E27FC236}">
                  <a16:creationId xmlns:a16="http://schemas.microsoft.com/office/drawing/2014/main" id="{6702A09A-992F-E600-28C8-59E471085821}"/>
                </a:ext>
              </a:extLst>
            </p:cNvPr>
            <p:cNvPicPr>
              <a:picLocks noChangeAspect="1" noChangeArrowheads="1"/>
            </p:cNvPicPr>
            <p:nvPr/>
          </p:nvPicPr>
          <p:blipFill>
            <a:blip r:embed="rId16">
              <a:extLst>
                <a:ext uri="{96DAC541-7B7A-43D3-8B79-37D633B846F1}">
                  <asvg:svgBlip xmlns:asvg="http://schemas.microsoft.com/office/drawing/2016/SVG/main" r:embed="rId17"/>
                </a:ext>
              </a:extLst>
            </a:blip>
            <a:srcRect/>
            <a:stretch/>
          </p:blipFill>
          <p:spPr bwMode="auto">
            <a:xfrm>
              <a:off x="3461744" y="4452843"/>
              <a:ext cx="538923" cy="538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3" name="TextBox 11">
              <a:extLst>
                <a:ext uri="{FF2B5EF4-FFF2-40B4-BE49-F238E27FC236}">
                  <a16:creationId xmlns:a16="http://schemas.microsoft.com/office/drawing/2014/main" id="{484DEA7D-141C-7E65-E424-DC6DB7637BCE}"/>
                </a:ext>
              </a:extLst>
            </p:cNvPr>
            <p:cNvSpPr txBox="1">
              <a:spLocks noChangeArrowheads="1"/>
            </p:cNvSpPr>
            <p:nvPr/>
          </p:nvSpPr>
          <p:spPr bwMode="auto">
            <a:xfrm>
              <a:off x="3129557" y="4978765"/>
              <a:ext cx="121103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err="1">
                  <a:latin typeface="Arial" panose="020B0604020202020204" pitchFamily="34" charset="0"/>
                  <a:ea typeface="Amazon Ember" panose="020B0603020204020204" pitchFamily="34" charset="0"/>
                  <a:cs typeface="Arial" panose="020B0604020202020204" pitchFamily="34" charset="0"/>
                </a:rPr>
                <a:t>EventBridge</a:t>
              </a:r>
              <a:endParaRPr lang="en-US" altLang="en-US" sz="1200" dirty="0">
                <a:latin typeface="Arial" panose="020B0604020202020204" pitchFamily="34" charset="0"/>
                <a:ea typeface="Amazon Ember" panose="020B0603020204020204" pitchFamily="34" charset="0"/>
                <a:cs typeface="Arial" panose="020B0604020202020204" pitchFamily="34" charset="0"/>
              </a:endParaRPr>
            </a:p>
          </p:txBody>
        </p:sp>
      </p:grpSp>
      <p:grpSp>
        <p:nvGrpSpPr>
          <p:cNvPr id="244" name="グループ化 243">
            <a:extLst>
              <a:ext uri="{FF2B5EF4-FFF2-40B4-BE49-F238E27FC236}">
                <a16:creationId xmlns:a16="http://schemas.microsoft.com/office/drawing/2014/main" id="{996869B7-A665-CED2-A457-D609FABF2C48}"/>
              </a:ext>
            </a:extLst>
          </p:cNvPr>
          <p:cNvGrpSpPr/>
          <p:nvPr/>
        </p:nvGrpSpPr>
        <p:grpSpPr>
          <a:xfrm>
            <a:off x="5550985" y="2647229"/>
            <a:ext cx="1410825" cy="998159"/>
            <a:chOff x="2368342" y="1184275"/>
            <a:chExt cx="2003841" cy="1417718"/>
          </a:xfrm>
        </p:grpSpPr>
        <p:pic>
          <p:nvPicPr>
            <p:cNvPr id="280" name="Graphic 7" descr="Amazon API Gateway service icon.">
              <a:extLst>
                <a:ext uri="{FF2B5EF4-FFF2-40B4-BE49-F238E27FC236}">
                  <a16:creationId xmlns:a16="http://schemas.microsoft.com/office/drawing/2014/main" id="{C15F3078-23B1-129C-41C5-67CF5A477B26}"/>
                </a:ext>
              </a:extLst>
            </p:cNvPr>
            <p:cNvPicPr>
              <a:picLocks noChangeAspect="1" noChangeArrowheads="1"/>
            </p:cNvPicPr>
            <p:nvPr/>
          </p:nvPicPr>
          <p:blipFill>
            <a:blip r:embed="rId4">
              <a:extLst>
                <a:ext uri="{96DAC541-7B7A-43D3-8B79-37D633B846F1}">
                  <asvg:svgBlip xmlns:asvg="http://schemas.microsoft.com/office/drawing/2016/SVG/main" r:embed="rId5"/>
                </a:ext>
              </a:extLst>
            </a:blip>
            <a:srcRect/>
            <a:stretch/>
          </p:blipFill>
          <p:spPr bwMode="auto">
            <a:xfrm>
              <a:off x="2989264" y="1184275"/>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1" name="TextBox 9">
              <a:extLst>
                <a:ext uri="{FF2B5EF4-FFF2-40B4-BE49-F238E27FC236}">
                  <a16:creationId xmlns:a16="http://schemas.microsoft.com/office/drawing/2014/main" id="{EB582D6E-8761-F0A3-E66F-177FACE4EE38}"/>
                </a:ext>
              </a:extLst>
            </p:cNvPr>
            <p:cNvSpPr txBox="1">
              <a:spLocks noChangeArrowheads="1"/>
            </p:cNvSpPr>
            <p:nvPr/>
          </p:nvSpPr>
          <p:spPr bwMode="auto">
            <a:xfrm>
              <a:off x="2368342" y="1946275"/>
              <a:ext cx="2003841" cy="655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API Gateway</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(WebSocket)</a:t>
              </a:r>
            </a:p>
          </p:txBody>
        </p:sp>
      </p:grpSp>
      <p:sp>
        <p:nvSpPr>
          <p:cNvPr id="277" name="TextBox 12">
            <a:extLst>
              <a:ext uri="{FF2B5EF4-FFF2-40B4-BE49-F238E27FC236}">
                <a16:creationId xmlns:a16="http://schemas.microsoft.com/office/drawing/2014/main" id="{75BCDFF7-C6A9-5411-AC34-D6DD1928BBB5}"/>
              </a:ext>
            </a:extLst>
          </p:cNvPr>
          <p:cNvSpPr txBox="1">
            <a:spLocks noChangeArrowheads="1"/>
          </p:cNvSpPr>
          <p:nvPr/>
        </p:nvSpPr>
        <p:spPr bwMode="auto">
          <a:xfrm>
            <a:off x="1707208" y="3178518"/>
            <a:ext cx="16050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Raspberry Pi 5</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(172.16.15.7)</a:t>
            </a:r>
          </a:p>
        </p:txBody>
      </p:sp>
      <p:sp>
        <p:nvSpPr>
          <p:cNvPr id="251" name="Rectangle 103" descr="Generic group dashed.">
            <a:extLst>
              <a:ext uri="{FF2B5EF4-FFF2-40B4-BE49-F238E27FC236}">
                <a16:creationId xmlns:a16="http://schemas.microsoft.com/office/drawing/2014/main" id="{888E3C53-A534-3555-57F9-5338BFCB85E8}"/>
              </a:ext>
            </a:extLst>
          </p:cNvPr>
          <p:cNvSpPr/>
          <p:nvPr/>
        </p:nvSpPr>
        <p:spPr>
          <a:xfrm>
            <a:off x="4457026" y="4158038"/>
            <a:ext cx="3541821" cy="1348227"/>
          </a:xfrm>
          <a:prstGeom prst="rect">
            <a:avLst/>
          </a:prstGeom>
          <a:noFill/>
          <a:ln w="15875">
            <a:solidFill>
              <a:srgbClr val="7D8998"/>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eaLnBrk="1" fontAlgn="auto" hangingPunct="1">
              <a:spcBef>
                <a:spcPts val="0"/>
              </a:spcBef>
              <a:spcAft>
                <a:spcPts val="0"/>
              </a:spcAft>
              <a:defRPr/>
            </a:pPr>
            <a:endParaRPr lang="en-US" sz="1200" dirty="0">
              <a:solidFill>
                <a:schemeClr val="tx1"/>
              </a:solidFill>
              <a:latin typeface="Arial" panose="020B0604020202020204" pitchFamily="34" charset="0"/>
              <a:cs typeface="Arial" panose="020B0604020202020204" pitchFamily="34" charset="0"/>
            </a:endParaRPr>
          </a:p>
        </p:txBody>
      </p:sp>
      <p:grpSp>
        <p:nvGrpSpPr>
          <p:cNvPr id="253" name="グループ化 252">
            <a:extLst>
              <a:ext uri="{FF2B5EF4-FFF2-40B4-BE49-F238E27FC236}">
                <a16:creationId xmlns:a16="http://schemas.microsoft.com/office/drawing/2014/main" id="{CCE10F53-6CEF-CB13-571B-4AB197365E84}"/>
              </a:ext>
            </a:extLst>
          </p:cNvPr>
          <p:cNvGrpSpPr/>
          <p:nvPr/>
        </p:nvGrpSpPr>
        <p:grpSpPr>
          <a:xfrm>
            <a:off x="4717633" y="2645272"/>
            <a:ext cx="730725" cy="813493"/>
            <a:chOff x="3005693" y="1391828"/>
            <a:chExt cx="730725" cy="813493"/>
          </a:xfrm>
        </p:grpSpPr>
        <p:pic>
          <p:nvPicPr>
            <p:cNvPr id="274" name="Graphic 10" descr="AWS Amplify service icon.">
              <a:extLst>
                <a:ext uri="{FF2B5EF4-FFF2-40B4-BE49-F238E27FC236}">
                  <a16:creationId xmlns:a16="http://schemas.microsoft.com/office/drawing/2014/main" id="{6BE3B22A-CF5E-D67B-DB01-D3BE9CDE56C8}"/>
                </a:ext>
              </a:extLst>
            </p:cNvPr>
            <p:cNvPicPr>
              <a:picLocks noChangeAspect="1" noChangeArrowheads="1"/>
            </p:cNvPicPr>
            <p:nvPr/>
          </p:nvPicPr>
          <p:blipFill>
            <a:blip r:embed="rId18">
              <a:extLst>
                <a:ext uri="{96DAC541-7B7A-43D3-8B79-37D633B846F1}">
                  <asvg:svgBlip xmlns:asvg="http://schemas.microsoft.com/office/drawing/2016/SVG/main" r:embed="rId19"/>
                </a:ext>
              </a:extLst>
            </a:blip>
            <a:srcRect/>
            <a:stretch/>
          </p:blipFill>
          <p:spPr bwMode="auto">
            <a:xfrm>
              <a:off x="3102809" y="1391828"/>
              <a:ext cx="536494" cy="536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5" name="TextBox 6">
              <a:extLst>
                <a:ext uri="{FF2B5EF4-FFF2-40B4-BE49-F238E27FC236}">
                  <a16:creationId xmlns:a16="http://schemas.microsoft.com/office/drawing/2014/main" id="{2FE39B42-36C1-07AF-010B-EEE7BC3D63F8}"/>
                </a:ext>
              </a:extLst>
            </p:cNvPr>
            <p:cNvSpPr txBox="1">
              <a:spLocks noChangeArrowheads="1"/>
            </p:cNvSpPr>
            <p:nvPr/>
          </p:nvSpPr>
          <p:spPr bwMode="auto">
            <a:xfrm>
              <a:off x="3005693" y="1928322"/>
              <a:ext cx="7307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Amplify</a:t>
              </a:r>
            </a:p>
          </p:txBody>
        </p:sp>
      </p:grpSp>
      <p:grpSp>
        <p:nvGrpSpPr>
          <p:cNvPr id="261" name="グループ化 260">
            <a:extLst>
              <a:ext uri="{FF2B5EF4-FFF2-40B4-BE49-F238E27FC236}">
                <a16:creationId xmlns:a16="http://schemas.microsoft.com/office/drawing/2014/main" id="{69A3566F-27D8-CA29-BDA9-BF61F49AA4E6}"/>
              </a:ext>
            </a:extLst>
          </p:cNvPr>
          <p:cNvGrpSpPr/>
          <p:nvPr/>
        </p:nvGrpSpPr>
        <p:grpSpPr>
          <a:xfrm>
            <a:off x="3645809" y="5683375"/>
            <a:ext cx="1020292" cy="992557"/>
            <a:chOff x="3864463" y="3839626"/>
            <a:chExt cx="1020292" cy="992557"/>
          </a:xfrm>
        </p:grpSpPr>
        <p:pic>
          <p:nvPicPr>
            <p:cNvPr id="272" name="Graphic 17" descr="Amazon Cognito service icon.">
              <a:extLst>
                <a:ext uri="{FF2B5EF4-FFF2-40B4-BE49-F238E27FC236}">
                  <a16:creationId xmlns:a16="http://schemas.microsoft.com/office/drawing/2014/main" id="{7D19864A-3C36-E535-C405-CD0BEE88F160}"/>
                </a:ext>
              </a:extLst>
            </p:cNvPr>
            <p:cNvPicPr>
              <a:picLocks noChangeAspect="1" noChangeArrowheads="1"/>
            </p:cNvPicPr>
            <p:nvPr/>
          </p:nvPicPr>
          <p:blipFill>
            <a:blip r:embed="rId20">
              <a:extLst>
                <a:ext uri="{96DAC541-7B7A-43D3-8B79-37D633B846F1}">
                  <asvg:svgBlip xmlns:asvg="http://schemas.microsoft.com/office/drawing/2016/SVG/main" r:embed="rId21"/>
                </a:ext>
              </a:extLst>
            </a:blip>
            <a:srcRect/>
            <a:stretch/>
          </p:blipFill>
          <p:spPr bwMode="auto">
            <a:xfrm>
              <a:off x="4106362" y="3839626"/>
              <a:ext cx="536494" cy="536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3" name="TextBox 11">
              <a:extLst>
                <a:ext uri="{FF2B5EF4-FFF2-40B4-BE49-F238E27FC236}">
                  <a16:creationId xmlns:a16="http://schemas.microsoft.com/office/drawing/2014/main" id="{AD8AEBB2-F6EE-9E45-30B6-0C2D92E0F588}"/>
                </a:ext>
              </a:extLst>
            </p:cNvPr>
            <p:cNvSpPr txBox="1">
              <a:spLocks noChangeArrowheads="1"/>
            </p:cNvSpPr>
            <p:nvPr/>
          </p:nvSpPr>
          <p:spPr bwMode="auto">
            <a:xfrm>
              <a:off x="3864463" y="4370518"/>
              <a:ext cx="102029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Cognito</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(ID Pool)</a:t>
              </a:r>
            </a:p>
          </p:txBody>
        </p:sp>
      </p:grpSp>
      <p:cxnSp>
        <p:nvCxnSpPr>
          <p:cNvPr id="263" name="Elbow Connector 22" descr="Elbow horizontal arrow pointing right (1).">
            <a:extLst>
              <a:ext uri="{FF2B5EF4-FFF2-40B4-BE49-F238E27FC236}">
                <a16:creationId xmlns:a16="http://schemas.microsoft.com/office/drawing/2014/main" id="{05E842CD-C8D5-AD7B-A69F-90F4B9F4499F}"/>
              </a:ext>
            </a:extLst>
          </p:cNvPr>
          <p:cNvCxnSpPr>
            <a:cxnSpLocks/>
            <a:stCxn id="272" idx="0"/>
          </p:cNvCxnSpPr>
          <p:nvPr/>
        </p:nvCxnSpPr>
        <p:spPr>
          <a:xfrm rot="16200000" flipV="1">
            <a:off x="3030452" y="4557872"/>
            <a:ext cx="866319" cy="1384688"/>
          </a:xfrm>
          <a:prstGeom prst="bentConnector2">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pic>
        <p:nvPicPr>
          <p:cNvPr id="264" name="Graphic 86" descr="Temporary security credential resource icon for the IAM service.">
            <a:extLst>
              <a:ext uri="{FF2B5EF4-FFF2-40B4-BE49-F238E27FC236}">
                <a16:creationId xmlns:a16="http://schemas.microsoft.com/office/drawing/2014/main" id="{5C1BB1CA-DE10-AD8D-71ED-CAB86A6C8042}"/>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3663828" y="5053261"/>
            <a:ext cx="416212" cy="416212"/>
          </a:xfrm>
          <a:prstGeom prst="rect">
            <a:avLst/>
          </a:prstGeom>
        </p:spPr>
      </p:pic>
      <p:grpSp>
        <p:nvGrpSpPr>
          <p:cNvPr id="265" name="グループ化 264">
            <a:extLst>
              <a:ext uri="{FF2B5EF4-FFF2-40B4-BE49-F238E27FC236}">
                <a16:creationId xmlns:a16="http://schemas.microsoft.com/office/drawing/2014/main" id="{7BE53A38-77B8-71FC-A17D-BB4B3E622087}"/>
              </a:ext>
            </a:extLst>
          </p:cNvPr>
          <p:cNvGrpSpPr/>
          <p:nvPr/>
        </p:nvGrpSpPr>
        <p:grpSpPr>
          <a:xfrm>
            <a:off x="5746251" y="1644835"/>
            <a:ext cx="1020292" cy="992557"/>
            <a:chOff x="3864463" y="3839626"/>
            <a:chExt cx="1020292" cy="992557"/>
          </a:xfrm>
        </p:grpSpPr>
        <p:pic>
          <p:nvPicPr>
            <p:cNvPr id="270" name="Graphic 17" descr="Amazon Cognito service icon.">
              <a:extLst>
                <a:ext uri="{FF2B5EF4-FFF2-40B4-BE49-F238E27FC236}">
                  <a16:creationId xmlns:a16="http://schemas.microsoft.com/office/drawing/2014/main" id="{DDF7E258-8FE4-C87A-B545-8A1E5767D2C6}"/>
                </a:ext>
              </a:extLst>
            </p:cNvPr>
            <p:cNvPicPr>
              <a:picLocks noChangeAspect="1" noChangeArrowheads="1"/>
            </p:cNvPicPr>
            <p:nvPr/>
          </p:nvPicPr>
          <p:blipFill>
            <a:blip r:embed="rId20">
              <a:extLst>
                <a:ext uri="{96DAC541-7B7A-43D3-8B79-37D633B846F1}">
                  <asvg:svgBlip xmlns:asvg="http://schemas.microsoft.com/office/drawing/2016/SVG/main" r:embed="rId21"/>
                </a:ext>
              </a:extLst>
            </a:blip>
            <a:srcRect/>
            <a:stretch/>
          </p:blipFill>
          <p:spPr bwMode="auto">
            <a:xfrm>
              <a:off x="4106362" y="3839626"/>
              <a:ext cx="536494" cy="536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1" name="TextBox 11">
              <a:extLst>
                <a:ext uri="{FF2B5EF4-FFF2-40B4-BE49-F238E27FC236}">
                  <a16:creationId xmlns:a16="http://schemas.microsoft.com/office/drawing/2014/main" id="{3DD4C2CE-BAB9-3B58-79D7-70FAC779C1D2}"/>
                </a:ext>
              </a:extLst>
            </p:cNvPr>
            <p:cNvSpPr txBox="1">
              <a:spLocks noChangeArrowheads="1"/>
            </p:cNvSpPr>
            <p:nvPr/>
          </p:nvSpPr>
          <p:spPr bwMode="auto">
            <a:xfrm>
              <a:off x="3864463" y="4370518"/>
              <a:ext cx="102029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Cognito (User Pool)</a:t>
              </a:r>
            </a:p>
          </p:txBody>
        </p:sp>
      </p:grpSp>
      <p:grpSp>
        <p:nvGrpSpPr>
          <p:cNvPr id="267" name="Group 1" descr="AWS Cloud group with AWS logo.">
            <a:extLst>
              <a:ext uri="{FF2B5EF4-FFF2-40B4-BE49-F238E27FC236}">
                <a16:creationId xmlns:a16="http://schemas.microsoft.com/office/drawing/2014/main" id="{0B1935E3-B4EB-3A40-0B95-AB29538B3CED}"/>
              </a:ext>
            </a:extLst>
          </p:cNvPr>
          <p:cNvGrpSpPr/>
          <p:nvPr/>
        </p:nvGrpSpPr>
        <p:grpSpPr>
          <a:xfrm>
            <a:off x="3528572" y="926869"/>
            <a:ext cx="4825253" cy="5828334"/>
            <a:chOff x="355598" y="689579"/>
            <a:chExt cx="4825253" cy="3747374"/>
          </a:xfrm>
        </p:grpSpPr>
        <p:sp>
          <p:nvSpPr>
            <p:cNvPr id="268" name="Rectangle 54">
              <a:extLst>
                <a:ext uri="{FF2B5EF4-FFF2-40B4-BE49-F238E27FC236}">
                  <a16:creationId xmlns:a16="http://schemas.microsoft.com/office/drawing/2014/main" id="{3D523147-681A-7351-9C7E-7168CB446BAD}"/>
                </a:ext>
              </a:extLst>
            </p:cNvPr>
            <p:cNvSpPr/>
            <p:nvPr/>
          </p:nvSpPr>
          <p:spPr>
            <a:xfrm>
              <a:off x="355599" y="689579"/>
              <a:ext cx="4825252" cy="3747374"/>
            </a:xfrm>
            <a:prstGeom prst="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r>
                <a:rPr lang="en-US" sz="1200" dirty="0">
                  <a:solidFill>
                    <a:schemeClr val="tx1"/>
                  </a:solidFill>
                  <a:latin typeface="Arial" panose="020B0604020202020204" pitchFamily="34" charset="0"/>
                  <a:cs typeface="Arial" panose="020B0604020202020204" pitchFamily="34" charset="0"/>
                </a:rPr>
                <a:t>AWS Cloud</a:t>
              </a:r>
            </a:p>
          </p:txBody>
        </p:sp>
        <p:pic>
          <p:nvPicPr>
            <p:cNvPr id="269" name="Graphic 55" descr="AWS Cloud group icon with AWS logo.">
              <a:extLst>
                <a:ext uri="{FF2B5EF4-FFF2-40B4-BE49-F238E27FC236}">
                  <a16:creationId xmlns:a16="http://schemas.microsoft.com/office/drawing/2014/main" id="{712DEE8D-3CDC-8B53-A729-00E288B3C68B}"/>
                </a:ext>
              </a:extLst>
            </p:cNvPr>
            <p:cNvPicPr>
              <a:picLocks noChangeAspect="1"/>
            </p:cNvPicPr>
            <p:nvPr/>
          </p:nvPicPr>
          <p:blipFill>
            <a:blip r:embed="rId24">
              <a:extLst>
                <a:ext uri="{96DAC541-7B7A-43D3-8B79-37D633B846F1}">
                  <asvg:svgBlip xmlns:asvg="http://schemas.microsoft.com/office/drawing/2016/SVG/main" r:embed="rId25"/>
                </a:ext>
              </a:extLst>
            </a:blip>
            <a:srcRect/>
            <a:stretch/>
          </p:blipFill>
          <p:spPr>
            <a:xfrm>
              <a:off x="355598" y="695923"/>
              <a:ext cx="419750" cy="287318"/>
            </a:xfrm>
            <a:prstGeom prst="rect">
              <a:avLst/>
            </a:prstGeom>
          </p:spPr>
        </p:pic>
      </p:grpSp>
      <p:sp>
        <p:nvSpPr>
          <p:cNvPr id="228" name="Rectangle 103" descr="Generic group dashed.">
            <a:extLst>
              <a:ext uri="{FF2B5EF4-FFF2-40B4-BE49-F238E27FC236}">
                <a16:creationId xmlns:a16="http://schemas.microsoft.com/office/drawing/2014/main" id="{A8EC53A5-EA45-2BB1-2CEE-080460CCB79E}"/>
              </a:ext>
            </a:extLst>
          </p:cNvPr>
          <p:cNvSpPr/>
          <p:nvPr/>
        </p:nvSpPr>
        <p:spPr>
          <a:xfrm>
            <a:off x="690522" y="2075537"/>
            <a:ext cx="2621698" cy="1720079"/>
          </a:xfrm>
          <a:prstGeom prst="rect">
            <a:avLst/>
          </a:prstGeom>
          <a:noFill/>
          <a:ln w="15875">
            <a:solidFill>
              <a:srgbClr val="7D8998"/>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a:defRPr/>
            </a:pPr>
            <a:r>
              <a:rPr lang="ja-JP" altLang="en-US" sz="1200" dirty="0">
                <a:solidFill>
                  <a:schemeClr val="tx1"/>
                </a:solidFill>
                <a:latin typeface="Arial" panose="020B0604020202020204" pitchFamily="34" charset="0"/>
                <a:cs typeface="Arial" panose="020B0604020202020204" pitchFamily="34" charset="0"/>
              </a:rPr>
              <a:t>教員部屋（</a:t>
            </a:r>
            <a:r>
              <a:rPr lang="en-US" altLang="ja-JP" sz="1200" dirty="0">
                <a:solidFill>
                  <a:schemeClr val="tx1"/>
                </a:solidFill>
                <a:latin typeface="Arial" panose="020B0604020202020204" pitchFamily="34" charset="0"/>
                <a:cs typeface="Arial" panose="020B0604020202020204" pitchFamily="34" charset="0"/>
              </a:rPr>
              <a:t>J1404</a:t>
            </a:r>
            <a:r>
              <a:rPr lang="ja-JP" altLang="en-US" sz="1200" dirty="0">
                <a:solidFill>
                  <a:schemeClr val="tx1"/>
                </a:solidFill>
                <a:latin typeface="Arial" panose="020B0604020202020204" pitchFamily="34" charset="0"/>
                <a:cs typeface="Arial" panose="020B0604020202020204" pitchFamily="34" charset="0"/>
              </a:rPr>
              <a:t>）</a:t>
            </a:r>
            <a:endParaRPr lang="en-US" sz="1200" dirty="0">
              <a:solidFill>
                <a:schemeClr val="tx1"/>
              </a:solidFill>
              <a:latin typeface="Arial" panose="020B0604020202020204" pitchFamily="34" charset="0"/>
              <a:cs typeface="Arial" panose="020B0604020202020204" pitchFamily="34" charset="0"/>
            </a:endParaRPr>
          </a:p>
        </p:txBody>
      </p:sp>
      <p:pic>
        <p:nvPicPr>
          <p:cNvPr id="302" name="グラフィックス 301">
            <a:extLst>
              <a:ext uri="{FF2B5EF4-FFF2-40B4-BE49-F238E27FC236}">
                <a16:creationId xmlns:a16="http://schemas.microsoft.com/office/drawing/2014/main" id="{2A502A23-B749-CC85-2B61-E052D724EFBF}"/>
              </a:ext>
            </a:extLst>
          </p:cNvPr>
          <p:cNvPicPr>
            <a:picLocks noChangeAspect="1"/>
          </p:cNvPicPr>
          <p:nvPr/>
        </p:nvPicPr>
        <p:blipFill>
          <a:blip r:embed="rId26">
            <a:grayscl/>
            <a:extLst>
              <a:ext uri="{96DAC541-7B7A-43D3-8B79-37D633B846F1}">
                <asvg:svgBlip xmlns:asvg="http://schemas.microsoft.com/office/drawing/2016/SVG/main" r:embed="rId27"/>
              </a:ext>
            </a:extLst>
          </a:blip>
          <a:srcRect l="25148" t="16203" r="25948" b="16205"/>
          <a:stretch/>
        </p:blipFill>
        <p:spPr>
          <a:xfrm>
            <a:off x="1029996" y="2508789"/>
            <a:ext cx="580096" cy="801769"/>
          </a:xfrm>
          <a:prstGeom prst="rect">
            <a:avLst/>
          </a:prstGeom>
        </p:spPr>
      </p:pic>
      <p:cxnSp>
        <p:nvCxnSpPr>
          <p:cNvPr id="303" name="Straight Arrow Connector 100">
            <a:extLst>
              <a:ext uri="{FF2B5EF4-FFF2-40B4-BE49-F238E27FC236}">
                <a16:creationId xmlns:a16="http://schemas.microsoft.com/office/drawing/2014/main" id="{DA25C76F-F8E5-99BD-5E84-B5FF7418BAF8}"/>
              </a:ext>
            </a:extLst>
          </p:cNvPr>
          <p:cNvCxnSpPr>
            <a:cxnSpLocks/>
            <a:stCxn id="302" idx="3"/>
          </p:cNvCxnSpPr>
          <p:nvPr/>
        </p:nvCxnSpPr>
        <p:spPr>
          <a:xfrm>
            <a:off x="1610092" y="2909674"/>
            <a:ext cx="631375" cy="597"/>
          </a:xfrm>
          <a:prstGeom prst="straightConnector1">
            <a:avLst/>
          </a:prstGeom>
          <a:ln w="19050">
            <a:solidFill>
              <a:schemeClr val="tx1"/>
            </a:solidFill>
            <a:headEnd type="none" w="med" len="sm"/>
            <a:tailEnd type="none" w="med" len="sm"/>
          </a:ln>
        </p:spPr>
        <p:style>
          <a:lnRef idx="1">
            <a:schemeClr val="accent1"/>
          </a:lnRef>
          <a:fillRef idx="0">
            <a:schemeClr val="accent1"/>
          </a:fillRef>
          <a:effectRef idx="0">
            <a:schemeClr val="accent1"/>
          </a:effectRef>
          <a:fontRef idx="minor">
            <a:schemeClr val="tx1"/>
          </a:fontRef>
        </p:style>
      </p:cxnSp>
      <p:sp>
        <p:nvSpPr>
          <p:cNvPr id="306" name="Rectangle 103" descr="Generic group dashed.">
            <a:extLst>
              <a:ext uri="{FF2B5EF4-FFF2-40B4-BE49-F238E27FC236}">
                <a16:creationId xmlns:a16="http://schemas.microsoft.com/office/drawing/2014/main" id="{CBF2163F-2987-1A9A-F3F9-CFAF9285D180}"/>
              </a:ext>
            </a:extLst>
          </p:cNvPr>
          <p:cNvSpPr/>
          <p:nvPr/>
        </p:nvSpPr>
        <p:spPr>
          <a:xfrm>
            <a:off x="690522" y="3933107"/>
            <a:ext cx="2615365" cy="2822096"/>
          </a:xfrm>
          <a:prstGeom prst="rect">
            <a:avLst/>
          </a:prstGeom>
          <a:noFill/>
          <a:ln w="15875">
            <a:solidFill>
              <a:srgbClr val="7D8998"/>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a:defRPr/>
            </a:pPr>
            <a:r>
              <a:rPr lang="ja-JP" altLang="en-US" sz="1200" dirty="0">
                <a:solidFill>
                  <a:schemeClr val="tx1"/>
                </a:solidFill>
                <a:latin typeface="Arial" panose="020B0604020202020204" pitchFamily="34" charset="0"/>
                <a:cs typeface="Arial" panose="020B0604020202020204" pitchFamily="34" charset="0"/>
              </a:rPr>
              <a:t>学生部屋（</a:t>
            </a:r>
            <a:r>
              <a:rPr lang="en-US" altLang="ja-JP" sz="1200" dirty="0">
                <a:solidFill>
                  <a:schemeClr val="tx1"/>
                </a:solidFill>
                <a:latin typeface="Arial" panose="020B0604020202020204" pitchFamily="34" charset="0"/>
                <a:cs typeface="Arial" panose="020B0604020202020204" pitchFamily="34" charset="0"/>
              </a:rPr>
              <a:t>J1401</a:t>
            </a:r>
            <a:r>
              <a:rPr lang="ja-JP" altLang="en-US" sz="1200" dirty="0">
                <a:solidFill>
                  <a:schemeClr val="tx1"/>
                </a:solidFill>
                <a:latin typeface="Arial" panose="020B0604020202020204" pitchFamily="34" charset="0"/>
                <a:cs typeface="Arial" panose="020B0604020202020204" pitchFamily="34" charset="0"/>
              </a:rPr>
              <a:t>）</a:t>
            </a:r>
            <a:endParaRPr lang="en-US" sz="1200" dirty="0">
              <a:solidFill>
                <a:schemeClr val="tx1"/>
              </a:solidFill>
              <a:latin typeface="Arial" panose="020B0604020202020204" pitchFamily="34" charset="0"/>
              <a:cs typeface="Arial" panose="020B0604020202020204" pitchFamily="34" charset="0"/>
            </a:endParaRPr>
          </a:p>
        </p:txBody>
      </p:sp>
      <p:pic>
        <p:nvPicPr>
          <p:cNvPr id="307" name="グラフィックス 306">
            <a:extLst>
              <a:ext uri="{FF2B5EF4-FFF2-40B4-BE49-F238E27FC236}">
                <a16:creationId xmlns:a16="http://schemas.microsoft.com/office/drawing/2014/main" id="{B02D4FBD-AC05-1C75-819E-DD1603BF915B}"/>
              </a:ext>
            </a:extLst>
          </p:cNvPr>
          <p:cNvPicPr>
            <a:picLocks noChangeAspect="1"/>
          </p:cNvPicPr>
          <p:nvPr/>
        </p:nvPicPr>
        <p:blipFill>
          <a:blip r:embed="rId26">
            <a:grayscl/>
            <a:extLst>
              <a:ext uri="{96DAC541-7B7A-43D3-8B79-37D633B846F1}">
                <asvg:svgBlip xmlns:asvg="http://schemas.microsoft.com/office/drawing/2016/SVG/main" r:embed="rId27"/>
              </a:ext>
            </a:extLst>
          </a:blip>
          <a:srcRect l="25148" t="16203" r="25948" b="16205"/>
          <a:stretch/>
        </p:blipFill>
        <p:spPr>
          <a:xfrm rot="16200000">
            <a:off x="1042395" y="5874413"/>
            <a:ext cx="599552" cy="828660"/>
          </a:xfrm>
          <a:prstGeom prst="rect">
            <a:avLst/>
          </a:prstGeom>
        </p:spPr>
      </p:pic>
      <p:cxnSp>
        <p:nvCxnSpPr>
          <p:cNvPr id="329" name="Straight Arrow Connector 52" descr="Double pointing horizontal arrow.">
            <a:extLst>
              <a:ext uri="{FF2B5EF4-FFF2-40B4-BE49-F238E27FC236}">
                <a16:creationId xmlns:a16="http://schemas.microsoft.com/office/drawing/2014/main" id="{4A01C4B3-3B37-1DA1-6004-CDFFB50EE4C9}"/>
              </a:ext>
            </a:extLst>
          </p:cNvPr>
          <p:cNvCxnSpPr>
            <a:cxnSpLocks/>
            <a:stCxn id="290" idx="0"/>
            <a:endCxn id="297" idx="2"/>
          </p:cNvCxnSpPr>
          <p:nvPr/>
        </p:nvCxnSpPr>
        <p:spPr>
          <a:xfrm flipH="1" flipV="1">
            <a:off x="5081211" y="5380852"/>
            <a:ext cx="3010" cy="315777"/>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335" name="Straight Arrow Connector 52" descr="Double pointing horizontal arrow.">
            <a:extLst>
              <a:ext uri="{FF2B5EF4-FFF2-40B4-BE49-F238E27FC236}">
                <a16:creationId xmlns:a16="http://schemas.microsoft.com/office/drawing/2014/main" id="{A04937D5-20D7-5C7A-9F82-87E296FC01B5}"/>
              </a:ext>
            </a:extLst>
          </p:cNvPr>
          <p:cNvCxnSpPr>
            <a:cxnSpLocks/>
            <a:stCxn id="282" idx="0"/>
            <a:endCxn id="295" idx="2"/>
          </p:cNvCxnSpPr>
          <p:nvPr/>
        </p:nvCxnSpPr>
        <p:spPr>
          <a:xfrm flipV="1">
            <a:off x="6257001" y="5195318"/>
            <a:ext cx="3868" cy="496800"/>
          </a:xfrm>
          <a:prstGeom prst="straightConnector1">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341" name="Straight Arrow Connector 52" descr="Double pointing horizontal arrow.">
            <a:extLst>
              <a:ext uri="{FF2B5EF4-FFF2-40B4-BE49-F238E27FC236}">
                <a16:creationId xmlns:a16="http://schemas.microsoft.com/office/drawing/2014/main" id="{8A04FE7B-58A6-ABD4-A1E5-8C902F512E99}"/>
              </a:ext>
            </a:extLst>
          </p:cNvPr>
          <p:cNvCxnSpPr>
            <a:cxnSpLocks/>
            <a:stCxn id="274" idx="3"/>
            <a:endCxn id="280" idx="1"/>
          </p:cNvCxnSpPr>
          <p:nvPr/>
        </p:nvCxnSpPr>
        <p:spPr>
          <a:xfrm>
            <a:off x="5351243" y="2913519"/>
            <a:ext cx="636909" cy="1957"/>
          </a:xfrm>
          <a:prstGeom prst="straightConnector1">
            <a:avLst/>
          </a:prstGeom>
          <a:ln w="15875">
            <a:solidFill>
              <a:schemeClr val="tx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grpSp>
        <p:nvGrpSpPr>
          <p:cNvPr id="345" name="グループ化 344">
            <a:extLst>
              <a:ext uri="{FF2B5EF4-FFF2-40B4-BE49-F238E27FC236}">
                <a16:creationId xmlns:a16="http://schemas.microsoft.com/office/drawing/2014/main" id="{B2A2572C-DDC9-954B-82A0-6FA2432C370C}"/>
              </a:ext>
            </a:extLst>
          </p:cNvPr>
          <p:cNvGrpSpPr/>
          <p:nvPr/>
        </p:nvGrpSpPr>
        <p:grpSpPr>
          <a:xfrm>
            <a:off x="7023122" y="2645832"/>
            <a:ext cx="820861" cy="812933"/>
            <a:chOff x="5051089" y="1185069"/>
            <a:chExt cx="1165896" cy="1154637"/>
          </a:xfrm>
        </p:grpSpPr>
        <p:pic>
          <p:nvPicPr>
            <p:cNvPr id="346" name="Graphic 10" descr="AWS Lambda service icon.">
              <a:extLst>
                <a:ext uri="{FF2B5EF4-FFF2-40B4-BE49-F238E27FC236}">
                  <a16:creationId xmlns:a16="http://schemas.microsoft.com/office/drawing/2014/main" id="{467A57F6-5042-108F-CF29-731838509FF5}"/>
                </a:ext>
              </a:extLst>
            </p:cNvPr>
            <p:cNvPicPr>
              <a:picLocks noChangeAspect="1" noChangeArrowheads="1"/>
            </p:cNvPicPr>
            <p:nvPr/>
          </p:nvPicPr>
          <p:blipFill>
            <a:blip r:embed="rId6">
              <a:extLst>
                <a:ext uri="{96DAC541-7B7A-43D3-8B79-37D633B846F1}">
                  <asvg:svgBlip xmlns:asvg="http://schemas.microsoft.com/office/drawing/2016/SVG/main" r:embed="rId7"/>
                </a:ext>
              </a:extLst>
            </a:blip>
            <a:srcRect/>
            <a:stretch/>
          </p:blipFill>
          <p:spPr bwMode="auto">
            <a:xfrm>
              <a:off x="5246688" y="1185069"/>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7" name="TextBox 20">
              <a:extLst>
                <a:ext uri="{FF2B5EF4-FFF2-40B4-BE49-F238E27FC236}">
                  <a16:creationId xmlns:a16="http://schemas.microsoft.com/office/drawing/2014/main" id="{ACD9BF5A-13D2-3839-67EA-F8F87DBC0250}"/>
                </a:ext>
              </a:extLst>
            </p:cNvPr>
            <p:cNvSpPr txBox="1">
              <a:spLocks noChangeArrowheads="1"/>
            </p:cNvSpPr>
            <p:nvPr/>
          </p:nvSpPr>
          <p:spPr bwMode="auto">
            <a:xfrm>
              <a:off x="5051089" y="1946275"/>
              <a:ext cx="1165896" cy="393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Lambda</a:t>
              </a:r>
            </a:p>
          </p:txBody>
        </p:sp>
      </p:grpSp>
      <p:cxnSp>
        <p:nvCxnSpPr>
          <p:cNvPr id="348" name="Straight Arrow Connector 52" descr="Double pointing horizontal arrow.">
            <a:extLst>
              <a:ext uri="{FF2B5EF4-FFF2-40B4-BE49-F238E27FC236}">
                <a16:creationId xmlns:a16="http://schemas.microsoft.com/office/drawing/2014/main" id="{2AC7D129-5D7F-8D09-E683-65AA08F37605}"/>
              </a:ext>
            </a:extLst>
          </p:cNvPr>
          <p:cNvCxnSpPr>
            <a:cxnSpLocks/>
            <a:stCxn id="280" idx="3"/>
            <a:endCxn id="346" idx="1"/>
          </p:cNvCxnSpPr>
          <p:nvPr/>
        </p:nvCxnSpPr>
        <p:spPr>
          <a:xfrm flipV="1">
            <a:off x="6524646" y="2914079"/>
            <a:ext cx="636189" cy="1397"/>
          </a:xfrm>
          <a:prstGeom prst="straightConnector1">
            <a:avLst/>
          </a:prstGeom>
          <a:ln w="15875">
            <a:solidFill>
              <a:schemeClr val="tx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grpSp>
        <p:nvGrpSpPr>
          <p:cNvPr id="361" name="グループ化 360">
            <a:extLst>
              <a:ext uri="{FF2B5EF4-FFF2-40B4-BE49-F238E27FC236}">
                <a16:creationId xmlns:a16="http://schemas.microsoft.com/office/drawing/2014/main" id="{30D38170-BAF8-8D5F-C546-66826EE2053C}"/>
              </a:ext>
            </a:extLst>
          </p:cNvPr>
          <p:cNvGrpSpPr/>
          <p:nvPr/>
        </p:nvGrpSpPr>
        <p:grpSpPr>
          <a:xfrm>
            <a:off x="7397897" y="3458765"/>
            <a:ext cx="71896" cy="901612"/>
            <a:chOff x="6937330" y="3141097"/>
            <a:chExt cx="71896" cy="901612"/>
          </a:xfrm>
        </p:grpSpPr>
        <p:cxnSp>
          <p:nvCxnSpPr>
            <p:cNvPr id="354" name="Straight Arrow Connector 52" descr="Double pointing horizontal arrow.">
              <a:extLst>
                <a:ext uri="{FF2B5EF4-FFF2-40B4-BE49-F238E27FC236}">
                  <a16:creationId xmlns:a16="http://schemas.microsoft.com/office/drawing/2014/main" id="{00D789E3-C5BC-E546-BB5B-4CB98A672359}"/>
                </a:ext>
              </a:extLst>
            </p:cNvPr>
            <p:cNvCxnSpPr>
              <a:cxnSpLocks/>
              <a:stCxn id="360" idx="0"/>
              <a:endCxn id="347" idx="2"/>
            </p:cNvCxnSpPr>
            <p:nvPr/>
          </p:nvCxnSpPr>
          <p:spPr>
            <a:xfrm flipH="1" flipV="1">
              <a:off x="6972986" y="3141097"/>
              <a:ext cx="292" cy="829716"/>
            </a:xfrm>
            <a:prstGeom prst="straightConnector1">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sp>
          <p:nvSpPr>
            <p:cNvPr id="360" name="楕円 359">
              <a:extLst>
                <a:ext uri="{FF2B5EF4-FFF2-40B4-BE49-F238E27FC236}">
                  <a16:creationId xmlns:a16="http://schemas.microsoft.com/office/drawing/2014/main" id="{37BFA842-A665-F177-3862-F6C3FBB06E02}"/>
                </a:ext>
              </a:extLst>
            </p:cNvPr>
            <p:cNvSpPr/>
            <p:nvPr/>
          </p:nvSpPr>
          <p:spPr>
            <a:xfrm>
              <a:off x="6937330" y="3970813"/>
              <a:ext cx="71896" cy="71896"/>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62" name="TextBox 9">
            <a:extLst>
              <a:ext uri="{FF2B5EF4-FFF2-40B4-BE49-F238E27FC236}">
                <a16:creationId xmlns:a16="http://schemas.microsoft.com/office/drawing/2014/main" id="{C56EF876-40ED-C23C-184B-21B049C50287}"/>
              </a:ext>
            </a:extLst>
          </p:cNvPr>
          <p:cNvSpPr txBox="1">
            <a:spLocks noChangeArrowheads="1"/>
          </p:cNvSpPr>
          <p:nvPr/>
        </p:nvSpPr>
        <p:spPr bwMode="auto">
          <a:xfrm>
            <a:off x="7385849" y="3789686"/>
            <a:ext cx="76250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Stream</a:t>
            </a:r>
          </a:p>
        </p:txBody>
      </p:sp>
      <p:cxnSp>
        <p:nvCxnSpPr>
          <p:cNvPr id="369" name="Straight Arrow Connector 52" descr="Double pointing horizontal arrow.">
            <a:extLst>
              <a:ext uri="{FF2B5EF4-FFF2-40B4-BE49-F238E27FC236}">
                <a16:creationId xmlns:a16="http://schemas.microsoft.com/office/drawing/2014/main" id="{043B4E4B-7035-5A93-3B3F-5E32AB2546F1}"/>
              </a:ext>
            </a:extLst>
          </p:cNvPr>
          <p:cNvCxnSpPr>
            <a:cxnSpLocks/>
            <a:stCxn id="274" idx="1"/>
          </p:cNvCxnSpPr>
          <p:nvPr/>
        </p:nvCxnSpPr>
        <p:spPr>
          <a:xfrm flipH="1" flipV="1">
            <a:off x="2777961" y="2910271"/>
            <a:ext cx="2036788" cy="3248"/>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372" name="Straight Arrow Connector 52" descr="Double pointing horizontal arrow.">
            <a:extLst>
              <a:ext uri="{FF2B5EF4-FFF2-40B4-BE49-F238E27FC236}">
                <a16:creationId xmlns:a16="http://schemas.microsoft.com/office/drawing/2014/main" id="{30AD07D3-3CFA-9AB4-8F26-4969388CA657}"/>
              </a:ext>
            </a:extLst>
          </p:cNvPr>
          <p:cNvCxnSpPr>
            <a:cxnSpLocks/>
            <a:stCxn id="286" idx="1"/>
            <a:endCxn id="307" idx="2"/>
          </p:cNvCxnSpPr>
          <p:nvPr/>
        </p:nvCxnSpPr>
        <p:spPr>
          <a:xfrm flipH="1">
            <a:off x="1756501" y="6288743"/>
            <a:ext cx="294775" cy="0"/>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sp>
        <p:nvSpPr>
          <p:cNvPr id="380" name="Rectangle 103" descr="Generic group dashed.">
            <a:extLst>
              <a:ext uri="{FF2B5EF4-FFF2-40B4-BE49-F238E27FC236}">
                <a16:creationId xmlns:a16="http://schemas.microsoft.com/office/drawing/2014/main" id="{F59139D3-C2A7-12BC-8633-4FC879CA61BB}"/>
              </a:ext>
            </a:extLst>
          </p:cNvPr>
          <p:cNvSpPr/>
          <p:nvPr/>
        </p:nvSpPr>
        <p:spPr>
          <a:xfrm>
            <a:off x="4457026" y="1552760"/>
            <a:ext cx="3541821" cy="2158934"/>
          </a:xfrm>
          <a:prstGeom prst="rect">
            <a:avLst/>
          </a:prstGeom>
          <a:noFill/>
          <a:ln w="15875">
            <a:solidFill>
              <a:srgbClr val="7D8998"/>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eaLnBrk="1" fontAlgn="auto" hangingPunct="1">
              <a:spcBef>
                <a:spcPts val="0"/>
              </a:spcBef>
              <a:spcAft>
                <a:spcPts val="0"/>
              </a:spcAft>
              <a:defRPr/>
            </a:pPr>
            <a:endParaRPr lang="en-US" sz="1200" dirty="0">
              <a:solidFill>
                <a:schemeClr val="tx1"/>
              </a:solidFill>
              <a:latin typeface="Arial" panose="020B0604020202020204" pitchFamily="34" charset="0"/>
              <a:cs typeface="Arial" panose="020B0604020202020204" pitchFamily="34" charset="0"/>
            </a:endParaRPr>
          </a:p>
        </p:txBody>
      </p:sp>
      <p:sp>
        <p:nvSpPr>
          <p:cNvPr id="256" name="テキスト ボックス 255">
            <a:extLst>
              <a:ext uri="{FF2B5EF4-FFF2-40B4-BE49-F238E27FC236}">
                <a16:creationId xmlns:a16="http://schemas.microsoft.com/office/drawing/2014/main" id="{0EC7CB90-A635-A7B0-1070-063AA01CBEB3}"/>
              </a:ext>
            </a:extLst>
          </p:cNvPr>
          <p:cNvSpPr txBox="1"/>
          <p:nvPr/>
        </p:nvSpPr>
        <p:spPr>
          <a:xfrm>
            <a:off x="4355739" y="1260339"/>
            <a:ext cx="2390492" cy="276999"/>
          </a:xfrm>
          <a:prstGeom prst="rect">
            <a:avLst/>
          </a:prstGeom>
          <a:solidFill>
            <a:srgbClr val="EFECE3"/>
          </a:solidFill>
        </p:spPr>
        <p:txBody>
          <a:bodyPr wrap="square" rtlCol="0">
            <a:spAutoFit/>
          </a:bodyPr>
          <a:lstStyle/>
          <a:p>
            <a:r>
              <a:rPr lang="ja-JP" altLang="en-US" sz="1200" b="1" dirty="0">
                <a:latin typeface="BIZ UDゴシック" panose="020B0400000000000000" pitchFamily="49" charset="-128"/>
                <a:ea typeface="BIZ UDゴシック" panose="020B0400000000000000" pitchFamily="49" charset="-128"/>
              </a:rPr>
              <a:t>ユーザー・在室表示サービス</a:t>
            </a:r>
            <a:endParaRPr kumimoji="1" lang="ja-JP" altLang="en-US" sz="1200" b="1" dirty="0">
              <a:latin typeface="BIZ UDゴシック" panose="020B0400000000000000" pitchFamily="49" charset="-128"/>
              <a:ea typeface="BIZ UDゴシック" panose="020B0400000000000000" pitchFamily="49" charset="-128"/>
            </a:endParaRPr>
          </a:p>
        </p:txBody>
      </p:sp>
      <p:cxnSp>
        <p:nvCxnSpPr>
          <p:cNvPr id="388" name="Elbow Connector 22" descr="Elbow horizontal arrow pointing right (1).">
            <a:extLst>
              <a:ext uri="{FF2B5EF4-FFF2-40B4-BE49-F238E27FC236}">
                <a16:creationId xmlns:a16="http://schemas.microsoft.com/office/drawing/2014/main" id="{33ECD236-8284-0638-B814-61DA65B8E4FB}"/>
              </a:ext>
            </a:extLst>
          </p:cNvPr>
          <p:cNvCxnSpPr>
            <a:cxnSpLocks/>
            <a:stCxn id="270" idx="1"/>
            <a:endCxn id="274" idx="0"/>
          </p:cNvCxnSpPr>
          <p:nvPr/>
        </p:nvCxnSpPr>
        <p:spPr>
          <a:xfrm rot="10800000" flipV="1">
            <a:off x="5082996" y="1913082"/>
            <a:ext cx="905154" cy="732190"/>
          </a:xfrm>
          <a:prstGeom prst="bentConnector2">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391" name="Elbow Connector 22" descr="Elbow horizontal arrow pointing right (1).">
            <a:extLst>
              <a:ext uri="{FF2B5EF4-FFF2-40B4-BE49-F238E27FC236}">
                <a16:creationId xmlns:a16="http://schemas.microsoft.com/office/drawing/2014/main" id="{4689DC80-E1FB-EA6D-D445-9452E48EB9F8}"/>
              </a:ext>
            </a:extLst>
          </p:cNvPr>
          <p:cNvCxnSpPr>
            <a:cxnSpLocks/>
            <a:stCxn id="274" idx="0"/>
            <a:endCxn id="270" idx="1"/>
          </p:cNvCxnSpPr>
          <p:nvPr/>
        </p:nvCxnSpPr>
        <p:spPr>
          <a:xfrm rot="5400000" flipH="1" flipV="1">
            <a:off x="5169478" y="1826600"/>
            <a:ext cx="732190" cy="905154"/>
          </a:xfrm>
          <a:prstGeom prst="bentConnector2">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394" name="Elbow Connector 22" descr="Elbow horizontal arrow pointing right (1).">
            <a:extLst>
              <a:ext uri="{FF2B5EF4-FFF2-40B4-BE49-F238E27FC236}">
                <a16:creationId xmlns:a16="http://schemas.microsoft.com/office/drawing/2014/main" id="{3D46AE83-468F-86DC-1BE2-63E4321F32D5}"/>
              </a:ext>
            </a:extLst>
          </p:cNvPr>
          <p:cNvCxnSpPr>
            <a:cxnSpLocks/>
            <a:endCxn id="272" idx="0"/>
          </p:cNvCxnSpPr>
          <p:nvPr/>
        </p:nvCxnSpPr>
        <p:spPr>
          <a:xfrm>
            <a:off x="2781957" y="4817404"/>
            <a:ext cx="1373998" cy="865971"/>
          </a:xfrm>
          <a:prstGeom prst="bentConnector2">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pic>
        <p:nvPicPr>
          <p:cNvPr id="403" name="Picture 2" descr="Raspberry icon - Free download on Iconfinder">
            <a:extLst>
              <a:ext uri="{FF2B5EF4-FFF2-40B4-BE49-F238E27FC236}">
                <a16:creationId xmlns:a16="http://schemas.microsoft.com/office/drawing/2014/main" id="{6964DC45-85FB-B789-9C96-2DA23AE48A5F}"/>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2244769" y="4471085"/>
            <a:ext cx="544810" cy="544810"/>
          </a:xfrm>
          <a:prstGeom prst="rect">
            <a:avLst/>
          </a:prstGeom>
          <a:noFill/>
          <a:extLst>
            <a:ext uri="{909E8E84-426E-40DD-AFC4-6F175D3DCCD1}">
              <a14:hiddenFill xmlns:a14="http://schemas.microsoft.com/office/drawing/2010/main">
                <a:solidFill>
                  <a:srgbClr val="FFFFFF"/>
                </a:solidFill>
              </a14:hiddenFill>
            </a:ext>
          </a:extLst>
        </p:spPr>
      </p:pic>
      <p:pic>
        <p:nvPicPr>
          <p:cNvPr id="404" name="Picture 2" descr="Raspberry icon - Free download on Iconfinder">
            <a:extLst>
              <a:ext uri="{FF2B5EF4-FFF2-40B4-BE49-F238E27FC236}">
                <a16:creationId xmlns:a16="http://schemas.microsoft.com/office/drawing/2014/main" id="{07397682-2324-6553-AC2D-1656DE695A73}"/>
              </a:ext>
            </a:extLst>
          </p:cNvPr>
          <p:cNvPicPr>
            <a:picLocks noChangeAspect="1" noChangeArrowheads="1"/>
          </p:cNvPicPr>
          <p:nvPr/>
        </p:nvPicPr>
        <p:blipFill>
          <a:blip r:embed="rId28">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244769" y="2641704"/>
            <a:ext cx="544810" cy="544810"/>
          </a:xfrm>
          <a:prstGeom prst="rect">
            <a:avLst/>
          </a:prstGeom>
          <a:noFill/>
          <a:extLst>
            <a:ext uri="{909E8E84-426E-40DD-AFC4-6F175D3DCCD1}">
              <a14:hiddenFill xmlns:a14="http://schemas.microsoft.com/office/drawing/2010/main">
                <a:solidFill>
                  <a:srgbClr val="FFFFFF"/>
                </a:solidFill>
              </a14:hiddenFill>
            </a:ext>
          </a:extLst>
        </p:spPr>
      </p:pic>
      <p:cxnSp>
        <p:nvCxnSpPr>
          <p:cNvPr id="3" name="Straight Arrow Connector 52" descr="Double pointing horizontal arrow.">
            <a:extLst>
              <a:ext uri="{FF2B5EF4-FFF2-40B4-BE49-F238E27FC236}">
                <a16:creationId xmlns:a16="http://schemas.microsoft.com/office/drawing/2014/main" id="{2BDC91A1-8A32-58C2-808C-5A5091AF8832}"/>
              </a:ext>
            </a:extLst>
          </p:cNvPr>
          <p:cNvCxnSpPr>
            <a:cxnSpLocks/>
            <a:stCxn id="275" idx="2"/>
            <a:endCxn id="296" idx="0"/>
          </p:cNvCxnSpPr>
          <p:nvPr/>
        </p:nvCxnSpPr>
        <p:spPr>
          <a:xfrm flipH="1">
            <a:off x="5081211" y="3458765"/>
            <a:ext cx="1785" cy="923928"/>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sp>
        <p:nvSpPr>
          <p:cNvPr id="257" name="テキスト ボックス 256">
            <a:extLst>
              <a:ext uri="{FF2B5EF4-FFF2-40B4-BE49-F238E27FC236}">
                <a16:creationId xmlns:a16="http://schemas.microsoft.com/office/drawing/2014/main" id="{258A0DAF-50DA-2B44-17B4-A9F6B97343B7}"/>
              </a:ext>
            </a:extLst>
          </p:cNvPr>
          <p:cNvSpPr txBox="1"/>
          <p:nvPr/>
        </p:nvSpPr>
        <p:spPr>
          <a:xfrm>
            <a:off x="4360260" y="3860479"/>
            <a:ext cx="2390492" cy="276999"/>
          </a:xfrm>
          <a:prstGeom prst="rect">
            <a:avLst/>
          </a:prstGeom>
          <a:solidFill>
            <a:srgbClr val="EFECE3"/>
          </a:solidFill>
        </p:spPr>
        <p:txBody>
          <a:bodyPr wrap="square" rtlCol="0">
            <a:spAutoFit/>
          </a:bodyPr>
          <a:lstStyle/>
          <a:p>
            <a:r>
              <a:rPr lang="ja-JP" altLang="en-US" sz="1200" b="1" dirty="0">
                <a:latin typeface="BIZ UDゴシック" panose="020B0400000000000000" pitchFamily="49" charset="-128"/>
                <a:ea typeface="BIZ UDゴシック" panose="020B0400000000000000" pitchFamily="49" charset="-128"/>
              </a:rPr>
              <a:t>ユーザー・在室登録サービス</a:t>
            </a:r>
            <a:endParaRPr kumimoji="1" lang="ja-JP" altLang="en-US" sz="1200" b="1" dirty="0">
              <a:latin typeface="BIZ UDゴシック" panose="020B0400000000000000" pitchFamily="49" charset="-128"/>
              <a:ea typeface="BIZ UDゴシック" panose="020B0400000000000000" pitchFamily="49" charset="-128"/>
            </a:endParaRPr>
          </a:p>
        </p:txBody>
      </p:sp>
      <p:cxnSp>
        <p:nvCxnSpPr>
          <p:cNvPr id="6" name="Straight Arrow Connector 52" descr="Double pointing horizontal arrow.">
            <a:extLst>
              <a:ext uri="{FF2B5EF4-FFF2-40B4-BE49-F238E27FC236}">
                <a16:creationId xmlns:a16="http://schemas.microsoft.com/office/drawing/2014/main" id="{C35CC184-A599-D7DC-FAC2-A686345D9BD9}"/>
              </a:ext>
            </a:extLst>
          </p:cNvPr>
          <p:cNvCxnSpPr>
            <a:cxnSpLocks/>
            <a:stCxn id="296" idx="3"/>
            <a:endCxn id="294" idx="1"/>
          </p:cNvCxnSpPr>
          <p:nvPr/>
        </p:nvCxnSpPr>
        <p:spPr>
          <a:xfrm flipV="1">
            <a:off x="5349458" y="4650632"/>
            <a:ext cx="638693" cy="308"/>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10" name="Straight Arrow Connector 52" descr="Double pointing horizontal arrow.">
            <a:extLst>
              <a:ext uri="{FF2B5EF4-FFF2-40B4-BE49-F238E27FC236}">
                <a16:creationId xmlns:a16="http://schemas.microsoft.com/office/drawing/2014/main" id="{AC69D21B-E418-F662-2526-9DD61DE778E5}"/>
              </a:ext>
            </a:extLst>
          </p:cNvPr>
          <p:cNvCxnSpPr>
            <a:cxnSpLocks/>
            <a:stCxn id="294" idx="3"/>
            <a:endCxn id="298" idx="1"/>
          </p:cNvCxnSpPr>
          <p:nvPr/>
        </p:nvCxnSpPr>
        <p:spPr>
          <a:xfrm>
            <a:off x="6524645" y="4650632"/>
            <a:ext cx="640661" cy="2899"/>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38789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AE92A4-B4B2-20A8-82D4-9EDA9BA66B4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F7A11E8-BD51-9A8B-30CA-09ADB1DBE3C8}"/>
              </a:ext>
            </a:extLst>
          </p:cNvPr>
          <p:cNvSpPr>
            <a:spLocks noGrp="1"/>
          </p:cNvSpPr>
          <p:nvPr>
            <p:ph type="title"/>
          </p:nvPr>
        </p:nvSpPr>
        <p:spPr/>
        <p:txBody>
          <a:bodyPr/>
          <a:lstStyle/>
          <a:p>
            <a:r>
              <a:rPr kumimoji="1" lang="ja-JP" altLang="en-US" dirty="0"/>
              <a:t>在室確認システムのアーキテクチャ</a:t>
            </a:r>
          </a:p>
        </p:txBody>
      </p:sp>
      <p:grpSp>
        <p:nvGrpSpPr>
          <p:cNvPr id="230" name="グループ化 229">
            <a:extLst>
              <a:ext uri="{FF2B5EF4-FFF2-40B4-BE49-F238E27FC236}">
                <a16:creationId xmlns:a16="http://schemas.microsoft.com/office/drawing/2014/main" id="{2CF46FB3-9FB1-750B-E30B-85CA0A4AF754}"/>
              </a:ext>
            </a:extLst>
          </p:cNvPr>
          <p:cNvGrpSpPr/>
          <p:nvPr/>
        </p:nvGrpSpPr>
        <p:grpSpPr>
          <a:xfrm>
            <a:off x="6904519" y="4385283"/>
            <a:ext cx="1058068" cy="814611"/>
            <a:chOff x="4098454" y="2667000"/>
            <a:chExt cx="1502808" cy="1157017"/>
          </a:xfrm>
        </p:grpSpPr>
        <p:pic>
          <p:nvPicPr>
            <p:cNvPr id="298" name="Graphic 23" descr="Amazon DynamoDB service icon.">
              <a:extLst>
                <a:ext uri="{FF2B5EF4-FFF2-40B4-BE49-F238E27FC236}">
                  <a16:creationId xmlns:a16="http://schemas.microsoft.com/office/drawing/2014/main" id="{B5862F56-DEC0-0FAD-D484-201DCCAA4FB6}"/>
                </a:ext>
              </a:extLst>
            </p:cNvPr>
            <p:cNvPicPr>
              <a:picLocks noChangeAspect="1" noChangeArrowheads="1"/>
            </p:cNvPicPr>
            <p:nvPr/>
          </p:nvPicPr>
          <p:blipFill>
            <a:blip r:embed="rId2">
              <a:extLst>
                <a:ext uri="{96DAC541-7B7A-43D3-8B79-37D633B846F1}">
                  <asvg:svgBlip xmlns:asvg="http://schemas.microsoft.com/office/drawing/2016/SVG/main" r:embed="rId3"/>
                </a:ext>
              </a:extLst>
            </a:blip>
            <a:srcRect/>
            <a:stretch/>
          </p:blipFill>
          <p:spPr bwMode="auto">
            <a:xfrm>
              <a:off x="4468858" y="2667000"/>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9" name="TextBox 12">
              <a:extLst>
                <a:ext uri="{FF2B5EF4-FFF2-40B4-BE49-F238E27FC236}">
                  <a16:creationId xmlns:a16="http://schemas.microsoft.com/office/drawing/2014/main" id="{DA8B01CD-E76F-A3BB-CDFB-97629C175311}"/>
                </a:ext>
              </a:extLst>
            </p:cNvPr>
            <p:cNvSpPr txBox="1">
              <a:spLocks noChangeArrowheads="1"/>
            </p:cNvSpPr>
            <p:nvPr/>
          </p:nvSpPr>
          <p:spPr bwMode="auto">
            <a:xfrm>
              <a:off x="4098454" y="3430587"/>
              <a:ext cx="1502808" cy="393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DynamoDB</a:t>
              </a:r>
            </a:p>
          </p:txBody>
        </p:sp>
      </p:grpSp>
      <p:grpSp>
        <p:nvGrpSpPr>
          <p:cNvPr id="231" name="グループ化 230">
            <a:extLst>
              <a:ext uri="{FF2B5EF4-FFF2-40B4-BE49-F238E27FC236}">
                <a16:creationId xmlns:a16="http://schemas.microsoft.com/office/drawing/2014/main" id="{F89077D5-83C1-FACE-2DF8-5E0BE907EFA6}"/>
              </a:ext>
            </a:extLst>
          </p:cNvPr>
          <p:cNvGrpSpPr/>
          <p:nvPr/>
        </p:nvGrpSpPr>
        <p:grpSpPr>
          <a:xfrm>
            <a:off x="4522361" y="4382693"/>
            <a:ext cx="1117700" cy="998159"/>
            <a:chOff x="2576510" y="1184275"/>
            <a:chExt cx="1587506" cy="1417718"/>
          </a:xfrm>
        </p:grpSpPr>
        <p:pic>
          <p:nvPicPr>
            <p:cNvPr id="296" name="Graphic 7" descr="Amazon API Gateway service icon.">
              <a:extLst>
                <a:ext uri="{FF2B5EF4-FFF2-40B4-BE49-F238E27FC236}">
                  <a16:creationId xmlns:a16="http://schemas.microsoft.com/office/drawing/2014/main" id="{E6D33FA2-46C0-72CB-65C3-E74F4FD46DE8}"/>
                </a:ext>
              </a:extLst>
            </p:cNvPr>
            <p:cNvPicPr>
              <a:picLocks noChangeAspect="1" noChangeArrowheads="1"/>
            </p:cNvPicPr>
            <p:nvPr/>
          </p:nvPicPr>
          <p:blipFill>
            <a:blip r:embed="rId4">
              <a:extLst>
                <a:ext uri="{96DAC541-7B7A-43D3-8B79-37D633B846F1}">
                  <asvg:svgBlip xmlns:asvg="http://schemas.microsoft.com/office/drawing/2016/SVG/main" r:embed="rId5"/>
                </a:ext>
              </a:extLst>
            </a:blip>
            <a:srcRect/>
            <a:stretch/>
          </p:blipFill>
          <p:spPr bwMode="auto">
            <a:xfrm>
              <a:off x="2989263" y="1184275"/>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 name="TextBox 9">
              <a:extLst>
                <a:ext uri="{FF2B5EF4-FFF2-40B4-BE49-F238E27FC236}">
                  <a16:creationId xmlns:a16="http://schemas.microsoft.com/office/drawing/2014/main" id="{A9780FD5-B8A9-B262-0A5E-FFBC1EDCB55F}"/>
                </a:ext>
              </a:extLst>
            </p:cNvPr>
            <p:cNvSpPr txBox="1">
              <a:spLocks noChangeArrowheads="1"/>
            </p:cNvSpPr>
            <p:nvPr/>
          </p:nvSpPr>
          <p:spPr bwMode="auto">
            <a:xfrm>
              <a:off x="2576510" y="1946275"/>
              <a:ext cx="1587506" cy="655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API Gateway</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(REST API)</a:t>
              </a:r>
            </a:p>
          </p:txBody>
        </p:sp>
      </p:grpSp>
      <p:grpSp>
        <p:nvGrpSpPr>
          <p:cNvPr id="232" name="グループ化 231">
            <a:extLst>
              <a:ext uri="{FF2B5EF4-FFF2-40B4-BE49-F238E27FC236}">
                <a16:creationId xmlns:a16="http://schemas.microsoft.com/office/drawing/2014/main" id="{13709ECA-D0C1-41B9-3943-983F1E80D294}"/>
              </a:ext>
            </a:extLst>
          </p:cNvPr>
          <p:cNvGrpSpPr/>
          <p:nvPr/>
        </p:nvGrpSpPr>
        <p:grpSpPr>
          <a:xfrm>
            <a:off x="5850438" y="4382385"/>
            <a:ext cx="820861" cy="812933"/>
            <a:chOff x="5051089" y="1185069"/>
            <a:chExt cx="1165896" cy="1154637"/>
          </a:xfrm>
        </p:grpSpPr>
        <p:pic>
          <p:nvPicPr>
            <p:cNvPr id="294" name="Graphic 10" descr="AWS Lambda service icon.">
              <a:extLst>
                <a:ext uri="{FF2B5EF4-FFF2-40B4-BE49-F238E27FC236}">
                  <a16:creationId xmlns:a16="http://schemas.microsoft.com/office/drawing/2014/main" id="{145CE22F-9FCF-3F93-CC12-04B46DE1313D}"/>
                </a:ext>
              </a:extLst>
            </p:cNvPr>
            <p:cNvPicPr>
              <a:picLocks noChangeAspect="1" noChangeArrowheads="1"/>
            </p:cNvPicPr>
            <p:nvPr/>
          </p:nvPicPr>
          <p:blipFill>
            <a:blip r:embed="rId6">
              <a:extLst>
                <a:ext uri="{96DAC541-7B7A-43D3-8B79-37D633B846F1}">
                  <asvg:svgBlip xmlns:asvg="http://schemas.microsoft.com/office/drawing/2016/SVG/main" r:embed="rId7"/>
                </a:ext>
              </a:extLst>
            </a:blip>
            <a:srcRect/>
            <a:stretch/>
          </p:blipFill>
          <p:spPr bwMode="auto">
            <a:xfrm>
              <a:off x="5246688" y="1185069"/>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5" name="TextBox 20">
              <a:extLst>
                <a:ext uri="{FF2B5EF4-FFF2-40B4-BE49-F238E27FC236}">
                  <a16:creationId xmlns:a16="http://schemas.microsoft.com/office/drawing/2014/main" id="{E884227C-4896-2D01-C318-BC98F2572017}"/>
                </a:ext>
              </a:extLst>
            </p:cNvPr>
            <p:cNvSpPr txBox="1">
              <a:spLocks noChangeArrowheads="1"/>
            </p:cNvSpPr>
            <p:nvPr/>
          </p:nvSpPr>
          <p:spPr bwMode="auto">
            <a:xfrm>
              <a:off x="5051089" y="1946275"/>
              <a:ext cx="1165896" cy="393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Lambda</a:t>
              </a:r>
            </a:p>
          </p:txBody>
        </p:sp>
      </p:grpSp>
      <p:grpSp>
        <p:nvGrpSpPr>
          <p:cNvPr id="233" name="グループ化 232">
            <a:extLst>
              <a:ext uri="{FF2B5EF4-FFF2-40B4-BE49-F238E27FC236}">
                <a16:creationId xmlns:a16="http://schemas.microsoft.com/office/drawing/2014/main" id="{7A679AD6-4304-2A81-346D-6F9E8DE69D13}"/>
              </a:ext>
            </a:extLst>
          </p:cNvPr>
          <p:cNvGrpSpPr/>
          <p:nvPr/>
        </p:nvGrpSpPr>
        <p:grpSpPr>
          <a:xfrm>
            <a:off x="6894823" y="5692118"/>
            <a:ext cx="1068518" cy="813493"/>
            <a:chOff x="-6240556" y="-4075450"/>
            <a:chExt cx="1517651" cy="1155431"/>
          </a:xfrm>
        </p:grpSpPr>
        <p:pic>
          <p:nvPicPr>
            <p:cNvPr id="292" name="Graphic 17" descr="Amazon CloudWatch service icon.">
              <a:extLst>
                <a:ext uri="{FF2B5EF4-FFF2-40B4-BE49-F238E27FC236}">
                  <a16:creationId xmlns:a16="http://schemas.microsoft.com/office/drawing/2014/main" id="{736520DE-5AE8-EE49-3BDB-27A69B56FEA3}"/>
                </a:ext>
              </a:extLst>
            </p:cNvPr>
            <p:cNvPicPr>
              <a:picLocks noChangeAspect="1" noChangeArrowheads="1"/>
            </p:cNvPicPr>
            <p:nvPr/>
          </p:nvPicPr>
          <p:blipFill>
            <a:blip r:embed="rId8">
              <a:extLst>
                <a:ext uri="{96DAC541-7B7A-43D3-8B79-37D633B846F1}">
                  <asvg:svgBlip xmlns:asvg="http://schemas.microsoft.com/office/drawing/2016/SVG/main" r:embed="rId9"/>
                </a:ext>
              </a:extLst>
            </a:blip>
            <a:srcRect/>
            <a:stretch/>
          </p:blipFill>
          <p:spPr bwMode="auto">
            <a:xfrm>
              <a:off x="-5862730" y="-4075450"/>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3" name="TextBox 9">
              <a:extLst>
                <a:ext uri="{FF2B5EF4-FFF2-40B4-BE49-F238E27FC236}">
                  <a16:creationId xmlns:a16="http://schemas.microsoft.com/office/drawing/2014/main" id="{469C3D69-042D-FF1C-2AA6-10ABD59ABBCE}"/>
                </a:ext>
              </a:extLst>
            </p:cNvPr>
            <p:cNvSpPr txBox="1">
              <a:spLocks noChangeArrowheads="1"/>
            </p:cNvSpPr>
            <p:nvPr/>
          </p:nvSpPr>
          <p:spPr bwMode="auto">
            <a:xfrm>
              <a:off x="-6240556" y="-3313450"/>
              <a:ext cx="1517651" cy="393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CloudWatch</a:t>
              </a:r>
            </a:p>
          </p:txBody>
        </p:sp>
      </p:grpSp>
      <p:grpSp>
        <p:nvGrpSpPr>
          <p:cNvPr id="234" name="グループ化 233">
            <a:extLst>
              <a:ext uri="{FF2B5EF4-FFF2-40B4-BE49-F238E27FC236}">
                <a16:creationId xmlns:a16="http://schemas.microsoft.com/office/drawing/2014/main" id="{2D050AD4-0E90-22DC-117C-D50386E0BA7A}"/>
              </a:ext>
            </a:extLst>
          </p:cNvPr>
          <p:cNvGrpSpPr/>
          <p:nvPr/>
        </p:nvGrpSpPr>
        <p:grpSpPr>
          <a:xfrm>
            <a:off x="4815974" y="5696629"/>
            <a:ext cx="536494" cy="813493"/>
            <a:chOff x="7535863" y="1001200"/>
            <a:chExt cx="762000" cy="1155431"/>
          </a:xfrm>
        </p:grpSpPr>
        <p:pic>
          <p:nvPicPr>
            <p:cNvPr id="290" name="Graphic 19" descr="AWS Identity and Access Management (IAM) service icon.">
              <a:extLst>
                <a:ext uri="{FF2B5EF4-FFF2-40B4-BE49-F238E27FC236}">
                  <a16:creationId xmlns:a16="http://schemas.microsoft.com/office/drawing/2014/main" id="{3DE3828E-3D49-4348-21FF-6392A8F13C3C}"/>
                </a:ext>
              </a:extLst>
            </p:cNvPr>
            <p:cNvPicPr>
              <a:picLocks noChangeAspect="1" noChangeArrowheads="1"/>
            </p:cNvPicPr>
            <p:nvPr/>
          </p:nvPicPr>
          <p:blipFill>
            <a:blip r:embed="rId10">
              <a:extLst>
                <a:ext uri="{96DAC541-7B7A-43D3-8B79-37D633B846F1}">
                  <asvg:svgBlip xmlns:asvg="http://schemas.microsoft.com/office/drawing/2016/SVG/main" r:embed="rId11"/>
                </a:ext>
              </a:extLst>
            </a:blip>
            <a:srcRect/>
            <a:stretch/>
          </p:blipFill>
          <p:spPr bwMode="auto">
            <a:xfrm>
              <a:off x="7535863" y="1001200"/>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1" name="TextBox 12">
              <a:extLst>
                <a:ext uri="{FF2B5EF4-FFF2-40B4-BE49-F238E27FC236}">
                  <a16:creationId xmlns:a16="http://schemas.microsoft.com/office/drawing/2014/main" id="{125E4338-9398-1C19-2A11-CD0D91067F6C}"/>
                </a:ext>
              </a:extLst>
            </p:cNvPr>
            <p:cNvSpPr txBox="1">
              <a:spLocks noChangeArrowheads="1"/>
            </p:cNvSpPr>
            <p:nvPr/>
          </p:nvSpPr>
          <p:spPr bwMode="auto">
            <a:xfrm>
              <a:off x="7535863" y="1763200"/>
              <a:ext cx="758826" cy="393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IAM</a:t>
              </a:r>
            </a:p>
          </p:txBody>
        </p:sp>
      </p:grpSp>
      <p:sp>
        <p:nvSpPr>
          <p:cNvPr id="289" name="TextBox 12">
            <a:extLst>
              <a:ext uri="{FF2B5EF4-FFF2-40B4-BE49-F238E27FC236}">
                <a16:creationId xmlns:a16="http://schemas.microsoft.com/office/drawing/2014/main" id="{9B4631F7-7300-B271-FE18-A85E427D87D2}"/>
              </a:ext>
            </a:extLst>
          </p:cNvPr>
          <p:cNvSpPr txBox="1">
            <a:spLocks noChangeArrowheads="1"/>
          </p:cNvSpPr>
          <p:nvPr/>
        </p:nvSpPr>
        <p:spPr bwMode="auto">
          <a:xfrm>
            <a:off x="1707208" y="5001976"/>
            <a:ext cx="16050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Raspberry Pi 4B</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(172.16.15.8)</a:t>
            </a:r>
          </a:p>
        </p:txBody>
      </p:sp>
      <p:sp>
        <p:nvSpPr>
          <p:cNvPr id="236" name="テキスト ボックス 235">
            <a:extLst>
              <a:ext uri="{FF2B5EF4-FFF2-40B4-BE49-F238E27FC236}">
                <a16:creationId xmlns:a16="http://schemas.microsoft.com/office/drawing/2014/main" id="{E1DF8D38-C88D-C3D1-7438-56A1A91C9838}"/>
              </a:ext>
            </a:extLst>
          </p:cNvPr>
          <p:cNvSpPr txBox="1"/>
          <p:nvPr/>
        </p:nvSpPr>
        <p:spPr>
          <a:xfrm>
            <a:off x="1077353" y="4303759"/>
            <a:ext cx="1162293" cy="276999"/>
          </a:xfrm>
          <a:prstGeom prst="rect">
            <a:avLst/>
          </a:prstGeom>
          <a:noFill/>
        </p:spPr>
        <p:txBody>
          <a:bodyPr wrap="square">
            <a:spAutoFit/>
          </a:body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RC-S380 S</a:t>
            </a:r>
          </a:p>
        </p:txBody>
      </p:sp>
      <p:pic>
        <p:nvPicPr>
          <p:cNvPr id="237" name="図 236" descr="黒い背景と白い文字のロゴ&#10;&#10;AI によって生成されたコンテンツは間違っている可能性があります。">
            <a:extLst>
              <a:ext uri="{FF2B5EF4-FFF2-40B4-BE49-F238E27FC236}">
                <a16:creationId xmlns:a16="http://schemas.microsoft.com/office/drawing/2014/main" id="{22B5C47B-A881-2705-E6DB-9A6DA303AF0F}"/>
              </a:ext>
            </a:extLst>
          </p:cNvPr>
          <p:cNvPicPr>
            <a:picLocks noChangeAspect="1"/>
          </p:cNvPicPr>
          <p:nvPr/>
        </p:nvPicPr>
        <p:blipFill>
          <a:blip r:embed="rId12">
            <a:biLevel thresh="50000"/>
            <a:extLst>
              <a:ext uri="{28A0092B-C50C-407E-A947-70E740481C1C}">
                <a14:useLocalDpi xmlns:a14="http://schemas.microsoft.com/office/drawing/2010/main" val="0"/>
              </a:ext>
            </a:extLst>
          </a:blip>
          <a:srcRect t="19474" b="18132"/>
          <a:stretch/>
        </p:blipFill>
        <p:spPr>
          <a:xfrm flipH="1">
            <a:off x="693160" y="4508703"/>
            <a:ext cx="1605014" cy="751622"/>
          </a:xfrm>
          <a:prstGeom prst="rect">
            <a:avLst/>
          </a:prstGeom>
        </p:spPr>
      </p:pic>
      <p:cxnSp>
        <p:nvCxnSpPr>
          <p:cNvPr id="238" name="Straight Arrow Connector 74" descr="Up and down pointing vertical arrow.">
            <a:extLst>
              <a:ext uri="{FF2B5EF4-FFF2-40B4-BE49-F238E27FC236}">
                <a16:creationId xmlns:a16="http://schemas.microsoft.com/office/drawing/2014/main" id="{087AD298-A825-9B5B-E42F-2D198BF7B895}"/>
              </a:ext>
            </a:extLst>
          </p:cNvPr>
          <p:cNvCxnSpPr>
            <a:cxnSpLocks/>
            <a:endCxn id="296" idx="1"/>
          </p:cNvCxnSpPr>
          <p:nvPr/>
        </p:nvCxnSpPr>
        <p:spPr>
          <a:xfrm>
            <a:off x="2777961" y="4650940"/>
            <a:ext cx="2035003" cy="0"/>
          </a:xfrm>
          <a:prstGeom prst="straightConnector1">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grpSp>
        <p:nvGrpSpPr>
          <p:cNvPr id="241" name="グループ化 240">
            <a:extLst>
              <a:ext uri="{FF2B5EF4-FFF2-40B4-BE49-F238E27FC236}">
                <a16:creationId xmlns:a16="http://schemas.microsoft.com/office/drawing/2014/main" id="{DC7083B7-A85E-690D-8965-836C17FB60AA}"/>
              </a:ext>
            </a:extLst>
          </p:cNvPr>
          <p:cNvGrpSpPr/>
          <p:nvPr/>
        </p:nvGrpSpPr>
        <p:grpSpPr>
          <a:xfrm>
            <a:off x="2051276" y="6087076"/>
            <a:ext cx="924337" cy="403333"/>
            <a:chOff x="2262291" y="5685876"/>
            <a:chExt cx="924337" cy="403333"/>
          </a:xfrm>
        </p:grpSpPr>
        <p:pic>
          <p:nvPicPr>
            <p:cNvPr id="286" name="図 285" descr="アイコン&#10;&#10;AI によって生成されたコンテンツは間違っている可能性があります。">
              <a:extLst>
                <a:ext uri="{FF2B5EF4-FFF2-40B4-BE49-F238E27FC236}">
                  <a16:creationId xmlns:a16="http://schemas.microsoft.com/office/drawing/2014/main" id="{E57CB18C-F285-BBB8-A9AB-23BAC439D774}"/>
                </a:ext>
              </a:extLst>
            </p:cNvPr>
            <p:cNvPicPr>
              <a:picLocks noChangeAspect="1"/>
            </p:cNvPicPr>
            <p:nvPr/>
          </p:nvPicPr>
          <p:blipFill>
            <a:blip r:embed="rId13">
              <a:extLst>
                <a:ext uri="{28A0092B-C50C-407E-A947-70E740481C1C}">
                  <a14:useLocalDpi xmlns:a14="http://schemas.microsoft.com/office/drawing/2010/main" val="0"/>
                </a:ext>
              </a:extLst>
            </a:blip>
            <a:srcRect l="10553" t="5709" r="9769" b="4466"/>
            <a:stretch/>
          </p:blipFill>
          <p:spPr>
            <a:xfrm>
              <a:off x="2262291" y="5685876"/>
              <a:ext cx="357774" cy="403333"/>
            </a:xfrm>
            <a:prstGeom prst="rect">
              <a:avLst/>
            </a:prstGeom>
          </p:spPr>
        </p:pic>
        <p:sp>
          <p:nvSpPr>
            <p:cNvPr id="287" name="テキスト ボックス 286">
              <a:extLst>
                <a:ext uri="{FF2B5EF4-FFF2-40B4-BE49-F238E27FC236}">
                  <a16:creationId xmlns:a16="http://schemas.microsoft.com/office/drawing/2014/main" id="{29B1C554-5DEF-240C-C49D-CF4FCEF9231B}"/>
                </a:ext>
              </a:extLst>
            </p:cNvPr>
            <p:cNvSpPr txBox="1"/>
            <p:nvPr/>
          </p:nvSpPr>
          <p:spPr>
            <a:xfrm>
              <a:off x="2557071" y="5749042"/>
              <a:ext cx="629557" cy="276999"/>
            </a:xfrm>
            <a:prstGeom prst="rect">
              <a:avLst/>
            </a:prstGeom>
            <a:noFill/>
          </p:spPr>
          <p:txBody>
            <a:bodyPr wrap="square">
              <a:spAutoFit/>
            </a:bodyPr>
            <a:lstStyle/>
            <a:p>
              <a:r>
                <a:rPr lang="en-US" altLang="ja-JP" sz="1200" dirty="0"/>
                <a:t>:3000</a:t>
              </a:r>
              <a:endParaRPr lang="ja-JP" altLang="en-US" sz="1200" dirty="0"/>
            </a:p>
          </p:txBody>
        </p:sp>
      </p:grpSp>
      <p:grpSp>
        <p:nvGrpSpPr>
          <p:cNvPr id="242" name="グループ化 241">
            <a:extLst>
              <a:ext uri="{FF2B5EF4-FFF2-40B4-BE49-F238E27FC236}">
                <a16:creationId xmlns:a16="http://schemas.microsoft.com/office/drawing/2014/main" id="{46BCC437-21C3-464C-D6D1-D4BA37620690}"/>
              </a:ext>
            </a:extLst>
          </p:cNvPr>
          <p:cNvGrpSpPr/>
          <p:nvPr/>
        </p:nvGrpSpPr>
        <p:grpSpPr>
          <a:xfrm>
            <a:off x="2043915" y="5648135"/>
            <a:ext cx="931698" cy="372497"/>
            <a:chOff x="2254930" y="5246935"/>
            <a:chExt cx="931698" cy="372497"/>
          </a:xfrm>
        </p:grpSpPr>
        <p:pic>
          <p:nvPicPr>
            <p:cNvPr id="284" name="グラフィックス 283">
              <a:extLst>
                <a:ext uri="{FF2B5EF4-FFF2-40B4-BE49-F238E27FC236}">
                  <a16:creationId xmlns:a16="http://schemas.microsoft.com/office/drawing/2014/main" id="{098E7DBC-DC1C-2A09-9DFA-1A75A2EAED5A}"/>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2254930" y="5246935"/>
              <a:ext cx="372497" cy="372497"/>
            </a:xfrm>
            <a:prstGeom prst="rect">
              <a:avLst/>
            </a:prstGeom>
          </p:spPr>
        </p:pic>
        <p:sp>
          <p:nvSpPr>
            <p:cNvPr id="285" name="テキスト ボックス 284">
              <a:extLst>
                <a:ext uri="{FF2B5EF4-FFF2-40B4-BE49-F238E27FC236}">
                  <a16:creationId xmlns:a16="http://schemas.microsoft.com/office/drawing/2014/main" id="{2AA055C7-2C58-D8F8-0A0F-3F5C1453BE2E}"/>
                </a:ext>
              </a:extLst>
            </p:cNvPr>
            <p:cNvSpPr txBox="1"/>
            <p:nvPr/>
          </p:nvSpPr>
          <p:spPr>
            <a:xfrm>
              <a:off x="2557071" y="5306333"/>
              <a:ext cx="629557" cy="276999"/>
            </a:xfrm>
            <a:prstGeom prst="rect">
              <a:avLst/>
            </a:prstGeom>
            <a:noFill/>
          </p:spPr>
          <p:txBody>
            <a:bodyPr wrap="square">
              <a:spAutoFit/>
            </a:bodyPr>
            <a:lstStyle/>
            <a:p>
              <a:r>
                <a:rPr lang="en-US" altLang="ja-JP" sz="1200" dirty="0"/>
                <a:t>:8000</a:t>
              </a:r>
              <a:endParaRPr lang="ja-JP" altLang="en-US" sz="1200" dirty="0"/>
            </a:p>
          </p:txBody>
        </p:sp>
      </p:grpSp>
      <p:grpSp>
        <p:nvGrpSpPr>
          <p:cNvPr id="243" name="グループ化 242">
            <a:extLst>
              <a:ext uri="{FF2B5EF4-FFF2-40B4-BE49-F238E27FC236}">
                <a16:creationId xmlns:a16="http://schemas.microsoft.com/office/drawing/2014/main" id="{7F1AB7F6-99D6-ABCA-79C1-9EFF9ACC1DCF}"/>
              </a:ext>
            </a:extLst>
          </p:cNvPr>
          <p:cNvGrpSpPr/>
          <p:nvPr/>
        </p:nvGrpSpPr>
        <p:grpSpPr>
          <a:xfrm>
            <a:off x="5655352" y="5692118"/>
            <a:ext cx="1211032" cy="802921"/>
            <a:chOff x="3129557" y="4452843"/>
            <a:chExt cx="1211032" cy="802921"/>
          </a:xfrm>
        </p:grpSpPr>
        <p:pic>
          <p:nvPicPr>
            <p:cNvPr id="282" name="Graphic 19" descr="Amazon EventBridge service icon.">
              <a:extLst>
                <a:ext uri="{FF2B5EF4-FFF2-40B4-BE49-F238E27FC236}">
                  <a16:creationId xmlns:a16="http://schemas.microsoft.com/office/drawing/2014/main" id="{F28B7CED-BFC8-EADB-4548-AB8BC0DD46B9}"/>
                </a:ext>
              </a:extLst>
            </p:cNvPr>
            <p:cNvPicPr>
              <a:picLocks noChangeAspect="1" noChangeArrowheads="1"/>
            </p:cNvPicPr>
            <p:nvPr/>
          </p:nvPicPr>
          <p:blipFill>
            <a:blip r:embed="rId16">
              <a:extLst>
                <a:ext uri="{96DAC541-7B7A-43D3-8B79-37D633B846F1}">
                  <asvg:svgBlip xmlns:asvg="http://schemas.microsoft.com/office/drawing/2016/SVG/main" r:embed="rId17"/>
                </a:ext>
              </a:extLst>
            </a:blip>
            <a:srcRect/>
            <a:stretch/>
          </p:blipFill>
          <p:spPr bwMode="auto">
            <a:xfrm>
              <a:off x="3461744" y="4452843"/>
              <a:ext cx="538923" cy="538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3" name="TextBox 11">
              <a:extLst>
                <a:ext uri="{FF2B5EF4-FFF2-40B4-BE49-F238E27FC236}">
                  <a16:creationId xmlns:a16="http://schemas.microsoft.com/office/drawing/2014/main" id="{E3BCB08C-6E2B-EFAD-4178-0F34318B2B5F}"/>
                </a:ext>
              </a:extLst>
            </p:cNvPr>
            <p:cNvSpPr txBox="1">
              <a:spLocks noChangeArrowheads="1"/>
            </p:cNvSpPr>
            <p:nvPr/>
          </p:nvSpPr>
          <p:spPr bwMode="auto">
            <a:xfrm>
              <a:off x="3129557" y="4978765"/>
              <a:ext cx="121103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err="1">
                  <a:latin typeface="Arial" panose="020B0604020202020204" pitchFamily="34" charset="0"/>
                  <a:ea typeface="Amazon Ember" panose="020B0603020204020204" pitchFamily="34" charset="0"/>
                  <a:cs typeface="Arial" panose="020B0604020202020204" pitchFamily="34" charset="0"/>
                </a:rPr>
                <a:t>EventBridge</a:t>
              </a:r>
              <a:endParaRPr lang="en-US" altLang="en-US" sz="1200" dirty="0">
                <a:latin typeface="Arial" panose="020B0604020202020204" pitchFamily="34" charset="0"/>
                <a:ea typeface="Amazon Ember" panose="020B0603020204020204" pitchFamily="34" charset="0"/>
                <a:cs typeface="Arial" panose="020B0604020202020204" pitchFamily="34" charset="0"/>
              </a:endParaRPr>
            </a:p>
          </p:txBody>
        </p:sp>
      </p:grpSp>
      <p:grpSp>
        <p:nvGrpSpPr>
          <p:cNvPr id="244" name="グループ化 243">
            <a:extLst>
              <a:ext uri="{FF2B5EF4-FFF2-40B4-BE49-F238E27FC236}">
                <a16:creationId xmlns:a16="http://schemas.microsoft.com/office/drawing/2014/main" id="{B44BB4E7-2340-85F9-C947-163D5718E5FB}"/>
              </a:ext>
            </a:extLst>
          </p:cNvPr>
          <p:cNvGrpSpPr/>
          <p:nvPr/>
        </p:nvGrpSpPr>
        <p:grpSpPr>
          <a:xfrm>
            <a:off x="5550985" y="2647229"/>
            <a:ext cx="1410825" cy="998159"/>
            <a:chOff x="2368342" y="1184275"/>
            <a:chExt cx="2003841" cy="1417718"/>
          </a:xfrm>
        </p:grpSpPr>
        <p:pic>
          <p:nvPicPr>
            <p:cNvPr id="280" name="Graphic 7" descr="Amazon API Gateway service icon.">
              <a:extLst>
                <a:ext uri="{FF2B5EF4-FFF2-40B4-BE49-F238E27FC236}">
                  <a16:creationId xmlns:a16="http://schemas.microsoft.com/office/drawing/2014/main" id="{2DB66538-F3A9-9909-3098-169EAB7B75F2}"/>
                </a:ext>
              </a:extLst>
            </p:cNvPr>
            <p:cNvPicPr>
              <a:picLocks noChangeAspect="1" noChangeArrowheads="1"/>
            </p:cNvPicPr>
            <p:nvPr/>
          </p:nvPicPr>
          <p:blipFill>
            <a:blip r:embed="rId4">
              <a:extLst>
                <a:ext uri="{96DAC541-7B7A-43D3-8B79-37D633B846F1}">
                  <asvg:svgBlip xmlns:asvg="http://schemas.microsoft.com/office/drawing/2016/SVG/main" r:embed="rId5"/>
                </a:ext>
              </a:extLst>
            </a:blip>
            <a:srcRect/>
            <a:stretch/>
          </p:blipFill>
          <p:spPr bwMode="auto">
            <a:xfrm>
              <a:off x="2989264" y="1184275"/>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1" name="TextBox 9">
              <a:extLst>
                <a:ext uri="{FF2B5EF4-FFF2-40B4-BE49-F238E27FC236}">
                  <a16:creationId xmlns:a16="http://schemas.microsoft.com/office/drawing/2014/main" id="{713A77F2-49ED-3FFD-9648-3ADF883EAB48}"/>
                </a:ext>
              </a:extLst>
            </p:cNvPr>
            <p:cNvSpPr txBox="1">
              <a:spLocks noChangeArrowheads="1"/>
            </p:cNvSpPr>
            <p:nvPr/>
          </p:nvSpPr>
          <p:spPr bwMode="auto">
            <a:xfrm>
              <a:off x="2368342" y="1946275"/>
              <a:ext cx="2003841" cy="655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API Gateway</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(WebSocket)</a:t>
              </a:r>
            </a:p>
          </p:txBody>
        </p:sp>
      </p:grpSp>
      <p:sp>
        <p:nvSpPr>
          <p:cNvPr id="277" name="TextBox 12">
            <a:extLst>
              <a:ext uri="{FF2B5EF4-FFF2-40B4-BE49-F238E27FC236}">
                <a16:creationId xmlns:a16="http://schemas.microsoft.com/office/drawing/2014/main" id="{C4EDD7FC-01A2-0523-CDD7-A0661CC81181}"/>
              </a:ext>
            </a:extLst>
          </p:cNvPr>
          <p:cNvSpPr txBox="1">
            <a:spLocks noChangeArrowheads="1"/>
          </p:cNvSpPr>
          <p:nvPr/>
        </p:nvSpPr>
        <p:spPr bwMode="auto">
          <a:xfrm>
            <a:off x="1707208" y="3178518"/>
            <a:ext cx="16050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Raspberry Pi 5</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(172.16.15.7)</a:t>
            </a:r>
          </a:p>
        </p:txBody>
      </p:sp>
      <p:sp>
        <p:nvSpPr>
          <p:cNvPr id="251" name="Rectangle 103" descr="Generic group dashed.">
            <a:extLst>
              <a:ext uri="{FF2B5EF4-FFF2-40B4-BE49-F238E27FC236}">
                <a16:creationId xmlns:a16="http://schemas.microsoft.com/office/drawing/2014/main" id="{A252DADA-7F7F-6760-2B0A-7506A9DDB524}"/>
              </a:ext>
            </a:extLst>
          </p:cNvPr>
          <p:cNvSpPr/>
          <p:nvPr/>
        </p:nvSpPr>
        <p:spPr>
          <a:xfrm>
            <a:off x="4457026" y="4158038"/>
            <a:ext cx="3541821" cy="1348227"/>
          </a:xfrm>
          <a:prstGeom prst="rect">
            <a:avLst/>
          </a:prstGeom>
          <a:noFill/>
          <a:ln w="15875">
            <a:solidFill>
              <a:srgbClr val="7D8998"/>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eaLnBrk="1" fontAlgn="auto" hangingPunct="1">
              <a:spcBef>
                <a:spcPts val="0"/>
              </a:spcBef>
              <a:spcAft>
                <a:spcPts val="0"/>
              </a:spcAft>
              <a:defRPr/>
            </a:pPr>
            <a:endParaRPr lang="en-US" sz="1200" dirty="0">
              <a:solidFill>
                <a:schemeClr val="tx1"/>
              </a:solidFill>
              <a:latin typeface="Arial" panose="020B0604020202020204" pitchFamily="34" charset="0"/>
              <a:cs typeface="Arial" panose="020B0604020202020204" pitchFamily="34" charset="0"/>
            </a:endParaRPr>
          </a:p>
        </p:txBody>
      </p:sp>
      <p:grpSp>
        <p:nvGrpSpPr>
          <p:cNvPr id="253" name="グループ化 252">
            <a:extLst>
              <a:ext uri="{FF2B5EF4-FFF2-40B4-BE49-F238E27FC236}">
                <a16:creationId xmlns:a16="http://schemas.microsoft.com/office/drawing/2014/main" id="{D69846A5-26C4-CC65-8295-4C961EA27590}"/>
              </a:ext>
            </a:extLst>
          </p:cNvPr>
          <p:cNvGrpSpPr/>
          <p:nvPr/>
        </p:nvGrpSpPr>
        <p:grpSpPr>
          <a:xfrm>
            <a:off x="4717633" y="2645272"/>
            <a:ext cx="730725" cy="813493"/>
            <a:chOff x="3005693" y="1391828"/>
            <a:chExt cx="730725" cy="813493"/>
          </a:xfrm>
        </p:grpSpPr>
        <p:pic>
          <p:nvPicPr>
            <p:cNvPr id="274" name="Graphic 10" descr="AWS Amplify service icon.">
              <a:extLst>
                <a:ext uri="{FF2B5EF4-FFF2-40B4-BE49-F238E27FC236}">
                  <a16:creationId xmlns:a16="http://schemas.microsoft.com/office/drawing/2014/main" id="{9FB1CB69-0BFD-D9C8-8606-EEA5A96D70A6}"/>
                </a:ext>
              </a:extLst>
            </p:cNvPr>
            <p:cNvPicPr>
              <a:picLocks noChangeAspect="1" noChangeArrowheads="1"/>
            </p:cNvPicPr>
            <p:nvPr/>
          </p:nvPicPr>
          <p:blipFill>
            <a:blip r:embed="rId18">
              <a:extLst>
                <a:ext uri="{96DAC541-7B7A-43D3-8B79-37D633B846F1}">
                  <asvg:svgBlip xmlns:asvg="http://schemas.microsoft.com/office/drawing/2016/SVG/main" r:embed="rId19"/>
                </a:ext>
              </a:extLst>
            </a:blip>
            <a:srcRect/>
            <a:stretch/>
          </p:blipFill>
          <p:spPr bwMode="auto">
            <a:xfrm>
              <a:off x="3102809" y="1391828"/>
              <a:ext cx="536494" cy="536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5" name="TextBox 6">
              <a:extLst>
                <a:ext uri="{FF2B5EF4-FFF2-40B4-BE49-F238E27FC236}">
                  <a16:creationId xmlns:a16="http://schemas.microsoft.com/office/drawing/2014/main" id="{64458942-7E97-207A-9C84-DC48D7DE1136}"/>
                </a:ext>
              </a:extLst>
            </p:cNvPr>
            <p:cNvSpPr txBox="1">
              <a:spLocks noChangeArrowheads="1"/>
            </p:cNvSpPr>
            <p:nvPr/>
          </p:nvSpPr>
          <p:spPr bwMode="auto">
            <a:xfrm>
              <a:off x="3005693" y="1928322"/>
              <a:ext cx="7307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Amplify</a:t>
              </a:r>
            </a:p>
          </p:txBody>
        </p:sp>
      </p:grpSp>
      <p:grpSp>
        <p:nvGrpSpPr>
          <p:cNvPr id="261" name="グループ化 260">
            <a:extLst>
              <a:ext uri="{FF2B5EF4-FFF2-40B4-BE49-F238E27FC236}">
                <a16:creationId xmlns:a16="http://schemas.microsoft.com/office/drawing/2014/main" id="{B0A59700-A778-4375-5F6C-B25B8C0FBBA9}"/>
              </a:ext>
            </a:extLst>
          </p:cNvPr>
          <p:cNvGrpSpPr/>
          <p:nvPr/>
        </p:nvGrpSpPr>
        <p:grpSpPr>
          <a:xfrm>
            <a:off x="3645809" y="5683375"/>
            <a:ext cx="1020292" cy="992557"/>
            <a:chOff x="3864463" y="3839626"/>
            <a:chExt cx="1020292" cy="992557"/>
          </a:xfrm>
        </p:grpSpPr>
        <p:pic>
          <p:nvPicPr>
            <p:cNvPr id="272" name="Graphic 17" descr="Amazon Cognito service icon.">
              <a:extLst>
                <a:ext uri="{FF2B5EF4-FFF2-40B4-BE49-F238E27FC236}">
                  <a16:creationId xmlns:a16="http://schemas.microsoft.com/office/drawing/2014/main" id="{4B747F34-E8F4-795A-2528-3AF9E3EC491A}"/>
                </a:ext>
              </a:extLst>
            </p:cNvPr>
            <p:cNvPicPr>
              <a:picLocks noChangeAspect="1" noChangeArrowheads="1"/>
            </p:cNvPicPr>
            <p:nvPr/>
          </p:nvPicPr>
          <p:blipFill>
            <a:blip r:embed="rId20">
              <a:extLst>
                <a:ext uri="{96DAC541-7B7A-43D3-8B79-37D633B846F1}">
                  <asvg:svgBlip xmlns:asvg="http://schemas.microsoft.com/office/drawing/2016/SVG/main" r:embed="rId21"/>
                </a:ext>
              </a:extLst>
            </a:blip>
            <a:srcRect/>
            <a:stretch/>
          </p:blipFill>
          <p:spPr bwMode="auto">
            <a:xfrm>
              <a:off x="4106362" y="3839626"/>
              <a:ext cx="536494" cy="536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3" name="TextBox 11">
              <a:extLst>
                <a:ext uri="{FF2B5EF4-FFF2-40B4-BE49-F238E27FC236}">
                  <a16:creationId xmlns:a16="http://schemas.microsoft.com/office/drawing/2014/main" id="{32D3B166-AE86-7D24-B831-7A56049BA500}"/>
                </a:ext>
              </a:extLst>
            </p:cNvPr>
            <p:cNvSpPr txBox="1">
              <a:spLocks noChangeArrowheads="1"/>
            </p:cNvSpPr>
            <p:nvPr/>
          </p:nvSpPr>
          <p:spPr bwMode="auto">
            <a:xfrm>
              <a:off x="3864463" y="4370518"/>
              <a:ext cx="102029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Cognito</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(ID Pool)</a:t>
              </a:r>
            </a:p>
          </p:txBody>
        </p:sp>
      </p:grpSp>
      <p:cxnSp>
        <p:nvCxnSpPr>
          <p:cNvPr id="263" name="Elbow Connector 22" descr="Elbow horizontal arrow pointing right (1).">
            <a:extLst>
              <a:ext uri="{FF2B5EF4-FFF2-40B4-BE49-F238E27FC236}">
                <a16:creationId xmlns:a16="http://schemas.microsoft.com/office/drawing/2014/main" id="{96671A59-3E69-68DD-0904-C8B9907BEF55}"/>
              </a:ext>
            </a:extLst>
          </p:cNvPr>
          <p:cNvCxnSpPr>
            <a:cxnSpLocks/>
            <a:stCxn id="272" idx="0"/>
          </p:cNvCxnSpPr>
          <p:nvPr/>
        </p:nvCxnSpPr>
        <p:spPr>
          <a:xfrm rot="16200000" flipV="1">
            <a:off x="3030452" y="4557872"/>
            <a:ext cx="866319" cy="1384688"/>
          </a:xfrm>
          <a:prstGeom prst="bentConnector2">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pic>
        <p:nvPicPr>
          <p:cNvPr id="264" name="Graphic 86" descr="Temporary security credential resource icon for the IAM service.">
            <a:extLst>
              <a:ext uri="{FF2B5EF4-FFF2-40B4-BE49-F238E27FC236}">
                <a16:creationId xmlns:a16="http://schemas.microsoft.com/office/drawing/2014/main" id="{55428D8D-F204-D744-063C-DDE3D840B416}"/>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3663828" y="5053261"/>
            <a:ext cx="416212" cy="416212"/>
          </a:xfrm>
          <a:prstGeom prst="rect">
            <a:avLst/>
          </a:prstGeom>
        </p:spPr>
      </p:pic>
      <p:grpSp>
        <p:nvGrpSpPr>
          <p:cNvPr id="265" name="グループ化 264">
            <a:extLst>
              <a:ext uri="{FF2B5EF4-FFF2-40B4-BE49-F238E27FC236}">
                <a16:creationId xmlns:a16="http://schemas.microsoft.com/office/drawing/2014/main" id="{8CA550C5-4C1E-C63F-B4CE-5810F317CE9F}"/>
              </a:ext>
            </a:extLst>
          </p:cNvPr>
          <p:cNvGrpSpPr/>
          <p:nvPr/>
        </p:nvGrpSpPr>
        <p:grpSpPr>
          <a:xfrm>
            <a:off x="5746251" y="1644835"/>
            <a:ext cx="1020292" cy="992557"/>
            <a:chOff x="3864463" y="3839626"/>
            <a:chExt cx="1020292" cy="992557"/>
          </a:xfrm>
        </p:grpSpPr>
        <p:pic>
          <p:nvPicPr>
            <p:cNvPr id="270" name="Graphic 17" descr="Amazon Cognito service icon.">
              <a:extLst>
                <a:ext uri="{FF2B5EF4-FFF2-40B4-BE49-F238E27FC236}">
                  <a16:creationId xmlns:a16="http://schemas.microsoft.com/office/drawing/2014/main" id="{22BE79B5-AFAC-9079-4E1B-B1E288BB089E}"/>
                </a:ext>
              </a:extLst>
            </p:cNvPr>
            <p:cNvPicPr>
              <a:picLocks noChangeAspect="1" noChangeArrowheads="1"/>
            </p:cNvPicPr>
            <p:nvPr/>
          </p:nvPicPr>
          <p:blipFill>
            <a:blip r:embed="rId20">
              <a:extLst>
                <a:ext uri="{96DAC541-7B7A-43D3-8B79-37D633B846F1}">
                  <asvg:svgBlip xmlns:asvg="http://schemas.microsoft.com/office/drawing/2016/SVG/main" r:embed="rId21"/>
                </a:ext>
              </a:extLst>
            </a:blip>
            <a:srcRect/>
            <a:stretch/>
          </p:blipFill>
          <p:spPr bwMode="auto">
            <a:xfrm>
              <a:off x="4106362" y="3839626"/>
              <a:ext cx="536494" cy="536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1" name="TextBox 11">
              <a:extLst>
                <a:ext uri="{FF2B5EF4-FFF2-40B4-BE49-F238E27FC236}">
                  <a16:creationId xmlns:a16="http://schemas.microsoft.com/office/drawing/2014/main" id="{F6D1C032-CFA6-CF7A-D9D9-4089CA5BECA6}"/>
                </a:ext>
              </a:extLst>
            </p:cNvPr>
            <p:cNvSpPr txBox="1">
              <a:spLocks noChangeArrowheads="1"/>
            </p:cNvSpPr>
            <p:nvPr/>
          </p:nvSpPr>
          <p:spPr bwMode="auto">
            <a:xfrm>
              <a:off x="3864463" y="4370518"/>
              <a:ext cx="102029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Cognito (User Pool)</a:t>
              </a:r>
            </a:p>
          </p:txBody>
        </p:sp>
      </p:grpSp>
      <p:grpSp>
        <p:nvGrpSpPr>
          <p:cNvPr id="267" name="Group 1" descr="AWS Cloud group with AWS logo.">
            <a:extLst>
              <a:ext uri="{FF2B5EF4-FFF2-40B4-BE49-F238E27FC236}">
                <a16:creationId xmlns:a16="http://schemas.microsoft.com/office/drawing/2014/main" id="{969EE27B-1EF4-2823-C72D-8392F276520B}"/>
              </a:ext>
            </a:extLst>
          </p:cNvPr>
          <p:cNvGrpSpPr/>
          <p:nvPr/>
        </p:nvGrpSpPr>
        <p:grpSpPr>
          <a:xfrm>
            <a:off x="3528572" y="926869"/>
            <a:ext cx="4825253" cy="5828334"/>
            <a:chOff x="355598" y="689579"/>
            <a:chExt cx="4825253" cy="3747374"/>
          </a:xfrm>
        </p:grpSpPr>
        <p:sp>
          <p:nvSpPr>
            <p:cNvPr id="268" name="Rectangle 54">
              <a:extLst>
                <a:ext uri="{FF2B5EF4-FFF2-40B4-BE49-F238E27FC236}">
                  <a16:creationId xmlns:a16="http://schemas.microsoft.com/office/drawing/2014/main" id="{9C58D268-3F86-011D-2187-F631C2AFD3B2}"/>
                </a:ext>
              </a:extLst>
            </p:cNvPr>
            <p:cNvSpPr/>
            <p:nvPr/>
          </p:nvSpPr>
          <p:spPr>
            <a:xfrm>
              <a:off x="355599" y="689579"/>
              <a:ext cx="4825252" cy="3747374"/>
            </a:xfrm>
            <a:prstGeom prst="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r>
                <a:rPr lang="en-US" sz="1200" dirty="0">
                  <a:solidFill>
                    <a:schemeClr val="tx1"/>
                  </a:solidFill>
                  <a:latin typeface="Arial" panose="020B0604020202020204" pitchFamily="34" charset="0"/>
                  <a:cs typeface="Arial" panose="020B0604020202020204" pitchFamily="34" charset="0"/>
                </a:rPr>
                <a:t>AWS Cloud</a:t>
              </a:r>
            </a:p>
          </p:txBody>
        </p:sp>
        <p:pic>
          <p:nvPicPr>
            <p:cNvPr id="269" name="Graphic 55" descr="AWS Cloud group icon with AWS logo.">
              <a:extLst>
                <a:ext uri="{FF2B5EF4-FFF2-40B4-BE49-F238E27FC236}">
                  <a16:creationId xmlns:a16="http://schemas.microsoft.com/office/drawing/2014/main" id="{00A72706-97FA-D901-0EA5-BDE79DAA70A7}"/>
                </a:ext>
              </a:extLst>
            </p:cNvPr>
            <p:cNvPicPr>
              <a:picLocks noChangeAspect="1"/>
            </p:cNvPicPr>
            <p:nvPr/>
          </p:nvPicPr>
          <p:blipFill>
            <a:blip r:embed="rId24">
              <a:extLst>
                <a:ext uri="{96DAC541-7B7A-43D3-8B79-37D633B846F1}">
                  <asvg:svgBlip xmlns:asvg="http://schemas.microsoft.com/office/drawing/2016/SVG/main" r:embed="rId25"/>
                </a:ext>
              </a:extLst>
            </a:blip>
            <a:srcRect/>
            <a:stretch/>
          </p:blipFill>
          <p:spPr>
            <a:xfrm>
              <a:off x="355598" y="695923"/>
              <a:ext cx="419750" cy="287318"/>
            </a:xfrm>
            <a:prstGeom prst="rect">
              <a:avLst/>
            </a:prstGeom>
          </p:spPr>
        </p:pic>
      </p:grpSp>
      <p:sp>
        <p:nvSpPr>
          <p:cNvPr id="228" name="Rectangle 103" descr="Generic group dashed.">
            <a:extLst>
              <a:ext uri="{FF2B5EF4-FFF2-40B4-BE49-F238E27FC236}">
                <a16:creationId xmlns:a16="http://schemas.microsoft.com/office/drawing/2014/main" id="{984EF961-6128-F8F6-7172-EEB6798DC9AE}"/>
              </a:ext>
            </a:extLst>
          </p:cNvPr>
          <p:cNvSpPr/>
          <p:nvPr/>
        </p:nvSpPr>
        <p:spPr>
          <a:xfrm>
            <a:off x="690522" y="2075537"/>
            <a:ext cx="2621698" cy="1720079"/>
          </a:xfrm>
          <a:prstGeom prst="rect">
            <a:avLst/>
          </a:prstGeom>
          <a:noFill/>
          <a:ln w="15875">
            <a:solidFill>
              <a:srgbClr val="7D8998"/>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a:defRPr/>
            </a:pPr>
            <a:r>
              <a:rPr lang="ja-JP" altLang="en-US" sz="1200" dirty="0">
                <a:solidFill>
                  <a:schemeClr val="tx1"/>
                </a:solidFill>
                <a:latin typeface="Arial" panose="020B0604020202020204" pitchFamily="34" charset="0"/>
                <a:cs typeface="Arial" panose="020B0604020202020204" pitchFamily="34" charset="0"/>
              </a:rPr>
              <a:t>教員部屋（</a:t>
            </a:r>
            <a:r>
              <a:rPr lang="en-US" altLang="ja-JP" sz="1200" dirty="0">
                <a:solidFill>
                  <a:schemeClr val="tx1"/>
                </a:solidFill>
                <a:latin typeface="Arial" panose="020B0604020202020204" pitchFamily="34" charset="0"/>
                <a:cs typeface="Arial" panose="020B0604020202020204" pitchFamily="34" charset="0"/>
              </a:rPr>
              <a:t>J1404</a:t>
            </a:r>
            <a:r>
              <a:rPr lang="ja-JP" altLang="en-US" sz="1200" dirty="0">
                <a:solidFill>
                  <a:schemeClr val="tx1"/>
                </a:solidFill>
                <a:latin typeface="Arial" panose="020B0604020202020204" pitchFamily="34" charset="0"/>
                <a:cs typeface="Arial" panose="020B0604020202020204" pitchFamily="34" charset="0"/>
              </a:rPr>
              <a:t>）</a:t>
            </a:r>
            <a:endParaRPr lang="en-US" sz="1200" dirty="0">
              <a:solidFill>
                <a:schemeClr val="tx1"/>
              </a:solidFill>
              <a:latin typeface="Arial" panose="020B0604020202020204" pitchFamily="34" charset="0"/>
              <a:cs typeface="Arial" panose="020B0604020202020204" pitchFamily="34" charset="0"/>
            </a:endParaRPr>
          </a:p>
        </p:txBody>
      </p:sp>
      <p:pic>
        <p:nvPicPr>
          <p:cNvPr id="302" name="グラフィックス 301">
            <a:extLst>
              <a:ext uri="{FF2B5EF4-FFF2-40B4-BE49-F238E27FC236}">
                <a16:creationId xmlns:a16="http://schemas.microsoft.com/office/drawing/2014/main" id="{1DB4F7B9-6ED1-9D7D-80BE-8948DAF97D4F}"/>
              </a:ext>
            </a:extLst>
          </p:cNvPr>
          <p:cNvPicPr>
            <a:picLocks noChangeAspect="1"/>
          </p:cNvPicPr>
          <p:nvPr/>
        </p:nvPicPr>
        <p:blipFill>
          <a:blip r:embed="rId26">
            <a:grayscl/>
            <a:extLst>
              <a:ext uri="{96DAC541-7B7A-43D3-8B79-37D633B846F1}">
                <asvg:svgBlip xmlns:asvg="http://schemas.microsoft.com/office/drawing/2016/SVG/main" r:embed="rId27"/>
              </a:ext>
            </a:extLst>
          </a:blip>
          <a:srcRect l="25148" t="16203" r="25948" b="16205"/>
          <a:stretch/>
        </p:blipFill>
        <p:spPr>
          <a:xfrm>
            <a:off x="1029996" y="2508789"/>
            <a:ext cx="580096" cy="801769"/>
          </a:xfrm>
          <a:prstGeom prst="rect">
            <a:avLst/>
          </a:prstGeom>
        </p:spPr>
      </p:pic>
      <p:cxnSp>
        <p:nvCxnSpPr>
          <p:cNvPr id="303" name="Straight Arrow Connector 100">
            <a:extLst>
              <a:ext uri="{FF2B5EF4-FFF2-40B4-BE49-F238E27FC236}">
                <a16:creationId xmlns:a16="http://schemas.microsoft.com/office/drawing/2014/main" id="{1EB244B7-D95F-C7B0-E0D7-81AED1C8C323}"/>
              </a:ext>
            </a:extLst>
          </p:cNvPr>
          <p:cNvCxnSpPr>
            <a:cxnSpLocks/>
            <a:stCxn id="302" idx="3"/>
          </p:cNvCxnSpPr>
          <p:nvPr/>
        </p:nvCxnSpPr>
        <p:spPr>
          <a:xfrm>
            <a:off x="1610092" y="2909674"/>
            <a:ext cx="631375" cy="597"/>
          </a:xfrm>
          <a:prstGeom prst="straightConnector1">
            <a:avLst/>
          </a:prstGeom>
          <a:ln w="19050">
            <a:solidFill>
              <a:schemeClr val="tx1"/>
            </a:solidFill>
            <a:headEnd type="none" w="med" len="sm"/>
            <a:tailEnd type="none" w="med" len="sm"/>
          </a:ln>
        </p:spPr>
        <p:style>
          <a:lnRef idx="1">
            <a:schemeClr val="accent1"/>
          </a:lnRef>
          <a:fillRef idx="0">
            <a:schemeClr val="accent1"/>
          </a:fillRef>
          <a:effectRef idx="0">
            <a:schemeClr val="accent1"/>
          </a:effectRef>
          <a:fontRef idx="minor">
            <a:schemeClr val="tx1"/>
          </a:fontRef>
        </p:style>
      </p:cxnSp>
      <p:sp>
        <p:nvSpPr>
          <p:cNvPr id="306" name="Rectangle 103" descr="Generic group dashed.">
            <a:extLst>
              <a:ext uri="{FF2B5EF4-FFF2-40B4-BE49-F238E27FC236}">
                <a16:creationId xmlns:a16="http://schemas.microsoft.com/office/drawing/2014/main" id="{B91BD80F-B2C5-C8F3-E579-0D7E255D303B}"/>
              </a:ext>
            </a:extLst>
          </p:cNvPr>
          <p:cNvSpPr/>
          <p:nvPr/>
        </p:nvSpPr>
        <p:spPr>
          <a:xfrm>
            <a:off x="690522" y="3933107"/>
            <a:ext cx="2615365" cy="2822096"/>
          </a:xfrm>
          <a:prstGeom prst="rect">
            <a:avLst/>
          </a:prstGeom>
          <a:noFill/>
          <a:ln w="15875">
            <a:solidFill>
              <a:srgbClr val="7D8998"/>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a:defRPr/>
            </a:pPr>
            <a:r>
              <a:rPr lang="ja-JP" altLang="en-US" sz="1200" dirty="0">
                <a:solidFill>
                  <a:schemeClr val="tx1"/>
                </a:solidFill>
                <a:latin typeface="Arial" panose="020B0604020202020204" pitchFamily="34" charset="0"/>
                <a:cs typeface="Arial" panose="020B0604020202020204" pitchFamily="34" charset="0"/>
              </a:rPr>
              <a:t>学生部屋（</a:t>
            </a:r>
            <a:r>
              <a:rPr lang="en-US" altLang="ja-JP" sz="1200" dirty="0">
                <a:solidFill>
                  <a:schemeClr val="tx1"/>
                </a:solidFill>
                <a:latin typeface="Arial" panose="020B0604020202020204" pitchFamily="34" charset="0"/>
                <a:cs typeface="Arial" panose="020B0604020202020204" pitchFamily="34" charset="0"/>
              </a:rPr>
              <a:t>J1401</a:t>
            </a:r>
            <a:r>
              <a:rPr lang="ja-JP" altLang="en-US" sz="1200" dirty="0">
                <a:solidFill>
                  <a:schemeClr val="tx1"/>
                </a:solidFill>
                <a:latin typeface="Arial" panose="020B0604020202020204" pitchFamily="34" charset="0"/>
                <a:cs typeface="Arial" panose="020B0604020202020204" pitchFamily="34" charset="0"/>
              </a:rPr>
              <a:t>）</a:t>
            </a:r>
            <a:endParaRPr lang="en-US" sz="1200" dirty="0">
              <a:solidFill>
                <a:schemeClr val="tx1"/>
              </a:solidFill>
              <a:latin typeface="Arial" panose="020B0604020202020204" pitchFamily="34" charset="0"/>
              <a:cs typeface="Arial" panose="020B0604020202020204" pitchFamily="34" charset="0"/>
            </a:endParaRPr>
          </a:p>
        </p:txBody>
      </p:sp>
      <p:pic>
        <p:nvPicPr>
          <p:cNvPr id="307" name="グラフィックス 306">
            <a:extLst>
              <a:ext uri="{FF2B5EF4-FFF2-40B4-BE49-F238E27FC236}">
                <a16:creationId xmlns:a16="http://schemas.microsoft.com/office/drawing/2014/main" id="{0F6A4104-5B7B-A460-CE90-A2C52AD3BFAA}"/>
              </a:ext>
            </a:extLst>
          </p:cNvPr>
          <p:cNvPicPr>
            <a:picLocks noChangeAspect="1"/>
          </p:cNvPicPr>
          <p:nvPr/>
        </p:nvPicPr>
        <p:blipFill>
          <a:blip r:embed="rId26">
            <a:grayscl/>
            <a:extLst>
              <a:ext uri="{96DAC541-7B7A-43D3-8B79-37D633B846F1}">
                <asvg:svgBlip xmlns:asvg="http://schemas.microsoft.com/office/drawing/2016/SVG/main" r:embed="rId27"/>
              </a:ext>
            </a:extLst>
          </a:blip>
          <a:srcRect l="25148" t="16203" r="25948" b="16205"/>
          <a:stretch/>
        </p:blipFill>
        <p:spPr>
          <a:xfrm rot="16200000">
            <a:off x="1042395" y="5874413"/>
            <a:ext cx="599552" cy="828660"/>
          </a:xfrm>
          <a:prstGeom prst="rect">
            <a:avLst/>
          </a:prstGeom>
        </p:spPr>
      </p:pic>
      <p:cxnSp>
        <p:nvCxnSpPr>
          <p:cNvPr id="325" name="Straight Arrow Connector 52" descr="Double pointing horizontal arrow.">
            <a:extLst>
              <a:ext uri="{FF2B5EF4-FFF2-40B4-BE49-F238E27FC236}">
                <a16:creationId xmlns:a16="http://schemas.microsoft.com/office/drawing/2014/main" id="{96AF6B53-98BA-CC4E-F916-1E44F3FFC2E3}"/>
              </a:ext>
            </a:extLst>
          </p:cNvPr>
          <p:cNvCxnSpPr>
            <a:cxnSpLocks/>
            <a:stCxn id="296" idx="3"/>
            <a:endCxn id="294" idx="1"/>
          </p:cNvCxnSpPr>
          <p:nvPr/>
        </p:nvCxnSpPr>
        <p:spPr>
          <a:xfrm flipV="1">
            <a:off x="5349458" y="4650632"/>
            <a:ext cx="638693" cy="308"/>
          </a:xfrm>
          <a:prstGeom prst="straightConnector1">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329" name="Straight Arrow Connector 52" descr="Double pointing horizontal arrow.">
            <a:extLst>
              <a:ext uri="{FF2B5EF4-FFF2-40B4-BE49-F238E27FC236}">
                <a16:creationId xmlns:a16="http://schemas.microsoft.com/office/drawing/2014/main" id="{8DFD83C6-CED4-3E97-95C3-1D8A98D4DB83}"/>
              </a:ext>
            </a:extLst>
          </p:cNvPr>
          <p:cNvCxnSpPr>
            <a:cxnSpLocks/>
            <a:stCxn id="290" idx="0"/>
            <a:endCxn id="297" idx="2"/>
          </p:cNvCxnSpPr>
          <p:nvPr/>
        </p:nvCxnSpPr>
        <p:spPr>
          <a:xfrm flipH="1" flipV="1">
            <a:off x="5081211" y="5380852"/>
            <a:ext cx="3010" cy="315777"/>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332" name="Straight Arrow Connector 52" descr="Double pointing horizontal arrow.">
            <a:extLst>
              <a:ext uri="{FF2B5EF4-FFF2-40B4-BE49-F238E27FC236}">
                <a16:creationId xmlns:a16="http://schemas.microsoft.com/office/drawing/2014/main" id="{63FE34D7-1153-673D-71AA-1E1804A44F96}"/>
              </a:ext>
            </a:extLst>
          </p:cNvPr>
          <p:cNvCxnSpPr>
            <a:cxnSpLocks/>
            <a:stCxn id="294" idx="3"/>
            <a:endCxn id="298" idx="1"/>
          </p:cNvCxnSpPr>
          <p:nvPr/>
        </p:nvCxnSpPr>
        <p:spPr>
          <a:xfrm>
            <a:off x="6524645" y="4650632"/>
            <a:ext cx="640661" cy="2899"/>
          </a:xfrm>
          <a:prstGeom prst="straightConnector1">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335" name="Straight Arrow Connector 52" descr="Double pointing horizontal arrow.">
            <a:extLst>
              <a:ext uri="{FF2B5EF4-FFF2-40B4-BE49-F238E27FC236}">
                <a16:creationId xmlns:a16="http://schemas.microsoft.com/office/drawing/2014/main" id="{5B5208A9-CF29-8DAF-0D49-320D44768271}"/>
              </a:ext>
            </a:extLst>
          </p:cNvPr>
          <p:cNvCxnSpPr>
            <a:cxnSpLocks/>
            <a:stCxn id="282" idx="0"/>
            <a:endCxn id="295" idx="2"/>
          </p:cNvCxnSpPr>
          <p:nvPr/>
        </p:nvCxnSpPr>
        <p:spPr>
          <a:xfrm flipV="1">
            <a:off x="6257001" y="5195318"/>
            <a:ext cx="3868" cy="496800"/>
          </a:xfrm>
          <a:prstGeom prst="straightConnector1">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341" name="Straight Arrow Connector 52" descr="Double pointing horizontal arrow.">
            <a:extLst>
              <a:ext uri="{FF2B5EF4-FFF2-40B4-BE49-F238E27FC236}">
                <a16:creationId xmlns:a16="http://schemas.microsoft.com/office/drawing/2014/main" id="{22811D71-395D-5C0B-0204-B690FAA667B4}"/>
              </a:ext>
            </a:extLst>
          </p:cNvPr>
          <p:cNvCxnSpPr>
            <a:cxnSpLocks/>
            <a:stCxn id="274" idx="3"/>
            <a:endCxn id="280" idx="1"/>
          </p:cNvCxnSpPr>
          <p:nvPr/>
        </p:nvCxnSpPr>
        <p:spPr>
          <a:xfrm>
            <a:off x="5351243" y="2913519"/>
            <a:ext cx="636909" cy="1957"/>
          </a:xfrm>
          <a:prstGeom prst="straightConnector1">
            <a:avLst/>
          </a:prstGeom>
          <a:ln w="15875">
            <a:solidFill>
              <a:schemeClr val="tx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grpSp>
        <p:nvGrpSpPr>
          <p:cNvPr id="345" name="グループ化 344">
            <a:extLst>
              <a:ext uri="{FF2B5EF4-FFF2-40B4-BE49-F238E27FC236}">
                <a16:creationId xmlns:a16="http://schemas.microsoft.com/office/drawing/2014/main" id="{69718284-0738-273F-3EB0-C25B92E8102B}"/>
              </a:ext>
            </a:extLst>
          </p:cNvPr>
          <p:cNvGrpSpPr/>
          <p:nvPr/>
        </p:nvGrpSpPr>
        <p:grpSpPr>
          <a:xfrm>
            <a:off x="7023122" y="2645832"/>
            <a:ext cx="820861" cy="812933"/>
            <a:chOff x="5051089" y="1185069"/>
            <a:chExt cx="1165896" cy="1154637"/>
          </a:xfrm>
        </p:grpSpPr>
        <p:pic>
          <p:nvPicPr>
            <p:cNvPr id="346" name="Graphic 10" descr="AWS Lambda service icon.">
              <a:extLst>
                <a:ext uri="{FF2B5EF4-FFF2-40B4-BE49-F238E27FC236}">
                  <a16:creationId xmlns:a16="http://schemas.microsoft.com/office/drawing/2014/main" id="{19F8A3EF-C126-6933-F4D0-B228A875B13C}"/>
                </a:ext>
              </a:extLst>
            </p:cNvPr>
            <p:cNvPicPr>
              <a:picLocks noChangeAspect="1" noChangeArrowheads="1"/>
            </p:cNvPicPr>
            <p:nvPr/>
          </p:nvPicPr>
          <p:blipFill>
            <a:blip r:embed="rId6">
              <a:extLst>
                <a:ext uri="{96DAC541-7B7A-43D3-8B79-37D633B846F1}">
                  <asvg:svgBlip xmlns:asvg="http://schemas.microsoft.com/office/drawing/2016/SVG/main" r:embed="rId7"/>
                </a:ext>
              </a:extLst>
            </a:blip>
            <a:srcRect/>
            <a:stretch/>
          </p:blipFill>
          <p:spPr bwMode="auto">
            <a:xfrm>
              <a:off x="5246688" y="1185069"/>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7" name="TextBox 20">
              <a:extLst>
                <a:ext uri="{FF2B5EF4-FFF2-40B4-BE49-F238E27FC236}">
                  <a16:creationId xmlns:a16="http://schemas.microsoft.com/office/drawing/2014/main" id="{8BA68CA5-83FA-87A5-4EF7-C2CF443A53F8}"/>
                </a:ext>
              </a:extLst>
            </p:cNvPr>
            <p:cNvSpPr txBox="1">
              <a:spLocks noChangeArrowheads="1"/>
            </p:cNvSpPr>
            <p:nvPr/>
          </p:nvSpPr>
          <p:spPr bwMode="auto">
            <a:xfrm>
              <a:off x="5051089" y="1946275"/>
              <a:ext cx="1165896" cy="393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Lambda</a:t>
              </a:r>
            </a:p>
          </p:txBody>
        </p:sp>
      </p:grpSp>
      <p:cxnSp>
        <p:nvCxnSpPr>
          <p:cNvPr id="348" name="Straight Arrow Connector 52" descr="Double pointing horizontal arrow.">
            <a:extLst>
              <a:ext uri="{FF2B5EF4-FFF2-40B4-BE49-F238E27FC236}">
                <a16:creationId xmlns:a16="http://schemas.microsoft.com/office/drawing/2014/main" id="{A65BDEB5-E02E-E417-0DD6-CF2953FFE0EE}"/>
              </a:ext>
            </a:extLst>
          </p:cNvPr>
          <p:cNvCxnSpPr>
            <a:cxnSpLocks/>
            <a:stCxn id="280" idx="3"/>
            <a:endCxn id="346" idx="1"/>
          </p:cNvCxnSpPr>
          <p:nvPr/>
        </p:nvCxnSpPr>
        <p:spPr>
          <a:xfrm flipV="1">
            <a:off x="6524646" y="2914079"/>
            <a:ext cx="636189" cy="1397"/>
          </a:xfrm>
          <a:prstGeom prst="straightConnector1">
            <a:avLst/>
          </a:prstGeom>
          <a:ln w="15875">
            <a:solidFill>
              <a:schemeClr val="tx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cxnSp>
        <p:nvCxnSpPr>
          <p:cNvPr id="351" name="Straight Arrow Connector 52" descr="Double pointing horizontal arrow.">
            <a:extLst>
              <a:ext uri="{FF2B5EF4-FFF2-40B4-BE49-F238E27FC236}">
                <a16:creationId xmlns:a16="http://schemas.microsoft.com/office/drawing/2014/main" id="{0F044A8B-7ABF-74A0-E39D-4C0333D35C50}"/>
              </a:ext>
            </a:extLst>
          </p:cNvPr>
          <p:cNvCxnSpPr>
            <a:cxnSpLocks/>
            <a:stCxn id="275" idx="2"/>
            <a:endCxn id="296" idx="0"/>
          </p:cNvCxnSpPr>
          <p:nvPr/>
        </p:nvCxnSpPr>
        <p:spPr>
          <a:xfrm flipH="1">
            <a:off x="5081211" y="3458765"/>
            <a:ext cx="1785" cy="923928"/>
          </a:xfrm>
          <a:prstGeom prst="straightConnector1">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sp>
        <p:nvSpPr>
          <p:cNvPr id="257" name="テキスト ボックス 256">
            <a:extLst>
              <a:ext uri="{FF2B5EF4-FFF2-40B4-BE49-F238E27FC236}">
                <a16:creationId xmlns:a16="http://schemas.microsoft.com/office/drawing/2014/main" id="{8263EE56-D1F7-6FD0-A9B9-044ED552FC45}"/>
              </a:ext>
            </a:extLst>
          </p:cNvPr>
          <p:cNvSpPr txBox="1"/>
          <p:nvPr/>
        </p:nvSpPr>
        <p:spPr>
          <a:xfrm>
            <a:off x="4360260" y="3860479"/>
            <a:ext cx="2390492" cy="276999"/>
          </a:xfrm>
          <a:prstGeom prst="rect">
            <a:avLst/>
          </a:prstGeom>
          <a:solidFill>
            <a:srgbClr val="EFECE3"/>
          </a:solidFill>
        </p:spPr>
        <p:txBody>
          <a:bodyPr wrap="square" rtlCol="0">
            <a:spAutoFit/>
          </a:bodyPr>
          <a:lstStyle/>
          <a:p>
            <a:r>
              <a:rPr lang="ja-JP" altLang="en-US" sz="1200" b="1" dirty="0">
                <a:latin typeface="BIZ UDゴシック" panose="020B0400000000000000" pitchFamily="49" charset="-128"/>
                <a:ea typeface="BIZ UDゴシック" panose="020B0400000000000000" pitchFamily="49" charset="-128"/>
              </a:rPr>
              <a:t>ユーザー・在室登録サービス</a:t>
            </a:r>
            <a:endParaRPr kumimoji="1" lang="ja-JP" altLang="en-US" sz="1200" b="1" dirty="0">
              <a:latin typeface="BIZ UDゴシック" panose="020B0400000000000000" pitchFamily="49" charset="-128"/>
              <a:ea typeface="BIZ UDゴシック" panose="020B0400000000000000" pitchFamily="49" charset="-128"/>
            </a:endParaRPr>
          </a:p>
        </p:txBody>
      </p:sp>
      <p:grpSp>
        <p:nvGrpSpPr>
          <p:cNvPr id="361" name="グループ化 360">
            <a:extLst>
              <a:ext uri="{FF2B5EF4-FFF2-40B4-BE49-F238E27FC236}">
                <a16:creationId xmlns:a16="http://schemas.microsoft.com/office/drawing/2014/main" id="{762A2B05-2A7F-F7F3-A392-DBCF33AE14C0}"/>
              </a:ext>
            </a:extLst>
          </p:cNvPr>
          <p:cNvGrpSpPr/>
          <p:nvPr/>
        </p:nvGrpSpPr>
        <p:grpSpPr>
          <a:xfrm>
            <a:off x="7397897" y="3458765"/>
            <a:ext cx="71896" cy="901612"/>
            <a:chOff x="6937330" y="3141097"/>
            <a:chExt cx="71896" cy="901612"/>
          </a:xfrm>
        </p:grpSpPr>
        <p:cxnSp>
          <p:nvCxnSpPr>
            <p:cNvPr id="354" name="Straight Arrow Connector 52" descr="Double pointing horizontal arrow.">
              <a:extLst>
                <a:ext uri="{FF2B5EF4-FFF2-40B4-BE49-F238E27FC236}">
                  <a16:creationId xmlns:a16="http://schemas.microsoft.com/office/drawing/2014/main" id="{B5A512C8-818B-CE66-4CF8-E76B0B4B47EF}"/>
                </a:ext>
              </a:extLst>
            </p:cNvPr>
            <p:cNvCxnSpPr>
              <a:cxnSpLocks/>
              <a:stCxn id="360" idx="0"/>
              <a:endCxn id="347" idx="2"/>
            </p:cNvCxnSpPr>
            <p:nvPr/>
          </p:nvCxnSpPr>
          <p:spPr>
            <a:xfrm flipH="1" flipV="1">
              <a:off x="6972986" y="3141097"/>
              <a:ext cx="292" cy="829716"/>
            </a:xfrm>
            <a:prstGeom prst="straightConnector1">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sp>
          <p:nvSpPr>
            <p:cNvPr id="360" name="楕円 359">
              <a:extLst>
                <a:ext uri="{FF2B5EF4-FFF2-40B4-BE49-F238E27FC236}">
                  <a16:creationId xmlns:a16="http://schemas.microsoft.com/office/drawing/2014/main" id="{C77A70F0-107B-B58E-4833-27D57A64C546}"/>
                </a:ext>
              </a:extLst>
            </p:cNvPr>
            <p:cNvSpPr/>
            <p:nvPr/>
          </p:nvSpPr>
          <p:spPr>
            <a:xfrm>
              <a:off x="6937330" y="3970813"/>
              <a:ext cx="71896" cy="71896"/>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62" name="TextBox 9">
            <a:extLst>
              <a:ext uri="{FF2B5EF4-FFF2-40B4-BE49-F238E27FC236}">
                <a16:creationId xmlns:a16="http://schemas.microsoft.com/office/drawing/2014/main" id="{E37EA5D5-CC26-091E-342A-2C94428CF63F}"/>
              </a:ext>
            </a:extLst>
          </p:cNvPr>
          <p:cNvSpPr txBox="1">
            <a:spLocks noChangeArrowheads="1"/>
          </p:cNvSpPr>
          <p:nvPr/>
        </p:nvSpPr>
        <p:spPr bwMode="auto">
          <a:xfrm>
            <a:off x="7385849" y="3789686"/>
            <a:ext cx="76250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Stream</a:t>
            </a:r>
          </a:p>
        </p:txBody>
      </p:sp>
      <p:cxnSp>
        <p:nvCxnSpPr>
          <p:cNvPr id="369" name="Straight Arrow Connector 52" descr="Double pointing horizontal arrow.">
            <a:extLst>
              <a:ext uri="{FF2B5EF4-FFF2-40B4-BE49-F238E27FC236}">
                <a16:creationId xmlns:a16="http://schemas.microsoft.com/office/drawing/2014/main" id="{B264485C-65B2-AB69-ABE4-7625D2A7C057}"/>
              </a:ext>
            </a:extLst>
          </p:cNvPr>
          <p:cNvCxnSpPr>
            <a:cxnSpLocks/>
            <a:stCxn id="274" idx="1"/>
          </p:cNvCxnSpPr>
          <p:nvPr/>
        </p:nvCxnSpPr>
        <p:spPr>
          <a:xfrm flipH="1" flipV="1">
            <a:off x="2777961" y="2910271"/>
            <a:ext cx="2036788" cy="3248"/>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372" name="Straight Arrow Connector 52" descr="Double pointing horizontal arrow.">
            <a:extLst>
              <a:ext uri="{FF2B5EF4-FFF2-40B4-BE49-F238E27FC236}">
                <a16:creationId xmlns:a16="http://schemas.microsoft.com/office/drawing/2014/main" id="{84ECBD37-CEAB-43E5-2E47-99D5B1A3B7F5}"/>
              </a:ext>
            </a:extLst>
          </p:cNvPr>
          <p:cNvCxnSpPr>
            <a:cxnSpLocks/>
            <a:stCxn id="286" idx="1"/>
            <a:endCxn id="307" idx="2"/>
          </p:cNvCxnSpPr>
          <p:nvPr/>
        </p:nvCxnSpPr>
        <p:spPr>
          <a:xfrm flipH="1">
            <a:off x="1756501" y="6288743"/>
            <a:ext cx="294775" cy="0"/>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sp>
        <p:nvSpPr>
          <p:cNvPr id="380" name="Rectangle 103" descr="Generic group dashed.">
            <a:extLst>
              <a:ext uri="{FF2B5EF4-FFF2-40B4-BE49-F238E27FC236}">
                <a16:creationId xmlns:a16="http://schemas.microsoft.com/office/drawing/2014/main" id="{107EDB38-19A7-2DB6-5F62-EEEA9124FAC4}"/>
              </a:ext>
            </a:extLst>
          </p:cNvPr>
          <p:cNvSpPr/>
          <p:nvPr/>
        </p:nvSpPr>
        <p:spPr>
          <a:xfrm>
            <a:off x="4457026" y="1552760"/>
            <a:ext cx="3541821" cy="2158934"/>
          </a:xfrm>
          <a:prstGeom prst="rect">
            <a:avLst/>
          </a:prstGeom>
          <a:noFill/>
          <a:ln w="15875">
            <a:solidFill>
              <a:srgbClr val="7D8998"/>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eaLnBrk="1" fontAlgn="auto" hangingPunct="1">
              <a:spcBef>
                <a:spcPts val="0"/>
              </a:spcBef>
              <a:spcAft>
                <a:spcPts val="0"/>
              </a:spcAft>
              <a:defRPr/>
            </a:pPr>
            <a:endParaRPr lang="en-US" sz="1200" dirty="0">
              <a:solidFill>
                <a:schemeClr val="tx1"/>
              </a:solidFill>
              <a:latin typeface="Arial" panose="020B0604020202020204" pitchFamily="34" charset="0"/>
              <a:cs typeface="Arial" panose="020B0604020202020204" pitchFamily="34" charset="0"/>
            </a:endParaRPr>
          </a:p>
        </p:txBody>
      </p:sp>
      <p:sp>
        <p:nvSpPr>
          <p:cNvPr id="256" name="テキスト ボックス 255">
            <a:extLst>
              <a:ext uri="{FF2B5EF4-FFF2-40B4-BE49-F238E27FC236}">
                <a16:creationId xmlns:a16="http://schemas.microsoft.com/office/drawing/2014/main" id="{A3FA8876-3ACC-4B0C-E517-605C5F82326F}"/>
              </a:ext>
            </a:extLst>
          </p:cNvPr>
          <p:cNvSpPr txBox="1"/>
          <p:nvPr/>
        </p:nvSpPr>
        <p:spPr>
          <a:xfrm>
            <a:off x="4355739" y="1260339"/>
            <a:ext cx="2390492" cy="276999"/>
          </a:xfrm>
          <a:prstGeom prst="rect">
            <a:avLst/>
          </a:prstGeom>
          <a:solidFill>
            <a:srgbClr val="EFECE3"/>
          </a:solidFill>
        </p:spPr>
        <p:txBody>
          <a:bodyPr wrap="square" rtlCol="0">
            <a:spAutoFit/>
          </a:bodyPr>
          <a:lstStyle/>
          <a:p>
            <a:r>
              <a:rPr lang="ja-JP" altLang="en-US" sz="1200" b="1" dirty="0">
                <a:latin typeface="BIZ UDゴシック" panose="020B0400000000000000" pitchFamily="49" charset="-128"/>
                <a:ea typeface="BIZ UDゴシック" panose="020B0400000000000000" pitchFamily="49" charset="-128"/>
              </a:rPr>
              <a:t>ユーザー・在室表示サービス</a:t>
            </a:r>
            <a:endParaRPr kumimoji="1" lang="ja-JP" altLang="en-US" sz="1200" b="1" dirty="0">
              <a:latin typeface="BIZ UDゴシック" panose="020B0400000000000000" pitchFamily="49" charset="-128"/>
              <a:ea typeface="BIZ UDゴシック" panose="020B0400000000000000" pitchFamily="49" charset="-128"/>
            </a:endParaRPr>
          </a:p>
        </p:txBody>
      </p:sp>
      <p:cxnSp>
        <p:nvCxnSpPr>
          <p:cNvPr id="388" name="Elbow Connector 22" descr="Elbow horizontal arrow pointing right (1).">
            <a:extLst>
              <a:ext uri="{FF2B5EF4-FFF2-40B4-BE49-F238E27FC236}">
                <a16:creationId xmlns:a16="http://schemas.microsoft.com/office/drawing/2014/main" id="{FEEB53DC-04A3-CDCB-4E93-C26379169E42}"/>
              </a:ext>
            </a:extLst>
          </p:cNvPr>
          <p:cNvCxnSpPr>
            <a:cxnSpLocks/>
            <a:stCxn id="270" idx="1"/>
            <a:endCxn id="274" idx="0"/>
          </p:cNvCxnSpPr>
          <p:nvPr/>
        </p:nvCxnSpPr>
        <p:spPr>
          <a:xfrm rot="10800000" flipV="1">
            <a:off x="5082996" y="1913082"/>
            <a:ext cx="905154" cy="732190"/>
          </a:xfrm>
          <a:prstGeom prst="bentConnector2">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391" name="Elbow Connector 22" descr="Elbow horizontal arrow pointing right (1).">
            <a:extLst>
              <a:ext uri="{FF2B5EF4-FFF2-40B4-BE49-F238E27FC236}">
                <a16:creationId xmlns:a16="http://schemas.microsoft.com/office/drawing/2014/main" id="{79EB4FFA-53F3-5828-110E-7A16EFD2F7D2}"/>
              </a:ext>
            </a:extLst>
          </p:cNvPr>
          <p:cNvCxnSpPr>
            <a:cxnSpLocks/>
            <a:stCxn id="274" idx="0"/>
            <a:endCxn id="270" idx="1"/>
          </p:cNvCxnSpPr>
          <p:nvPr/>
        </p:nvCxnSpPr>
        <p:spPr>
          <a:xfrm rot="5400000" flipH="1" flipV="1">
            <a:off x="5169478" y="1826600"/>
            <a:ext cx="732190" cy="905154"/>
          </a:xfrm>
          <a:prstGeom prst="bentConnector2">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394" name="Elbow Connector 22" descr="Elbow horizontal arrow pointing right (1).">
            <a:extLst>
              <a:ext uri="{FF2B5EF4-FFF2-40B4-BE49-F238E27FC236}">
                <a16:creationId xmlns:a16="http://schemas.microsoft.com/office/drawing/2014/main" id="{A2A455AF-A004-23AC-703E-FAFEF0FC885F}"/>
              </a:ext>
            </a:extLst>
          </p:cNvPr>
          <p:cNvCxnSpPr>
            <a:cxnSpLocks/>
            <a:endCxn id="272" idx="0"/>
          </p:cNvCxnSpPr>
          <p:nvPr/>
        </p:nvCxnSpPr>
        <p:spPr>
          <a:xfrm>
            <a:off x="2781957" y="4817404"/>
            <a:ext cx="1373998" cy="865971"/>
          </a:xfrm>
          <a:prstGeom prst="bentConnector2">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sp>
        <p:nvSpPr>
          <p:cNvPr id="401" name="正方形/長方形 400">
            <a:extLst>
              <a:ext uri="{FF2B5EF4-FFF2-40B4-BE49-F238E27FC236}">
                <a16:creationId xmlns:a16="http://schemas.microsoft.com/office/drawing/2014/main" id="{A24CE7A6-D427-8FDE-A73F-6D6536C8B556}"/>
              </a:ext>
            </a:extLst>
          </p:cNvPr>
          <p:cNvSpPr/>
          <p:nvPr/>
        </p:nvSpPr>
        <p:spPr>
          <a:xfrm>
            <a:off x="3522240" y="926869"/>
            <a:ext cx="4831584" cy="5828334"/>
          </a:xfrm>
          <a:prstGeom prst="rect">
            <a:avLst/>
          </a:prstGeom>
          <a:solidFill>
            <a:srgbClr val="FFFFFF"/>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402" name="Picture 4" descr="AWS - inteltank">
            <a:extLst>
              <a:ext uri="{FF2B5EF4-FFF2-40B4-BE49-F238E27FC236}">
                <a16:creationId xmlns:a16="http://schemas.microsoft.com/office/drawing/2014/main" id="{D1425E57-C8C9-D01A-8284-9C55474927C6}"/>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4836946" y="3069170"/>
            <a:ext cx="2211582" cy="1452274"/>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Raspberry icon - Free download on Iconfinder">
            <a:extLst>
              <a:ext uri="{FF2B5EF4-FFF2-40B4-BE49-F238E27FC236}">
                <a16:creationId xmlns:a16="http://schemas.microsoft.com/office/drawing/2014/main" id="{5FEF8C1F-C02E-D1EA-EC8F-C45D7D613DF1}"/>
              </a:ext>
            </a:extLst>
          </p:cNvPr>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2244769" y="4471085"/>
            <a:ext cx="544810" cy="54481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Raspberry icon - Free download on Iconfinder">
            <a:extLst>
              <a:ext uri="{FF2B5EF4-FFF2-40B4-BE49-F238E27FC236}">
                <a16:creationId xmlns:a16="http://schemas.microsoft.com/office/drawing/2014/main" id="{D2D648B4-E619-B589-E911-F982206C95B7}"/>
              </a:ext>
            </a:extLst>
          </p:cNvPr>
          <p:cNvPicPr>
            <a:picLocks noChangeAspect="1" noChangeArrowheads="1"/>
          </p:cNvPicPr>
          <p:nvPr/>
        </p:nvPicPr>
        <p:blipFill>
          <a:blip r:embed="rId29">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244769" y="2641704"/>
            <a:ext cx="544810" cy="5448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38974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F1D90-200B-2E6A-D38C-CA36009B691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7DFA016-6747-2FE1-65EC-88D00C4DECC8}"/>
              </a:ext>
            </a:extLst>
          </p:cNvPr>
          <p:cNvSpPr>
            <a:spLocks noGrp="1"/>
          </p:cNvSpPr>
          <p:nvPr>
            <p:ph type="title"/>
          </p:nvPr>
        </p:nvSpPr>
        <p:spPr/>
        <p:txBody>
          <a:bodyPr/>
          <a:lstStyle/>
          <a:p>
            <a:r>
              <a:rPr kumimoji="1" lang="ja-JP" altLang="en-US" dirty="0"/>
              <a:t>在室確認システムのアーキテクチャ</a:t>
            </a:r>
          </a:p>
        </p:txBody>
      </p:sp>
      <p:grpSp>
        <p:nvGrpSpPr>
          <p:cNvPr id="230" name="グループ化 229">
            <a:extLst>
              <a:ext uri="{FF2B5EF4-FFF2-40B4-BE49-F238E27FC236}">
                <a16:creationId xmlns:a16="http://schemas.microsoft.com/office/drawing/2014/main" id="{3DB763B0-F250-31F4-4008-E5091A63CAB5}"/>
              </a:ext>
            </a:extLst>
          </p:cNvPr>
          <p:cNvGrpSpPr/>
          <p:nvPr/>
        </p:nvGrpSpPr>
        <p:grpSpPr>
          <a:xfrm>
            <a:off x="6904519" y="4385283"/>
            <a:ext cx="1058068" cy="814611"/>
            <a:chOff x="4098454" y="2667000"/>
            <a:chExt cx="1502808" cy="1157017"/>
          </a:xfrm>
        </p:grpSpPr>
        <p:pic>
          <p:nvPicPr>
            <p:cNvPr id="298" name="Graphic 23" descr="Amazon DynamoDB service icon.">
              <a:extLst>
                <a:ext uri="{FF2B5EF4-FFF2-40B4-BE49-F238E27FC236}">
                  <a16:creationId xmlns:a16="http://schemas.microsoft.com/office/drawing/2014/main" id="{C5F15320-82B4-A93C-32BE-A2C187A737D1}"/>
                </a:ext>
              </a:extLst>
            </p:cNvPr>
            <p:cNvPicPr>
              <a:picLocks noChangeAspect="1" noChangeArrowheads="1"/>
            </p:cNvPicPr>
            <p:nvPr/>
          </p:nvPicPr>
          <p:blipFill>
            <a:blip r:embed="rId2">
              <a:extLst>
                <a:ext uri="{96DAC541-7B7A-43D3-8B79-37D633B846F1}">
                  <asvg:svgBlip xmlns:asvg="http://schemas.microsoft.com/office/drawing/2016/SVG/main" r:embed="rId3"/>
                </a:ext>
              </a:extLst>
            </a:blip>
            <a:srcRect/>
            <a:stretch/>
          </p:blipFill>
          <p:spPr bwMode="auto">
            <a:xfrm>
              <a:off x="4468858" y="2667000"/>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9" name="TextBox 12">
              <a:extLst>
                <a:ext uri="{FF2B5EF4-FFF2-40B4-BE49-F238E27FC236}">
                  <a16:creationId xmlns:a16="http://schemas.microsoft.com/office/drawing/2014/main" id="{C03508DF-BA99-3F04-FA4D-72A13907D5D2}"/>
                </a:ext>
              </a:extLst>
            </p:cNvPr>
            <p:cNvSpPr txBox="1">
              <a:spLocks noChangeArrowheads="1"/>
            </p:cNvSpPr>
            <p:nvPr/>
          </p:nvSpPr>
          <p:spPr bwMode="auto">
            <a:xfrm>
              <a:off x="4098454" y="3430587"/>
              <a:ext cx="1502808" cy="393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DynamoDB</a:t>
              </a:r>
            </a:p>
          </p:txBody>
        </p:sp>
      </p:grpSp>
      <p:grpSp>
        <p:nvGrpSpPr>
          <p:cNvPr id="231" name="グループ化 230">
            <a:extLst>
              <a:ext uri="{FF2B5EF4-FFF2-40B4-BE49-F238E27FC236}">
                <a16:creationId xmlns:a16="http://schemas.microsoft.com/office/drawing/2014/main" id="{F12CA006-14E8-4B53-AF61-9277FC7DA304}"/>
              </a:ext>
            </a:extLst>
          </p:cNvPr>
          <p:cNvGrpSpPr/>
          <p:nvPr/>
        </p:nvGrpSpPr>
        <p:grpSpPr>
          <a:xfrm>
            <a:off x="4522361" y="4382693"/>
            <a:ext cx="1117700" cy="998159"/>
            <a:chOff x="2576510" y="1184275"/>
            <a:chExt cx="1587506" cy="1417718"/>
          </a:xfrm>
        </p:grpSpPr>
        <p:pic>
          <p:nvPicPr>
            <p:cNvPr id="296" name="Graphic 7" descr="Amazon API Gateway service icon.">
              <a:extLst>
                <a:ext uri="{FF2B5EF4-FFF2-40B4-BE49-F238E27FC236}">
                  <a16:creationId xmlns:a16="http://schemas.microsoft.com/office/drawing/2014/main" id="{5019AC16-DEBB-7F0A-9A94-AFE4FA8C6A2F}"/>
                </a:ext>
              </a:extLst>
            </p:cNvPr>
            <p:cNvPicPr>
              <a:picLocks noChangeAspect="1" noChangeArrowheads="1"/>
            </p:cNvPicPr>
            <p:nvPr/>
          </p:nvPicPr>
          <p:blipFill>
            <a:blip r:embed="rId4">
              <a:extLst>
                <a:ext uri="{96DAC541-7B7A-43D3-8B79-37D633B846F1}">
                  <asvg:svgBlip xmlns:asvg="http://schemas.microsoft.com/office/drawing/2016/SVG/main" r:embed="rId5"/>
                </a:ext>
              </a:extLst>
            </a:blip>
            <a:srcRect/>
            <a:stretch/>
          </p:blipFill>
          <p:spPr bwMode="auto">
            <a:xfrm>
              <a:off x="2989263" y="1184275"/>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 name="TextBox 9">
              <a:extLst>
                <a:ext uri="{FF2B5EF4-FFF2-40B4-BE49-F238E27FC236}">
                  <a16:creationId xmlns:a16="http://schemas.microsoft.com/office/drawing/2014/main" id="{7C250F22-A012-6D35-4BC1-ECFE3BA82DB3}"/>
                </a:ext>
              </a:extLst>
            </p:cNvPr>
            <p:cNvSpPr txBox="1">
              <a:spLocks noChangeArrowheads="1"/>
            </p:cNvSpPr>
            <p:nvPr/>
          </p:nvSpPr>
          <p:spPr bwMode="auto">
            <a:xfrm>
              <a:off x="2576510" y="1946275"/>
              <a:ext cx="1587506" cy="655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API Gateway</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(REST API)</a:t>
              </a:r>
            </a:p>
          </p:txBody>
        </p:sp>
      </p:grpSp>
      <p:grpSp>
        <p:nvGrpSpPr>
          <p:cNvPr id="232" name="グループ化 231">
            <a:extLst>
              <a:ext uri="{FF2B5EF4-FFF2-40B4-BE49-F238E27FC236}">
                <a16:creationId xmlns:a16="http://schemas.microsoft.com/office/drawing/2014/main" id="{69100B37-C875-31F2-0604-E5593CCBDE48}"/>
              </a:ext>
            </a:extLst>
          </p:cNvPr>
          <p:cNvGrpSpPr/>
          <p:nvPr/>
        </p:nvGrpSpPr>
        <p:grpSpPr>
          <a:xfrm>
            <a:off x="5850438" y="4382385"/>
            <a:ext cx="820861" cy="812933"/>
            <a:chOff x="5051089" y="1185069"/>
            <a:chExt cx="1165896" cy="1154637"/>
          </a:xfrm>
        </p:grpSpPr>
        <p:pic>
          <p:nvPicPr>
            <p:cNvPr id="294" name="Graphic 10" descr="AWS Lambda service icon.">
              <a:extLst>
                <a:ext uri="{FF2B5EF4-FFF2-40B4-BE49-F238E27FC236}">
                  <a16:creationId xmlns:a16="http://schemas.microsoft.com/office/drawing/2014/main" id="{AF5006E9-876E-D0DC-D2AE-F426970BABA0}"/>
                </a:ext>
              </a:extLst>
            </p:cNvPr>
            <p:cNvPicPr>
              <a:picLocks noChangeAspect="1" noChangeArrowheads="1"/>
            </p:cNvPicPr>
            <p:nvPr/>
          </p:nvPicPr>
          <p:blipFill>
            <a:blip r:embed="rId6">
              <a:extLst>
                <a:ext uri="{96DAC541-7B7A-43D3-8B79-37D633B846F1}">
                  <asvg:svgBlip xmlns:asvg="http://schemas.microsoft.com/office/drawing/2016/SVG/main" r:embed="rId7"/>
                </a:ext>
              </a:extLst>
            </a:blip>
            <a:srcRect/>
            <a:stretch/>
          </p:blipFill>
          <p:spPr bwMode="auto">
            <a:xfrm>
              <a:off x="5246688" y="1185069"/>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5" name="TextBox 20">
              <a:extLst>
                <a:ext uri="{FF2B5EF4-FFF2-40B4-BE49-F238E27FC236}">
                  <a16:creationId xmlns:a16="http://schemas.microsoft.com/office/drawing/2014/main" id="{54535F8A-E4F8-8D6A-8567-9331C6B3BA95}"/>
                </a:ext>
              </a:extLst>
            </p:cNvPr>
            <p:cNvSpPr txBox="1">
              <a:spLocks noChangeArrowheads="1"/>
            </p:cNvSpPr>
            <p:nvPr/>
          </p:nvSpPr>
          <p:spPr bwMode="auto">
            <a:xfrm>
              <a:off x="5051089" y="1946275"/>
              <a:ext cx="1165896" cy="393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Lambda</a:t>
              </a:r>
            </a:p>
          </p:txBody>
        </p:sp>
      </p:grpSp>
      <p:grpSp>
        <p:nvGrpSpPr>
          <p:cNvPr id="233" name="グループ化 232">
            <a:extLst>
              <a:ext uri="{FF2B5EF4-FFF2-40B4-BE49-F238E27FC236}">
                <a16:creationId xmlns:a16="http://schemas.microsoft.com/office/drawing/2014/main" id="{DF86633F-2A7A-5599-5D4F-421D6A12F4E0}"/>
              </a:ext>
            </a:extLst>
          </p:cNvPr>
          <p:cNvGrpSpPr/>
          <p:nvPr/>
        </p:nvGrpSpPr>
        <p:grpSpPr>
          <a:xfrm>
            <a:off x="6894823" y="5692118"/>
            <a:ext cx="1068518" cy="813493"/>
            <a:chOff x="-6240556" y="-4075450"/>
            <a:chExt cx="1517651" cy="1155431"/>
          </a:xfrm>
        </p:grpSpPr>
        <p:pic>
          <p:nvPicPr>
            <p:cNvPr id="292" name="Graphic 17" descr="Amazon CloudWatch service icon.">
              <a:extLst>
                <a:ext uri="{FF2B5EF4-FFF2-40B4-BE49-F238E27FC236}">
                  <a16:creationId xmlns:a16="http://schemas.microsoft.com/office/drawing/2014/main" id="{FD1E212E-2857-E97F-D497-B041C8C3A1CC}"/>
                </a:ext>
              </a:extLst>
            </p:cNvPr>
            <p:cNvPicPr>
              <a:picLocks noChangeAspect="1" noChangeArrowheads="1"/>
            </p:cNvPicPr>
            <p:nvPr/>
          </p:nvPicPr>
          <p:blipFill>
            <a:blip r:embed="rId8">
              <a:extLst>
                <a:ext uri="{96DAC541-7B7A-43D3-8B79-37D633B846F1}">
                  <asvg:svgBlip xmlns:asvg="http://schemas.microsoft.com/office/drawing/2016/SVG/main" r:embed="rId9"/>
                </a:ext>
              </a:extLst>
            </a:blip>
            <a:srcRect/>
            <a:stretch/>
          </p:blipFill>
          <p:spPr bwMode="auto">
            <a:xfrm>
              <a:off x="-5862730" y="-4075450"/>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3" name="TextBox 9">
              <a:extLst>
                <a:ext uri="{FF2B5EF4-FFF2-40B4-BE49-F238E27FC236}">
                  <a16:creationId xmlns:a16="http://schemas.microsoft.com/office/drawing/2014/main" id="{4EC3DCD8-7601-E253-9681-A00A8CB516FD}"/>
                </a:ext>
              </a:extLst>
            </p:cNvPr>
            <p:cNvSpPr txBox="1">
              <a:spLocks noChangeArrowheads="1"/>
            </p:cNvSpPr>
            <p:nvPr/>
          </p:nvSpPr>
          <p:spPr bwMode="auto">
            <a:xfrm>
              <a:off x="-6240556" y="-3313450"/>
              <a:ext cx="1517651" cy="393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CloudWatch</a:t>
              </a:r>
            </a:p>
          </p:txBody>
        </p:sp>
      </p:grpSp>
      <p:grpSp>
        <p:nvGrpSpPr>
          <p:cNvPr id="234" name="グループ化 233">
            <a:extLst>
              <a:ext uri="{FF2B5EF4-FFF2-40B4-BE49-F238E27FC236}">
                <a16:creationId xmlns:a16="http://schemas.microsoft.com/office/drawing/2014/main" id="{49DB0722-8B91-45FB-9739-F2D9B61EE57D}"/>
              </a:ext>
            </a:extLst>
          </p:cNvPr>
          <p:cNvGrpSpPr/>
          <p:nvPr/>
        </p:nvGrpSpPr>
        <p:grpSpPr>
          <a:xfrm>
            <a:off x="4815974" y="5696629"/>
            <a:ext cx="536494" cy="813493"/>
            <a:chOff x="7535863" y="1001200"/>
            <a:chExt cx="762000" cy="1155431"/>
          </a:xfrm>
        </p:grpSpPr>
        <p:pic>
          <p:nvPicPr>
            <p:cNvPr id="290" name="Graphic 19" descr="AWS Identity and Access Management (IAM) service icon.">
              <a:extLst>
                <a:ext uri="{FF2B5EF4-FFF2-40B4-BE49-F238E27FC236}">
                  <a16:creationId xmlns:a16="http://schemas.microsoft.com/office/drawing/2014/main" id="{0A4AE6BE-DDB3-9EAA-3FB0-E1D924BE6AF2}"/>
                </a:ext>
              </a:extLst>
            </p:cNvPr>
            <p:cNvPicPr>
              <a:picLocks noChangeAspect="1" noChangeArrowheads="1"/>
            </p:cNvPicPr>
            <p:nvPr/>
          </p:nvPicPr>
          <p:blipFill>
            <a:blip r:embed="rId10">
              <a:extLst>
                <a:ext uri="{96DAC541-7B7A-43D3-8B79-37D633B846F1}">
                  <asvg:svgBlip xmlns:asvg="http://schemas.microsoft.com/office/drawing/2016/SVG/main" r:embed="rId11"/>
                </a:ext>
              </a:extLst>
            </a:blip>
            <a:srcRect/>
            <a:stretch/>
          </p:blipFill>
          <p:spPr bwMode="auto">
            <a:xfrm>
              <a:off x="7535863" y="1001200"/>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1" name="TextBox 12">
              <a:extLst>
                <a:ext uri="{FF2B5EF4-FFF2-40B4-BE49-F238E27FC236}">
                  <a16:creationId xmlns:a16="http://schemas.microsoft.com/office/drawing/2014/main" id="{E6998950-53AE-A600-140A-3FDBCC742019}"/>
                </a:ext>
              </a:extLst>
            </p:cNvPr>
            <p:cNvSpPr txBox="1">
              <a:spLocks noChangeArrowheads="1"/>
            </p:cNvSpPr>
            <p:nvPr/>
          </p:nvSpPr>
          <p:spPr bwMode="auto">
            <a:xfrm>
              <a:off x="7535863" y="1763200"/>
              <a:ext cx="758826" cy="393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IAM</a:t>
              </a:r>
            </a:p>
          </p:txBody>
        </p:sp>
      </p:grpSp>
      <p:sp>
        <p:nvSpPr>
          <p:cNvPr id="289" name="TextBox 12">
            <a:extLst>
              <a:ext uri="{FF2B5EF4-FFF2-40B4-BE49-F238E27FC236}">
                <a16:creationId xmlns:a16="http://schemas.microsoft.com/office/drawing/2014/main" id="{C415294A-C1AB-BC7B-E10D-9F204A6DD9CD}"/>
              </a:ext>
            </a:extLst>
          </p:cNvPr>
          <p:cNvSpPr txBox="1">
            <a:spLocks noChangeArrowheads="1"/>
          </p:cNvSpPr>
          <p:nvPr/>
        </p:nvSpPr>
        <p:spPr bwMode="auto">
          <a:xfrm>
            <a:off x="1707208" y="5001976"/>
            <a:ext cx="16050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Raspberry Pi 4B</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(172.16.15.8)</a:t>
            </a:r>
          </a:p>
        </p:txBody>
      </p:sp>
      <p:sp>
        <p:nvSpPr>
          <p:cNvPr id="236" name="テキスト ボックス 235">
            <a:extLst>
              <a:ext uri="{FF2B5EF4-FFF2-40B4-BE49-F238E27FC236}">
                <a16:creationId xmlns:a16="http://schemas.microsoft.com/office/drawing/2014/main" id="{277D89BB-5D0B-8A81-DCE6-C2A2F1DBEF69}"/>
              </a:ext>
            </a:extLst>
          </p:cNvPr>
          <p:cNvSpPr txBox="1"/>
          <p:nvPr/>
        </p:nvSpPr>
        <p:spPr>
          <a:xfrm>
            <a:off x="1077353" y="4303759"/>
            <a:ext cx="1162293" cy="276999"/>
          </a:xfrm>
          <a:prstGeom prst="rect">
            <a:avLst/>
          </a:prstGeom>
          <a:noFill/>
        </p:spPr>
        <p:txBody>
          <a:bodyPr wrap="square">
            <a:spAutoFit/>
          </a:body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RC-S380 S</a:t>
            </a:r>
          </a:p>
        </p:txBody>
      </p:sp>
      <p:pic>
        <p:nvPicPr>
          <p:cNvPr id="237" name="図 236" descr="黒い背景と白い文字のロゴ&#10;&#10;AI によって生成されたコンテンツは間違っている可能性があります。">
            <a:extLst>
              <a:ext uri="{FF2B5EF4-FFF2-40B4-BE49-F238E27FC236}">
                <a16:creationId xmlns:a16="http://schemas.microsoft.com/office/drawing/2014/main" id="{B96AD97C-5796-9A37-DE84-7895A0F2B02D}"/>
              </a:ext>
            </a:extLst>
          </p:cNvPr>
          <p:cNvPicPr>
            <a:picLocks noChangeAspect="1"/>
          </p:cNvPicPr>
          <p:nvPr/>
        </p:nvPicPr>
        <p:blipFill>
          <a:blip r:embed="rId12">
            <a:biLevel thresh="50000"/>
            <a:extLst>
              <a:ext uri="{28A0092B-C50C-407E-A947-70E740481C1C}">
                <a14:useLocalDpi xmlns:a14="http://schemas.microsoft.com/office/drawing/2010/main" val="0"/>
              </a:ext>
            </a:extLst>
          </a:blip>
          <a:srcRect t="19474" b="18132"/>
          <a:stretch/>
        </p:blipFill>
        <p:spPr>
          <a:xfrm flipH="1">
            <a:off x="693160" y="4508703"/>
            <a:ext cx="1605014" cy="751622"/>
          </a:xfrm>
          <a:prstGeom prst="rect">
            <a:avLst/>
          </a:prstGeom>
        </p:spPr>
      </p:pic>
      <p:cxnSp>
        <p:nvCxnSpPr>
          <p:cNvPr id="238" name="Straight Arrow Connector 74" descr="Up and down pointing vertical arrow.">
            <a:extLst>
              <a:ext uri="{FF2B5EF4-FFF2-40B4-BE49-F238E27FC236}">
                <a16:creationId xmlns:a16="http://schemas.microsoft.com/office/drawing/2014/main" id="{FE0741E9-C8F0-0F0F-C685-E2DC4F5F668F}"/>
              </a:ext>
            </a:extLst>
          </p:cNvPr>
          <p:cNvCxnSpPr>
            <a:cxnSpLocks/>
            <a:endCxn id="296" idx="1"/>
          </p:cNvCxnSpPr>
          <p:nvPr/>
        </p:nvCxnSpPr>
        <p:spPr>
          <a:xfrm>
            <a:off x="2777961" y="4650940"/>
            <a:ext cx="2035003" cy="0"/>
          </a:xfrm>
          <a:prstGeom prst="straightConnector1">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grpSp>
        <p:nvGrpSpPr>
          <p:cNvPr id="241" name="グループ化 240">
            <a:extLst>
              <a:ext uri="{FF2B5EF4-FFF2-40B4-BE49-F238E27FC236}">
                <a16:creationId xmlns:a16="http://schemas.microsoft.com/office/drawing/2014/main" id="{3624CD9B-00EC-3585-C51E-D4CF568BDD59}"/>
              </a:ext>
            </a:extLst>
          </p:cNvPr>
          <p:cNvGrpSpPr/>
          <p:nvPr/>
        </p:nvGrpSpPr>
        <p:grpSpPr>
          <a:xfrm>
            <a:off x="2051276" y="6087076"/>
            <a:ext cx="924337" cy="403333"/>
            <a:chOff x="2262291" y="5685876"/>
            <a:chExt cx="924337" cy="403333"/>
          </a:xfrm>
        </p:grpSpPr>
        <p:pic>
          <p:nvPicPr>
            <p:cNvPr id="286" name="図 285" descr="アイコン&#10;&#10;AI によって生成されたコンテンツは間違っている可能性があります。">
              <a:extLst>
                <a:ext uri="{FF2B5EF4-FFF2-40B4-BE49-F238E27FC236}">
                  <a16:creationId xmlns:a16="http://schemas.microsoft.com/office/drawing/2014/main" id="{09614C5D-291D-CCF8-A258-827380807752}"/>
                </a:ext>
              </a:extLst>
            </p:cNvPr>
            <p:cNvPicPr>
              <a:picLocks noChangeAspect="1"/>
            </p:cNvPicPr>
            <p:nvPr/>
          </p:nvPicPr>
          <p:blipFill>
            <a:blip r:embed="rId13">
              <a:extLst>
                <a:ext uri="{28A0092B-C50C-407E-A947-70E740481C1C}">
                  <a14:useLocalDpi xmlns:a14="http://schemas.microsoft.com/office/drawing/2010/main" val="0"/>
                </a:ext>
              </a:extLst>
            </a:blip>
            <a:srcRect l="10553" t="5709" r="9769" b="4466"/>
            <a:stretch/>
          </p:blipFill>
          <p:spPr>
            <a:xfrm>
              <a:off x="2262291" y="5685876"/>
              <a:ext cx="357774" cy="403333"/>
            </a:xfrm>
            <a:prstGeom prst="rect">
              <a:avLst/>
            </a:prstGeom>
          </p:spPr>
        </p:pic>
        <p:sp>
          <p:nvSpPr>
            <p:cNvPr id="287" name="テキスト ボックス 286">
              <a:extLst>
                <a:ext uri="{FF2B5EF4-FFF2-40B4-BE49-F238E27FC236}">
                  <a16:creationId xmlns:a16="http://schemas.microsoft.com/office/drawing/2014/main" id="{D940C426-B470-F45D-B71B-313E56FE1056}"/>
                </a:ext>
              </a:extLst>
            </p:cNvPr>
            <p:cNvSpPr txBox="1"/>
            <p:nvPr/>
          </p:nvSpPr>
          <p:spPr>
            <a:xfrm>
              <a:off x="2557071" y="5749042"/>
              <a:ext cx="629557" cy="276999"/>
            </a:xfrm>
            <a:prstGeom prst="rect">
              <a:avLst/>
            </a:prstGeom>
            <a:noFill/>
          </p:spPr>
          <p:txBody>
            <a:bodyPr wrap="square">
              <a:spAutoFit/>
            </a:bodyPr>
            <a:lstStyle/>
            <a:p>
              <a:r>
                <a:rPr lang="en-US" altLang="ja-JP" sz="1200" dirty="0"/>
                <a:t>:3000</a:t>
              </a:r>
              <a:endParaRPr lang="ja-JP" altLang="en-US" sz="1200" dirty="0"/>
            </a:p>
          </p:txBody>
        </p:sp>
      </p:grpSp>
      <p:grpSp>
        <p:nvGrpSpPr>
          <p:cNvPr id="242" name="グループ化 241">
            <a:extLst>
              <a:ext uri="{FF2B5EF4-FFF2-40B4-BE49-F238E27FC236}">
                <a16:creationId xmlns:a16="http://schemas.microsoft.com/office/drawing/2014/main" id="{62D50222-3A64-28CE-2C1E-EC6E4B9260C7}"/>
              </a:ext>
            </a:extLst>
          </p:cNvPr>
          <p:cNvGrpSpPr/>
          <p:nvPr/>
        </p:nvGrpSpPr>
        <p:grpSpPr>
          <a:xfrm>
            <a:off x="2043915" y="5648135"/>
            <a:ext cx="931698" cy="372497"/>
            <a:chOff x="2254930" y="5246935"/>
            <a:chExt cx="931698" cy="372497"/>
          </a:xfrm>
        </p:grpSpPr>
        <p:pic>
          <p:nvPicPr>
            <p:cNvPr id="284" name="グラフィックス 283">
              <a:extLst>
                <a:ext uri="{FF2B5EF4-FFF2-40B4-BE49-F238E27FC236}">
                  <a16:creationId xmlns:a16="http://schemas.microsoft.com/office/drawing/2014/main" id="{ED962B26-0DD0-E64C-AD30-8694B2FDBCE5}"/>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2254930" y="5246935"/>
              <a:ext cx="372497" cy="372497"/>
            </a:xfrm>
            <a:prstGeom prst="rect">
              <a:avLst/>
            </a:prstGeom>
          </p:spPr>
        </p:pic>
        <p:sp>
          <p:nvSpPr>
            <p:cNvPr id="285" name="テキスト ボックス 284">
              <a:extLst>
                <a:ext uri="{FF2B5EF4-FFF2-40B4-BE49-F238E27FC236}">
                  <a16:creationId xmlns:a16="http://schemas.microsoft.com/office/drawing/2014/main" id="{D4610E36-BBD9-A2C5-E969-00837DAB6B38}"/>
                </a:ext>
              </a:extLst>
            </p:cNvPr>
            <p:cNvSpPr txBox="1"/>
            <p:nvPr/>
          </p:nvSpPr>
          <p:spPr>
            <a:xfrm>
              <a:off x="2557071" y="5306333"/>
              <a:ext cx="629557" cy="276999"/>
            </a:xfrm>
            <a:prstGeom prst="rect">
              <a:avLst/>
            </a:prstGeom>
            <a:noFill/>
          </p:spPr>
          <p:txBody>
            <a:bodyPr wrap="square">
              <a:spAutoFit/>
            </a:bodyPr>
            <a:lstStyle/>
            <a:p>
              <a:r>
                <a:rPr lang="en-US" altLang="ja-JP" sz="1200" dirty="0"/>
                <a:t>:8000</a:t>
              </a:r>
              <a:endParaRPr lang="ja-JP" altLang="en-US" sz="1200" dirty="0"/>
            </a:p>
          </p:txBody>
        </p:sp>
      </p:grpSp>
      <p:grpSp>
        <p:nvGrpSpPr>
          <p:cNvPr id="243" name="グループ化 242">
            <a:extLst>
              <a:ext uri="{FF2B5EF4-FFF2-40B4-BE49-F238E27FC236}">
                <a16:creationId xmlns:a16="http://schemas.microsoft.com/office/drawing/2014/main" id="{DCBD0B31-392D-D357-C4B2-FD63515B62D8}"/>
              </a:ext>
            </a:extLst>
          </p:cNvPr>
          <p:cNvGrpSpPr/>
          <p:nvPr/>
        </p:nvGrpSpPr>
        <p:grpSpPr>
          <a:xfrm>
            <a:off x="5655352" y="5692118"/>
            <a:ext cx="1211032" cy="802921"/>
            <a:chOff x="3129557" y="4452843"/>
            <a:chExt cx="1211032" cy="802921"/>
          </a:xfrm>
        </p:grpSpPr>
        <p:pic>
          <p:nvPicPr>
            <p:cNvPr id="282" name="Graphic 19" descr="Amazon EventBridge service icon.">
              <a:extLst>
                <a:ext uri="{FF2B5EF4-FFF2-40B4-BE49-F238E27FC236}">
                  <a16:creationId xmlns:a16="http://schemas.microsoft.com/office/drawing/2014/main" id="{E8A16EB2-8AA7-D8FB-7C4D-03960A3F9E94}"/>
                </a:ext>
              </a:extLst>
            </p:cNvPr>
            <p:cNvPicPr>
              <a:picLocks noChangeAspect="1" noChangeArrowheads="1"/>
            </p:cNvPicPr>
            <p:nvPr/>
          </p:nvPicPr>
          <p:blipFill>
            <a:blip r:embed="rId16">
              <a:extLst>
                <a:ext uri="{96DAC541-7B7A-43D3-8B79-37D633B846F1}">
                  <asvg:svgBlip xmlns:asvg="http://schemas.microsoft.com/office/drawing/2016/SVG/main" r:embed="rId17"/>
                </a:ext>
              </a:extLst>
            </a:blip>
            <a:srcRect/>
            <a:stretch/>
          </p:blipFill>
          <p:spPr bwMode="auto">
            <a:xfrm>
              <a:off x="3461744" y="4452843"/>
              <a:ext cx="538923" cy="538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3" name="TextBox 11">
              <a:extLst>
                <a:ext uri="{FF2B5EF4-FFF2-40B4-BE49-F238E27FC236}">
                  <a16:creationId xmlns:a16="http://schemas.microsoft.com/office/drawing/2014/main" id="{C84C12AB-44B3-84F1-2696-A94DDBA3B13F}"/>
                </a:ext>
              </a:extLst>
            </p:cNvPr>
            <p:cNvSpPr txBox="1">
              <a:spLocks noChangeArrowheads="1"/>
            </p:cNvSpPr>
            <p:nvPr/>
          </p:nvSpPr>
          <p:spPr bwMode="auto">
            <a:xfrm>
              <a:off x="3129557" y="4978765"/>
              <a:ext cx="121103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err="1">
                  <a:latin typeface="Arial" panose="020B0604020202020204" pitchFamily="34" charset="0"/>
                  <a:ea typeface="Amazon Ember" panose="020B0603020204020204" pitchFamily="34" charset="0"/>
                  <a:cs typeface="Arial" panose="020B0604020202020204" pitchFamily="34" charset="0"/>
                </a:rPr>
                <a:t>EventBridge</a:t>
              </a:r>
              <a:endParaRPr lang="en-US" altLang="en-US" sz="1200" dirty="0">
                <a:latin typeface="Arial" panose="020B0604020202020204" pitchFamily="34" charset="0"/>
                <a:ea typeface="Amazon Ember" panose="020B0603020204020204" pitchFamily="34" charset="0"/>
                <a:cs typeface="Arial" panose="020B0604020202020204" pitchFamily="34" charset="0"/>
              </a:endParaRPr>
            </a:p>
          </p:txBody>
        </p:sp>
      </p:grpSp>
      <p:grpSp>
        <p:nvGrpSpPr>
          <p:cNvPr id="244" name="グループ化 243">
            <a:extLst>
              <a:ext uri="{FF2B5EF4-FFF2-40B4-BE49-F238E27FC236}">
                <a16:creationId xmlns:a16="http://schemas.microsoft.com/office/drawing/2014/main" id="{0B7D9B7D-EDDE-E7B4-C4D8-F463FD442D71}"/>
              </a:ext>
            </a:extLst>
          </p:cNvPr>
          <p:cNvGrpSpPr/>
          <p:nvPr/>
        </p:nvGrpSpPr>
        <p:grpSpPr>
          <a:xfrm>
            <a:off x="5550985" y="2647229"/>
            <a:ext cx="1410825" cy="998159"/>
            <a:chOff x="2368342" y="1184275"/>
            <a:chExt cx="2003841" cy="1417718"/>
          </a:xfrm>
        </p:grpSpPr>
        <p:pic>
          <p:nvPicPr>
            <p:cNvPr id="280" name="Graphic 7" descr="Amazon API Gateway service icon.">
              <a:extLst>
                <a:ext uri="{FF2B5EF4-FFF2-40B4-BE49-F238E27FC236}">
                  <a16:creationId xmlns:a16="http://schemas.microsoft.com/office/drawing/2014/main" id="{362CA47C-5D90-80C4-159F-78E72A503593}"/>
                </a:ext>
              </a:extLst>
            </p:cNvPr>
            <p:cNvPicPr>
              <a:picLocks noChangeAspect="1" noChangeArrowheads="1"/>
            </p:cNvPicPr>
            <p:nvPr/>
          </p:nvPicPr>
          <p:blipFill>
            <a:blip r:embed="rId4">
              <a:extLst>
                <a:ext uri="{96DAC541-7B7A-43D3-8B79-37D633B846F1}">
                  <asvg:svgBlip xmlns:asvg="http://schemas.microsoft.com/office/drawing/2016/SVG/main" r:embed="rId5"/>
                </a:ext>
              </a:extLst>
            </a:blip>
            <a:srcRect/>
            <a:stretch/>
          </p:blipFill>
          <p:spPr bwMode="auto">
            <a:xfrm>
              <a:off x="2989264" y="1184275"/>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1" name="TextBox 9">
              <a:extLst>
                <a:ext uri="{FF2B5EF4-FFF2-40B4-BE49-F238E27FC236}">
                  <a16:creationId xmlns:a16="http://schemas.microsoft.com/office/drawing/2014/main" id="{E9CF4A4E-36EE-655C-4ECD-DF2872A1E0D1}"/>
                </a:ext>
              </a:extLst>
            </p:cNvPr>
            <p:cNvSpPr txBox="1">
              <a:spLocks noChangeArrowheads="1"/>
            </p:cNvSpPr>
            <p:nvPr/>
          </p:nvSpPr>
          <p:spPr bwMode="auto">
            <a:xfrm>
              <a:off x="2368342" y="1946275"/>
              <a:ext cx="2003841" cy="655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API Gateway</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(WebSocket)</a:t>
              </a:r>
            </a:p>
          </p:txBody>
        </p:sp>
      </p:grpSp>
      <p:sp>
        <p:nvSpPr>
          <p:cNvPr id="277" name="TextBox 12">
            <a:extLst>
              <a:ext uri="{FF2B5EF4-FFF2-40B4-BE49-F238E27FC236}">
                <a16:creationId xmlns:a16="http://schemas.microsoft.com/office/drawing/2014/main" id="{300BA184-882C-5454-4791-CBAE39077E9D}"/>
              </a:ext>
            </a:extLst>
          </p:cNvPr>
          <p:cNvSpPr txBox="1">
            <a:spLocks noChangeArrowheads="1"/>
          </p:cNvSpPr>
          <p:nvPr/>
        </p:nvSpPr>
        <p:spPr bwMode="auto">
          <a:xfrm>
            <a:off x="1707208" y="3178518"/>
            <a:ext cx="16050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Raspberry Pi 5</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(172.16.15.7)</a:t>
            </a:r>
          </a:p>
        </p:txBody>
      </p:sp>
      <p:sp>
        <p:nvSpPr>
          <p:cNvPr id="251" name="Rectangle 103" descr="Generic group dashed.">
            <a:extLst>
              <a:ext uri="{FF2B5EF4-FFF2-40B4-BE49-F238E27FC236}">
                <a16:creationId xmlns:a16="http://schemas.microsoft.com/office/drawing/2014/main" id="{986C3BD8-72D8-7A56-399D-AFE711861F6F}"/>
              </a:ext>
            </a:extLst>
          </p:cNvPr>
          <p:cNvSpPr/>
          <p:nvPr/>
        </p:nvSpPr>
        <p:spPr>
          <a:xfrm>
            <a:off x="4457026" y="4158038"/>
            <a:ext cx="3541821" cy="1348227"/>
          </a:xfrm>
          <a:prstGeom prst="rect">
            <a:avLst/>
          </a:prstGeom>
          <a:noFill/>
          <a:ln w="15875">
            <a:solidFill>
              <a:srgbClr val="7D8998"/>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eaLnBrk="1" fontAlgn="auto" hangingPunct="1">
              <a:spcBef>
                <a:spcPts val="0"/>
              </a:spcBef>
              <a:spcAft>
                <a:spcPts val="0"/>
              </a:spcAft>
              <a:defRPr/>
            </a:pPr>
            <a:endParaRPr lang="en-US" sz="1200" dirty="0">
              <a:solidFill>
                <a:schemeClr val="tx1"/>
              </a:solidFill>
              <a:latin typeface="Arial" panose="020B0604020202020204" pitchFamily="34" charset="0"/>
              <a:cs typeface="Arial" panose="020B0604020202020204" pitchFamily="34" charset="0"/>
            </a:endParaRPr>
          </a:p>
        </p:txBody>
      </p:sp>
      <p:grpSp>
        <p:nvGrpSpPr>
          <p:cNvPr id="253" name="グループ化 252">
            <a:extLst>
              <a:ext uri="{FF2B5EF4-FFF2-40B4-BE49-F238E27FC236}">
                <a16:creationId xmlns:a16="http://schemas.microsoft.com/office/drawing/2014/main" id="{9D81D839-6AB1-342D-DC03-570E9B426ADB}"/>
              </a:ext>
            </a:extLst>
          </p:cNvPr>
          <p:cNvGrpSpPr/>
          <p:nvPr/>
        </p:nvGrpSpPr>
        <p:grpSpPr>
          <a:xfrm>
            <a:off x="4717633" y="2645272"/>
            <a:ext cx="730725" cy="813493"/>
            <a:chOff x="3005693" y="1391828"/>
            <a:chExt cx="730725" cy="813493"/>
          </a:xfrm>
        </p:grpSpPr>
        <p:pic>
          <p:nvPicPr>
            <p:cNvPr id="274" name="Graphic 10" descr="AWS Amplify service icon.">
              <a:extLst>
                <a:ext uri="{FF2B5EF4-FFF2-40B4-BE49-F238E27FC236}">
                  <a16:creationId xmlns:a16="http://schemas.microsoft.com/office/drawing/2014/main" id="{C52F716F-A2EF-5B67-A300-5896D4BE9094}"/>
                </a:ext>
              </a:extLst>
            </p:cNvPr>
            <p:cNvPicPr>
              <a:picLocks noChangeAspect="1" noChangeArrowheads="1"/>
            </p:cNvPicPr>
            <p:nvPr/>
          </p:nvPicPr>
          <p:blipFill>
            <a:blip r:embed="rId18">
              <a:extLst>
                <a:ext uri="{96DAC541-7B7A-43D3-8B79-37D633B846F1}">
                  <asvg:svgBlip xmlns:asvg="http://schemas.microsoft.com/office/drawing/2016/SVG/main" r:embed="rId19"/>
                </a:ext>
              </a:extLst>
            </a:blip>
            <a:srcRect/>
            <a:stretch/>
          </p:blipFill>
          <p:spPr bwMode="auto">
            <a:xfrm>
              <a:off x="3102809" y="1391828"/>
              <a:ext cx="536494" cy="536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5" name="TextBox 6">
              <a:extLst>
                <a:ext uri="{FF2B5EF4-FFF2-40B4-BE49-F238E27FC236}">
                  <a16:creationId xmlns:a16="http://schemas.microsoft.com/office/drawing/2014/main" id="{684128CC-1D1B-11D3-12EA-5FC1B3C3F6B2}"/>
                </a:ext>
              </a:extLst>
            </p:cNvPr>
            <p:cNvSpPr txBox="1">
              <a:spLocks noChangeArrowheads="1"/>
            </p:cNvSpPr>
            <p:nvPr/>
          </p:nvSpPr>
          <p:spPr bwMode="auto">
            <a:xfrm>
              <a:off x="3005693" y="1928322"/>
              <a:ext cx="7307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Amplify</a:t>
              </a:r>
            </a:p>
          </p:txBody>
        </p:sp>
      </p:grpSp>
      <p:grpSp>
        <p:nvGrpSpPr>
          <p:cNvPr id="261" name="グループ化 260">
            <a:extLst>
              <a:ext uri="{FF2B5EF4-FFF2-40B4-BE49-F238E27FC236}">
                <a16:creationId xmlns:a16="http://schemas.microsoft.com/office/drawing/2014/main" id="{F2D7FB68-526F-AC34-5CFE-C65FF167FAA8}"/>
              </a:ext>
            </a:extLst>
          </p:cNvPr>
          <p:cNvGrpSpPr/>
          <p:nvPr/>
        </p:nvGrpSpPr>
        <p:grpSpPr>
          <a:xfrm>
            <a:off x="3645809" y="5683375"/>
            <a:ext cx="1020292" cy="992557"/>
            <a:chOff x="3864463" y="3839626"/>
            <a:chExt cx="1020292" cy="992557"/>
          </a:xfrm>
        </p:grpSpPr>
        <p:pic>
          <p:nvPicPr>
            <p:cNvPr id="272" name="Graphic 17" descr="Amazon Cognito service icon.">
              <a:extLst>
                <a:ext uri="{FF2B5EF4-FFF2-40B4-BE49-F238E27FC236}">
                  <a16:creationId xmlns:a16="http://schemas.microsoft.com/office/drawing/2014/main" id="{5D8E7F76-E158-149C-9628-B6B9ED3C5248}"/>
                </a:ext>
              </a:extLst>
            </p:cNvPr>
            <p:cNvPicPr>
              <a:picLocks noChangeAspect="1" noChangeArrowheads="1"/>
            </p:cNvPicPr>
            <p:nvPr/>
          </p:nvPicPr>
          <p:blipFill>
            <a:blip r:embed="rId20">
              <a:extLst>
                <a:ext uri="{96DAC541-7B7A-43D3-8B79-37D633B846F1}">
                  <asvg:svgBlip xmlns:asvg="http://schemas.microsoft.com/office/drawing/2016/SVG/main" r:embed="rId21"/>
                </a:ext>
              </a:extLst>
            </a:blip>
            <a:srcRect/>
            <a:stretch/>
          </p:blipFill>
          <p:spPr bwMode="auto">
            <a:xfrm>
              <a:off x="4106362" y="3839626"/>
              <a:ext cx="536494" cy="536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3" name="TextBox 11">
              <a:extLst>
                <a:ext uri="{FF2B5EF4-FFF2-40B4-BE49-F238E27FC236}">
                  <a16:creationId xmlns:a16="http://schemas.microsoft.com/office/drawing/2014/main" id="{299FD6A1-436E-43C2-F951-C9D38E032487}"/>
                </a:ext>
              </a:extLst>
            </p:cNvPr>
            <p:cNvSpPr txBox="1">
              <a:spLocks noChangeArrowheads="1"/>
            </p:cNvSpPr>
            <p:nvPr/>
          </p:nvSpPr>
          <p:spPr bwMode="auto">
            <a:xfrm>
              <a:off x="3864463" y="4370518"/>
              <a:ext cx="102029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Cognito</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(ID Pool)</a:t>
              </a:r>
            </a:p>
          </p:txBody>
        </p:sp>
      </p:grpSp>
      <p:cxnSp>
        <p:nvCxnSpPr>
          <p:cNvPr id="263" name="Elbow Connector 22" descr="Elbow horizontal arrow pointing right (1).">
            <a:extLst>
              <a:ext uri="{FF2B5EF4-FFF2-40B4-BE49-F238E27FC236}">
                <a16:creationId xmlns:a16="http://schemas.microsoft.com/office/drawing/2014/main" id="{0DF8D991-B439-BBBC-BC99-B20F68828A02}"/>
              </a:ext>
            </a:extLst>
          </p:cNvPr>
          <p:cNvCxnSpPr>
            <a:cxnSpLocks/>
            <a:stCxn id="272" idx="0"/>
          </p:cNvCxnSpPr>
          <p:nvPr/>
        </p:nvCxnSpPr>
        <p:spPr>
          <a:xfrm rot="16200000" flipV="1">
            <a:off x="3030452" y="4557872"/>
            <a:ext cx="866319" cy="1384688"/>
          </a:xfrm>
          <a:prstGeom prst="bentConnector2">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pic>
        <p:nvPicPr>
          <p:cNvPr id="264" name="Graphic 86" descr="Temporary security credential resource icon for the IAM service.">
            <a:extLst>
              <a:ext uri="{FF2B5EF4-FFF2-40B4-BE49-F238E27FC236}">
                <a16:creationId xmlns:a16="http://schemas.microsoft.com/office/drawing/2014/main" id="{86FA353F-037B-77B8-C98C-03D85B1CF2DE}"/>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3663828" y="5053261"/>
            <a:ext cx="416212" cy="416212"/>
          </a:xfrm>
          <a:prstGeom prst="rect">
            <a:avLst/>
          </a:prstGeom>
        </p:spPr>
      </p:pic>
      <p:grpSp>
        <p:nvGrpSpPr>
          <p:cNvPr id="265" name="グループ化 264">
            <a:extLst>
              <a:ext uri="{FF2B5EF4-FFF2-40B4-BE49-F238E27FC236}">
                <a16:creationId xmlns:a16="http://schemas.microsoft.com/office/drawing/2014/main" id="{37BC38CC-5870-4DC9-DBF6-11CA99ECF65C}"/>
              </a:ext>
            </a:extLst>
          </p:cNvPr>
          <p:cNvGrpSpPr/>
          <p:nvPr/>
        </p:nvGrpSpPr>
        <p:grpSpPr>
          <a:xfrm>
            <a:off x="5746251" y="1644835"/>
            <a:ext cx="1020292" cy="992557"/>
            <a:chOff x="3864463" y="3839626"/>
            <a:chExt cx="1020292" cy="992557"/>
          </a:xfrm>
        </p:grpSpPr>
        <p:pic>
          <p:nvPicPr>
            <p:cNvPr id="270" name="Graphic 17" descr="Amazon Cognito service icon.">
              <a:extLst>
                <a:ext uri="{FF2B5EF4-FFF2-40B4-BE49-F238E27FC236}">
                  <a16:creationId xmlns:a16="http://schemas.microsoft.com/office/drawing/2014/main" id="{CC58582B-5324-D2B8-12BD-A76BE3AF389A}"/>
                </a:ext>
              </a:extLst>
            </p:cNvPr>
            <p:cNvPicPr>
              <a:picLocks noChangeAspect="1" noChangeArrowheads="1"/>
            </p:cNvPicPr>
            <p:nvPr/>
          </p:nvPicPr>
          <p:blipFill>
            <a:blip r:embed="rId20">
              <a:extLst>
                <a:ext uri="{96DAC541-7B7A-43D3-8B79-37D633B846F1}">
                  <asvg:svgBlip xmlns:asvg="http://schemas.microsoft.com/office/drawing/2016/SVG/main" r:embed="rId21"/>
                </a:ext>
              </a:extLst>
            </a:blip>
            <a:srcRect/>
            <a:stretch/>
          </p:blipFill>
          <p:spPr bwMode="auto">
            <a:xfrm>
              <a:off x="4106362" y="3839626"/>
              <a:ext cx="536494" cy="536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1" name="TextBox 11">
              <a:extLst>
                <a:ext uri="{FF2B5EF4-FFF2-40B4-BE49-F238E27FC236}">
                  <a16:creationId xmlns:a16="http://schemas.microsoft.com/office/drawing/2014/main" id="{1CB7A732-1CDE-8F1E-ECFD-77CAC269A15C}"/>
                </a:ext>
              </a:extLst>
            </p:cNvPr>
            <p:cNvSpPr txBox="1">
              <a:spLocks noChangeArrowheads="1"/>
            </p:cNvSpPr>
            <p:nvPr/>
          </p:nvSpPr>
          <p:spPr bwMode="auto">
            <a:xfrm>
              <a:off x="3864463" y="4370518"/>
              <a:ext cx="102029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Cognito (User Pool)</a:t>
              </a:r>
            </a:p>
          </p:txBody>
        </p:sp>
      </p:grpSp>
      <p:grpSp>
        <p:nvGrpSpPr>
          <p:cNvPr id="267" name="Group 1" descr="AWS Cloud group with AWS logo.">
            <a:extLst>
              <a:ext uri="{FF2B5EF4-FFF2-40B4-BE49-F238E27FC236}">
                <a16:creationId xmlns:a16="http://schemas.microsoft.com/office/drawing/2014/main" id="{4B17F302-7D14-0FE3-E528-6AA88A21E01D}"/>
              </a:ext>
            </a:extLst>
          </p:cNvPr>
          <p:cNvGrpSpPr/>
          <p:nvPr/>
        </p:nvGrpSpPr>
        <p:grpSpPr>
          <a:xfrm>
            <a:off x="3528572" y="926869"/>
            <a:ext cx="4825253" cy="5828334"/>
            <a:chOff x="355598" y="689579"/>
            <a:chExt cx="4825253" cy="3747374"/>
          </a:xfrm>
        </p:grpSpPr>
        <p:sp>
          <p:nvSpPr>
            <p:cNvPr id="268" name="Rectangle 54">
              <a:extLst>
                <a:ext uri="{FF2B5EF4-FFF2-40B4-BE49-F238E27FC236}">
                  <a16:creationId xmlns:a16="http://schemas.microsoft.com/office/drawing/2014/main" id="{CE201F39-015D-713F-A382-2520501C43DC}"/>
                </a:ext>
              </a:extLst>
            </p:cNvPr>
            <p:cNvSpPr/>
            <p:nvPr/>
          </p:nvSpPr>
          <p:spPr>
            <a:xfrm>
              <a:off x="355599" y="689579"/>
              <a:ext cx="4825252" cy="3747374"/>
            </a:xfrm>
            <a:prstGeom prst="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r>
                <a:rPr lang="en-US" sz="1200" dirty="0">
                  <a:solidFill>
                    <a:schemeClr val="tx1"/>
                  </a:solidFill>
                  <a:latin typeface="Arial" panose="020B0604020202020204" pitchFamily="34" charset="0"/>
                  <a:cs typeface="Arial" panose="020B0604020202020204" pitchFamily="34" charset="0"/>
                </a:rPr>
                <a:t>AWS Cloud</a:t>
              </a:r>
            </a:p>
          </p:txBody>
        </p:sp>
        <p:pic>
          <p:nvPicPr>
            <p:cNvPr id="269" name="Graphic 55" descr="AWS Cloud group icon with AWS logo.">
              <a:extLst>
                <a:ext uri="{FF2B5EF4-FFF2-40B4-BE49-F238E27FC236}">
                  <a16:creationId xmlns:a16="http://schemas.microsoft.com/office/drawing/2014/main" id="{21C5C1B6-93C7-A935-2AF2-970390F293C9}"/>
                </a:ext>
              </a:extLst>
            </p:cNvPr>
            <p:cNvPicPr>
              <a:picLocks noChangeAspect="1"/>
            </p:cNvPicPr>
            <p:nvPr/>
          </p:nvPicPr>
          <p:blipFill>
            <a:blip r:embed="rId24">
              <a:extLst>
                <a:ext uri="{96DAC541-7B7A-43D3-8B79-37D633B846F1}">
                  <asvg:svgBlip xmlns:asvg="http://schemas.microsoft.com/office/drawing/2016/SVG/main" r:embed="rId25"/>
                </a:ext>
              </a:extLst>
            </a:blip>
            <a:srcRect/>
            <a:stretch/>
          </p:blipFill>
          <p:spPr>
            <a:xfrm>
              <a:off x="355598" y="695923"/>
              <a:ext cx="419750" cy="287318"/>
            </a:xfrm>
            <a:prstGeom prst="rect">
              <a:avLst/>
            </a:prstGeom>
          </p:spPr>
        </p:pic>
      </p:grpSp>
      <p:sp>
        <p:nvSpPr>
          <p:cNvPr id="228" name="Rectangle 103" descr="Generic group dashed.">
            <a:extLst>
              <a:ext uri="{FF2B5EF4-FFF2-40B4-BE49-F238E27FC236}">
                <a16:creationId xmlns:a16="http://schemas.microsoft.com/office/drawing/2014/main" id="{A78B60C9-7B54-9541-12BE-17A31B395B3B}"/>
              </a:ext>
            </a:extLst>
          </p:cNvPr>
          <p:cNvSpPr/>
          <p:nvPr/>
        </p:nvSpPr>
        <p:spPr>
          <a:xfrm>
            <a:off x="690522" y="2075537"/>
            <a:ext cx="2621698" cy="1720079"/>
          </a:xfrm>
          <a:prstGeom prst="rect">
            <a:avLst/>
          </a:prstGeom>
          <a:noFill/>
          <a:ln w="15875">
            <a:solidFill>
              <a:srgbClr val="7D8998"/>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a:defRPr/>
            </a:pPr>
            <a:r>
              <a:rPr lang="ja-JP" altLang="en-US" sz="1200" dirty="0">
                <a:solidFill>
                  <a:schemeClr val="tx1"/>
                </a:solidFill>
                <a:latin typeface="Arial" panose="020B0604020202020204" pitchFamily="34" charset="0"/>
                <a:cs typeface="Arial" panose="020B0604020202020204" pitchFamily="34" charset="0"/>
              </a:rPr>
              <a:t>教員部屋（</a:t>
            </a:r>
            <a:r>
              <a:rPr lang="en-US" altLang="ja-JP" sz="1200" dirty="0">
                <a:solidFill>
                  <a:schemeClr val="tx1"/>
                </a:solidFill>
                <a:latin typeface="Arial" panose="020B0604020202020204" pitchFamily="34" charset="0"/>
                <a:cs typeface="Arial" panose="020B0604020202020204" pitchFamily="34" charset="0"/>
              </a:rPr>
              <a:t>J1404</a:t>
            </a:r>
            <a:r>
              <a:rPr lang="ja-JP" altLang="en-US" sz="1200" dirty="0">
                <a:solidFill>
                  <a:schemeClr val="tx1"/>
                </a:solidFill>
                <a:latin typeface="Arial" panose="020B0604020202020204" pitchFamily="34" charset="0"/>
                <a:cs typeface="Arial" panose="020B0604020202020204" pitchFamily="34" charset="0"/>
              </a:rPr>
              <a:t>）</a:t>
            </a:r>
            <a:endParaRPr lang="en-US" sz="1200" dirty="0">
              <a:solidFill>
                <a:schemeClr val="tx1"/>
              </a:solidFill>
              <a:latin typeface="Arial" panose="020B0604020202020204" pitchFamily="34" charset="0"/>
              <a:cs typeface="Arial" panose="020B0604020202020204" pitchFamily="34" charset="0"/>
            </a:endParaRPr>
          </a:p>
        </p:txBody>
      </p:sp>
      <p:pic>
        <p:nvPicPr>
          <p:cNvPr id="302" name="グラフィックス 301">
            <a:extLst>
              <a:ext uri="{FF2B5EF4-FFF2-40B4-BE49-F238E27FC236}">
                <a16:creationId xmlns:a16="http://schemas.microsoft.com/office/drawing/2014/main" id="{7C9E6DCF-E4FF-E75A-514E-4732209BE51D}"/>
              </a:ext>
            </a:extLst>
          </p:cNvPr>
          <p:cNvPicPr>
            <a:picLocks noChangeAspect="1"/>
          </p:cNvPicPr>
          <p:nvPr/>
        </p:nvPicPr>
        <p:blipFill>
          <a:blip r:embed="rId26">
            <a:grayscl/>
            <a:extLst>
              <a:ext uri="{96DAC541-7B7A-43D3-8B79-37D633B846F1}">
                <asvg:svgBlip xmlns:asvg="http://schemas.microsoft.com/office/drawing/2016/SVG/main" r:embed="rId27"/>
              </a:ext>
            </a:extLst>
          </a:blip>
          <a:srcRect l="25148" t="16203" r="25948" b="16205"/>
          <a:stretch/>
        </p:blipFill>
        <p:spPr>
          <a:xfrm>
            <a:off x="1029996" y="2508789"/>
            <a:ext cx="580096" cy="801769"/>
          </a:xfrm>
          <a:prstGeom prst="rect">
            <a:avLst/>
          </a:prstGeom>
        </p:spPr>
      </p:pic>
      <p:cxnSp>
        <p:nvCxnSpPr>
          <p:cNvPr id="303" name="Straight Arrow Connector 100">
            <a:extLst>
              <a:ext uri="{FF2B5EF4-FFF2-40B4-BE49-F238E27FC236}">
                <a16:creationId xmlns:a16="http://schemas.microsoft.com/office/drawing/2014/main" id="{B255BE5C-D3D1-36AD-4F04-9CF4E8279E80}"/>
              </a:ext>
            </a:extLst>
          </p:cNvPr>
          <p:cNvCxnSpPr>
            <a:cxnSpLocks/>
            <a:stCxn id="302" idx="3"/>
          </p:cNvCxnSpPr>
          <p:nvPr/>
        </p:nvCxnSpPr>
        <p:spPr>
          <a:xfrm>
            <a:off x="1610092" y="2909674"/>
            <a:ext cx="631375" cy="597"/>
          </a:xfrm>
          <a:prstGeom prst="straightConnector1">
            <a:avLst/>
          </a:prstGeom>
          <a:ln w="19050">
            <a:solidFill>
              <a:schemeClr val="tx1"/>
            </a:solidFill>
            <a:headEnd type="none" w="med" len="sm"/>
            <a:tailEnd type="none" w="med" len="sm"/>
          </a:ln>
        </p:spPr>
        <p:style>
          <a:lnRef idx="1">
            <a:schemeClr val="accent1"/>
          </a:lnRef>
          <a:fillRef idx="0">
            <a:schemeClr val="accent1"/>
          </a:fillRef>
          <a:effectRef idx="0">
            <a:schemeClr val="accent1"/>
          </a:effectRef>
          <a:fontRef idx="minor">
            <a:schemeClr val="tx1"/>
          </a:fontRef>
        </p:style>
      </p:cxnSp>
      <p:sp>
        <p:nvSpPr>
          <p:cNvPr id="306" name="Rectangle 103" descr="Generic group dashed.">
            <a:extLst>
              <a:ext uri="{FF2B5EF4-FFF2-40B4-BE49-F238E27FC236}">
                <a16:creationId xmlns:a16="http://schemas.microsoft.com/office/drawing/2014/main" id="{B30B4AF4-D860-23AF-7558-74E80B9C3BFA}"/>
              </a:ext>
            </a:extLst>
          </p:cNvPr>
          <p:cNvSpPr/>
          <p:nvPr/>
        </p:nvSpPr>
        <p:spPr>
          <a:xfrm>
            <a:off x="690522" y="3933107"/>
            <a:ext cx="2615365" cy="2822096"/>
          </a:xfrm>
          <a:prstGeom prst="rect">
            <a:avLst/>
          </a:prstGeom>
          <a:noFill/>
          <a:ln w="15875">
            <a:solidFill>
              <a:srgbClr val="7D8998"/>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a:defRPr/>
            </a:pPr>
            <a:r>
              <a:rPr lang="ja-JP" altLang="en-US" sz="1200" dirty="0">
                <a:solidFill>
                  <a:schemeClr val="tx1"/>
                </a:solidFill>
                <a:latin typeface="Arial" panose="020B0604020202020204" pitchFamily="34" charset="0"/>
                <a:cs typeface="Arial" panose="020B0604020202020204" pitchFamily="34" charset="0"/>
              </a:rPr>
              <a:t>学生部屋（</a:t>
            </a:r>
            <a:r>
              <a:rPr lang="en-US" altLang="ja-JP" sz="1200" dirty="0">
                <a:solidFill>
                  <a:schemeClr val="tx1"/>
                </a:solidFill>
                <a:latin typeface="Arial" panose="020B0604020202020204" pitchFamily="34" charset="0"/>
                <a:cs typeface="Arial" panose="020B0604020202020204" pitchFamily="34" charset="0"/>
              </a:rPr>
              <a:t>J1401</a:t>
            </a:r>
            <a:r>
              <a:rPr lang="ja-JP" altLang="en-US" sz="1200" dirty="0">
                <a:solidFill>
                  <a:schemeClr val="tx1"/>
                </a:solidFill>
                <a:latin typeface="Arial" panose="020B0604020202020204" pitchFamily="34" charset="0"/>
                <a:cs typeface="Arial" panose="020B0604020202020204" pitchFamily="34" charset="0"/>
              </a:rPr>
              <a:t>）</a:t>
            </a:r>
            <a:endParaRPr lang="en-US" sz="1200" dirty="0">
              <a:solidFill>
                <a:schemeClr val="tx1"/>
              </a:solidFill>
              <a:latin typeface="Arial" panose="020B0604020202020204" pitchFamily="34" charset="0"/>
              <a:cs typeface="Arial" panose="020B0604020202020204" pitchFamily="34" charset="0"/>
            </a:endParaRPr>
          </a:p>
        </p:txBody>
      </p:sp>
      <p:pic>
        <p:nvPicPr>
          <p:cNvPr id="307" name="グラフィックス 306">
            <a:extLst>
              <a:ext uri="{FF2B5EF4-FFF2-40B4-BE49-F238E27FC236}">
                <a16:creationId xmlns:a16="http://schemas.microsoft.com/office/drawing/2014/main" id="{38162DF9-74D7-7A5A-E625-56CA6E73D0B9}"/>
              </a:ext>
            </a:extLst>
          </p:cNvPr>
          <p:cNvPicPr>
            <a:picLocks noChangeAspect="1"/>
          </p:cNvPicPr>
          <p:nvPr/>
        </p:nvPicPr>
        <p:blipFill>
          <a:blip r:embed="rId26">
            <a:grayscl/>
            <a:extLst>
              <a:ext uri="{96DAC541-7B7A-43D3-8B79-37D633B846F1}">
                <asvg:svgBlip xmlns:asvg="http://schemas.microsoft.com/office/drawing/2016/SVG/main" r:embed="rId27"/>
              </a:ext>
            </a:extLst>
          </a:blip>
          <a:srcRect l="25148" t="16203" r="25948" b="16205"/>
          <a:stretch/>
        </p:blipFill>
        <p:spPr>
          <a:xfrm rot="16200000">
            <a:off x="1042395" y="5874413"/>
            <a:ext cx="599552" cy="828660"/>
          </a:xfrm>
          <a:prstGeom prst="rect">
            <a:avLst/>
          </a:prstGeom>
        </p:spPr>
      </p:pic>
      <p:cxnSp>
        <p:nvCxnSpPr>
          <p:cNvPr id="325" name="Straight Arrow Connector 52" descr="Double pointing horizontal arrow.">
            <a:extLst>
              <a:ext uri="{FF2B5EF4-FFF2-40B4-BE49-F238E27FC236}">
                <a16:creationId xmlns:a16="http://schemas.microsoft.com/office/drawing/2014/main" id="{9BB8FF05-AB40-0739-E8C9-8E8C8F29E21B}"/>
              </a:ext>
            </a:extLst>
          </p:cNvPr>
          <p:cNvCxnSpPr>
            <a:cxnSpLocks/>
            <a:stCxn id="296" idx="3"/>
            <a:endCxn id="294" idx="1"/>
          </p:cNvCxnSpPr>
          <p:nvPr/>
        </p:nvCxnSpPr>
        <p:spPr>
          <a:xfrm flipV="1">
            <a:off x="5349458" y="4650632"/>
            <a:ext cx="638693" cy="308"/>
          </a:xfrm>
          <a:prstGeom prst="straightConnector1">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329" name="Straight Arrow Connector 52" descr="Double pointing horizontal arrow.">
            <a:extLst>
              <a:ext uri="{FF2B5EF4-FFF2-40B4-BE49-F238E27FC236}">
                <a16:creationId xmlns:a16="http://schemas.microsoft.com/office/drawing/2014/main" id="{3FB1AD21-6C20-936E-9066-F6EBAB7D48C5}"/>
              </a:ext>
            </a:extLst>
          </p:cNvPr>
          <p:cNvCxnSpPr>
            <a:cxnSpLocks/>
            <a:stCxn id="290" idx="0"/>
            <a:endCxn id="297" idx="2"/>
          </p:cNvCxnSpPr>
          <p:nvPr/>
        </p:nvCxnSpPr>
        <p:spPr>
          <a:xfrm flipH="1" flipV="1">
            <a:off x="5081211" y="5380852"/>
            <a:ext cx="3010" cy="315777"/>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332" name="Straight Arrow Connector 52" descr="Double pointing horizontal arrow.">
            <a:extLst>
              <a:ext uri="{FF2B5EF4-FFF2-40B4-BE49-F238E27FC236}">
                <a16:creationId xmlns:a16="http://schemas.microsoft.com/office/drawing/2014/main" id="{50AF8B75-9DB1-257F-8EB1-AB5BE9B06BD0}"/>
              </a:ext>
            </a:extLst>
          </p:cNvPr>
          <p:cNvCxnSpPr>
            <a:cxnSpLocks/>
            <a:stCxn id="294" idx="3"/>
            <a:endCxn id="298" idx="1"/>
          </p:cNvCxnSpPr>
          <p:nvPr/>
        </p:nvCxnSpPr>
        <p:spPr>
          <a:xfrm>
            <a:off x="6524645" y="4650632"/>
            <a:ext cx="640661" cy="2899"/>
          </a:xfrm>
          <a:prstGeom prst="straightConnector1">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335" name="Straight Arrow Connector 52" descr="Double pointing horizontal arrow.">
            <a:extLst>
              <a:ext uri="{FF2B5EF4-FFF2-40B4-BE49-F238E27FC236}">
                <a16:creationId xmlns:a16="http://schemas.microsoft.com/office/drawing/2014/main" id="{7961E08B-BDA2-5476-EB44-63BFC3592A8E}"/>
              </a:ext>
            </a:extLst>
          </p:cNvPr>
          <p:cNvCxnSpPr>
            <a:cxnSpLocks/>
            <a:stCxn id="282" idx="0"/>
            <a:endCxn id="295" idx="2"/>
          </p:cNvCxnSpPr>
          <p:nvPr/>
        </p:nvCxnSpPr>
        <p:spPr>
          <a:xfrm flipV="1">
            <a:off x="6257001" y="5195318"/>
            <a:ext cx="3868" cy="496800"/>
          </a:xfrm>
          <a:prstGeom prst="straightConnector1">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341" name="Straight Arrow Connector 52" descr="Double pointing horizontal arrow.">
            <a:extLst>
              <a:ext uri="{FF2B5EF4-FFF2-40B4-BE49-F238E27FC236}">
                <a16:creationId xmlns:a16="http://schemas.microsoft.com/office/drawing/2014/main" id="{628AC99E-C1DD-4439-4D76-1BC2DB6A4786}"/>
              </a:ext>
            </a:extLst>
          </p:cNvPr>
          <p:cNvCxnSpPr>
            <a:cxnSpLocks/>
            <a:stCxn id="274" idx="3"/>
            <a:endCxn id="280" idx="1"/>
          </p:cNvCxnSpPr>
          <p:nvPr/>
        </p:nvCxnSpPr>
        <p:spPr>
          <a:xfrm>
            <a:off x="5351243" y="2913519"/>
            <a:ext cx="636909" cy="1957"/>
          </a:xfrm>
          <a:prstGeom prst="straightConnector1">
            <a:avLst/>
          </a:prstGeom>
          <a:ln w="15875">
            <a:solidFill>
              <a:schemeClr val="tx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grpSp>
        <p:nvGrpSpPr>
          <p:cNvPr id="345" name="グループ化 344">
            <a:extLst>
              <a:ext uri="{FF2B5EF4-FFF2-40B4-BE49-F238E27FC236}">
                <a16:creationId xmlns:a16="http://schemas.microsoft.com/office/drawing/2014/main" id="{4BFB9FA9-2CB0-D353-A0BD-1F50E47368C9}"/>
              </a:ext>
            </a:extLst>
          </p:cNvPr>
          <p:cNvGrpSpPr/>
          <p:nvPr/>
        </p:nvGrpSpPr>
        <p:grpSpPr>
          <a:xfrm>
            <a:off x="7023122" y="2645832"/>
            <a:ext cx="820861" cy="812933"/>
            <a:chOff x="5051089" y="1185069"/>
            <a:chExt cx="1165896" cy="1154637"/>
          </a:xfrm>
        </p:grpSpPr>
        <p:pic>
          <p:nvPicPr>
            <p:cNvPr id="346" name="Graphic 10" descr="AWS Lambda service icon.">
              <a:extLst>
                <a:ext uri="{FF2B5EF4-FFF2-40B4-BE49-F238E27FC236}">
                  <a16:creationId xmlns:a16="http://schemas.microsoft.com/office/drawing/2014/main" id="{4F32AFCE-389F-A0DD-62D7-CA6354676DB8}"/>
                </a:ext>
              </a:extLst>
            </p:cNvPr>
            <p:cNvPicPr>
              <a:picLocks noChangeAspect="1" noChangeArrowheads="1"/>
            </p:cNvPicPr>
            <p:nvPr/>
          </p:nvPicPr>
          <p:blipFill>
            <a:blip r:embed="rId6">
              <a:extLst>
                <a:ext uri="{96DAC541-7B7A-43D3-8B79-37D633B846F1}">
                  <asvg:svgBlip xmlns:asvg="http://schemas.microsoft.com/office/drawing/2016/SVG/main" r:embed="rId7"/>
                </a:ext>
              </a:extLst>
            </a:blip>
            <a:srcRect/>
            <a:stretch/>
          </p:blipFill>
          <p:spPr bwMode="auto">
            <a:xfrm>
              <a:off x="5246688" y="1185069"/>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7" name="TextBox 20">
              <a:extLst>
                <a:ext uri="{FF2B5EF4-FFF2-40B4-BE49-F238E27FC236}">
                  <a16:creationId xmlns:a16="http://schemas.microsoft.com/office/drawing/2014/main" id="{5BD44606-DC1A-9F7E-0783-2155C21BB685}"/>
                </a:ext>
              </a:extLst>
            </p:cNvPr>
            <p:cNvSpPr txBox="1">
              <a:spLocks noChangeArrowheads="1"/>
            </p:cNvSpPr>
            <p:nvPr/>
          </p:nvSpPr>
          <p:spPr bwMode="auto">
            <a:xfrm>
              <a:off x="5051089" y="1946275"/>
              <a:ext cx="1165896" cy="393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Lambda</a:t>
              </a:r>
            </a:p>
          </p:txBody>
        </p:sp>
      </p:grpSp>
      <p:cxnSp>
        <p:nvCxnSpPr>
          <p:cNvPr id="348" name="Straight Arrow Connector 52" descr="Double pointing horizontal arrow.">
            <a:extLst>
              <a:ext uri="{FF2B5EF4-FFF2-40B4-BE49-F238E27FC236}">
                <a16:creationId xmlns:a16="http://schemas.microsoft.com/office/drawing/2014/main" id="{0849A33D-A6AB-7F94-A551-A4BD99B32BC0}"/>
              </a:ext>
            </a:extLst>
          </p:cNvPr>
          <p:cNvCxnSpPr>
            <a:cxnSpLocks/>
            <a:stCxn id="280" idx="3"/>
            <a:endCxn id="346" idx="1"/>
          </p:cNvCxnSpPr>
          <p:nvPr/>
        </p:nvCxnSpPr>
        <p:spPr>
          <a:xfrm flipV="1">
            <a:off x="6524646" y="2914079"/>
            <a:ext cx="636189" cy="1397"/>
          </a:xfrm>
          <a:prstGeom prst="straightConnector1">
            <a:avLst/>
          </a:prstGeom>
          <a:ln w="15875">
            <a:solidFill>
              <a:schemeClr val="tx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cxnSp>
        <p:nvCxnSpPr>
          <p:cNvPr id="351" name="Straight Arrow Connector 52" descr="Double pointing horizontal arrow.">
            <a:extLst>
              <a:ext uri="{FF2B5EF4-FFF2-40B4-BE49-F238E27FC236}">
                <a16:creationId xmlns:a16="http://schemas.microsoft.com/office/drawing/2014/main" id="{3A030C7E-2F33-088B-70F0-4FF86013497E}"/>
              </a:ext>
            </a:extLst>
          </p:cNvPr>
          <p:cNvCxnSpPr>
            <a:cxnSpLocks/>
            <a:stCxn id="275" idx="2"/>
            <a:endCxn id="296" idx="0"/>
          </p:cNvCxnSpPr>
          <p:nvPr/>
        </p:nvCxnSpPr>
        <p:spPr>
          <a:xfrm flipH="1">
            <a:off x="5081211" y="3458765"/>
            <a:ext cx="1785" cy="923928"/>
          </a:xfrm>
          <a:prstGeom prst="straightConnector1">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sp>
        <p:nvSpPr>
          <p:cNvPr id="257" name="テキスト ボックス 256">
            <a:extLst>
              <a:ext uri="{FF2B5EF4-FFF2-40B4-BE49-F238E27FC236}">
                <a16:creationId xmlns:a16="http://schemas.microsoft.com/office/drawing/2014/main" id="{585F6ED7-9895-2A49-446B-C6B5837A7324}"/>
              </a:ext>
            </a:extLst>
          </p:cNvPr>
          <p:cNvSpPr txBox="1"/>
          <p:nvPr/>
        </p:nvSpPr>
        <p:spPr>
          <a:xfrm>
            <a:off x="4360260" y="3860479"/>
            <a:ext cx="2390492" cy="276999"/>
          </a:xfrm>
          <a:prstGeom prst="rect">
            <a:avLst/>
          </a:prstGeom>
          <a:solidFill>
            <a:srgbClr val="EFECE3"/>
          </a:solidFill>
        </p:spPr>
        <p:txBody>
          <a:bodyPr wrap="square" rtlCol="0">
            <a:spAutoFit/>
          </a:bodyPr>
          <a:lstStyle/>
          <a:p>
            <a:r>
              <a:rPr lang="ja-JP" altLang="en-US" sz="1200" b="1" dirty="0">
                <a:latin typeface="BIZ UDゴシック" panose="020B0400000000000000" pitchFamily="49" charset="-128"/>
                <a:ea typeface="BIZ UDゴシック" panose="020B0400000000000000" pitchFamily="49" charset="-128"/>
              </a:rPr>
              <a:t>ユーザー・在室登録サービス</a:t>
            </a:r>
            <a:endParaRPr kumimoji="1" lang="ja-JP" altLang="en-US" sz="1200" b="1" dirty="0">
              <a:latin typeface="BIZ UDゴシック" panose="020B0400000000000000" pitchFamily="49" charset="-128"/>
              <a:ea typeface="BIZ UDゴシック" panose="020B0400000000000000" pitchFamily="49" charset="-128"/>
            </a:endParaRPr>
          </a:p>
        </p:txBody>
      </p:sp>
      <p:grpSp>
        <p:nvGrpSpPr>
          <p:cNvPr id="361" name="グループ化 360">
            <a:extLst>
              <a:ext uri="{FF2B5EF4-FFF2-40B4-BE49-F238E27FC236}">
                <a16:creationId xmlns:a16="http://schemas.microsoft.com/office/drawing/2014/main" id="{EB64284F-F7DE-1420-8681-B8260DE923C3}"/>
              </a:ext>
            </a:extLst>
          </p:cNvPr>
          <p:cNvGrpSpPr/>
          <p:nvPr/>
        </p:nvGrpSpPr>
        <p:grpSpPr>
          <a:xfrm>
            <a:off x="7397897" y="3458765"/>
            <a:ext cx="71896" cy="901612"/>
            <a:chOff x="6937330" y="3141097"/>
            <a:chExt cx="71896" cy="901612"/>
          </a:xfrm>
        </p:grpSpPr>
        <p:cxnSp>
          <p:nvCxnSpPr>
            <p:cNvPr id="354" name="Straight Arrow Connector 52" descr="Double pointing horizontal arrow.">
              <a:extLst>
                <a:ext uri="{FF2B5EF4-FFF2-40B4-BE49-F238E27FC236}">
                  <a16:creationId xmlns:a16="http://schemas.microsoft.com/office/drawing/2014/main" id="{409B537E-6AE6-A269-3D44-A8B5A5BE77A8}"/>
                </a:ext>
              </a:extLst>
            </p:cNvPr>
            <p:cNvCxnSpPr>
              <a:cxnSpLocks/>
              <a:stCxn id="360" idx="0"/>
              <a:endCxn id="347" idx="2"/>
            </p:cNvCxnSpPr>
            <p:nvPr/>
          </p:nvCxnSpPr>
          <p:spPr>
            <a:xfrm flipH="1" flipV="1">
              <a:off x="6972986" y="3141097"/>
              <a:ext cx="292" cy="829716"/>
            </a:xfrm>
            <a:prstGeom prst="straightConnector1">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sp>
          <p:nvSpPr>
            <p:cNvPr id="360" name="楕円 359">
              <a:extLst>
                <a:ext uri="{FF2B5EF4-FFF2-40B4-BE49-F238E27FC236}">
                  <a16:creationId xmlns:a16="http://schemas.microsoft.com/office/drawing/2014/main" id="{944BF04F-9B49-A9D9-4E07-7E935C5F9BD4}"/>
                </a:ext>
              </a:extLst>
            </p:cNvPr>
            <p:cNvSpPr/>
            <p:nvPr/>
          </p:nvSpPr>
          <p:spPr>
            <a:xfrm>
              <a:off x="6937330" y="3970813"/>
              <a:ext cx="71896" cy="71896"/>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62" name="TextBox 9">
            <a:extLst>
              <a:ext uri="{FF2B5EF4-FFF2-40B4-BE49-F238E27FC236}">
                <a16:creationId xmlns:a16="http://schemas.microsoft.com/office/drawing/2014/main" id="{484A85CB-00E9-ED9F-48CA-0E88BE3719D8}"/>
              </a:ext>
            </a:extLst>
          </p:cNvPr>
          <p:cNvSpPr txBox="1">
            <a:spLocks noChangeArrowheads="1"/>
          </p:cNvSpPr>
          <p:nvPr/>
        </p:nvSpPr>
        <p:spPr bwMode="auto">
          <a:xfrm>
            <a:off x="7385849" y="3789686"/>
            <a:ext cx="76250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Stream</a:t>
            </a:r>
          </a:p>
        </p:txBody>
      </p:sp>
      <p:cxnSp>
        <p:nvCxnSpPr>
          <p:cNvPr id="369" name="Straight Arrow Connector 52" descr="Double pointing horizontal arrow.">
            <a:extLst>
              <a:ext uri="{FF2B5EF4-FFF2-40B4-BE49-F238E27FC236}">
                <a16:creationId xmlns:a16="http://schemas.microsoft.com/office/drawing/2014/main" id="{AD2513D6-925C-47AE-48A9-4D40874AE451}"/>
              </a:ext>
            </a:extLst>
          </p:cNvPr>
          <p:cNvCxnSpPr>
            <a:cxnSpLocks/>
            <a:stCxn id="274" idx="1"/>
          </p:cNvCxnSpPr>
          <p:nvPr/>
        </p:nvCxnSpPr>
        <p:spPr>
          <a:xfrm flipH="1" flipV="1">
            <a:off x="2777961" y="2910271"/>
            <a:ext cx="2036788" cy="3248"/>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372" name="Straight Arrow Connector 52" descr="Double pointing horizontal arrow.">
            <a:extLst>
              <a:ext uri="{FF2B5EF4-FFF2-40B4-BE49-F238E27FC236}">
                <a16:creationId xmlns:a16="http://schemas.microsoft.com/office/drawing/2014/main" id="{70ACDE40-93BB-D8FE-B91E-2AE64A744B3A}"/>
              </a:ext>
            </a:extLst>
          </p:cNvPr>
          <p:cNvCxnSpPr>
            <a:cxnSpLocks/>
            <a:stCxn id="286" idx="1"/>
            <a:endCxn id="307" idx="2"/>
          </p:cNvCxnSpPr>
          <p:nvPr/>
        </p:nvCxnSpPr>
        <p:spPr>
          <a:xfrm flipH="1">
            <a:off x="1756501" y="6288743"/>
            <a:ext cx="294775" cy="0"/>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sp>
        <p:nvSpPr>
          <p:cNvPr id="380" name="Rectangle 103" descr="Generic group dashed.">
            <a:extLst>
              <a:ext uri="{FF2B5EF4-FFF2-40B4-BE49-F238E27FC236}">
                <a16:creationId xmlns:a16="http://schemas.microsoft.com/office/drawing/2014/main" id="{3148BF1B-45A3-C6FC-7B9C-A2F73B61424A}"/>
              </a:ext>
            </a:extLst>
          </p:cNvPr>
          <p:cNvSpPr/>
          <p:nvPr/>
        </p:nvSpPr>
        <p:spPr>
          <a:xfrm>
            <a:off x="4457026" y="1552760"/>
            <a:ext cx="3541821" cy="2158934"/>
          </a:xfrm>
          <a:prstGeom prst="rect">
            <a:avLst/>
          </a:prstGeom>
          <a:noFill/>
          <a:ln w="15875">
            <a:solidFill>
              <a:srgbClr val="7D8998"/>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eaLnBrk="1" fontAlgn="auto" hangingPunct="1">
              <a:spcBef>
                <a:spcPts val="0"/>
              </a:spcBef>
              <a:spcAft>
                <a:spcPts val="0"/>
              </a:spcAft>
              <a:defRPr/>
            </a:pPr>
            <a:endParaRPr lang="en-US" sz="1200" dirty="0">
              <a:solidFill>
                <a:schemeClr val="tx1"/>
              </a:solidFill>
              <a:latin typeface="Arial" panose="020B0604020202020204" pitchFamily="34" charset="0"/>
              <a:cs typeface="Arial" panose="020B0604020202020204" pitchFamily="34" charset="0"/>
            </a:endParaRPr>
          </a:p>
        </p:txBody>
      </p:sp>
      <p:sp>
        <p:nvSpPr>
          <p:cNvPr id="256" name="テキスト ボックス 255">
            <a:extLst>
              <a:ext uri="{FF2B5EF4-FFF2-40B4-BE49-F238E27FC236}">
                <a16:creationId xmlns:a16="http://schemas.microsoft.com/office/drawing/2014/main" id="{9A3A35A7-E723-E1A8-B897-5DB95DBB1708}"/>
              </a:ext>
            </a:extLst>
          </p:cNvPr>
          <p:cNvSpPr txBox="1"/>
          <p:nvPr/>
        </p:nvSpPr>
        <p:spPr>
          <a:xfrm>
            <a:off x="4355739" y="1260339"/>
            <a:ext cx="2390492" cy="276999"/>
          </a:xfrm>
          <a:prstGeom prst="rect">
            <a:avLst/>
          </a:prstGeom>
          <a:solidFill>
            <a:srgbClr val="EFECE3"/>
          </a:solidFill>
        </p:spPr>
        <p:txBody>
          <a:bodyPr wrap="square" rtlCol="0">
            <a:spAutoFit/>
          </a:bodyPr>
          <a:lstStyle/>
          <a:p>
            <a:r>
              <a:rPr lang="ja-JP" altLang="en-US" sz="1200" b="1" dirty="0">
                <a:latin typeface="BIZ UDゴシック" panose="020B0400000000000000" pitchFamily="49" charset="-128"/>
                <a:ea typeface="BIZ UDゴシック" panose="020B0400000000000000" pitchFamily="49" charset="-128"/>
              </a:rPr>
              <a:t>ユーザー・在室表示サービス</a:t>
            </a:r>
            <a:endParaRPr kumimoji="1" lang="ja-JP" altLang="en-US" sz="1200" b="1" dirty="0">
              <a:latin typeface="BIZ UDゴシック" panose="020B0400000000000000" pitchFamily="49" charset="-128"/>
              <a:ea typeface="BIZ UDゴシック" panose="020B0400000000000000" pitchFamily="49" charset="-128"/>
            </a:endParaRPr>
          </a:p>
        </p:txBody>
      </p:sp>
      <p:cxnSp>
        <p:nvCxnSpPr>
          <p:cNvPr id="388" name="Elbow Connector 22" descr="Elbow horizontal arrow pointing right (1).">
            <a:extLst>
              <a:ext uri="{FF2B5EF4-FFF2-40B4-BE49-F238E27FC236}">
                <a16:creationId xmlns:a16="http://schemas.microsoft.com/office/drawing/2014/main" id="{A211BDFF-8168-FD3B-CD27-AB2581133C80}"/>
              </a:ext>
            </a:extLst>
          </p:cNvPr>
          <p:cNvCxnSpPr>
            <a:cxnSpLocks/>
            <a:stCxn id="270" idx="1"/>
            <a:endCxn id="274" idx="0"/>
          </p:cNvCxnSpPr>
          <p:nvPr/>
        </p:nvCxnSpPr>
        <p:spPr>
          <a:xfrm rot="10800000" flipV="1">
            <a:off x="5082996" y="1913082"/>
            <a:ext cx="905154" cy="732190"/>
          </a:xfrm>
          <a:prstGeom prst="bentConnector2">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391" name="Elbow Connector 22" descr="Elbow horizontal arrow pointing right (1).">
            <a:extLst>
              <a:ext uri="{FF2B5EF4-FFF2-40B4-BE49-F238E27FC236}">
                <a16:creationId xmlns:a16="http://schemas.microsoft.com/office/drawing/2014/main" id="{D2AA5803-7499-24CE-6741-5637161BC731}"/>
              </a:ext>
            </a:extLst>
          </p:cNvPr>
          <p:cNvCxnSpPr>
            <a:cxnSpLocks/>
            <a:stCxn id="274" idx="0"/>
            <a:endCxn id="270" idx="1"/>
          </p:cNvCxnSpPr>
          <p:nvPr/>
        </p:nvCxnSpPr>
        <p:spPr>
          <a:xfrm rot="5400000" flipH="1" flipV="1">
            <a:off x="5169478" y="1826600"/>
            <a:ext cx="732190" cy="905154"/>
          </a:xfrm>
          <a:prstGeom prst="bentConnector2">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394" name="Elbow Connector 22" descr="Elbow horizontal arrow pointing right (1).">
            <a:extLst>
              <a:ext uri="{FF2B5EF4-FFF2-40B4-BE49-F238E27FC236}">
                <a16:creationId xmlns:a16="http://schemas.microsoft.com/office/drawing/2014/main" id="{078FE8A3-1B8E-3DD6-7346-D53413C5E55E}"/>
              </a:ext>
            </a:extLst>
          </p:cNvPr>
          <p:cNvCxnSpPr>
            <a:cxnSpLocks/>
            <a:endCxn id="272" idx="0"/>
          </p:cNvCxnSpPr>
          <p:nvPr/>
        </p:nvCxnSpPr>
        <p:spPr>
          <a:xfrm>
            <a:off x="2781957" y="4817404"/>
            <a:ext cx="1373998" cy="865971"/>
          </a:xfrm>
          <a:prstGeom prst="bentConnector2">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sp>
        <p:nvSpPr>
          <p:cNvPr id="401" name="正方形/長方形 400">
            <a:extLst>
              <a:ext uri="{FF2B5EF4-FFF2-40B4-BE49-F238E27FC236}">
                <a16:creationId xmlns:a16="http://schemas.microsoft.com/office/drawing/2014/main" id="{3C481709-3EB2-9015-3A8E-0D3CAD7774FB}"/>
              </a:ext>
            </a:extLst>
          </p:cNvPr>
          <p:cNvSpPr/>
          <p:nvPr/>
        </p:nvSpPr>
        <p:spPr>
          <a:xfrm>
            <a:off x="3522240" y="926869"/>
            <a:ext cx="4831584" cy="5828334"/>
          </a:xfrm>
          <a:prstGeom prst="rect">
            <a:avLst/>
          </a:prstGeom>
          <a:solidFill>
            <a:srgbClr val="FFFFFF"/>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402" name="Picture 4" descr="AWS - inteltank">
            <a:extLst>
              <a:ext uri="{FF2B5EF4-FFF2-40B4-BE49-F238E27FC236}">
                <a16:creationId xmlns:a16="http://schemas.microsoft.com/office/drawing/2014/main" id="{D067D762-563D-6390-8CFD-93D6BC341836}"/>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4836946" y="3069170"/>
            <a:ext cx="2211582" cy="1452274"/>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Raspberry icon - Free download on Iconfinder">
            <a:extLst>
              <a:ext uri="{FF2B5EF4-FFF2-40B4-BE49-F238E27FC236}">
                <a16:creationId xmlns:a16="http://schemas.microsoft.com/office/drawing/2014/main" id="{4F74A75F-73C4-D14A-8E62-8AF62E04230F}"/>
              </a:ext>
            </a:extLst>
          </p:cNvPr>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2244769" y="4471085"/>
            <a:ext cx="544810" cy="54481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Raspberry icon - Free download on Iconfinder">
            <a:extLst>
              <a:ext uri="{FF2B5EF4-FFF2-40B4-BE49-F238E27FC236}">
                <a16:creationId xmlns:a16="http://schemas.microsoft.com/office/drawing/2014/main" id="{2630CA15-81FA-93E9-9D9F-5F8E1311EE8D}"/>
              </a:ext>
            </a:extLst>
          </p:cNvPr>
          <p:cNvPicPr>
            <a:picLocks noChangeAspect="1" noChangeArrowheads="1"/>
          </p:cNvPicPr>
          <p:nvPr/>
        </p:nvPicPr>
        <p:blipFill>
          <a:blip r:embed="rId29">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244769" y="2641704"/>
            <a:ext cx="544810" cy="544810"/>
          </a:xfrm>
          <a:prstGeom prst="rect">
            <a:avLst/>
          </a:prstGeom>
          <a:noFill/>
          <a:extLst>
            <a:ext uri="{909E8E84-426E-40DD-AFC4-6F175D3DCCD1}">
              <a14:hiddenFill xmlns:a14="http://schemas.microsoft.com/office/drawing/2010/main">
                <a:solidFill>
                  <a:srgbClr val="FFFFFF"/>
                </a:solidFill>
              </a14:hiddenFill>
            </a:ext>
          </a:extLst>
        </p:spPr>
      </p:pic>
      <p:sp>
        <p:nvSpPr>
          <p:cNvPr id="4" name="正方形/長方形 3">
            <a:extLst>
              <a:ext uri="{FF2B5EF4-FFF2-40B4-BE49-F238E27FC236}">
                <a16:creationId xmlns:a16="http://schemas.microsoft.com/office/drawing/2014/main" id="{65F03B35-503B-E558-4A08-F99F2443F737}"/>
              </a:ext>
            </a:extLst>
          </p:cNvPr>
          <p:cNvSpPr/>
          <p:nvPr/>
        </p:nvSpPr>
        <p:spPr>
          <a:xfrm>
            <a:off x="1852891" y="4374293"/>
            <a:ext cx="1296736" cy="2214221"/>
          </a:xfrm>
          <a:prstGeom prst="rect">
            <a:avLst/>
          </a:prstGeom>
          <a:solidFill>
            <a:srgbClr val="FFFFCC">
              <a:alpha val="50196"/>
            </a:srgbClr>
          </a:solid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050" name="Picture 2" descr="注意・警告・危険マーク 」の無料フリー素材 | イラスト・アイコンのフリー素材なら「フリーアイコンズ」">
            <a:extLst>
              <a:ext uri="{FF2B5EF4-FFF2-40B4-BE49-F238E27FC236}">
                <a16:creationId xmlns:a16="http://schemas.microsoft.com/office/drawing/2014/main" id="{1B2C52CC-EF70-45A7-A64F-112E73F2F35B}"/>
              </a:ext>
            </a:extLst>
          </p:cNvPr>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2207644" y="5185233"/>
            <a:ext cx="590752" cy="5907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24359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86D3AA-CBA0-27CB-B37D-D3FD2258397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59E0560-52A2-A8D8-7944-801953AD51E8}"/>
              </a:ext>
            </a:extLst>
          </p:cNvPr>
          <p:cNvSpPr>
            <a:spLocks noGrp="1"/>
          </p:cNvSpPr>
          <p:nvPr>
            <p:ph type="title"/>
          </p:nvPr>
        </p:nvSpPr>
        <p:spPr/>
        <p:txBody>
          <a:bodyPr/>
          <a:lstStyle/>
          <a:p>
            <a:r>
              <a:rPr kumimoji="1" lang="ja-JP" altLang="en-US" dirty="0"/>
              <a:t>在室確認システム</a:t>
            </a:r>
            <a:r>
              <a:rPr lang="ja-JP" altLang="en-US" dirty="0"/>
              <a:t> </a:t>
            </a:r>
            <a:r>
              <a:rPr lang="en-US" altLang="ja-JP" dirty="0"/>
              <a:t>– </a:t>
            </a:r>
            <a:r>
              <a:rPr lang="ja-JP" altLang="en-US" dirty="0"/>
              <a:t>制御デバイス</a:t>
            </a:r>
            <a:endParaRPr kumimoji="1" lang="ja-JP" altLang="en-US" dirty="0"/>
          </a:p>
        </p:txBody>
      </p:sp>
      <p:sp>
        <p:nvSpPr>
          <p:cNvPr id="289" name="TextBox 12">
            <a:extLst>
              <a:ext uri="{FF2B5EF4-FFF2-40B4-BE49-F238E27FC236}">
                <a16:creationId xmlns:a16="http://schemas.microsoft.com/office/drawing/2014/main" id="{3F519566-5DBC-E3DB-9DDC-B41F61FF1122}"/>
              </a:ext>
            </a:extLst>
          </p:cNvPr>
          <p:cNvSpPr txBox="1">
            <a:spLocks noChangeArrowheads="1"/>
          </p:cNvSpPr>
          <p:nvPr/>
        </p:nvSpPr>
        <p:spPr bwMode="auto">
          <a:xfrm>
            <a:off x="1707208" y="5001976"/>
            <a:ext cx="16050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Raspberry Pi 4B</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(172.16.15.8)</a:t>
            </a:r>
          </a:p>
        </p:txBody>
      </p:sp>
      <p:sp>
        <p:nvSpPr>
          <p:cNvPr id="236" name="テキスト ボックス 235">
            <a:extLst>
              <a:ext uri="{FF2B5EF4-FFF2-40B4-BE49-F238E27FC236}">
                <a16:creationId xmlns:a16="http://schemas.microsoft.com/office/drawing/2014/main" id="{1FB88BE2-6815-817A-2D68-881B4224BF1C}"/>
              </a:ext>
            </a:extLst>
          </p:cNvPr>
          <p:cNvSpPr txBox="1"/>
          <p:nvPr/>
        </p:nvSpPr>
        <p:spPr>
          <a:xfrm>
            <a:off x="1077353" y="4303759"/>
            <a:ext cx="1162293" cy="276999"/>
          </a:xfrm>
          <a:prstGeom prst="rect">
            <a:avLst/>
          </a:prstGeom>
          <a:noFill/>
        </p:spPr>
        <p:txBody>
          <a:bodyPr wrap="square">
            <a:spAutoFit/>
          </a:body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RC-S380 S</a:t>
            </a:r>
          </a:p>
        </p:txBody>
      </p:sp>
      <p:pic>
        <p:nvPicPr>
          <p:cNvPr id="237" name="図 236" descr="黒い背景と白い文字のロゴ&#10;&#10;AI によって生成されたコンテンツは間違っている可能性があります。">
            <a:extLst>
              <a:ext uri="{FF2B5EF4-FFF2-40B4-BE49-F238E27FC236}">
                <a16:creationId xmlns:a16="http://schemas.microsoft.com/office/drawing/2014/main" id="{9E088AB1-A2FA-8410-B0F1-EC684B36A8CF}"/>
              </a:ext>
            </a:extLst>
          </p:cNvPr>
          <p:cNvPicPr>
            <a:picLocks noChangeAspect="1"/>
          </p:cNvPicPr>
          <p:nvPr/>
        </p:nvPicPr>
        <p:blipFill>
          <a:blip r:embed="rId3">
            <a:biLevel thresh="50000"/>
            <a:extLst>
              <a:ext uri="{28A0092B-C50C-407E-A947-70E740481C1C}">
                <a14:useLocalDpi xmlns:a14="http://schemas.microsoft.com/office/drawing/2010/main" val="0"/>
              </a:ext>
            </a:extLst>
          </a:blip>
          <a:srcRect t="19474" b="18132"/>
          <a:stretch/>
        </p:blipFill>
        <p:spPr>
          <a:xfrm flipH="1">
            <a:off x="693160" y="4508703"/>
            <a:ext cx="1605014" cy="751622"/>
          </a:xfrm>
          <a:prstGeom prst="rect">
            <a:avLst/>
          </a:prstGeom>
        </p:spPr>
      </p:pic>
      <p:grpSp>
        <p:nvGrpSpPr>
          <p:cNvPr id="241" name="グループ化 240">
            <a:extLst>
              <a:ext uri="{FF2B5EF4-FFF2-40B4-BE49-F238E27FC236}">
                <a16:creationId xmlns:a16="http://schemas.microsoft.com/office/drawing/2014/main" id="{4129CFB7-D754-2136-4497-528D0B4D16A2}"/>
              </a:ext>
            </a:extLst>
          </p:cNvPr>
          <p:cNvGrpSpPr/>
          <p:nvPr/>
        </p:nvGrpSpPr>
        <p:grpSpPr>
          <a:xfrm>
            <a:off x="2051276" y="6087076"/>
            <a:ext cx="924337" cy="403333"/>
            <a:chOff x="2262291" y="5685876"/>
            <a:chExt cx="924337" cy="403333"/>
          </a:xfrm>
        </p:grpSpPr>
        <p:pic>
          <p:nvPicPr>
            <p:cNvPr id="286" name="図 285" descr="アイコン&#10;&#10;AI によって生成されたコンテンツは間違っている可能性があります。">
              <a:extLst>
                <a:ext uri="{FF2B5EF4-FFF2-40B4-BE49-F238E27FC236}">
                  <a16:creationId xmlns:a16="http://schemas.microsoft.com/office/drawing/2014/main" id="{5005D18A-0525-F731-F530-3DE568D1A51D}"/>
                </a:ext>
              </a:extLst>
            </p:cNvPr>
            <p:cNvPicPr>
              <a:picLocks noChangeAspect="1"/>
            </p:cNvPicPr>
            <p:nvPr/>
          </p:nvPicPr>
          <p:blipFill>
            <a:blip r:embed="rId4">
              <a:extLst>
                <a:ext uri="{28A0092B-C50C-407E-A947-70E740481C1C}">
                  <a14:useLocalDpi xmlns:a14="http://schemas.microsoft.com/office/drawing/2010/main" val="0"/>
                </a:ext>
              </a:extLst>
            </a:blip>
            <a:srcRect l="10553" t="5709" r="9769" b="4466"/>
            <a:stretch/>
          </p:blipFill>
          <p:spPr>
            <a:xfrm>
              <a:off x="2262291" y="5685876"/>
              <a:ext cx="357774" cy="403333"/>
            </a:xfrm>
            <a:prstGeom prst="rect">
              <a:avLst/>
            </a:prstGeom>
          </p:spPr>
        </p:pic>
        <p:sp>
          <p:nvSpPr>
            <p:cNvPr id="287" name="テキスト ボックス 286">
              <a:extLst>
                <a:ext uri="{FF2B5EF4-FFF2-40B4-BE49-F238E27FC236}">
                  <a16:creationId xmlns:a16="http://schemas.microsoft.com/office/drawing/2014/main" id="{1B2221B4-CD08-B203-334F-834DC9C503A3}"/>
                </a:ext>
              </a:extLst>
            </p:cNvPr>
            <p:cNvSpPr txBox="1"/>
            <p:nvPr/>
          </p:nvSpPr>
          <p:spPr>
            <a:xfrm>
              <a:off x="2557071" y="5749042"/>
              <a:ext cx="629557" cy="276999"/>
            </a:xfrm>
            <a:prstGeom prst="rect">
              <a:avLst/>
            </a:prstGeom>
            <a:noFill/>
          </p:spPr>
          <p:txBody>
            <a:bodyPr wrap="square">
              <a:spAutoFit/>
            </a:bodyPr>
            <a:lstStyle/>
            <a:p>
              <a:r>
                <a:rPr lang="en-US" altLang="ja-JP" sz="1200" dirty="0"/>
                <a:t>:3000</a:t>
              </a:r>
              <a:endParaRPr lang="ja-JP" altLang="en-US" sz="1200" dirty="0"/>
            </a:p>
          </p:txBody>
        </p:sp>
      </p:grpSp>
      <p:grpSp>
        <p:nvGrpSpPr>
          <p:cNvPr id="242" name="グループ化 241">
            <a:extLst>
              <a:ext uri="{FF2B5EF4-FFF2-40B4-BE49-F238E27FC236}">
                <a16:creationId xmlns:a16="http://schemas.microsoft.com/office/drawing/2014/main" id="{A8BEAEFD-4469-9B88-67C9-2CD942AF8C9C}"/>
              </a:ext>
            </a:extLst>
          </p:cNvPr>
          <p:cNvGrpSpPr/>
          <p:nvPr/>
        </p:nvGrpSpPr>
        <p:grpSpPr>
          <a:xfrm>
            <a:off x="2043915" y="5648135"/>
            <a:ext cx="931698" cy="372497"/>
            <a:chOff x="2254930" y="5246935"/>
            <a:chExt cx="931698" cy="372497"/>
          </a:xfrm>
        </p:grpSpPr>
        <p:pic>
          <p:nvPicPr>
            <p:cNvPr id="284" name="グラフィックス 283">
              <a:extLst>
                <a:ext uri="{FF2B5EF4-FFF2-40B4-BE49-F238E27FC236}">
                  <a16:creationId xmlns:a16="http://schemas.microsoft.com/office/drawing/2014/main" id="{063D88C3-C83C-6B6B-DF08-719BD859EF4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254930" y="5246935"/>
              <a:ext cx="372497" cy="372497"/>
            </a:xfrm>
            <a:prstGeom prst="rect">
              <a:avLst/>
            </a:prstGeom>
          </p:spPr>
        </p:pic>
        <p:sp>
          <p:nvSpPr>
            <p:cNvPr id="285" name="テキスト ボックス 284">
              <a:extLst>
                <a:ext uri="{FF2B5EF4-FFF2-40B4-BE49-F238E27FC236}">
                  <a16:creationId xmlns:a16="http://schemas.microsoft.com/office/drawing/2014/main" id="{EC6ABFED-6464-BF65-C632-EE50052BA236}"/>
                </a:ext>
              </a:extLst>
            </p:cNvPr>
            <p:cNvSpPr txBox="1"/>
            <p:nvPr/>
          </p:nvSpPr>
          <p:spPr>
            <a:xfrm>
              <a:off x="2557071" y="5306333"/>
              <a:ext cx="629557" cy="276999"/>
            </a:xfrm>
            <a:prstGeom prst="rect">
              <a:avLst/>
            </a:prstGeom>
            <a:noFill/>
          </p:spPr>
          <p:txBody>
            <a:bodyPr wrap="square">
              <a:spAutoFit/>
            </a:bodyPr>
            <a:lstStyle/>
            <a:p>
              <a:r>
                <a:rPr lang="en-US" altLang="ja-JP" sz="1200" dirty="0"/>
                <a:t>:8000</a:t>
              </a:r>
              <a:endParaRPr lang="ja-JP" altLang="en-US" sz="1200" dirty="0"/>
            </a:p>
          </p:txBody>
        </p:sp>
      </p:grpSp>
      <p:sp>
        <p:nvSpPr>
          <p:cNvPr id="306" name="Rectangle 103" descr="Generic group dashed.">
            <a:extLst>
              <a:ext uri="{FF2B5EF4-FFF2-40B4-BE49-F238E27FC236}">
                <a16:creationId xmlns:a16="http://schemas.microsoft.com/office/drawing/2014/main" id="{3F3D9324-97AF-DE79-07EC-9A3569B1CFD1}"/>
              </a:ext>
            </a:extLst>
          </p:cNvPr>
          <p:cNvSpPr/>
          <p:nvPr/>
        </p:nvSpPr>
        <p:spPr>
          <a:xfrm>
            <a:off x="690522" y="3933107"/>
            <a:ext cx="2615365" cy="2822096"/>
          </a:xfrm>
          <a:prstGeom prst="rect">
            <a:avLst/>
          </a:prstGeom>
          <a:noFill/>
          <a:ln w="15875">
            <a:solidFill>
              <a:srgbClr val="7D8998"/>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a:defRPr/>
            </a:pPr>
            <a:r>
              <a:rPr lang="ja-JP" altLang="en-US" sz="1200" dirty="0">
                <a:solidFill>
                  <a:schemeClr val="tx1"/>
                </a:solidFill>
                <a:latin typeface="Arial" panose="020B0604020202020204" pitchFamily="34" charset="0"/>
                <a:cs typeface="Arial" panose="020B0604020202020204" pitchFamily="34" charset="0"/>
              </a:rPr>
              <a:t>学生部屋（</a:t>
            </a:r>
            <a:r>
              <a:rPr lang="en-US" altLang="ja-JP" sz="1200" dirty="0">
                <a:solidFill>
                  <a:schemeClr val="tx1"/>
                </a:solidFill>
                <a:latin typeface="Arial" panose="020B0604020202020204" pitchFamily="34" charset="0"/>
                <a:cs typeface="Arial" panose="020B0604020202020204" pitchFamily="34" charset="0"/>
              </a:rPr>
              <a:t>J1401</a:t>
            </a:r>
            <a:r>
              <a:rPr lang="ja-JP" altLang="en-US" sz="1200" dirty="0">
                <a:solidFill>
                  <a:schemeClr val="tx1"/>
                </a:solidFill>
                <a:latin typeface="Arial" panose="020B0604020202020204" pitchFamily="34" charset="0"/>
                <a:cs typeface="Arial" panose="020B0604020202020204" pitchFamily="34" charset="0"/>
              </a:rPr>
              <a:t>）</a:t>
            </a:r>
            <a:endParaRPr lang="en-US" sz="1200" dirty="0">
              <a:solidFill>
                <a:schemeClr val="tx1"/>
              </a:solidFill>
              <a:latin typeface="Arial" panose="020B0604020202020204" pitchFamily="34" charset="0"/>
              <a:cs typeface="Arial" panose="020B0604020202020204" pitchFamily="34" charset="0"/>
            </a:endParaRPr>
          </a:p>
        </p:txBody>
      </p:sp>
      <p:pic>
        <p:nvPicPr>
          <p:cNvPr id="307" name="グラフィックス 306">
            <a:extLst>
              <a:ext uri="{FF2B5EF4-FFF2-40B4-BE49-F238E27FC236}">
                <a16:creationId xmlns:a16="http://schemas.microsoft.com/office/drawing/2014/main" id="{7B896DF1-FAA2-D6AA-E81B-0BB5BFA787AB}"/>
              </a:ext>
            </a:extLst>
          </p:cNvPr>
          <p:cNvPicPr>
            <a:picLocks noChangeAspect="1"/>
          </p:cNvPicPr>
          <p:nvPr/>
        </p:nvPicPr>
        <p:blipFill>
          <a:blip r:embed="rId7">
            <a:grayscl/>
            <a:extLst>
              <a:ext uri="{96DAC541-7B7A-43D3-8B79-37D633B846F1}">
                <asvg:svgBlip xmlns:asvg="http://schemas.microsoft.com/office/drawing/2016/SVG/main" r:embed="rId8"/>
              </a:ext>
            </a:extLst>
          </a:blip>
          <a:srcRect l="25148" t="16203" r="25948" b="16205"/>
          <a:stretch/>
        </p:blipFill>
        <p:spPr>
          <a:xfrm rot="16200000">
            <a:off x="1042395" y="5874413"/>
            <a:ext cx="599552" cy="828660"/>
          </a:xfrm>
          <a:prstGeom prst="rect">
            <a:avLst/>
          </a:prstGeom>
        </p:spPr>
      </p:pic>
      <p:cxnSp>
        <p:nvCxnSpPr>
          <p:cNvPr id="372" name="Straight Arrow Connector 52" descr="Double pointing horizontal arrow.">
            <a:extLst>
              <a:ext uri="{FF2B5EF4-FFF2-40B4-BE49-F238E27FC236}">
                <a16:creationId xmlns:a16="http://schemas.microsoft.com/office/drawing/2014/main" id="{275DD5FD-7335-9850-4AFD-CE7630B5B44E}"/>
              </a:ext>
            </a:extLst>
          </p:cNvPr>
          <p:cNvCxnSpPr>
            <a:cxnSpLocks/>
            <a:stCxn id="286" idx="1"/>
            <a:endCxn id="307" idx="2"/>
          </p:cNvCxnSpPr>
          <p:nvPr/>
        </p:nvCxnSpPr>
        <p:spPr>
          <a:xfrm flipH="1">
            <a:off x="1756501" y="6288743"/>
            <a:ext cx="294775" cy="0"/>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pic>
        <p:nvPicPr>
          <p:cNvPr id="3" name="Picture 2" descr="Raspberry icon - Free download on Iconfinder">
            <a:extLst>
              <a:ext uri="{FF2B5EF4-FFF2-40B4-BE49-F238E27FC236}">
                <a16:creationId xmlns:a16="http://schemas.microsoft.com/office/drawing/2014/main" id="{7EE0039B-D707-B888-9DB8-781599F1801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44769" y="4471085"/>
            <a:ext cx="544810" cy="544810"/>
          </a:xfrm>
          <a:prstGeom prst="rect">
            <a:avLst/>
          </a:prstGeom>
          <a:noFill/>
          <a:extLst>
            <a:ext uri="{909E8E84-426E-40DD-AFC4-6F175D3DCCD1}">
              <a14:hiddenFill xmlns:a14="http://schemas.microsoft.com/office/drawing/2010/main">
                <a:solidFill>
                  <a:srgbClr val="FFFFFF"/>
                </a:solidFill>
              </a14:hiddenFill>
            </a:ext>
          </a:extLst>
        </p:spPr>
      </p:pic>
      <p:grpSp>
        <p:nvGrpSpPr>
          <p:cNvPr id="9" name="グループ化 8">
            <a:extLst>
              <a:ext uri="{FF2B5EF4-FFF2-40B4-BE49-F238E27FC236}">
                <a16:creationId xmlns:a16="http://schemas.microsoft.com/office/drawing/2014/main" id="{1DD7C5A4-C0DB-CAFB-3E61-B215CC22BFD9}"/>
              </a:ext>
            </a:extLst>
          </p:cNvPr>
          <p:cNvGrpSpPr/>
          <p:nvPr/>
        </p:nvGrpSpPr>
        <p:grpSpPr>
          <a:xfrm>
            <a:off x="3305887" y="1301487"/>
            <a:ext cx="5430653" cy="5453716"/>
            <a:chOff x="3305887" y="1301487"/>
            <a:chExt cx="5430653" cy="5453716"/>
          </a:xfrm>
        </p:grpSpPr>
        <p:sp>
          <p:nvSpPr>
            <p:cNvPr id="6" name="正方形/長方形 5">
              <a:extLst>
                <a:ext uri="{FF2B5EF4-FFF2-40B4-BE49-F238E27FC236}">
                  <a16:creationId xmlns:a16="http://schemas.microsoft.com/office/drawing/2014/main" id="{9A8E0183-05FE-057F-E7E1-2BDCF706FF2B}"/>
                </a:ext>
              </a:extLst>
            </p:cNvPr>
            <p:cNvSpPr/>
            <p:nvPr/>
          </p:nvSpPr>
          <p:spPr>
            <a:xfrm>
              <a:off x="3469616" y="1648657"/>
              <a:ext cx="5173870" cy="5106546"/>
            </a:xfrm>
            <a:prstGeom prst="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0000" rIns="0" bIns="0" rtlCol="0" anchor="ctr"/>
            <a:lstStyle/>
            <a:p>
              <a:r>
                <a:rPr lang="en-US" altLang="ja-JP" sz="1400" dirty="0"/>
                <a:t>.</a:t>
              </a:r>
            </a:p>
            <a:p>
              <a:r>
                <a:rPr lang="en-US" altLang="ja-JP" sz="1400" dirty="0"/>
                <a:t>├── .env</a:t>
              </a:r>
            </a:p>
            <a:p>
              <a:r>
                <a:rPr lang="en-US" altLang="ja-JP" sz="1400" dirty="0"/>
                <a:t>│</a:t>
              </a:r>
            </a:p>
            <a:p>
              <a:r>
                <a:rPr lang="en-US" altLang="ja-JP" sz="1400" dirty="0"/>
                <a:t>├── app</a:t>
              </a:r>
            </a:p>
            <a:p>
              <a:r>
                <a:rPr lang="en-US" altLang="ja-JP" sz="1400" dirty="0"/>
                <a:t>│   ├── …</a:t>
              </a:r>
            </a:p>
            <a:p>
              <a:r>
                <a:rPr lang="en-US" altLang="ja-JP" sz="1400" dirty="0"/>
                <a:t>│</a:t>
              </a:r>
            </a:p>
            <a:p>
              <a:r>
                <a:rPr lang="en-US" altLang="ja-JP" sz="1400" dirty="0"/>
                <a:t>├── data</a:t>
              </a:r>
            </a:p>
            <a:p>
              <a:r>
                <a:rPr lang="en-US" altLang="ja-JP" sz="1400" dirty="0"/>
                <a:t>│   ├── …</a:t>
              </a:r>
            </a:p>
            <a:p>
              <a:r>
                <a:rPr lang="ja-JP" altLang="en-US" sz="1400" dirty="0"/>
                <a:t>｜</a:t>
              </a:r>
              <a:endParaRPr lang="en-US" altLang="ja-JP" sz="1400" dirty="0"/>
            </a:p>
            <a:p>
              <a:r>
                <a:rPr lang="en-US" altLang="ja-JP" sz="1400" dirty="0"/>
                <a:t>├── logs</a:t>
              </a:r>
            </a:p>
            <a:p>
              <a:r>
                <a:rPr lang="en-US" altLang="ja-JP" sz="1400" dirty="0"/>
                <a:t>│   └── *.log</a:t>
              </a:r>
            </a:p>
            <a:p>
              <a:r>
                <a:rPr lang="en-US" altLang="ja-JP" sz="1400" dirty="0"/>
                <a:t>│</a:t>
              </a:r>
            </a:p>
            <a:p>
              <a:r>
                <a:rPr lang="en-US" altLang="ja-JP" sz="1400" dirty="0"/>
                <a:t>├── shared</a:t>
              </a:r>
            </a:p>
            <a:p>
              <a:r>
                <a:rPr lang="en-US" altLang="ja-JP" sz="1400" dirty="0"/>
                <a:t>│   ├── …</a:t>
              </a:r>
            </a:p>
            <a:p>
              <a:r>
                <a:rPr lang="ja-JP" altLang="en-US" sz="1400" dirty="0"/>
                <a:t>｜</a:t>
              </a:r>
              <a:endParaRPr lang="en-US" altLang="ja-JP" sz="1400" dirty="0"/>
            </a:p>
            <a:p>
              <a:r>
                <a:rPr lang="en-US" altLang="ja-JP" sz="1400" dirty="0"/>
                <a:t>├── web</a:t>
              </a:r>
            </a:p>
            <a:p>
              <a:r>
                <a:rPr lang="en-US" altLang="ja-JP" sz="1400" dirty="0"/>
                <a:t>│   └── frontend</a:t>
              </a:r>
            </a:p>
            <a:p>
              <a:r>
                <a:rPr lang="en-US" altLang="ja-JP" sz="1400" dirty="0"/>
                <a:t>│       </a:t>
              </a:r>
              <a:r>
                <a:rPr lang="ja-JP" altLang="en-US" sz="1400" dirty="0"/>
                <a:t>  </a:t>
              </a:r>
              <a:r>
                <a:rPr lang="en-US" altLang="ja-JP" sz="1400" dirty="0"/>
                <a:t>├── .env</a:t>
              </a:r>
            </a:p>
            <a:p>
              <a:r>
                <a:rPr lang="en-US" altLang="ja-JP" sz="1400" dirty="0"/>
                <a:t>│         └── …</a:t>
              </a:r>
            </a:p>
            <a:p>
              <a:r>
                <a:rPr lang="en-US" altLang="ja-JP" sz="1400" dirty="0"/>
                <a:t>│</a:t>
              </a:r>
              <a:endParaRPr lang="en-US" altLang="ja-JP" sz="1400" b="1" dirty="0"/>
            </a:p>
            <a:p>
              <a:r>
                <a:rPr lang="en-US" altLang="ja-JP" sz="1400" dirty="0"/>
                <a:t>└── worker</a:t>
              </a:r>
            </a:p>
            <a:p>
              <a:r>
                <a:rPr lang="en-US" altLang="ja-JP" sz="1400" dirty="0"/>
                <a:t>    ├── …</a:t>
              </a:r>
            </a:p>
            <a:p>
              <a:pPr algn="ctr"/>
              <a:endParaRPr kumimoji="1" lang="ja-JP" altLang="en-US" sz="1400" dirty="0"/>
            </a:p>
          </p:txBody>
        </p:sp>
        <p:sp>
          <p:nvSpPr>
            <p:cNvPr id="8" name="テキスト ボックス 7">
              <a:extLst>
                <a:ext uri="{FF2B5EF4-FFF2-40B4-BE49-F238E27FC236}">
                  <a16:creationId xmlns:a16="http://schemas.microsoft.com/office/drawing/2014/main" id="{535F5E24-48BA-3662-9DE4-3C87CCF0FD57}"/>
                </a:ext>
              </a:extLst>
            </p:cNvPr>
            <p:cNvSpPr txBox="1"/>
            <p:nvPr/>
          </p:nvSpPr>
          <p:spPr>
            <a:xfrm>
              <a:off x="3305887" y="1301487"/>
              <a:ext cx="5430653" cy="338554"/>
            </a:xfrm>
            <a:prstGeom prst="rect">
              <a:avLst/>
            </a:prstGeom>
            <a:noFill/>
          </p:spPr>
          <p:txBody>
            <a:bodyPr wrap="square" rtlCol="0">
              <a:spAutoFit/>
            </a:bodyPr>
            <a:lstStyle/>
            <a:p>
              <a:pPr algn="ctr"/>
              <a:r>
                <a:rPr kumimoji="1" lang="ja-JP" altLang="en-US" sz="1600" dirty="0"/>
                <a:t>現行の制御デバイス</a:t>
              </a:r>
              <a:r>
                <a:rPr kumimoji="1" lang="en-US" altLang="ja-JP" sz="1600" dirty="0"/>
                <a:t>(172.16.15.8</a:t>
              </a:r>
              <a:r>
                <a:rPr lang="en-US" altLang="ja-JP" sz="1600" dirty="0"/>
                <a:t>)</a:t>
              </a:r>
              <a:r>
                <a:rPr lang="ja-JP" altLang="en-US" sz="1600" dirty="0"/>
                <a:t>のディレクトリ構成</a:t>
              </a:r>
              <a:endParaRPr kumimoji="1" lang="ja-JP" altLang="en-US" sz="1600" dirty="0"/>
            </a:p>
          </p:txBody>
        </p:sp>
      </p:grpSp>
      <p:sp>
        <p:nvSpPr>
          <p:cNvPr id="10" name="正方形/長方形 9">
            <a:extLst>
              <a:ext uri="{FF2B5EF4-FFF2-40B4-BE49-F238E27FC236}">
                <a16:creationId xmlns:a16="http://schemas.microsoft.com/office/drawing/2014/main" id="{94444AB3-8BB8-84F7-9D17-3E525F875621}"/>
              </a:ext>
            </a:extLst>
          </p:cNvPr>
          <p:cNvSpPr/>
          <p:nvPr/>
        </p:nvSpPr>
        <p:spPr>
          <a:xfrm>
            <a:off x="3817249" y="2333486"/>
            <a:ext cx="1559081" cy="565110"/>
          </a:xfrm>
          <a:prstGeom prst="rect">
            <a:avLst/>
          </a:prstGeom>
          <a:solidFill>
            <a:schemeClr val="accent6">
              <a:lumMod val="20000"/>
              <a:lumOff val="80000"/>
              <a:alpha val="50196"/>
            </a:schemeClr>
          </a:solid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03EE1EBD-DF6B-A66F-3116-5A888C6ACF5B}"/>
              </a:ext>
            </a:extLst>
          </p:cNvPr>
          <p:cNvSpPr/>
          <p:nvPr/>
        </p:nvSpPr>
        <p:spPr>
          <a:xfrm>
            <a:off x="3817249" y="2980670"/>
            <a:ext cx="1559081" cy="565111"/>
          </a:xfrm>
          <a:prstGeom prst="rect">
            <a:avLst/>
          </a:prstGeom>
          <a:solidFill>
            <a:schemeClr val="accent4">
              <a:lumMod val="20000"/>
              <a:lumOff val="80000"/>
              <a:alpha val="50196"/>
            </a:schemeClr>
          </a:solid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7E717FC0-18A0-03AF-7EBF-14B038DF8B8D}"/>
              </a:ext>
            </a:extLst>
          </p:cNvPr>
          <p:cNvSpPr/>
          <p:nvPr/>
        </p:nvSpPr>
        <p:spPr>
          <a:xfrm>
            <a:off x="3817249" y="3627855"/>
            <a:ext cx="1559081" cy="565111"/>
          </a:xfrm>
          <a:prstGeom prst="rect">
            <a:avLst/>
          </a:prstGeom>
          <a:solidFill>
            <a:schemeClr val="accent5">
              <a:lumMod val="20000"/>
              <a:lumOff val="80000"/>
              <a:alpha val="50196"/>
            </a:schemeClr>
          </a:solidFill>
          <a:ln w="190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3E5174B9-4044-CEB0-00CC-D653402A743E}"/>
              </a:ext>
            </a:extLst>
          </p:cNvPr>
          <p:cNvSpPr/>
          <p:nvPr/>
        </p:nvSpPr>
        <p:spPr>
          <a:xfrm>
            <a:off x="3817250" y="4275040"/>
            <a:ext cx="1559082" cy="565111"/>
          </a:xfrm>
          <a:prstGeom prst="rect">
            <a:avLst/>
          </a:prstGeom>
          <a:solidFill>
            <a:srgbClr val="F9D4FE">
              <a:alpha val="49804"/>
            </a:srgbClr>
          </a:solidFill>
          <a:ln w="190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0D3A1E6A-8D9F-FD2D-26C1-F04BB6953798}"/>
              </a:ext>
            </a:extLst>
          </p:cNvPr>
          <p:cNvSpPr/>
          <p:nvPr/>
        </p:nvSpPr>
        <p:spPr>
          <a:xfrm>
            <a:off x="3817249" y="4926787"/>
            <a:ext cx="1559083" cy="944846"/>
          </a:xfrm>
          <a:prstGeom prst="rect">
            <a:avLst/>
          </a:prstGeom>
          <a:solidFill>
            <a:schemeClr val="accent1">
              <a:lumMod val="20000"/>
              <a:lumOff val="80000"/>
              <a:alpha val="49804"/>
            </a:schemeClr>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a:extLst>
              <a:ext uri="{FF2B5EF4-FFF2-40B4-BE49-F238E27FC236}">
                <a16:creationId xmlns:a16="http://schemas.microsoft.com/office/drawing/2014/main" id="{D8C5E65E-E75A-A584-0510-F67024912929}"/>
              </a:ext>
            </a:extLst>
          </p:cNvPr>
          <p:cNvSpPr/>
          <p:nvPr/>
        </p:nvSpPr>
        <p:spPr>
          <a:xfrm>
            <a:off x="3817249" y="5959525"/>
            <a:ext cx="1559083" cy="565111"/>
          </a:xfrm>
          <a:prstGeom prst="rect">
            <a:avLst/>
          </a:prstGeom>
          <a:solidFill>
            <a:schemeClr val="tx2">
              <a:lumMod val="90000"/>
              <a:alpha val="49804"/>
            </a:schemeClr>
          </a:solidFill>
          <a:ln w="19050">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ボックス 15">
            <a:extLst>
              <a:ext uri="{FF2B5EF4-FFF2-40B4-BE49-F238E27FC236}">
                <a16:creationId xmlns:a16="http://schemas.microsoft.com/office/drawing/2014/main" id="{A3114572-96BF-D0F0-5EC3-A493BAF2E1FB}"/>
              </a:ext>
            </a:extLst>
          </p:cNvPr>
          <p:cNvSpPr txBox="1"/>
          <p:nvPr/>
        </p:nvSpPr>
        <p:spPr>
          <a:xfrm>
            <a:off x="5843374" y="2462152"/>
            <a:ext cx="2614826" cy="307777"/>
          </a:xfrm>
          <a:prstGeom prst="rect">
            <a:avLst/>
          </a:prstGeom>
          <a:noFill/>
        </p:spPr>
        <p:txBody>
          <a:bodyPr wrap="square" rtlCol="0">
            <a:spAutoFit/>
          </a:bodyPr>
          <a:lstStyle/>
          <a:p>
            <a:r>
              <a:rPr kumimoji="1" lang="en-US" altLang="ja-JP" sz="1400" dirty="0" err="1"/>
              <a:t>FastAPI</a:t>
            </a:r>
            <a:r>
              <a:rPr lang="ja-JP" altLang="en-US" sz="1400" dirty="0"/>
              <a:t>関連</a:t>
            </a:r>
            <a:endParaRPr kumimoji="1" lang="ja-JP" altLang="en-US" sz="1400" dirty="0"/>
          </a:p>
        </p:txBody>
      </p:sp>
      <p:pic>
        <p:nvPicPr>
          <p:cNvPr id="18" name="グラフィックス 17">
            <a:extLst>
              <a:ext uri="{FF2B5EF4-FFF2-40B4-BE49-F238E27FC236}">
                <a16:creationId xmlns:a16="http://schemas.microsoft.com/office/drawing/2014/main" id="{2E5D7E82-6DE1-48D6-532A-CD7E7BF099B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470877" y="2429791"/>
            <a:ext cx="372497" cy="372497"/>
          </a:xfrm>
          <a:prstGeom prst="rect">
            <a:avLst/>
          </a:prstGeom>
        </p:spPr>
      </p:pic>
      <p:pic>
        <p:nvPicPr>
          <p:cNvPr id="1026" name="Picture 2" descr="SQLite】10分で分かる SQLiteとは？ | レンサバ">
            <a:extLst>
              <a:ext uri="{FF2B5EF4-FFF2-40B4-BE49-F238E27FC236}">
                <a16:creationId xmlns:a16="http://schemas.microsoft.com/office/drawing/2014/main" id="{D2E44629-3A9D-C29D-CDE2-9176172C6A66}"/>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13878" r="14269"/>
          <a:stretch/>
        </p:blipFill>
        <p:spPr bwMode="auto">
          <a:xfrm>
            <a:off x="5475632" y="3073434"/>
            <a:ext cx="367742" cy="372497"/>
          </a:xfrm>
          <a:prstGeom prst="rect">
            <a:avLst/>
          </a:prstGeom>
          <a:noFill/>
          <a:extLst>
            <a:ext uri="{909E8E84-426E-40DD-AFC4-6F175D3DCCD1}">
              <a14:hiddenFill xmlns:a14="http://schemas.microsoft.com/office/drawing/2010/main">
                <a:solidFill>
                  <a:srgbClr val="FFFFFF"/>
                </a:solidFill>
              </a14:hiddenFill>
            </a:ext>
          </a:extLst>
        </p:spPr>
      </p:pic>
      <p:sp>
        <p:nvSpPr>
          <p:cNvPr id="20" name="テキスト ボックス 19">
            <a:extLst>
              <a:ext uri="{FF2B5EF4-FFF2-40B4-BE49-F238E27FC236}">
                <a16:creationId xmlns:a16="http://schemas.microsoft.com/office/drawing/2014/main" id="{DC90592F-4688-D9F3-5A1B-E3116C819990}"/>
              </a:ext>
            </a:extLst>
          </p:cNvPr>
          <p:cNvSpPr txBox="1"/>
          <p:nvPr/>
        </p:nvSpPr>
        <p:spPr>
          <a:xfrm>
            <a:off x="5843374" y="3125295"/>
            <a:ext cx="2614826" cy="307777"/>
          </a:xfrm>
          <a:prstGeom prst="rect">
            <a:avLst/>
          </a:prstGeom>
          <a:noFill/>
        </p:spPr>
        <p:txBody>
          <a:bodyPr wrap="square" rtlCol="0">
            <a:spAutoFit/>
          </a:bodyPr>
          <a:lstStyle/>
          <a:p>
            <a:r>
              <a:rPr lang="en-US" altLang="ja-JP" sz="1400" dirty="0"/>
              <a:t>Database</a:t>
            </a:r>
            <a:r>
              <a:rPr lang="ja-JP" altLang="en-US" sz="1400" dirty="0"/>
              <a:t>関連</a:t>
            </a:r>
            <a:endParaRPr kumimoji="1" lang="ja-JP" altLang="en-US" sz="1400" dirty="0"/>
          </a:p>
        </p:txBody>
      </p:sp>
      <p:sp>
        <p:nvSpPr>
          <p:cNvPr id="21" name="テキスト ボックス 20">
            <a:extLst>
              <a:ext uri="{FF2B5EF4-FFF2-40B4-BE49-F238E27FC236}">
                <a16:creationId xmlns:a16="http://schemas.microsoft.com/office/drawing/2014/main" id="{EC076DA7-24E6-58BE-2584-1BC70EF7914C}"/>
              </a:ext>
            </a:extLst>
          </p:cNvPr>
          <p:cNvSpPr txBox="1"/>
          <p:nvPr/>
        </p:nvSpPr>
        <p:spPr>
          <a:xfrm>
            <a:off x="5470877" y="3779218"/>
            <a:ext cx="2614826" cy="307777"/>
          </a:xfrm>
          <a:prstGeom prst="rect">
            <a:avLst/>
          </a:prstGeom>
          <a:noFill/>
        </p:spPr>
        <p:txBody>
          <a:bodyPr wrap="square" rtlCol="0">
            <a:spAutoFit/>
          </a:bodyPr>
          <a:lstStyle/>
          <a:p>
            <a:r>
              <a:rPr lang="ja-JP" altLang="en-US" sz="1400" dirty="0"/>
              <a:t>実行ログ関連</a:t>
            </a:r>
            <a:endParaRPr kumimoji="1" lang="ja-JP" altLang="en-US" sz="1400" dirty="0"/>
          </a:p>
        </p:txBody>
      </p:sp>
      <p:pic>
        <p:nvPicPr>
          <p:cNvPr id="23" name="図 22" descr="アイコン&#10;&#10;AI によって生成されたコンテンツは間違っている可能性があります。">
            <a:extLst>
              <a:ext uri="{FF2B5EF4-FFF2-40B4-BE49-F238E27FC236}">
                <a16:creationId xmlns:a16="http://schemas.microsoft.com/office/drawing/2014/main" id="{61D1613F-9C05-9738-E331-FE729D36CA2B}"/>
              </a:ext>
            </a:extLst>
          </p:cNvPr>
          <p:cNvPicPr>
            <a:picLocks noChangeAspect="1"/>
          </p:cNvPicPr>
          <p:nvPr/>
        </p:nvPicPr>
        <p:blipFill>
          <a:blip r:embed="rId4">
            <a:extLst>
              <a:ext uri="{28A0092B-C50C-407E-A947-70E740481C1C}">
                <a14:useLocalDpi xmlns:a14="http://schemas.microsoft.com/office/drawing/2010/main" val="0"/>
              </a:ext>
            </a:extLst>
          </a:blip>
          <a:srcRect l="10553" t="5709" r="9769" b="4466"/>
          <a:stretch/>
        </p:blipFill>
        <p:spPr>
          <a:xfrm>
            <a:off x="5480878" y="5201191"/>
            <a:ext cx="357774" cy="403333"/>
          </a:xfrm>
          <a:prstGeom prst="rect">
            <a:avLst/>
          </a:prstGeom>
        </p:spPr>
      </p:pic>
      <p:sp>
        <p:nvSpPr>
          <p:cNvPr id="25" name="テキスト ボックス 24">
            <a:extLst>
              <a:ext uri="{FF2B5EF4-FFF2-40B4-BE49-F238E27FC236}">
                <a16:creationId xmlns:a16="http://schemas.microsoft.com/office/drawing/2014/main" id="{0F85DB2E-A8CC-B63F-05E0-FEFF25431AA8}"/>
              </a:ext>
            </a:extLst>
          </p:cNvPr>
          <p:cNvSpPr txBox="1"/>
          <p:nvPr/>
        </p:nvSpPr>
        <p:spPr>
          <a:xfrm>
            <a:off x="5838652" y="5248736"/>
            <a:ext cx="2614826" cy="307777"/>
          </a:xfrm>
          <a:prstGeom prst="rect">
            <a:avLst/>
          </a:prstGeom>
          <a:noFill/>
        </p:spPr>
        <p:txBody>
          <a:bodyPr wrap="square" rtlCol="0">
            <a:spAutoFit/>
          </a:bodyPr>
          <a:lstStyle/>
          <a:p>
            <a:r>
              <a:rPr lang="en-US" altLang="ja-JP" sz="1400" dirty="0"/>
              <a:t>React</a:t>
            </a:r>
            <a:r>
              <a:rPr lang="ja-JP" altLang="en-US" sz="1400" dirty="0"/>
              <a:t>関連</a:t>
            </a:r>
            <a:endParaRPr kumimoji="1" lang="ja-JP" altLang="en-US" sz="1400" dirty="0"/>
          </a:p>
        </p:txBody>
      </p:sp>
      <p:sp>
        <p:nvSpPr>
          <p:cNvPr id="26" name="テキスト ボックス 25">
            <a:extLst>
              <a:ext uri="{FF2B5EF4-FFF2-40B4-BE49-F238E27FC236}">
                <a16:creationId xmlns:a16="http://schemas.microsoft.com/office/drawing/2014/main" id="{D34DFCB9-EA73-AA56-46A8-EDEE4A64D035}"/>
              </a:ext>
            </a:extLst>
          </p:cNvPr>
          <p:cNvSpPr txBox="1"/>
          <p:nvPr/>
        </p:nvSpPr>
        <p:spPr>
          <a:xfrm>
            <a:off x="5451820" y="4403706"/>
            <a:ext cx="2999019" cy="307777"/>
          </a:xfrm>
          <a:prstGeom prst="rect">
            <a:avLst/>
          </a:prstGeom>
          <a:noFill/>
        </p:spPr>
        <p:txBody>
          <a:bodyPr wrap="square" rtlCol="0">
            <a:spAutoFit/>
          </a:bodyPr>
          <a:lstStyle/>
          <a:p>
            <a:r>
              <a:rPr lang="en-US" altLang="ja-JP" sz="1400" dirty="0"/>
              <a:t>worker</a:t>
            </a:r>
            <a:r>
              <a:rPr lang="ja-JP" altLang="en-US" sz="1400" dirty="0"/>
              <a:t>と</a:t>
            </a:r>
            <a:r>
              <a:rPr lang="en-US" altLang="ja-JP" sz="1400" dirty="0"/>
              <a:t>app</a:t>
            </a:r>
            <a:r>
              <a:rPr lang="ja-JP" altLang="en-US" sz="1400" dirty="0"/>
              <a:t>の共通参照ファイル</a:t>
            </a:r>
            <a:endParaRPr kumimoji="1" lang="ja-JP" altLang="en-US" sz="1400" dirty="0"/>
          </a:p>
        </p:txBody>
      </p:sp>
      <p:sp>
        <p:nvSpPr>
          <p:cNvPr id="27" name="テキスト ボックス 26">
            <a:extLst>
              <a:ext uri="{FF2B5EF4-FFF2-40B4-BE49-F238E27FC236}">
                <a16:creationId xmlns:a16="http://schemas.microsoft.com/office/drawing/2014/main" id="{A2154FC4-C150-131C-C6A0-7122D5FFD8BD}"/>
              </a:ext>
            </a:extLst>
          </p:cNvPr>
          <p:cNvSpPr txBox="1"/>
          <p:nvPr/>
        </p:nvSpPr>
        <p:spPr>
          <a:xfrm>
            <a:off x="5451819" y="6093766"/>
            <a:ext cx="2999019" cy="307777"/>
          </a:xfrm>
          <a:prstGeom prst="rect">
            <a:avLst/>
          </a:prstGeom>
          <a:noFill/>
        </p:spPr>
        <p:txBody>
          <a:bodyPr wrap="square" rtlCol="0">
            <a:spAutoFit/>
          </a:bodyPr>
          <a:lstStyle/>
          <a:p>
            <a:r>
              <a:rPr lang="ja-JP" altLang="en-US" sz="1400" dirty="0"/>
              <a:t>タスク</a:t>
            </a:r>
            <a:r>
              <a:rPr kumimoji="1" lang="ja-JP" altLang="en-US" sz="1400" dirty="0"/>
              <a:t>処理関連</a:t>
            </a:r>
          </a:p>
        </p:txBody>
      </p:sp>
    </p:spTree>
    <p:extLst>
      <p:ext uri="{BB962C8B-B14F-4D97-AF65-F5344CB8AC3E}">
        <p14:creationId xmlns:p14="http://schemas.microsoft.com/office/powerpoint/2010/main" val="4877098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99519-FFC5-44E9-3859-28833D529CD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FA782AE-DE50-F688-95EF-DD43FE4F2DEA}"/>
              </a:ext>
            </a:extLst>
          </p:cNvPr>
          <p:cNvSpPr>
            <a:spLocks noGrp="1"/>
          </p:cNvSpPr>
          <p:nvPr>
            <p:ph type="title"/>
          </p:nvPr>
        </p:nvSpPr>
        <p:spPr/>
        <p:txBody>
          <a:bodyPr/>
          <a:lstStyle/>
          <a:p>
            <a:r>
              <a:rPr kumimoji="1" lang="ja-JP" altLang="en-US" dirty="0"/>
              <a:t>在室確認システム</a:t>
            </a:r>
            <a:r>
              <a:rPr lang="ja-JP" altLang="en-US" dirty="0"/>
              <a:t> </a:t>
            </a:r>
            <a:r>
              <a:rPr lang="en-US" altLang="ja-JP" dirty="0"/>
              <a:t>– </a:t>
            </a:r>
            <a:r>
              <a:rPr lang="ja-JP" altLang="en-US" dirty="0"/>
              <a:t>制御デバイス</a:t>
            </a:r>
            <a:endParaRPr kumimoji="1" lang="ja-JP" altLang="en-US" dirty="0"/>
          </a:p>
        </p:txBody>
      </p:sp>
      <p:sp>
        <p:nvSpPr>
          <p:cNvPr id="289" name="TextBox 12">
            <a:extLst>
              <a:ext uri="{FF2B5EF4-FFF2-40B4-BE49-F238E27FC236}">
                <a16:creationId xmlns:a16="http://schemas.microsoft.com/office/drawing/2014/main" id="{512B661F-2157-82B4-6E5B-BD5355FD054F}"/>
              </a:ext>
            </a:extLst>
          </p:cNvPr>
          <p:cNvSpPr txBox="1">
            <a:spLocks noChangeArrowheads="1"/>
          </p:cNvSpPr>
          <p:nvPr/>
        </p:nvSpPr>
        <p:spPr bwMode="auto">
          <a:xfrm>
            <a:off x="1707208" y="5001976"/>
            <a:ext cx="16050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Raspberry Pi 4B</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(172.16.15.8)</a:t>
            </a:r>
          </a:p>
        </p:txBody>
      </p:sp>
      <p:sp>
        <p:nvSpPr>
          <p:cNvPr id="236" name="テキスト ボックス 235">
            <a:extLst>
              <a:ext uri="{FF2B5EF4-FFF2-40B4-BE49-F238E27FC236}">
                <a16:creationId xmlns:a16="http://schemas.microsoft.com/office/drawing/2014/main" id="{0F6D6DB3-72A4-0408-B984-1E07C2E323B3}"/>
              </a:ext>
            </a:extLst>
          </p:cNvPr>
          <p:cNvSpPr txBox="1"/>
          <p:nvPr/>
        </p:nvSpPr>
        <p:spPr>
          <a:xfrm>
            <a:off x="1077353" y="4303759"/>
            <a:ext cx="1162293" cy="276999"/>
          </a:xfrm>
          <a:prstGeom prst="rect">
            <a:avLst/>
          </a:prstGeom>
          <a:noFill/>
        </p:spPr>
        <p:txBody>
          <a:bodyPr wrap="square">
            <a:spAutoFit/>
          </a:body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RC-S380 S</a:t>
            </a:r>
          </a:p>
        </p:txBody>
      </p:sp>
      <p:pic>
        <p:nvPicPr>
          <p:cNvPr id="237" name="図 236" descr="黒い背景と白い文字のロゴ&#10;&#10;AI によって生成されたコンテンツは間違っている可能性があります。">
            <a:extLst>
              <a:ext uri="{FF2B5EF4-FFF2-40B4-BE49-F238E27FC236}">
                <a16:creationId xmlns:a16="http://schemas.microsoft.com/office/drawing/2014/main" id="{0F48FBA4-7ECA-825C-13ED-524017A066F1}"/>
              </a:ext>
            </a:extLst>
          </p:cNvPr>
          <p:cNvPicPr>
            <a:picLocks noChangeAspect="1"/>
          </p:cNvPicPr>
          <p:nvPr/>
        </p:nvPicPr>
        <p:blipFill>
          <a:blip r:embed="rId3">
            <a:biLevel thresh="50000"/>
            <a:extLst>
              <a:ext uri="{28A0092B-C50C-407E-A947-70E740481C1C}">
                <a14:useLocalDpi xmlns:a14="http://schemas.microsoft.com/office/drawing/2010/main" val="0"/>
              </a:ext>
            </a:extLst>
          </a:blip>
          <a:srcRect t="19474" b="18132"/>
          <a:stretch/>
        </p:blipFill>
        <p:spPr>
          <a:xfrm flipH="1">
            <a:off x="693160" y="4508703"/>
            <a:ext cx="1605014" cy="751622"/>
          </a:xfrm>
          <a:prstGeom prst="rect">
            <a:avLst/>
          </a:prstGeom>
        </p:spPr>
      </p:pic>
      <p:grpSp>
        <p:nvGrpSpPr>
          <p:cNvPr id="241" name="グループ化 240">
            <a:extLst>
              <a:ext uri="{FF2B5EF4-FFF2-40B4-BE49-F238E27FC236}">
                <a16:creationId xmlns:a16="http://schemas.microsoft.com/office/drawing/2014/main" id="{C90CCF4C-45CC-BEFC-BD12-E8573E781CB4}"/>
              </a:ext>
            </a:extLst>
          </p:cNvPr>
          <p:cNvGrpSpPr/>
          <p:nvPr/>
        </p:nvGrpSpPr>
        <p:grpSpPr>
          <a:xfrm>
            <a:off x="2051276" y="6087076"/>
            <a:ext cx="924337" cy="403333"/>
            <a:chOff x="2262291" y="5685876"/>
            <a:chExt cx="924337" cy="403333"/>
          </a:xfrm>
        </p:grpSpPr>
        <p:pic>
          <p:nvPicPr>
            <p:cNvPr id="286" name="図 285" descr="アイコン&#10;&#10;AI によって生成されたコンテンツは間違っている可能性があります。">
              <a:extLst>
                <a:ext uri="{FF2B5EF4-FFF2-40B4-BE49-F238E27FC236}">
                  <a16:creationId xmlns:a16="http://schemas.microsoft.com/office/drawing/2014/main" id="{9A80D747-34D9-E228-4D4A-3DA25C9FA961}"/>
                </a:ext>
              </a:extLst>
            </p:cNvPr>
            <p:cNvPicPr>
              <a:picLocks noChangeAspect="1"/>
            </p:cNvPicPr>
            <p:nvPr/>
          </p:nvPicPr>
          <p:blipFill>
            <a:blip r:embed="rId4">
              <a:extLst>
                <a:ext uri="{28A0092B-C50C-407E-A947-70E740481C1C}">
                  <a14:useLocalDpi xmlns:a14="http://schemas.microsoft.com/office/drawing/2010/main" val="0"/>
                </a:ext>
              </a:extLst>
            </a:blip>
            <a:srcRect l="10553" t="5709" r="9769" b="4466"/>
            <a:stretch/>
          </p:blipFill>
          <p:spPr>
            <a:xfrm>
              <a:off x="2262291" y="5685876"/>
              <a:ext cx="357774" cy="403333"/>
            </a:xfrm>
            <a:prstGeom prst="rect">
              <a:avLst/>
            </a:prstGeom>
          </p:spPr>
        </p:pic>
        <p:sp>
          <p:nvSpPr>
            <p:cNvPr id="287" name="テキスト ボックス 286">
              <a:extLst>
                <a:ext uri="{FF2B5EF4-FFF2-40B4-BE49-F238E27FC236}">
                  <a16:creationId xmlns:a16="http://schemas.microsoft.com/office/drawing/2014/main" id="{12F7DD0C-B98C-3532-CE9C-5787DA654D5E}"/>
                </a:ext>
              </a:extLst>
            </p:cNvPr>
            <p:cNvSpPr txBox="1"/>
            <p:nvPr/>
          </p:nvSpPr>
          <p:spPr>
            <a:xfrm>
              <a:off x="2557071" y="5749042"/>
              <a:ext cx="629557" cy="276999"/>
            </a:xfrm>
            <a:prstGeom prst="rect">
              <a:avLst/>
            </a:prstGeom>
            <a:noFill/>
          </p:spPr>
          <p:txBody>
            <a:bodyPr wrap="square">
              <a:spAutoFit/>
            </a:bodyPr>
            <a:lstStyle/>
            <a:p>
              <a:r>
                <a:rPr lang="en-US" altLang="ja-JP" sz="1200" dirty="0"/>
                <a:t>:3000</a:t>
              </a:r>
              <a:endParaRPr lang="ja-JP" altLang="en-US" sz="1200" dirty="0"/>
            </a:p>
          </p:txBody>
        </p:sp>
      </p:grpSp>
      <p:grpSp>
        <p:nvGrpSpPr>
          <p:cNvPr id="242" name="グループ化 241">
            <a:extLst>
              <a:ext uri="{FF2B5EF4-FFF2-40B4-BE49-F238E27FC236}">
                <a16:creationId xmlns:a16="http://schemas.microsoft.com/office/drawing/2014/main" id="{943A70F9-55C6-837B-0941-19D9E06193DA}"/>
              </a:ext>
            </a:extLst>
          </p:cNvPr>
          <p:cNvGrpSpPr/>
          <p:nvPr/>
        </p:nvGrpSpPr>
        <p:grpSpPr>
          <a:xfrm>
            <a:off x="2043915" y="5648135"/>
            <a:ext cx="931698" cy="372497"/>
            <a:chOff x="2254930" y="5246935"/>
            <a:chExt cx="931698" cy="372497"/>
          </a:xfrm>
        </p:grpSpPr>
        <p:pic>
          <p:nvPicPr>
            <p:cNvPr id="284" name="グラフィックス 283">
              <a:extLst>
                <a:ext uri="{FF2B5EF4-FFF2-40B4-BE49-F238E27FC236}">
                  <a16:creationId xmlns:a16="http://schemas.microsoft.com/office/drawing/2014/main" id="{A3F55B46-B896-5422-9647-34CB82D9BC4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254930" y="5246935"/>
              <a:ext cx="372497" cy="372497"/>
            </a:xfrm>
            <a:prstGeom prst="rect">
              <a:avLst/>
            </a:prstGeom>
          </p:spPr>
        </p:pic>
        <p:sp>
          <p:nvSpPr>
            <p:cNvPr id="285" name="テキスト ボックス 284">
              <a:extLst>
                <a:ext uri="{FF2B5EF4-FFF2-40B4-BE49-F238E27FC236}">
                  <a16:creationId xmlns:a16="http://schemas.microsoft.com/office/drawing/2014/main" id="{6A034F50-D814-DAE5-F51A-046F6523A676}"/>
                </a:ext>
              </a:extLst>
            </p:cNvPr>
            <p:cNvSpPr txBox="1"/>
            <p:nvPr/>
          </p:nvSpPr>
          <p:spPr>
            <a:xfrm>
              <a:off x="2557071" y="5306333"/>
              <a:ext cx="629557" cy="276999"/>
            </a:xfrm>
            <a:prstGeom prst="rect">
              <a:avLst/>
            </a:prstGeom>
            <a:noFill/>
          </p:spPr>
          <p:txBody>
            <a:bodyPr wrap="square">
              <a:spAutoFit/>
            </a:bodyPr>
            <a:lstStyle/>
            <a:p>
              <a:r>
                <a:rPr lang="en-US" altLang="ja-JP" sz="1200" dirty="0"/>
                <a:t>:8000</a:t>
              </a:r>
              <a:endParaRPr lang="ja-JP" altLang="en-US" sz="1200" dirty="0"/>
            </a:p>
          </p:txBody>
        </p:sp>
      </p:grpSp>
      <p:sp>
        <p:nvSpPr>
          <p:cNvPr id="306" name="Rectangle 103" descr="Generic group dashed.">
            <a:extLst>
              <a:ext uri="{FF2B5EF4-FFF2-40B4-BE49-F238E27FC236}">
                <a16:creationId xmlns:a16="http://schemas.microsoft.com/office/drawing/2014/main" id="{C65CBDA9-08EE-FB59-7872-2CADCA901E91}"/>
              </a:ext>
            </a:extLst>
          </p:cNvPr>
          <p:cNvSpPr/>
          <p:nvPr/>
        </p:nvSpPr>
        <p:spPr>
          <a:xfrm>
            <a:off x="690522" y="3933107"/>
            <a:ext cx="2615365" cy="2822096"/>
          </a:xfrm>
          <a:prstGeom prst="rect">
            <a:avLst/>
          </a:prstGeom>
          <a:noFill/>
          <a:ln w="15875">
            <a:solidFill>
              <a:srgbClr val="7D8998"/>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a:defRPr/>
            </a:pPr>
            <a:r>
              <a:rPr lang="ja-JP" altLang="en-US" sz="1200" dirty="0">
                <a:solidFill>
                  <a:schemeClr val="tx1"/>
                </a:solidFill>
                <a:latin typeface="Arial" panose="020B0604020202020204" pitchFamily="34" charset="0"/>
                <a:cs typeface="Arial" panose="020B0604020202020204" pitchFamily="34" charset="0"/>
              </a:rPr>
              <a:t>学生部屋（</a:t>
            </a:r>
            <a:r>
              <a:rPr lang="en-US" altLang="ja-JP" sz="1200" dirty="0">
                <a:solidFill>
                  <a:schemeClr val="tx1"/>
                </a:solidFill>
                <a:latin typeface="Arial" panose="020B0604020202020204" pitchFamily="34" charset="0"/>
                <a:cs typeface="Arial" panose="020B0604020202020204" pitchFamily="34" charset="0"/>
              </a:rPr>
              <a:t>J1401</a:t>
            </a:r>
            <a:r>
              <a:rPr lang="ja-JP" altLang="en-US" sz="1200" dirty="0">
                <a:solidFill>
                  <a:schemeClr val="tx1"/>
                </a:solidFill>
                <a:latin typeface="Arial" panose="020B0604020202020204" pitchFamily="34" charset="0"/>
                <a:cs typeface="Arial" panose="020B0604020202020204" pitchFamily="34" charset="0"/>
              </a:rPr>
              <a:t>）</a:t>
            </a:r>
            <a:endParaRPr lang="en-US" sz="1200" dirty="0">
              <a:solidFill>
                <a:schemeClr val="tx1"/>
              </a:solidFill>
              <a:latin typeface="Arial" panose="020B0604020202020204" pitchFamily="34" charset="0"/>
              <a:cs typeface="Arial" panose="020B0604020202020204" pitchFamily="34" charset="0"/>
            </a:endParaRPr>
          </a:p>
        </p:txBody>
      </p:sp>
      <p:pic>
        <p:nvPicPr>
          <p:cNvPr id="307" name="グラフィックス 306">
            <a:extLst>
              <a:ext uri="{FF2B5EF4-FFF2-40B4-BE49-F238E27FC236}">
                <a16:creationId xmlns:a16="http://schemas.microsoft.com/office/drawing/2014/main" id="{9E3E3561-FF55-02F3-EADB-DC351C889540}"/>
              </a:ext>
            </a:extLst>
          </p:cNvPr>
          <p:cNvPicPr>
            <a:picLocks noChangeAspect="1"/>
          </p:cNvPicPr>
          <p:nvPr/>
        </p:nvPicPr>
        <p:blipFill>
          <a:blip r:embed="rId7">
            <a:grayscl/>
            <a:extLst>
              <a:ext uri="{96DAC541-7B7A-43D3-8B79-37D633B846F1}">
                <asvg:svgBlip xmlns:asvg="http://schemas.microsoft.com/office/drawing/2016/SVG/main" r:embed="rId8"/>
              </a:ext>
            </a:extLst>
          </a:blip>
          <a:srcRect l="25148" t="16203" r="25948" b="16205"/>
          <a:stretch/>
        </p:blipFill>
        <p:spPr>
          <a:xfrm rot="16200000">
            <a:off x="1042395" y="5874413"/>
            <a:ext cx="599552" cy="828660"/>
          </a:xfrm>
          <a:prstGeom prst="rect">
            <a:avLst/>
          </a:prstGeom>
        </p:spPr>
      </p:pic>
      <p:cxnSp>
        <p:nvCxnSpPr>
          <p:cNvPr id="372" name="Straight Arrow Connector 52" descr="Double pointing horizontal arrow.">
            <a:extLst>
              <a:ext uri="{FF2B5EF4-FFF2-40B4-BE49-F238E27FC236}">
                <a16:creationId xmlns:a16="http://schemas.microsoft.com/office/drawing/2014/main" id="{90A339B4-0D0E-C76B-65D3-A7975FDA64DC}"/>
              </a:ext>
            </a:extLst>
          </p:cNvPr>
          <p:cNvCxnSpPr>
            <a:cxnSpLocks/>
            <a:stCxn id="286" idx="1"/>
            <a:endCxn id="307" idx="2"/>
          </p:cNvCxnSpPr>
          <p:nvPr/>
        </p:nvCxnSpPr>
        <p:spPr>
          <a:xfrm flipH="1">
            <a:off x="1756501" y="6288743"/>
            <a:ext cx="294775" cy="0"/>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pic>
        <p:nvPicPr>
          <p:cNvPr id="3" name="Picture 2" descr="Raspberry icon - Free download on Iconfinder">
            <a:extLst>
              <a:ext uri="{FF2B5EF4-FFF2-40B4-BE49-F238E27FC236}">
                <a16:creationId xmlns:a16="http://schemas.microsoft.com/office/drawing/2014/main" id="{636D3CB7-971C-C233-0AD4-84C964044AE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44769" y="4471085"/>
            <a:ext cx="544810" cy="544810"/>
          </a:xfrm>
          <a:prstGeom prst="rect">
            <a:avLst/>
          </a:prstGeom>
          <a:noFill/>
          <a:extLst>
            <a:ext uri="{909E8E84-426E-40DD-AFC4-6F175D3DCCD1}">
              <a14:hiddenFill xmlns:a14="http://schemas.microsoft.com/office/drawing/2010/main">
                <a:solidFill>
                  <a:srgbClr val="FFFFFF"/>
                </a:solidFill>
              </a14:hiddenFill>
            </a:ext>
          </a:extLst>
        </p:spPr>
      </p:pic>
      <p:grpSp>
        <p:nvGrpSpPr>
          <p:cNvPr id="9" name="グループ化 8">
            <a:extLst>
              <a:ext uri="{FF2B5EF4-FFF2-40B4-BE49-F238E27FC236}">
                <a16:creationId xmlns:a16="http://schemas.microsoft.com/office/drawing/2014/main" id="{F059D336-142F-D3D2-E52C-1A8D209C6DFF}"/>
              </a:ext>
            </a:extLst>
          </p:cNvPr>
          <p:cNvGrpSpPr/>
          <p:nvPr/>
        </p:nvGrpSpPr>
        <p:grpSpPr>
          <a:xfrm>
            <a:off x="3305887" y="1301487"/>
            <a:ext cx="5430653" cy="5453716"/>
            <a:chOff x="3305887" y="1301487"/>
            <a:chExt cx="5430653" cy="5453716"/>
          </a:xfrm>
        </p:grpSpPr>
        <p:sp>
          <p:nvSpPr>
            <p:cNvPr id="6" name="正方形/長方形 5">
              <a:extLst>
                <a:ext uri="{FF2B5EF4-FFF2-40B4-BE49-F238E27FC236}">
                  <a16:creationId xmlns:a16="http://schemas.microsoft.com/office/drawing/2014/main" id="{7A7B00B2-2AAF-8D60-AD9D-C27E5AC3E412}"/>
                </a:ext>
              </a:extLst>
            </p:cNvPr>
            <p:cNvSpPr/>
            <p:nvPr/>
          </p:nvSpPr>
          <p:spPr>
            <a:xfrm>
              <a:off x="3469616" y="1648657"/>
              <a:ext cx="5173870" cy="5106546"/>
            </a:xfrm>
            <a:prstGeom prst="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0000" rIns="0" bIns="0" rtlCol="0" anchor="ctr"/>
            <a:lstStyle/>
            <a:p>
              <a:r>
                <a:rPr lang="en-US" altLang="ja-JP" sz="1400" dirty="0"/>
                <a:t>.</a:t>
              </a:r>
            </a:p>
            <a:p>
              <a:r>
                <a:rPr lang="en-US" altLang="ja-JP" sz="1400" dirty="0"/>
                <a:t>├── .env</a:t>
              </a:r>
            </a:p>
            <a:p>
              <a:r>
                <a:rPr lang="en-US" altLang="ja-JP" sz="1400" dirty="0"/>
                <a:t>│</a:t>
              </a:r>
            </a:p>
            <a:p>
              <a:r>
                <a:rPr lang="en-US" altLang="ja-JP" sz="1400" dirty="0"/>
                <a:t>├── app</a:t>
              </a:r>
            </a:p>
            <a:p>
              <a:r>
                <a:rPr lang="en-US" altLang="ja-JP" sz="1400" dirty="0"/>
                <a:t>│   ├── …</a:t>
              </a:r>
            </a:p>
            <a:p>
              <a:r>
                <a:rPr lang="en-US" altLang="ja-JP" sz="1400" dirty="0"/>
                <a:t>│</a:t>
              </a:r>
            </a:p>
            <a:p>
              <a:r>
                <a:rPr lang="en-US" altLang="ja-JP" sz="1400" dirty="0"/>
                <a:t>├── data</a:t>
              </a:r>
            </a:p>
            <a:p>
              <a:r>
                <a:rPr lang="en-US" altLang="ja-JP" sz="1400" dirty="0"/>
                <a:t>│   ├── …</a:t>
              </a:r>
            </a:p>
            <a:p>
              <a:r>
                <a:rPr lang="ja-JP" altLang="en-US" sz="1400" dirty="0"/>
                <a:t>｜</a:t>
              </a:r>
              <a:endParaRPr lang="en-US" altLang="ja-JP" sz="1400" dirty="0"/>
            </a:p>
            <a:p>
              <a:r>
                <a:rPr lang="en-US" altLang="ja-JP" sz="1400" dirty="0"/>
                <a:t>├── logs</a:t>
              </a:r>
            </a:p>
            <a:p>
              <a:r>
                <a:rPr lang="en-US" altLang="ja-JP" sz="1400" dirty="0"/>
                <a:t>│   └── *.log</a:t>
              </a:r>
            </a:p>
            <a:p>
              <a:r>
                <a:rPr lang="en-US" altLang="ja-JP" sz="1400" dirty="0"/>
                <a:t>│</a:t>
              </a:r>
            </a:p>
            <a:p>
              <a:r>
                <a:rPr lang="en-US" altLang="ja-JP" sz="1400" dirty="0"/>
                <a:t>├── shared</a:t>
              </a:r>
            </a:p>
            <a:p>
              <a:r>
                <a:rPr lang="en-US" altLang="ja-JP" sz="1400" dirty="0"/>
                <a:t>│   ├── …</a:t>
              </a:r>
            </a:p>
            <a:p>
              <a:r>
                <a:rPr lang="ja-JP" altLang="en-US" sz="1400" dirty="0"/>
                <a:t>｜</a:t>
              </a:r>
              <a:endParaRPr lang="en-US" altLang="ja-JP" sz="1400" dirty="0"/>
            </a:p>
            <a:p>
              <a:r>
                <a:rPr lang="en-US" altLang="ja-JP" sz="1400" dirty="0"/>
                <a:t>├── web</a:t>
              </a:r>
            </a:p>
            <a:p>
              <a:r>
                <a:rPr lang="en-US" altLang="ja-JP" sz="1400" dirty="0"/>
                <a:t>│   └── frontend</a:t>
              </a:r>
            </a:p>
            <a:p>
              <a:r>
                <a:rPr lang="en-US" altLang="ja-JP" sz="1400" dirty="0"/>
                <a:t>│       </a:t>
              </a:r>
              <a:r>
                <a:rPr lang="ja-JP" altLang="en-US" sz="1400" dirty="0"/>
                <a:t>  </a:t>
              </a:r>
              <a:r>
                <a:rPr lang="en-US" altLang="ja-JP" sz="1400" dirty="0"/>
                <a:t>├── .env</a:t>
              </a:r>
            </a:p>
            <a:p>
              <a:r>
                <a:rPr lang="en-US" altLang="ja-JP" sz="1400" dirty="0"/>
                <a:t>│         └── …</a:t>
              </a:r>
            </a:p>
            <a:p>
              <a:r>
                <a:rPr lang="en-US" altLang="ja-JP" sz="1400" dirty="0"/>
                <a:t>│</a:t>
              </a:r>
              <a:endParaRPr lang="en-US" altLang="ja-JP" sz="1400" b="1" dirty="0"/>
            </a:p>
            <a:p>
              <a:r>
                <a:rPr lang="en-US" altLang="ja-JP" sz="1400" dirty="0"/>
                <a:t>└── worker</a:t>
              </a:r>
            </a:p>
            <a:p>
              <a:r>
                <a:rPr lang="en-US" altLang="ja-JP" sz="1400" dirty="0"/>
                <a:t>    ├── …</a:t>
              </a:r>
            </a:p>
            <a:p>
              <a:pPr algn="ctr"/>
              <a:endParaRPr kumimoji="1" lang="ja-JP" altLang="en-US" sz="1400" dirty="0"/>
            </a:p>
          </p:txBody>
        </p:sp>
        <p:sp>
          <p:nvSpPr>
            <p:cNvPr id="8" name="テキスト ボックス 7">
              <a:extLst>
                <a:ext uri="{FF2B5EF4-FFF2-40B4-BE49-F238E27FC236}">
                  <a16:creationId xmlns:a16="http://schemas.microsoft.com/office/drawing/2014/main" id="{49B7CB0C-2A26-EEE8-EFC8-67EACDEF6F69}"/>
                </a:ext>
              </a:extLst>
            </p:cNvPr>
            <p:cNvSpPr txBox="1"/>
            <p:nvPr/>
          </p:nvSpPr>
          <p:spPr>
            <a:xfrm>
              <a:off x="3305887" y="1301487"/>
              <a:ext cx="5430653" cy="338554"/>
            </a:xfrm>
            <a:prstGeom prst="rect">
              <a:avLst/>
            </a:prstGeom>
            <a:noFill/>
          </p:spPr>
          <p:txBody>
            <a:bodyPr wrap="square" rtlCol="0">
              <a:spAutoFit/>
            </a:bodyPr>
            <a:lstStyle/>
            <a:p>
              <a:pPr algn="ctr"/>
              <a:r>
                <a:rPr kumimoji="1" lang="ja-JP" altLang="en-US" sz="1600" dirty="0"/>
                <a:t>現行の制御デバイス</a:t>
              </a:r>
              <a:r>
                <a:rPr kumimoji="1" lang="en-US" altLang="ja-JP" sz="1600" dirty="0"/>
                <a:t>(172.16.15.8</a:t>
              </a:r>
              <a:r>
                <a:rPr lang="en-US" altLang="ja-JP" sz="1600" dirty="0"/>
                <a:t>)</a:t>
              </a:r>
              <a:r>
                <a:rPr lang="ja-JP" altLang="en-US" sz="1600" dirty="0"/>
                <a:t>のディレクトリ構成</a:t>
              </a:r>
              <a:endParaRPr kumimoji="1" lang="ja-JP" altLang="en-US" sz="1600" dirty="0"/>
            </a:p>
          </p:txBody>
        </p:sp>
      </p:grpSp>
      <p:sp>
        <p:nvSpPr>
          <p:cNvPr id="10" name="正方形/長方形 9">
            <a:extLst>
              <a:ext uri="{FF2B5EF4-FFF2-40B4-BE49-F238E27FC236}">
                <a16:creationId xmlns:a16="http://schemas.microsoft.com/office/drawing/2014/main" id="{DEF137B9-4DCD-E3FD-1D7E-DC6455213EB9}"/>
              </a:ext>
            </a:extLst>
          </p:cNvPr>
          <p:cNvSpPr/>
          <p:nvPr/>
        </p:nvSpPr>
        <p:spPr>
          <a:xfrm>
            <a:off x="3817249" y="2333486"/>
            <a:ext cx="1559081" cy="565110"/>
          </a:xfrm>
          <a:prstGeom prst="rect">
            <a:avLst/>
          </a:prstGeom>
          <a:solidFill>
            <a:srgbClr val="F2F2F2">
              <a:alpha val="50196"/>
            </a:srgbClr>
          </a:solidFill>
          <a:ln w="1905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DDBAADBC-9694-AB43-C463-4C3C3B5109D2}"/>
              </a:ext>
            </a:extLst>
          </p:cNvPr>
          <p:cNvSpPr/>
          <p:nvPr/>
        </p:nvSpPr>
        <p:spPr>
          <a:xfrm>
            <a:off x="3817249" y="2980670"/>
            <a:ext cx="1559081" cy="565111"/>
          </a:xfrm>
          <a:prstGeom prst="rect">
            <a:avLst/>
          </a:prstGeom>
          <a:solidFill>
            <a:srgbClr val="F2F2F2">
              <a:alpha val="50196"/>
            </a:srgbClr>
          </a:solidFill>
          <a:ln w="1905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267AEC48-D863-5837-0606-1CFC948713BA}"/>
              </a:ext>
            </a:extLst>
          </p:cNvPr>
          <p:cNvSpPr/>
          <p:nvPr/>
        </p:nvSpPr>
        <p:spPr>
          <a:xfrm>
            <a:off x="3817249" y="3627855"/>
            <a:ext cx="1559081" cy="565111"/>
          </a:xfrm>
          <a:prstGeom prst="rect">
            <a:avLst/>
          </a:prstGeom>
          <a:solidFill>
            <a:srgbClr val="F2F2F2">
              <a:alpha val="50196"/>
            </a:srgbClr>
          </a:solidFill>
          <a:ln w="1905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93EB0E3F-B444-4276-C07B-68834B8947DE}"/>
              </a:ext>
            </a:extLst>
          </p:cNvPr>
          <p:cNvSpPr/>
          <p:nvPr/>
        </p:nvSpPr>
        <p:spPr>
          <a:xfrm>
            <a:off x="3817250" y="4275040"/>
            <a:ext cx="1559082" cy="565111"/>
          </a:xfrm>
          <a:prstGeom prst="rect">
            <a:avLst/>
          </a:prstGeom>
          <a:solidFill>
            <a:srgbClr val="F2F2F2">
              <a:alpha val="50196"/>
            </a:srgbClr>
          </a:solidFill>
          <a:ln w="1905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5E603E8E-AE9F-EED2-6F81-3EA05C401DC9}"/>
              </a:ext>
            </a:extLst>
          </p:cNvPr>
          <p:cNvSpPr/>
          <p:nvPr/>
        </p:nvSpPr>
        <p:spPr>
          <a:xfrm>
            <a:off x="3817249" y="4926787"/>
            <a:ext cx="1559083" cy="944846"/>
          </a:xfrm>
          <a:prstGeom prst="rect">
            <a:avLst/>
          </a:prstGeom>
          <a:solidFill>
            <a:srgbClr val="F2F2F2">
              <a:alpha val="50196"/>
            </a:srgbClr>
          </a:solidFill>
          <a:ln w="1905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a:extLst>
              <a:ext uri="{FF2B5EF4-FFF2-40B4-BE49-F238E27FC236}">
                <a16:creationId xmlns:a16="http://schemas.microsoft.com/office/drawing/2014/main" id="{7AD40815-BB2D-7487-32D8-F151975F6EA7}"/>
              </a:ext>
            </a:extLst>
          </p:cNvPr>
          <p:cNvSpPr/>
          <p:nvPr/>
        </p:nvSpPr>
        <p:spPr>
          <a:xfrm>
            <a:off x="3817249" y="5959525"/>
            <a:ext cx="1559083" cy="565111"/>
          </a:xfrm>
          <a:prstGeom prst="rect">
            <a:avLst/>
          </a:prstGeom>
          <a:solidFill>
            <a:srgbClr val="F2F2F2">
              <a:alpha val="50196"/>
            </a:srgbClr>
          </a:solidFill>
          <a:ln w="1905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ボックス 15">
            <a:extLst>
              <a:ext uri="{FF2B5EF4-FFF2-40B4-BE49-F238E27FC236}">
                <a16:creationId xmlns:a16="http://schemas.microsoft.com/office/drawing/2014/main" id="{636CF573-7549-F0C7-20E8-0375DA26B89D}"/>
              </a:ext>
            </a:extLst>
          </p:cNvPr>
          <p:cNvSpPr txBox="1"/>
          <p:nvPr/>
        </p:nvSpPr>
        <p:spPr>
          <a:xfrm>
            <a:off x="5843374" y="2462152"/>
            <a:ext cx="2614826" cy="307777"/>
          </a:xfrm>
          <a:prstGeom prst="rect">
            <a:avLst/>
          </a:prstGeom>
          <a:noFill/>
        </p:spPr>
        <p:txBody>
          <a:bodyPr wrap="square" rtlCol="0">
            <a:spAutoFit/>
          </a:bodyPr>
          <a:lstStyle/>
          <a:p>
            <a:r>
              <a:rPr kumimoji="1" lang="en-US" altLang="ja-JP" sz="1400" dirty="0" err="1"/>
              <a:t>FastAPI</a:t>
            </a:r>
            <a:r>
              <a:rPr lang="ja-JP" altLang="en-US" sz="1400" dirty="0"/>
              <a:t>関連</a:t>
            </a:r>
            <a:endParaRPr kumimoji="1" lang="ja-JP" altLang="en-US" sz="1400" dirty="0"/>
          </a:p>
        </p:txBody>
      </p:sp>
      <p:pic>
        <p:nvPicPr>
          <p:cNvPr id="18" name="グラフィックス 17">
            <a:extLst>
              <a:ext uri="{FF2B5EF4-FFF2-40B4-BE49-F238E27FC236}">
                <a16:creationId xmlns:a16="http://schemas.microsoft.com/office/drawing/2014/main" id="{C68C2650-7A82-3F95-AA7D-02B5DA3855C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470877" y="2429791"/>
            <a:ext cx="372497" cy="372497"/>
          </a:xfrm>
          <a:prstGeom prst="rect">
            <a:avLst/>
          </a:prstGeom>
        </p:spPr>
      </p:pic>
      <p:pic>
        <p:nvPicPr>
          <p:cNvPr id="1026" name="Picture 2" descr="SQLite】10分で分かる SQLiteとは？ | レンサバ">
            <a:extLst>
              <a:ext uri="{FF2B5EF4-FFF2-40B4-BE49-F238E27FC236}">
                <a16:creationId xmlns:a16="http://schemas.microsoft.com/office/drawing/2014/main" id="{2C153F3E-A014-FEDC-24E2-EC426EA731DE}"/>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13878" r="14269"/>
          <a:stretch/>
        </p:blipFill>
        <p:spPr bwMode="auto">
          <a:xfrm>
            <a:off x="5475632" y="3073434"/>
            <a:ext cx="367742" cy="372497"/>
          </a:xfrm>
          <a:prstGeom prst="rect">
            <a:avLst/>
          </a:prstGeom>
          <a:noFill/>
          <a:extLst>
            <a:ext uri="{909E8E84-426E-40DD-AFC4-6F175D3DCCD1}">
              <a14:hiddenFill xmlns:a14="http://schemas.microsoft.com/office/drawing/2010/main">
                <a:solidFill>
                  <a:srgbClr val="FFFFFF"/>
                </a:solidFill>
              </a14:hiddenFill>
            </a:ext>
          </a:extLst>
        </p:spPr>
      </p:pic>
      <p:sp>
        <p:nvSpPr>
          <p:cNvPr id="20" name="テキスト ボックス 19">
            <a:extLst>
              <a:ext uri="{FF2B5EF4-FFF2-40B4-BE49-F238E27FC236}">
                <a16:creationId xmlns:a16="http://schemas.microsoft.com/office/drawing/2014/main" id="{D63EEE60-24FB-1417-AC7F-A50E5229EA10}"/>
              </a:ext>
            </a:extLst>
          </p:cNvPr>
          <p:cNvSpPr txBox="1"/>
          <p:nvPr/>
        </p:nvSpPr>
        <p:spPr>
          <a:xfrm>
            <a:off x="5843374" y="3125295"/>
            <a:ext cx="2614826" cy="307777"/>
          </a:xfrm>
          <a:prstGeom prst="rect">
            <a:avLst/>
          </a:prstGeom>
          <a:noFill/>
        </p:spPr>
        <p:txBody>
          <a:bodyPr wrap="square" rtlCol="0">
            <a:spAutoFit/>
          </a:bodyPr>
          <a:lstStyle/>
          <a:p>
            <a:r>
              <a:rPr lang="en-US" altLang="ja-JP" sz="1400" dirty="0"/>
              <a:t>Database</a:t>
            </a:r>
            <a:r>
              <a:rPr lang="ja-JP" altLang="en-US" sz="1400" dirty="0"/>
              <a:t>関連</a:t>
            </a:r>
            <a:endParaRPr kumimoji="1" lang="ja-JP" altLang="en-US" sz="1400" dirty="0"/>
          </a:p>
        </p:txBody>
      </p:sp>
      <p:sp>
        <p:nvSpPr>
          <p:cNvPr id="21" name="テキスト ボックス 20">
            <a:extLst>
              <a:ext uri="{FF2B5EF4-FFF2-40B4-BE49-F238E27FC236}">
                <a16:creationId xmlns:a16="http://schemas.microsoft.com/office/drawing/2014/main" id="{071E44CD-5E72-7CA0-1A60-F18D1B180612}"/>
              </a:ext>
            </a:extLst>
          </p:cNvPr>
          <p:cNvSpPr txBox="1"/>
          <p:nvPr/>
        </p:nvSpPr>
        <p:spPr>
          <a:xfrm>
            <a:off x="5470877" y="3779218"/>
            <a:ext cx="2614826" cy="307777"/>
          </a:xfrm>
          <a:prstGeom prst="rect">
            <a:avLst/>
          </a:prstGeom>
          <a:noFill/>
        </p:spPr>
        <p:txBody>
          <a:bodyPr wrap="square" rtlCol="0">
            <a:spAutoFit/>
          </a:bodyPr>
          <a:lstStyle/>
          <a:p>
            <a:r>
              <a:rPr lang="ja-JP" altLang="en-US" sz="1400" dirty="0"/>
              <a:t>実行ログ関連</a:t>
            </a:r>
            <a:endParaRPr kumimoji="1" lang="ja-JP" altLang="en-US" sz="1400" dirty="0"/>
          </a:p>
        </p:txBody>
      </p:sp>
      <p:pic>
        <p:nvPicPr>
          <p:cNvPr id="23" name="図 22" descr="アイコン&#10;&#10;AI によって生成されたコンテンツは間違っている可能性があります。">
            <a:extLst>
              <a:ext uri="{FF2B5EF4-FFF2-40B4-BE49-F238E27FC236}">
                <a16:creationId xmlns:a16="http://schemas.microsoft.com/office/drawing/2014/main" id="{501260F7-55E8-D581-9BA8-824EB32B3ACB}"/>
              </a:ext>
            </a:extLst>
          </p:cNvPr>
          <p:cNvPicPr>
            <a:picLocks noChangeAspect="1"/>
          </p:cNvPicPr>
          <p:nvPr/>
        </p:nvPicPr>
        <p:blipFill>
          <a:blip r:embed="rId4">
            <a:extLst>
              <a:ext uri="{28A0092B-C50C-407E-A947-70E740481C1C}">
                <a14:useLocalDpi xmlns:a14="http://schemas.microsoft.com/office/drawing/2010/main" val="0"/>
              </a:ext>
            </a:extLst>
          </a:blip>
          <a:srcRect l="10553" t="5709" r="9769" b="4466"/>
          <a:stretch/>
        </p:blipFill>
        <p:spPr>
          <a:xfrm>
            <a:off x="5480878" y="5201191"/>
            <a:ext cx="357774" cy="403333"/>
          </a:xfrm>
          <a:prstGeom prst="rect">
            <a:avLst/>
          </a:prstGeom>
        </p:spPr>
      </p:pic>
      <p:sp>
        <p:nvSpPr>
          <p:cNvPr id="25" name="テキスト ボックス 24">
            <a:extLst>
              <a:ext uri="{FF2B5EF4-FFF2-40B4-BE49-F238E27FC236}">
                <a16:creationId xmlns:a16="http://schemas.microsoft.com/office/drawing/2014/main" id="{B9C16216-39C7-CC0D-1298-833372D37E21}"/>
              </a:ext>
            </a:extLst>
          </p:cNvPr>
          <p:cNvSpPr txBox="1"/>
          <p:nvPr/>
        </p:nvSpPr>
        <p:spPr>
          <a:xfrm>
            <a:off x="5838652" y="5248736"/>
            <a:ext cx="2614826" cy="307777"/>
          </a:xfrm>
          <a:prstGeom prst="rect">
            <a:avLst/>
          </a:prstGeom>
          <a:noFill/>
        </p:spPr>
        <p:txBody>
          <a:bodyPr wrap="square" rtlCol="0">
            <a:spAutoFit/>
          </a:bodyPr>
          <a:lstStyle/>
          <a:p>
            <a:r>
              <a:rPr lang="en-US" altLang="ja-JP" sz="1400" dirty="0"/>
              <a:t>React</a:t>
            </a:r>
            <a:r>
              <a:rPr lang="ja-JP" altLang="en-US" sz="1400" dirty="0"/>
              <a:t>関連</a:t>
            </a:r>
            <a:endParaRPr kumimoji="1" lang="ja-JP" altLang="en-US" sz="1400" dirty="0"/>
          </a:p>
        </p:txBody>
      </p:sp>
      <p:sp>
        <p:nvSpPr>
          <p:cNvPr id="26" name="テキスト ボックス 25">
            <a:extLst>
              <a:ext uri="{FF2B5EF4-FFF2-40B4-BE49-F238E27FC236}">
                <a16:creationId xmlns:a16="http://schemas.microsoft.com/office/drawing/2014/main" id="{F78514DA-4095-A0E7-4A64-F3746FA4E54A}"/>
              </a:ext>
            </a:extLst>
          </p:cNvPr>
          <p:cNvSpPr txBox="1"/>
          <p:nvPr/>
        </p:nvSpPr>
        <p:spPr>
          <a:xfrm>
            <a:off x="5451820" y="4403706"/>
            <a:ext cx="2999019" cy="307777"/>
          </a:xfrm>
          <a:prstGeom prst="rect">
            <a:avLst/>
          </a:prstGeom>
          <a:noFill/>
        </p:spPr>
        <p:txBody>
          <a:bodyPr wrap="square" rtlCol="0">
            <a:spAutoFit/>
          </a:bodyPr>
          <a:lstStyle/>
          <a:p>
            <a:r>
              <a:rPr lang="en-US" altLang="ja-JP" sz="1400" dirty="0"/>
              <a:t>worker</a:t>
            </a:r>
            <a:r>
              <a:rPr lang="ja-JP" altLang="en-US" sz="1400" dirty="0"/>
              <a:t>と</a:t>
            </a:r>
            <a:r>
              <a:rPr lang="en-US" altLang="ja-JP" sz="1400" dirty="0"/>
              <a:t>app</a:t>
            </a:r>
            <a:r>
              <a:rPr lang="ja-JP" altLang="en-US" sz="1400" dirty="0"/>
              <a:t>の共通参照ファイル</a:t>
            </a:r>
            <a:endParaRPr kumimoji="1" lang="ja-JP" altLang="en-US" sz="1400" dirty="0"/>
          </a:p>
        </p:txBody>
      </p:sp>
      <p:sp>
        <p:nvSpPr>
          <p:cNvPr id="27" name="テキスト ボックス 26">
            <a:extLst>
              <a:ext uri="{FF2B5EF4-FFF2-40B4-BE49-F238E27FC236}">
                <a16:creationId xmlns:a16="http://schemas.microsoft.com/office/drawing/2014/main" id="{F7F6FDC5-E248-700F-9E17-67A9636F550E}"/>
              </a:ext>
            </a:extLst>
          </p:cNvPr>
          <p:cNvSpPr txBox="1"/>
          <p:nvPr/>
        </p:nvSpPr>
        <p:spPr>
          <a:xfrm>
            <a:off x="5451819" y="6093766"/>
            <a:ext cx="2999019" cy="307777"/>
          </a:xfrm>
          <a:prstGeom prst="rect">
            <a:avLst/>
          </a:prstGeom>
          <a:noFill/>
        </p:spPr>
        <p:txBody>
          <a:bodyPr wrap="square" rtlCol="0">
            <a:spAutoFit/>
          </a:bodyPr>
          <a:lstStyle/>
          <a:p>
            <a:r>
              <a:rPr lang="ja-JP" altLang="en-US" sz="1400" dirty="0"/>
              <a:t>タスク</a:t>
            </a:r>
            <a:r>
              <a:rPr kumimoji="1" lang="ja-JP" altLang="en-US" sz="1400" dirty="0"/>
              <a:t>処理関連</a:t>
            </a:r>
          </a:p>
        </p:txBody>
      </p:sp>
      <p:sp>
        <p:nvSpPr>
          <p:cNvPr id="17" name="正方形/長方形 16">
            <a:extLst>
              <a:ext uri="{FF2B5EF4-FFF2-40B4-BE49-F238E27FC236}">
                <a16:creationId xmlns:a16="http://schemas.microsoft.com/office/drawing/2014/main" id="{CD1E1129-9343-89BA-093E-78F0B71E71D7}"/>
              </a:ext>
            </a:extLst>
          </p:cNvPr>
          <p:cNvSpPr/>
          <p:nvPr/>
        </p:nvSpPr>
        <p:spPr>
          <a:xfrm>
            <a:off x="693160" y="1635422"/>
            <a:ext cx="2612727" cy="1206448"/>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t>例：ある登録済みユーザーが</a:t>
            </a:r>
            <a:endParaRPr lang="en-US" altLang="ja-JP" sz="1400" dirty="0"/>
          </a:p>
          <a:p>
            <a:pPr algn="ctr"/>
            <a:r>
              <a:rPr lang="ja-JP" altLang="en-US" sz="1400" dirty="0"/>
              <a:t>「在室 </a:t>
            </a:r>
            <a:r>
              <a:rPr lang="en-US" altLang="ja-JP" sz="1400" dirty="0"/>
              <a:t>(Clock In)</a:t>
            </a:r>
            <a:r>
              <a:rPr lang="ja-JP" altLang="en-US" sz="1400" dirty="0"/>
              <a:t>」ボタンを</a:t>
            </a:r>
            <a:endParaRPr lang="en-US" altLang="ja-JP" sz="1400" dirty="0"/>
          </a:p>
          <a:p>
            <a:pPr algn="ctr"/>
            <a:r>
              <a:rPr lang="ja-JP" altLang="en-US" sz="1400" dirty="0"/>
              <a:t>押した後，自身の</a:t>
            </a:r>
            <a:r>
              <a:rPr lang="en-US" altLang="ja-JP" sz="1400" dirty="0"/>
              <a:t>IC</a:t>
            </a:r>
            <a:r>
              <a:rPr lang="ja-JP" altLang="en-US" sz="1400" dirty="0"/>
              <a:t>カードを</a:t>
            </a:r>
            <a:endParaRPr lang="en-US" altLang="ja-JP" sz="1400" dirty="0"/>
          </a:p>
          <a:p>
            <a:pPr algn="ctr"/>
            <a:r>
              <a:rPr lang="ja-JP" altLang="en-US" sz="1400" dirty="0"/>
              <a:t>読み込んだ場合</a:t>
            </a:r>
          </a:p>
        </p:txBody>
      </p:sp>
    </p:spTree>
    <p:extLst>
      <p:ext uri="{BB962C8B-B14F-4D97-AF65-F5344CB8AC3E}">
        <p14:creationId xmlns:p14="http://schemas.microsoft.com/office/powerpoint/2010/main" val="30535613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D5A9B-CC28-5A1A-2450-E621275677F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9E63FF8-2DA7-0F57-F315-6DAF43EF56D1}"/>
              </a:ext>
            </a:extLst>
          </p:cNvPr>
          <p:cNvSpPr>
            <a:spLocks noGrp="1"/>
          </p:cNvSpPr>
          <p:nvPr>
            <p:ph type="title"/>
          </p:nvPr>
        </p:nvSpPr>
        <p:spPr/>
        <p:txBody>
          <a:bodyPr/>
          <a:lstStyle/>
          <a:p>
            <a:r>
              <a:rPr kumimoji="1" lang="ja-JP" altLang="en-US" dirty="0"/>
              <a:t>在室確認システム</a:t>
            </a:r>
            <a:r>
              <a:rPr lang="ja-JP" altLang="en-US" dirty="0"/>
              <a:t> </a:t>
            </a:r>
            <a:r>
              <a:rPr lang="en-US" altLang="ja-JP" dirty="0"/>
              <a:t>– </a:t>
            </a:r>
            <a:r>
              <a:rPr lang="ja-JP" altLang="en-US" dirty="0"/>
              <a:t>制御デバイス</a:t>
            </a:r>
            <a:endParaRPr kumimoji="1" lang="ja-JP" altLang="en-US" dirty="0"/>
          </a:p>
        </p:txBody>
      </p:sp>
      <p:sp>
        <p:nvSpPr>
          <p:cNvPr id="289" name="TextBox 12">
            <a:extLst>
              <a:ext uri="{FF2B5EF4-FFF2-40B4-BE49-F238E27FC236}">
                <a16:creationId xmlns:a16="http://schemas.microsoft.com/office/drawing/2014/main" id="{5CFDD85C-E562-3A48-A8FD-305DA4472603}"/>
              </a:ext>
            </a:extLst>
          </p:cNvPr>
          <p:cNvSpPr txBox="1">
            <a:spLocks noChangeArrowheads="1"/>
          </p:cNvSpPr>
          <p:nvPr/>
        </p:nvSpPr>
        <p:spPr bwMode="auto">
          <a:xfrm>
            <a:off x="1707208" y="5001976"/>
            <a:ext cx="16050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Raspberry Pi 4B</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(172.16.15.8)</a:t>
            </a:r>
          </a:p>
        </p:txBody>
      </p:sp>
      <p:sp>
        <p:nvSpPr>
          <p:cNvPr id="236" name="テキスト ボックス 235">
            <a:extLst>
              <a:ext uri="{FF2B5EF4-FFF2-40B4-BE49-F238E27FC236}">
                <a16:creationId xmlns:a16="http://schemas.microsoft.com/office/drawing/2014/main" id="{23915DD8-6A27-485F-F53A-BEFB0E5BF1FD}"/>
              </a:ext>
            </a:extLst>
          </p:cNvPr>
          <p:cNvSpPr txBox="1"/>
          <p:nvPr/>
        </p:nvSpPr>
        <p:spPr>
          <a:xfrm>
            <a:off x="1077353" y="4303759"/>
            <a:ext cx="1162293" cy="276999"/>
          </a:xfrm>
          <a:prstGeom prst="rect">
            <a:avLst/>
          </a:prstGeom>
          <a:noFill/>
        </p:spPr>
        <p:txBody>
          <a:bodyPr wrap="square">
            <a:spAutoFit/>
          </a:body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RC-S380 S</a:t>
            </a:r>
          </a:p>
        </p:txBody>
      </p:sp>
      <p:pic>
        <p:nvPicPr>
          <p:cNvPr id="237" name="図 236" descr="黒い背景と白い文字のロゴ&#10;&#10;AI によって生成されたコンテンツは間違っている可能性があります。">
            <a:extLst>
              <a:ext uri="{FF2B5EF4-FFF2-40B4-BE49-F238E27FC236}">
                <a16:creationId xmlns:a16="http://schemas.microsoft.com/office/drawing/2014/main" id="{2FF4BC44-8422-8339-32B9-742C9ED3E7A1}"/>
              </a:ext>
            </a:extLst>
          </p:cNvPr>
          <p:cNvPicPr>
            <a:picLocks noChangeAspect="1"/>
          </p:cNvPicPr>
          <p:nvPr/>
        </p:nvPicPr>
        <p:blipFill>
          <a:blip r:embed="rId3">
            <a:biLevel thresh="50000"/>
            <a:extLst>
              <a:ext uri="{28A0092B-C50C-407E-A947-70E740481C1C}">
                <a14:useLocalDpi xmlns:a14="http://schemas.microsoft.com/office/drawing/2010/main" val="0"/>
              </a:ext>
            </a:extLst>
          </a:blip>
          <a:srcRect t="19474" b="18132"/>
          <a:stretch/>
        </p:blipFill>
        <p:spPr>
          <a:xfrm flipH="1">
            <a:off x="693160" y="4508703"/>
            <a:ext cx="1605014" cy="751622"/>
          </a:xfrm>
          <a:prstGeom prst="rect">
            <a:avLst/>
          </a:prstGeom>
        </p:spPr>
      </p:pic>
      <p:grpSp>
        <p:nvGrpSpPr>
          <p:cNvPr id="241" name="グループ化 240">
            <a:extLst>
              <a:ext uri="{FF2B5EF4-FFF2-40B4-BE49-F238E27FC236}">
                <a16:creationId xmlns:a16="http://schemas.microsoft.com/office/drawing/2014/main" id="{F3230DF5-D7B8-7A05-4771-10CEB02DB08F}"/>
              </a:ext>
            </a:extLst>
          </p:cNvPr>
          <p:cNvGrpSpPr/>
          <p:nvPr/>
        </p:nvGrpSpPr>
        <p:grpSpPr>
          <a:xfrm>
            <a:off x="2051276" y="6087076"/>
            <a:ext cx="924337" cy="403333"/>
            <a:chOff x="2262291" y="5685876"/>
            <a:chExt cx="924337" cy="403333"/>
          </a:xfrm>
        </p:grpSpPr>
        <p:pic>
          <p:nvPicPr>
            <p:cNvPr id="286" name="図 285" descr="アイコン&#10;&#10;AI によって生成されたコンテンツは間違っている可能性があります。">
              <a:extLst>
                <a:ext uri="{FF2B5EF4-FFF2-40B4-BE49-F238E27FC236}">
                  <a16:creationId xmlns:a16="http://schemas.microsoft.com/office/drawing/2014/main" id="{D4002226-079F-91A6-4E37-9CBE5DB6EFB9}"/>
                </a:ext>
              </a:extLst>
            </p:cNvPr>
            <p:cNvPicPr>
              <a:picLocks noChangeAspect="1"/>
            </p:cNvPicPr>
            <p:nvPr/>
          </p:nvPicPr>
          <p:blipFill>
            <a:blip r:embed="rId4">
              <a:extLst>
                <a:ext uri="{28A0092B-C50C-407E-A947-70E740481C1C}">
                  <a14:useLocalDpi xmlns:a14="http://schemas.microsoft.com/office/drawing/2010/main" val="0"/>
                </a:ext>
              </a:extLst>
            </a:blip>
            <a:srcRect l="10553" t="5709" r="9769" b="4466"/>
            <a:stretch/>
          </p:blipFill>
          <p:spPr>
            <a:xfrm>
              <a:off x="2262291" y="5685876"/>
              <a:ext cx="357774" cy="403333"/>
            </a:xfrm>
            <a:prstGeom prst="rect">
              <a:avLst/>
            </a:prstGeom>
          </p:spPr>
        </p:pic>
        <p:sp>
          <p:nvSpPr>
            <p:cNvPr id="287" name="テキスト ボックス 286">
              <a:extLst>
                <a:ext uri="{FF2B5EF4-FFF2-40B4-BE49-F238E27FC236}">
                  <a16:creationId xmlns:a16="http://schemas.microsoft.com/office/drawing/2014/main" id="{6F7CF593-B416-7DE6-0662-C583C2F8A2D7}"/>
                </a:ext>
              </a:extLst>
            </p:cNvPr>
            <p:cNvSpPr txBox="1"/>
            <p:nvPr/>
          </p:nvSpPr>
          <p:spPr>
            <a:xfrm>
              <a:off x="2557071" y="5749042"/>
              <a:ext cx="629557" cy="276999"/>
            </a:xfrm>
            <a:prstGeom prst="rect">
              <a:avLst/>
            </a:prstGeom>
            <a:noFill/>
          </p:spPr>
          <p:txBody>
            <a:bodyPr wrap="square">
              <a:spAutoFit/>
            </a:bodyPr>
            <a:lstStyle/>
            <a:p>
              <a:r>
                <a:rPr lang="en-US" altLang="ja-JP" sz="1200" dirty="0"/>
                <a:t>:3000</a:t>
              </a:r>
              <a:endParaRPr lang="ja-JP" altLang="en-US" sz="1200" dirty="0"/>
            </a:p>
          </p:txBody>
        </p:sp>
      </p:grpSp>
      <p:grpSp>
        <p:nvGrpSpPr>
          <p:cNvPr id="242" name="グループ化 241">
            <a:extLst>
              <a:ext uri="{FF2B5EF4-FFF2-40B4-BE49-F238E27FC236}">
                <a16:creationId xmlns:a16="http://schemas.microsoft.com/office/drawing/2014/main" id="{03616C49-E452-CF72-2EEE-CF763E98B8AD}"/>
              </a:ext>
            </a:extLst>
          </p:cNvPr>
          <p:cNvGrpSpPr/>
          <p:nvPr/>
        </p:nvGrpSpPr>
        <p:grpSpPr>
          <a:xfrm>
            <a:off x="2043915" y="5648135"/>
            <a:ext cx="931698" cy="372497"/>
            <a:chOff x="2254930" y="5246935"/>
            <a:chExt cx="931698" cy="372497"/>
          </a:xfrm>
        </p:grpSpPr>
        <p:pic>
          <p:nvPicPr>
            <p:cNvPr id="284" name="グラフィックス 283">
              <a:extLst>
                <a:ext uri="{FF2B5EF4-FFF2-40B4-BE49-F238E27FC236}">
                  <a16:creationId xmlns:a16="http://schemas.microsoft.com/office/drawing/2014/main" id="{9A6EA915-04D6-F9C1-F212-C51546FFE41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254930" y="5246935"/>
              <a:ext cx="372497" cy="372497"/>
            </a:xfrm>
            <a:prstGeom prst="rect">
              <a:avLst/>
            </a:prstGeom>
          </p:spPr>
        </p:pic>
        <p:sp>
          <p:nvSpPr>
            <p:cNvPr id="285" name="テキスト ボックス 284">
              <a:extLst>
                <a:ext uri="{FF2B5EF4-FFF2-40B4-BE49-F238E27FC236}">
                  <a16:creationId xmlns:a16="http://schemas.microsoft.com/office/drawing/2014/main" id="{5A8B5B71-7316-4F1D-D8F5-A97A7B40FA88}"/>
                </a:ext>
              </a:extLst>
            </p:cNvPr>
            <p:cNvSpPr txBox="1"/>
            <p:nvPr/>
          </p:nvSpPr>
          <p:spPr>
            <a:xfrm>
              <a:off x="2557071" y="5306333"/>
              <a:ext cx="629557" cy="276999"/>
            </a:xfrm>
            <a:prstGeom prst="rect">
              <a:avLst/>
            </a:prstGeom>
            <a:noFill/>
          </p:spPr>
          <p:txBody>
            <a:bodyPr wrap="square">
              <a:spAutoFit/>
            </a:bodyPr>
            <a:lstStyle/>
            <a:p>
              <a:r>
                <a:rPr lang="en-US" altLang="ja-JP" sz="1200" dirty="0"/>
                <a:t>:8000</a:t>
              </a:r>
              <a:endParaRPr lang="ja-JP" altLang="en-US" sz="1200" dirty="0"/>
            </a:p>
          </p:txBody>
        </p:sp>
      </p:grpSp>
      <p:sp>
        <p:nvSpPr>
          <p:cNvPr id="306" name="Rectangle 103" descr="Generic group dashed.">
            <a:extLst>
              <a:ext uri="{FF2B5EF4-FFF2-40B4-BE49-F238E27FC236}">
                <a16:creationId xmlns:a16="http://schemas.microsoft.com/office/drawing/2014/main" id="{B525061E-BD5A-4495-0F41-A398F4341A5B}"/>
              </a:ext>
            </a:extLst>
          </p:cNvPr>
          <p:cNvSpPr/>
          <p:nvPr/>
        </p:nvSpPr>
        <p:spPr>
          <a:xfrm>
            <a:off x="690522" y="3933107"/>
            <a:ext cx="2615365" cy="2822096"/>
          </a:xfrm>
          <a:prstGeom prst="rect">
            <a:avLst/>
          </a:prstGeom>
          <a:noFill/>
          <a:ln w="15875">
            <a:solidFill>
              <a:srgbClr val="7D8998"/>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a:defRPr/>
            </a:pPr>
            <a:r>
              <a:rPr lang="ja-JP" altLang="en-US" sz="1200" dirty="0">
                <a:solidFill>
                  <a:schemeClr val="tx1"/>
                </a:solidFill>
                <a:latin typeface="Arial" panose="020B0604020202020204" pitchFamily="34" charset="0"/>
                <a:cs typeface="Arial" panose="020B0604020202020204" pitchFamily="34" charset="0"/>
              </a:rPr>
              <a:t>学生部屋（</a:t>
            </a:r>
            <a:r>
              <a:rPr lang="en-US" altLang="ja-JP" sz="1200" dirty="0">
                <a:solidFill>
                  <a:schemeClr val="tx1"/>
                </a:solidFill>
                <a:latin typeface="Arial" panose="020B0604020202020204" pitchFamily="34" charset="0"/>
                <a:cs typeface="Arial" panose="020B0604020202020204" pitchFamily="34" charset="0"/>
              </a:rPr>
              <a:t>J1401</a:t>
            </a:r>
            <a:r>
              <a:rPr lang="ja-JP" altLang="en-US" sz="1200" dirty="0">
                <a:solidFill>
                  <a:schemeClr val="tx1"/>
                </a:solidFill>
                <a:latin typeface="Arial" panose="020B0604020202020204" pitchFamily="34" charset="0"/>
                <a:cs typeface="Arial" panose="020B0604020202020204" pitchFamily="34" charset="0"/>
              </a:rPr>
              <a:t>）</a:t>
            </a:r>
            <a:endParaRPr lang="en-US" sz="1200" dirty="0">
              <a:solidFill>
                <a:schemeClr val="tx1"/>
              </a:solidFill>
              <a:latin typeface="Arial" panose="020B0604020202020204" pitchFamily="34" charset="0"/>
              <a:cs typeface="Arial" panose="020B0604020202020204" pitchFamily="34" charset="0"/>
            </a:endParaRPr>
          </a:p>
        </p:txBody>
      </p:sp>
      <p:pic>
        <p:nvPicPr>
          <p:cNvPr id="307" name="グラフィックス 306">
            <a:extLst>
              <a:ext uri="{FF2B5EF4-FFF2-40B4-BE49-F238E27FC236}">
                <a16:creationId xmlns:a16="http://schemas.microsoft.com/office/drawing/2014/main" id="{FD95AA58-9D3E-AB34-73D0-1B1E978AE68F}"/>
              </a:ext>
            </a:extLst>
          </p:cNvPr>
          <p:cNvPicPr>
            <a:picLocks noChangeAspect="1"/>
          </p:cNvPicPr>
          <p:nvPr/>
        </p:nvPicPr>
        <p:blipFill>
          <a:blip r:embed="rId7">
            <a:grayscl/>
            <a:extLst>
              <a:ext uri="{96DAC541-7B7A-43D3-8B79-37D633B846F1}">
                <asvg:svgBlip xmlns:asvg="http://schemas.microsoft.com/office/drawing/2016/SVG/main" r:embed="rId8"/>
              </a:ext>
            </a:extLst>
          </a:blip>
          <a:srcRect l="25148" t="16203" r="25948" b="16205"/>
          <a:stretch/>
        </p:blipFill>
        <p:spPr>
          <a:xfrm rot="16200000">
            <a:off x="1042395" y="5874413"/>
            <a:ext cx="599552" cy="828660"/>
          </a:xfrm>
          <a:prstGeom prst="rect">
            <a:avLst/>
          </a:prstGeom>
        </p:spPr>
      </p:pic>
      <p:cxnSp>
        <p:nvCxnSpPr>
          <p:cNvPr id="372" name="Straight Arrow Connector 52" descr="Double pointing horizontal arrow.">
            <a:extLst>
              <a:ext uri="{FF2B5EF4-FFF2-40B4-BE49-F238E27FC236}">
                <a16:creationId xmlns:a16="http://schemas.microsoft.com/office/drawing/2014/main" id="{1233E647-4F3D-67B2-758F-D53245E26BEB}"/>
              </a:ext>
            </a:extLst>
          </p:cNvPr>
          <p:cNvCxnSpPr>
            <a:cxnSpLocks/>
            <a:stCxn id="286" idx="1"/>
            <a:endCxn id="307" idx="2"/>
          </p:cNvCxnSpPr>
          <p:nvPr/>
        </p:nvCxnSpPr>
        <p:spPr>
          <a:xfrm flipH="1">
            <a:off x="1756501" y="6288743"/>
            <a:ext cx="294775" cy="0"/>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pic>
        <p:nvPicPr>
          <p:cNvPr id="3" name="Picture 2" descr="Raspberry icon - Free download on Iconfinder">
            <a:extLst>
              <a:ext uri="{FF2B5EF4-FFF2-40B4-BE49-F238E27FC236}">
                <a16:creationId xmlns:a16="http://schemas.microsoft.com/office/drawing/2014/main" id="{722A9141-967B-8BFE-80F3-B97FD9E4C5E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44769" y="4471085"/>
            <a:ext cx="544810" cy="544810"/>
          </a:xfrm>
          <a:prstGeom prst="rect">
            <a:avLst/>
          </a:prstGeom>
          <a:noFill/>
          <a:extLst>
            <a:ext uri="{909E8E84-426E-40DD-AFC4-6F175D3DCCD1}">
              <a14:hiddenFill xmlns:a14="http://schemas.microsoft.com/office/drawing/2010/main">
                <a:solidFill>
                  <a:srgbClr val="FFFFFF"/>
                </a:solidFill>
              </a14:hiddenFill>
            </a:ext>
          </a:extLst>
        </p:spPr>
      </p:pic>
      <p:grpSp>
        <p:nvGrpSpPr>
          <p:cNvPr id="9" name="グループ化 8">
            <a:extLst>
              <a:ext uri="{FF2B5EF4-FFF2-40B4-BE49-F238E27FC236}">
                <a16:creationId xmlns:a16="http://schemas.microsoft.com/office/drawing/2014/main" id="{E262DE11-E0B2-9BB2-E881-76B7BE4653FD}"/>
              </a:ext>
            </a:extLst>
          </p:cNvPr>
          <p:cNvGrpSpPr/>
          <p:nvPr/>
        </p:nvGrpSpPr>
        <p:grpSpPr>
          <a:xfrm>
            <a:off x="3305887" y="1301487"/>
            <a:ext cx="5430653" cy="5453716"/>
            <a:chOff x="3305887" y="1301487"/>
            <a:chExt cx="5430653" cy="5453716"/>
          </a:xfrm>
        </p:grpSpPr>
        <p:sp>
          <p:nvSpPr>
            <p:cNvPr id="6" name="正方形/長方形 5">
              <a:extLst>
                <a:ext uri="{FF2B5EF4-FFF2-40B4-BE49-F238E27FC236}">
                  <a16:creationId xmlns:a16="http://schemas.microsoft.com/office/drawing/2014/main" id="{9D91ED0F-CFD4-B07A-C0FD-4E2F0A3F906A}"/>
                </a:ext>
              </a:extLst>
            </p:cNvPr>
            <p:cNvSpPr/>
            <p:nvPr/>
          </p:nvSpPr>
          <p:spPr>
            <a:xfrm>
              <a:off x="3469616" y="1648657"/>
              <a:ext cx="5173870" cy="5106546"/>
            </a:xfrm>
            <a:prstGeom prst="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0000" rIns="0" bIns="0" rtlCol="0" anchor="ctr"/>
            <a:lstStyle/>
            <a:p>
              <a:r>
                <a:rPr lang="en-US" altLang="ja-JP" sz="1400" dirty="0"/>
                <a:t>.</a:t>
              </a:r>
            </a:p>
            <a:p>
              <a:r>
                <a:rPr lang="en-US" altLang="ja-JP" sz="1400" dirty="0"/>
                <a:t>├── .env</a:t>
              </a:r>
            </a:p>
            <a:p>
              <a:r>
                <a:rPr lang="en-US" altLang="ja-JP" sz="1400" dirty="0"/>
                <a:t>│</a:t>
              </a:r>
            </a:p>
            <a:p>
              <a:r>
                <a:rPr lang="en-US" altLang="ja-JP" sz="1400" dirty="0"/>
                <a:t>├── app</a:t>
              </a:r>
            </a:p>
            <a:p>
              <a:r>
                <a:rPr lang="en-US" altLang="ja-JP" sz="1400" dirty="0"/>
                <a:t>│   ├── …</a:t>
              </a:r>
            </a:p>
            <a:p>
              <a:r>
                <a:rPr lang="en-US" altLang="ja-JP" sz="1400" dirty="0"/>
                <a:t>│</a:t>
              </a:r>
            </a:p>
            <a:p>
              <a:r>
                <a:rPr lang="en-US" altLang="ja-JP" sz="1400" dirty="0"/>
                <a:t>├── data</a:t>
              </a:r>
            </a:p>
            <a:p>
              <a:r>
                <a:rPr lang="en-US" altLang="ja-JP" sz="1400" dirty="0"/>
                <a:t>│   ├── …</a:t>
              </a:r>
            </a:p>
            <a:p>
              <a:r>
                <a:rPr lang="ja-JP" altLang="en-US" sz="1400" dirty="0"/>
                <a:t>｜</a:t>
              </a:r>
              <a:endParaRPr lang="en-US" altLang="ja-JP" sz="1400" dirty="0"/>
            </a:p>
            <a:p>
              <a:r>
                <a:rPr lang="en-US" altLang="ja-JP" sz="1400" dirty="0"/>
                <a:t>├── logs</a:t>
              </a:r>
            </a:p>
            <a:p>
              <a:r>
                <a:rPr lang="en-US" altLang="ja-JP" sz="1400" dirty="0"/>
                <a:t>│   └── *.log</a:t>
              </a:r>
            </a:p>
            <a:p>
              <a:r>
                <a:rPr lang="en-US" altLang="ja-JP" sz="1400" dirty="0"/>
                <a:t>│</a:t>
              </a:r>
            </a:p>
            <a:p>
              <a:r>
                <a:rPr lang="en-US" altLang="ja-JP" sz="1400" dirty="0"/>
                <a:t>├── shared</a:t>
              </a:r>
            </a:p>
            <a:p>
              <a:r>
                <a:rPr lang="en-US" altLang="ja-JP" sz="1400" dirty="0"/>
                <a:t>│   ├── …</a:t>
              </a:r>
            </a:p>
            <a:p>
              <a:r>
                <a:rPr lang="ja-JP" altLang="en-US" sz="1400" dirty="0"/>
                <a:t>｜</a:t>
              </a:r>
              <a:endParaRPr lang="en-US" altLang="ja-JP" sz="1400" dirty="0"/>
            </a:p>
            <a:p>
              <a:r>
                <a:rPr lang="en-US" altLang="ja-JP" sz="1400" dirty="0"/>
                <a:t>├── web</a:t>
              </a:r>
            </a:p>
            <a:p>
              <a:r>
                <a:rPr lang="en-US" altLang="ja-JP" sz="1400" dirty="0"/>
                <a:t>│   └── frontend</a:t>
              </a:r>
            </a:p>
            <a:p>
              <a:r>
                <a:rPr lang="en-US" altLang="ja-JP" sz="1400" dirty="0"/>
                <a:t>│       </a:t>
              </a:r>
              <a:r>
                <a:rPr lang="ja-JP" altLang="en-US" sz="1400" dirty="0"/>
                <a:t>  </a:t>
              </a:r>
              <a:r>
                <a:rPr lang="en-US" altLang="ja-JP" sz="1400" dirty="0"/>
                <a:t>├── .env</a:t>
              </a:r>
            </a:p>
            <a:p>
              <a:r>
                <a:rPr lang="en-US" altLang="ja-JP" sz="1400" dirty="0"/>
                <a:t>│         └── …</a:t>
              </a:r>
            </a:p>
            <a:p>
              <a:r>
                <a:rPr lang="en-US" altLang="ja-JP" sz="1400" dirty="0"/>
                <a:t>│</a:t>
              </a:r>
              <a:endParaRPr lang="en-US" altLang="ja-JP" sz="1400" b="1" dirty="0"/>
            </a:p>
            <a:p>
              <a:r>
                <a:rPr lang="en-US" altLang="ja-JP" sz="1400" dirty="0"/>
                <a:t>└── worker</a:t>
              </a:r>
            </a:p>
            <a:p>
              <a:r>
                <a:rPr lang="en-US" altLang="ja-JP" sz="1400" dirty="0"/>
                <a:t>    ├── …</a:t>
              </a:r>
            </a:p>
            <a:p>
              <a:pPr algn="ctr"/>
              <a:endParaRPr kumimoji="1" lang="ja-JP" altLang="en-US" sz="1400" dirty="0"/>
            </a:p>
          </p:txBody>
        </p:sp>
        <p:sp>
          <p:nvSpPr>
            <p:cNvPr id="8" name="テキスト ボックス 7">
              <a:extLst>
                <a:ext uri="{FF2B5EF4-FFF2-40B4-BE49-F238E27FC236}">
                  <a16:creationId xmlns:a16="http://schemas.microsoft.com/office/drawing/2014/main" id="{6AEEA430-879D-99AC-6820-A5D1322174AB}"/>
                </a:ext>
              </a:extLst>
            </p:cNvPr>
            <p:cNvSpPr txBox="1"/>
            <p:nvPr/>
          </p:nvSpPr>
          <p:spPr>
            <a:xfrm>
              <a:off x="3305887" y="1301487"/>
              <a:ext cx="5430653" cy="338554"/>
            </a:xfrm>
            <a:prstGeom prst="rect">
              <a:avLst/>
            </a:prstGeom>
            <a:noFill/>
          </p:spPr>
          <p:txBody>
            <a:bodyPr wrap="square" rtlCol="0">
              <a:spAutoFit/>
            </a:bodyPr>
            <a:lstStyle/>
            <a:p>
              <a:pPr algn="ctr"/>
              <a:r>
                <a:rPr kumimoji="1" lang="ja-JP" altLang="en-US" sz="1600" dirty="0"/>
                <a:t>現行の制御デバイス</a:t>
              </a:r>
              <a:r>
                <a:rPr kumimoji="1" lang="en-US" altLang="ja-JP" sz="1600" dirty="0"/>
                <a:t>(172.16.15.8</a:t>
              </a:r>
              <a:r>
                <a:rPr lang="en-US" altLang="ja-JP" sz="1600" dirty="0"/>
                <a:t>)</a:t>
              </a:r>
              <a:r>
                <a:rPr lang="ja-JP" altLang="en-US" sz="1600" dirty="0"/>
                <a:t>のディレクトリ構成</a:t>
              </a:r>
              <a:endParaRPr kumimoji="1" lang="ja-JP" altLang="en-US" sz="1600" dirty="0"/>
            </a:p>
          </p:txBody>
        </p:sp>
      </p:grpSp>
      <p:sp>
        <p:nvSpPr>
          <p:cNvPr id="10" name="正方形/長方形 9">
            <a:extLst>
              <a:ext uri="{FF2B5EF4-FFF2-40B4-BE49-F238E27FC236}">
                <a16:creationId xmlns:a16="http://schemas.microsoft.com/office/drawing/2014/main" id="{CC6A1074-3114-7C77-FC6E-A7E10C52C8AA}"/>
              </a:ext>
            </a:extLst>
          </p:cNvPr>
          <p:cNvSpPr/>
          <p:nvPr/>
        </p:nvSpPr>
        <p:spPr>
          <a:xfrm>
            <a:off x="3817249" y="2333486"/>
            <a:ext cx="1559081" cy="565110"/>
          </a:xfrm>
          <a:prstGeom prst="rect">
            <a:avLst/>
          </a:prstGeom>
          <a:solidFill>
            <a:srgbClr val="F2F2F2">
              <a:alpha val="50196"/>
            </a:srgbClr>
          </a:solid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851F77B8-E5F0-FBBB-AC5F-3F52A992A991}"/>
              </a:ext>
            </a:extLst>
          </p:cNvPr>
          <p:cNvSpPr/>
          <p:nvPr/>
        </p:nvSpPr>
        <p:spPr>
          <a:xfrm>
            <a:off x="3817249" y="2980670"/>
            <a:ext cx="1559081" cy="565111"/>
          </a:xfrm>
          <a:prstGeom prst="rect">
            <a:avLst/>
          </a:prstGeom>
          <a:solidFill>
            <a:srgbClr val="F2F2F2">
              <a:alpha val="50196"/>
            </a:srgbClr>
          </a:solidFill>
          <a:ln w="1905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6F26088F-7BB6-E023-61F7-7523AE7ED3C6}"/>
              </a:ext>
            </a:extLst>
          </p:cNvPr>
          <p:cNvSpPr/>
          <p:nvPr/>
        </p:nvSpPr>
        <p:spPr>
          <a:xfrm>
            <a:off x="3817249" y="3627855"/>
            <a:ext cx="1559081" cy="565111"/>
          </a:xfrm>
          <a:prstGeom prst="rect">
            <a:avLst/>
          </a:prstGeom>
          <a:solidFill>
            <a:srgbClr val="F2F2F2">
              <a:alpha val="50196"/>
            </a:srgbClr>
          </a:solidFill>
          <a:ln w="1905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47803D91-D49C-3140-C848-AA13E6293ACB}"/>
              </a:ext>
            </a:extLst>
          </p:cNvPr>
          <p:cNvSpPr/>
          <p:nvPr/>
        </p:nvSpPr>
        <p:spPr>
          <a:xfrm>
            <a:off x="3817250" y="4275040"/>
            <a:ext cx="1559082" cy="565111"/>
          </a:xfrm>
          <a:prstGeom prst="rect">
            <a:avLst/>
          </a:prstGeom>
          <a:solidFill>
            <a:srgbClr val="F2F2F2">
              <a:alpha val="50196"/>
            </a:srgbClr>
          </a:solidFill>
          <a:ln w="1905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50108426-3332-5356-4174-946BB932B69D}"/>
              </a:ext>
            </a:extLst>
          </p:cNvPr>
          <p:cNvSpPr/>
          <p:nvPr/>
        </p:nvSpPr>
        <p:spPr>
          <a:xfrm>
            <a:off x="3817249" y="4926787"/>
            <a:ext cx="1559083" cy="944846"/>
          </a:xfrm>
          <a:prstGeom prst="rect">
            <a:avLst/>
          </a:prstGeom>
          <a:solidFill>
            <a:srgbClr val="F2F2F2">
              <a:alpha val="50196"/>
            </a:srgbClr>
          </a:solid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5" name="正方形/長方形 14">
            <a:extLst>
              <a:ext uri="{FF2B5EF4-FFF2-40B4-BE49-F238E27FC236}">
                <a16:creationId xmlns:a16="http://schemas.microsoft.com/office/drawing/2014/main" id="{F2B2F8B1-069A-226B-41F6-6E71B0591194}"/>
              </a:ext>
            </a:extLst>
          </p:cNvPr>
          <p:cNvSpPr/>
          <p:nvPr/>
        </p:nvSpPr>
        <p:spPr>
          <a:xfrm>
            <a:off x="3817249" y="5959525"/>
            <a:ext cx="1559083" cy="565111"/>
          </a:xfrm>
          <a:prstGeom prst="rect">
            <a:avLst/>
          </a:prstGeom>
          <a:solidFill>
            <a:srgbClr val="F2F2F2">
              <a:alpha val="50196"/>
            </a:srgbClr>
          </a:solidFill>
          <a:ln w="1905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ボックス 15">
            <a:extLst>
              <a:ext uri="{FF2B5EF4-FFF2-40B4-BE49-F238E27FC236}">
                <a16:creationId xmlns:a16="http://schemas.microsoft.com/office/drawing/2014/main" id="{330623D0-8AAB-B2FA-CAA5-F6248C4B5AF7}"/>
              </a:ext>
            </a:extLst>
          </p:cNvPr>
          <p:cNvSpPr txBox="1"/>
          <p:nvPr/>
        </p:nvSpPr>
        <p:spPr>
          <a:xfrm>
            <a:off x="5843374" y="2462152"/>
            <a:ext cx="2614826" cy="307777"/>
          </a:xfrm>
          <a:prstGeom prst="rect">
            <a:avLst/>
          </a:prstGeom>
          <a:noFill/>
        </p:spPr>
        <p:txBody>
          <a:bodyPr wrap="square" rtlCol="0">
            <a:spAutoFit/>
          </a:bodyPr>
          <a:lstStyle/>
          <a:p>
            <a:r>
              <a:rPr kumimoji="1" lang="en-US" altLang="ja-JP" sz="1400" dirty="0" err="1"/>
              <a:t>FastAPI</a:t>
            </a:r>
            <a:r>
              <a:rPr lang="ja-JP" altLang="en-US" sz="1400" dirty="0"/>
              <a:t>関連</a:t>
            </a:r>
            <a:endParaRPr kumimoji="1" lang="ja-JP" altLang="en-US" sz="1400" dirty="0"/>
          </a:p>
        </p:txBody>
      </p:sp>
      <p:pic>
        <p:nvPicPr>
          <p:cNvPr id="18" name="グラフィックス 17">
            <a:extLst>
              <a:ext uri="{FF2B5EF4-FFF2-40B4-BE49-F238E27FC236}">
                <a16:creationId xmlns:a16="http://schemas.microsoft.com/office/drawing/2014/main" id="{84A1F734-33CA-A709-53F8-462B494B249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470877" y="2429791"/>
            <a:ext cx="372497" cy="372497"/>
          </a:xfrm>
          <a:prstGeom prst="rect">
            <a:avLst/>
          </a:prstGeom>
        </p:spPr>
      </p:pic>
      <p:pic>
        <p:nvPicPr>
          <p:cNvPr id="1026" name="Picture 2" descr="SQLite】10分で分かる SQLiteとは？ | レンサバ">
            <a:extLst>
              <a:ext uri="{FF2B5EF4-FFF2-40B4-BE49-F238E27FC236}">
                <a16:creationId xmlns:a16="http://schemas.microsoft.com/office/drawing/2014/main" id="{5F08CE67-AD29-0505-FFF4-EF5B343214A4}"/>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13878" r="14269"/>
          <a:stretch/>
        </p:blipFill>
        <p:spPr bwMode="auto">
          <a:xfrm>
            <a:off x="5475632" y="3073434"/>
            <a:ext cx="367742" cy="372497"/>
          </a:xfrm>
          <a:prstGeom prst="rect">
            <a:avLst/>
          </a:prstGeom>
          <a:noFill/>
          <a:extLst>
            <a:ext uri="{909E8E84-426E-40DD-AFC4-6F175D3DCCD1}">
              <a14:hiddenFill xmlns:a14="http://schemas.microsoft.com/office/drawing/2010/main">
                <a:solidFill>
                  <a:srgbClr val="FFFFFF"/>
                </a:solidFill>
              </a14:hiddenFill>
            </a:ext>
          </a:extLst>
        </p:spPr>
      </p:pic>
      <p:sp>
        <p:nvSpPr>
          <p:cNvPr id="20" name="テキスト ボックス 19">
            <a:extLst>
              <a:ext uri="{FF2B5EF4-FFF2-40B4-BE49-F238E27FC236}">
                <a16:creationId xmlns:a16="http://schemas.microsoft.com/office/drawing/2014/main" id="{E6164A02-9A60-F052-9805-5E6CBA37D5E2}"/>
              </a:ext>
            </a:extLst>
          </p:cNvPr>
          <p:cNvSpPr txBox="1"/>
          <p:nvPr/>
        </p:nvSpPr>
        <p:spPr>
          <a:xfrm>
            <a:off x="5843374" y="3125295"/>
            <a:ext cx="2614826" cy="307777"/>
          </a:xfrm>
          <a:prstGeom prst="rect">
            <a:avLst/>
          </a:prstGeom>
          <a:noFill/>
        </p:spPr>
        <p:txBody>
          <a:bodyPr wrap="square" rtlCol="0">
            <a:spAutoFit/>
          </a:bodyPr>
          <a:lstStyle/>
          <a:p>
            <a:r>
              <a:rPr lang="en-US" altLang="ja-JP" sz="1400" dirty="0"/>
              <a:t>Database</a:t>
            </a:r>
            <a:r>
              <a:rPr lang="ja-JP" altLang="en-US" sz="1400" dirty="0"/>
              <a:t>関連</a:t>
            </a:r>
            <a:endParaRPr kumimoji="1" lang="ja-JP" altLang="en-US" sz="1400" dirty="0"/>
          </a:p>
        </p:txBody>
      </p:sp>
      <p:sp>
        <p:nvSpPr>
          <p:cNvPr id="21" name="テキスト ボックス 20">
            <a:extLst>
              <a:ext uri="{FF2B5EF4-FFF2-40B4-BE49-F238E27FC236}">
                <a16:creationId xmlns:a16="http://schemas.microsoft.com/office/drawing/2014/main" id="{1A1A6E46-E97E-F296-4235-47698FEE123A}"/>
              </a:ext>
            </a:extLst>
          </p:cNvPr>
          <p:cNvSpPr txBox="1"/>
          <p:nvPr/>
        </p:nvSpPr>
        <p:spPr>
          <a:xfrm>
            <a:off x="5470877" y="3779218"/>
            <a:ext cx="2614826" cy="307777"/>
          </a:xfrm>
          <a:prstGeom prst="rect">
            <a:avLst/>
          </a:prstGeom>
          <a:noFill/>
        </p:spPr>
        <p:txBody>
          <a:bodyPr wrap="square" rtlCol="0">
            <a:spAutoFit/>
          </a:bodyPr>
          <a:lstStyle/>
          <a:p>
            <a:r>
              <a:rPr lang="ja-JP" altLang="en-US" sz="1400" dirty="0"/>
              <a:t>実行ログ関連</a:t>
            </a:r>
            <a:endParaRPr kumimoji="1" lang="ja-JP" altLang="en-US" sz="1400" dirty="0"/>
          </a:p>
        </p:txBody>
      </p:sp>
      <p:pic>
        <p:nvPicPr>
          <p:cNvPr id="23" name="図 22" descr="アイコン&#10;&#10;AI によって生成されたコンテンツは間違っている可能性があります。">
            <a:extLst>
              <a:ext uri="{FF2B5EF4-FFF2-40B4-BE49-F238E27FC236}">
                <a16:creationId xmlns:a16="http://schemas.microsoft.com/office/drawing/2014/main" id="{22A1F58A-EE9B-77C7-6226-310082BF837C}"/>
              </a:ext>
            </a:extLst>
          </p:cNvPr>
          <p:cNvPicPr>
            <a:picLocks noChangeAspect="1"/>
          </p:cNvPicPr>
          <p:nvPr/>
        </p:nvPicPr>
        <p:blipFill>
          <a:blip r:embed="rId4">
            <a:extLst>
              <a:ext uri="{28A0092B-C50C-407E-A947-70E740481C1C}">
                <a14:useLocalDpi xmlns:a14="http://schemas.microsoft.com/office/drawing/2010/main" val="0"/>
              </a:ext>
            </a:extLst>
          </a:blip>
          <a:srcRect l="10553" t="5709" r="9769" b="4466"/>
          <a:stretch/>
        </p:blipFill>
        <p:spPr>
          <a:xfrm>
            <a:off x="5480878" y="5201191"/>
            <a:ext cx="357774" cy="403333"/>
          </a:xfrm>
          <a:prstGeom prst="rect">
            <a:avLst/>
          </a:prstGeom>
        </p:spPr>
      </p:pic>
      <p:sp>
        <p:nvSpPr>
          <p:cNvPr id="25" name="テキスト ボックス 24">
            <a:extLst>
              <a:ext uri="{FF2B5EF4-FFF2-40B4-BE49-F238E27FC236}">
                <a16:creationId xmlns:a16="http://schemas.microsoft.com/office/drawing/2014/main" id="{703F0978-E1B5-13CD-52C9-877AE38FDB7C}"/>
              </a:ext>
            </a:extLst>
          </p:cNvPr>
          <p:cNvSpPr txBox="1"/>
          <p:nvPr/>
        </p:nvSpPr>
        <p:spPr>
          <a:xfrm>
            <a:off x="5838652" y="5248736"/>
            <a:ext cx="2614826" cy="307777"/>
          </a:xfrm>
          <a:prstGeom prst="rect">
            <a:avLst/>
          </a:prstGeom>
          <a:noFill/>
        </p:spPr>
        <p:txBody>
          <a:bodyPr wrap="square" rtlCol="0">
            <a:spAutoFit/>
          </a:bodyPr>
          <a:lstStyle/>
          <a:p>
            <a:r>
              <a:rPr lang="en-US" altLang="ja-JP" sz="1400" dirty="0"/>
              <a:t>React</a:t>
            </a:r>
            <a:r>
              <a:rPr lang="ja-JP" altLang="en-US" sz="1400" dirty="0"/>
              <a:t>関連</a:t>
            </a:r>
            <a:endParaRPr kumimoji="1" lang="ja-JP" altLang="en-US" sz="1400" dirty="0"/>
          </a:p>
        </p:txBody>
      </p:sp>
      <p:sp>
        <p:nvSpPr>
          <p:cNvPr id="26" name="テキスト ボックス 25">
            <a:extLst>
              <a:ext uri="{FF2B5EF4-FFF2-40B4-BE49-F238E27FC236}">
                <a16:creationId xmlns:a16="http://schemas.microsoft.com/office/drawing/2014/main" id="{7D21E6D5-ABC1-4AD1-DDDE-238EB141985B}"/>
              </a:ext>
            </a:extLst>
          </p:cNvPr>
          <p:cNvSpPr txBox="1"/>
          <p:nvPr/>
        </p:nvSpPr>
        <p:spPr>
          <a:xfrm>
            <a:off x="5451820" y="4403706"/>
            <a:ext cx="2999019" cy="307777"/>
          </a:xfrm>
          <a:prstGeom prst="rect">
            <a:avLst/>
          </a:prstGeom>
          <a:noFill/>
        </p:spPr>
        <p:txBody>
          <a:bodyPr wrap="square" rtlCol="0">
            <a:spAutoFit/>
          </a:bodyPr>
          <a:lstStyle/>
          <a:p>
            <a:r>
              <a:rPr lang="en-US" altLang="ja-JP" sz="1400" dirty="0"/>
              <a:t>worker</a:t>
            </a:r>
            <a:r>
              <a:rPr lang="ja-JP" altLang="en-US" sz="1400" dirty="0"/>
              <a:t>と</a:t>
            </a:r>
            <a:r>
              <a:rPr lang="en-US" altLang="ja-JP" sz="1400" dirty="0"/>
              <a:t>app</a:t>
            </a:r>
            <a:r>
              <a:rPr lang="ja-JP" altLang="en-US" sz="1400" dirty="0"/>
              <a:t>の共通参照ファイル</a:t>
            </a:r>
            <a:endParaRPr kumimoji="1" lang="ja-JP" altLang="en-US" sz="1400" dirty="0"/>
          </a:p>
        </p:txBody>
      </p:sp>
      <p:sp>
        <p:nvSpPr>
          <p:cNvPr id="27" name="テキスト ボックス 26">
            <a:extLst>
              <a:ext uri="{FF2B5EF4-FFF2-40B4-BE49-F238E27FC236}">
                <a16:creationId xmlns:a16="http://schemas.microsoft.com/office/drawing/2014/main" id="{3AEBF5AA-7575-2CDA-66AC-9C7DF41D627F}"/>
              </a:ext>
            </a:extLst>
          </p:cNvPr>
          <p:cNvSpPr txBox="1"/>
          <p:nvPr/>
        </p:nvSpPr>
        <p:spPr>
          <a:xfrm>
            <a:off x="5451819" y="6093766"/>
            <a:ext cx="2999019" cy="307777"/>
          </a:xfrm>
          <a:prstGeom prst="rect">
            <a:avLst/>
          </a:prstGeom>
          <a:noFill/>
        </p:spPr>
        <p:txBody>
          <a:bodyPr wrap="square" rtlCol="0">
            <a:spAutoFit/>
          </a:bodyPr>
          <a:lstStyle/>
          <a:p>
            <a:r>
              <a:rPr lang="ja-JP" altLang="en-US" sz="1400" dirty="0"/>
              <a:t>タスク</a:t>
            </a:r>
            <a:r>
              <a:rPr kumimoji="1" lang="ja-JP" altLang="en-US" sz="1400" dirty="0"/>
              <a:t>処理関連</a:t>
            </a:r>
          </a:p>
        </p:txBody>
      </p:sp>
      <p:cxnSp>
        <p:nvCxnSpPr>
          <p:cNvPr id="7" name="直線矢印コネクタ 6">
            <a:extLst>
              <a:ext uri="{FF2B5EF4-FFF2-40B4-BE49-F238E27FC236}">
                <a16:creationId xmlns:a16="http://schemas.microsoft.com/office/drawing/2014/main" id="{65E28176-0DA0-1008-6DED-F7523ABAAAC5}"/>
              </a:ext>
            </a:extLst>
          </p:cNvPr>
          <p:cNvCxnSpPr/>
          <p:nvPr/>
        </p:nvCxnSpPr>
        <p:spPr>
          <a:xfrm flipV="1">
            <a:off x="4595050" y="2636215"/>
            <a:ext cx="0" cy="2772075"/>
          </a:xfrm>
          <a:prstGeom prst="straightConnector1">
            <a:avLst/>
          </a:prstGeom>
          <a:ln w="57150">
            <a:solidFill>
              <a:schemeClr val="accent6"/>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645802A7-2D59-F4CA-2513-F2C081EE4348}"/>
              </a:ext>
            </a:extLst>
          </p:cNvPr>
          <p:cNvSpPr txBox="1"/>
          <p:nvPr/>
        </p:nvSpPr>
        <p:spPr>
          <a:xfrm>
            <a:off x="4648682" y="3803807"/>
            <a:ext cx="2999017" cy="369332"/>
          </a:xfrm>
          <a:prstGeom prst="rect">
            <a:avLst/>
          </a:prstGeom>
          <a:noFill/>
        </p:spPr>
        <p:txBody>
          <a:bodyPr wrap="square" rtlCol="0">
            <a:spAutoFit/>
          </a:bodyPr>
          <a:lstStyle/>
          <a:p>
            <a:endParaRPr kumimoji="1" lang="ja-JP" altLang="en-US" b="1" dirty="0">
              <a:solidFill>
                <a:schemeClr val="accent6"/>
              </a:solidFill>
            </a:endParaRPr>
          </a:p>
        </p:txBody>
      </p:sp>
      <p:sp>
        <p:nvSpPr>
          <p:cNvPr id="19" name="正方形/長方形 18">
            <a:extLst>
              <a:ext uri="{FF2B5EF4-FFF2-40B4-BE49-F238E27FC236}">
                <a16:creationId xmlns:a16="http://schemas.microsoft.com/office/drawing/2014/main" id="{66B9FD7B-940A-07C8-A123-A5B4D6C5CA66}"/>
              </a:ext>
            </a:extLst>
          </p:cNvPr>
          <p:cNvSpPr/>
          <p:nvPr/>
        </p:nvSpPr>
        <p:spPr>
          <a:xfrm>
            <a:off x="2382853" y="3710607"/>
            <a:ext cx="2089610" cy="641081"/>
          </a:xfrm>
          <a:prstGeom prst="rect">
            <a:avLst/>
          </a:prstGeom>
          <a:solidFill>
            <a:schemeClr val="bg2"/>
          </a:solidFill>
          <a:ln>
            <a:solidFill>
              <a:schemeClr val="tx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lIns="0" tIns="46800" rIns="0" bIns="0" rtlCol="0" anchor="ctr"/>
          <a:lstStyle/>
          <a:p>
            <a:pPr algn="ctr"/>
            <a:r>
              <a:rPr lang="en-US" altLang="ja-JP" sz="1400" dirty="0">
                <a:solidFill>
                  <a:schemeClr val="accent6"/>
                </a:solidFill>
              </a:rPr>
              <a:t>ID</a:t>
            </a:r>
            <a:r>
              <a:rPr lang="ja-JP" altLang="en-US" sz="1400" dirty="0">
                <a:solidFill>
                  <a:schemeClr val="accent6"/>
                </a:solidFill>
              </a:rPr>
              <a:t>の取得を要求</a:t>
            </a:r>
          </a:p>
        </p:txBody>
      </p:sp>
      <p:sp>
        <p:nvSpPr>
          <p:cNvPr id="33" name="正方形/長方形 32">
            <a:extLst>
              <a:ext uri="{FF2B5EF4-FFF2-40B4-BE49-F238E27FC236}">
                <a16:creationId xmlns:a16="http://schemas.microsoft.com/office/drawing/2014/main" id="{10F8D88C-F330-B3AC-E08C-D53B02530A5A}"/>
              </a:ext>
            </a:extLst>
          </p:cNvPr>
          <p:cNvSpPr/>
          <p:nvPr/>
        </p:nvSpPr>
        <p:spPr>
          <a:xfrm>
            <a:off x="693160" y="1635422"/>
            <a:ext cx="2612727" cy="1206448"/>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t>例：ある登録済みユーザーが</a:t>
            </a:r>
            <a:endParaRPr lang="en-US" altLang="ja-JP" sz="1400" dirty="0"/>
          </a:p>
          <a:p>
            <a:pPr algn="ctr"/>
            <a:r>
              <a:rPr lang="ja-JP" altLang="en-US" sz="1400" dirty="0"/>
              <a:t>「在室 </a:t>
            </a:r>
            <a:r>
              <a:rPr lang="en-US" altLang="ja-JP" sz="1400" dirty="0"/>
              <a:t>(Clock In)</a:t>
            </a:r>
            <a:r>
              <a:rPr lang="ja-JP" altLang="en-US" sz="1400" dirty="0"/>
              <a:t>」ボタンを</a:t>
            </a:r>
            <a:endParaRPr lang="en-US" altLang="ja-JP" sz="1400" dirty="0"/>
          </a:p>
          <a:p>
            <a:pPr algn="ctr"/>
            <a:r>
              <a:rPr lang="ja-JP" altLang="en-US" sz="1400" dirty="0"/>
              <a:t>押した後，自身の</a:t>
            </a:r>
            <a:r>
              <a:rPr lang="en-US" altLang="ja-JP" sz="1400" dirty="0"/>
              <a:t>IC</a:t>
            </a:r>
            <a:r>
              <a:rPr lang="ja-JP" altLang="en-US" sz="1400" dirty="0"/>
              <a:t>カードを</a:t>
            </a:r>
            <a:endParaRPr lang="en-US" altLang="ja-JP" sz="1400" dirty="0"/>
          </a:p>
          <a:p>
            <a:pPr algn="ctr"/>
            <a:r>
              <a:rPr lang="ja-JP" altLang="en-US" sz="1400" dirty="0"/>
              <a:t>読み込んだ場合</a:t>
            </a:r>
          </a:p>
        </p:txBody>
      </p:sp>
    </p:spTree>
    <p:extLst>
      <p:ext uri="{BB962C8B-B14F-4D97-AF65-F5344CB8AC3E}">
        <p14:creationId xmlns:p14="http://schemas.microsoft.com/office/powerpoint/2010/main" val="8689025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642CD-5043-5CA2-6BA5-C59AA266AFB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797B388-7B4C-4329-315C-B2F4381EBAD3}"/>
              </a:ext>
            </a:extLst>
          </p:cNvPr>
          <p:cNvSpPr>
            <a:spLocks noGrp="1"/>
          </p:cNvSpPr>
          <p:nvPr>
            <p:ph type="title"/>
          </p:nvPr>
        </p:nvSpPr>
        <p:spPr/>
        <p:txBody>
          <a:bodyPr/>
          <a:lstStyle/>
          <a:p>
            <a:r>
              <a:rPr kumimoji="1" lang="ja-JP" altLang="en-US" dirty="0"/>
              <a:t>在室確認システム</a:t>
            </a:r>
            <a:r>
              <a:rPr lang="ja-JP" altLang="en-US" dirty="0"/>
              <a:t> </a:t>
            </a:r>
            <a:r>
              <a:rPr lang="en-US" altLang="ja-JP" dirty="0"/>
              <a:t>– </a:t>
            </a:r>
            <a:r>
              <a:rPr lang="ja-JP" altLang="en-US" dirty="0"/>
              <a:t>制御デバイス</a:t>
            </a:r>
            <a:endParaRPr kumimoji="1" lang="ja-JP" altLang="en-US" dirty="0"/>
          </a:p>
        </p:txBody>
      </p:sp>
      <p:sp>
        <p:nvSpPr>
          <p:cNvPr id="289" name="TextBox 12">
            <a:extLst>
              <a:ext uri="{FF2B5EF4-FFF2-40B4-BE49-F238E27FC236}">
                <a16:creationId xmlns:a16="http://schemas.microsoft.com/office/drawing/2014/main" id="{DBE69819-AD3D-CEDD-1CAE-0C18B742DA55}"/>
              </a:ext>
            </a:extLst>
          </p:cNvPr>
          <p:cNvSpPr txBox="1">
            <a:spLocks noChangeArrowheads="1"/>
          </p:cNvSpPr>
          <p:nvPr/>
        </p:nvSpPr>
        <p:spPr bwMode="auto">
          <a:xfrm>
            <a:off x="1707208" y="5001976"/>
            <a:ext cx="16050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Raspberry Pi 4B</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(172.16.15.8)</a:t>
            </a:r>
          </a:p>
        </p:txBody>
      </p:sp>
      <p:sp>
        <p:nvSpPr>
          <p:cNvPr id="236" name="テキスト ボックス 235">
            <a:extLst>
              <a:ext uri="{FF2B5EF4-FFF2-40B4-BE49-F238E27FC236}">
                <a16:creationId xmlns:a16="http://schemas.microsoft.com/office/drawing/2014/main" id="{56C46F4D-EA4C-DA11-9CF0-7650A7237C66}"/>
              </a:ext>
            </a:extLst>
          </p:cNvPr>
          <p:cNvSpPr txBox="1"/>
          <p:nvPr/>
        </p:nvSpPr>
        <p:spPr>
          <a:xfrm>
            <a:off x="1077353" y="4303759"/>
            <a:ext cx="1162293" cy="276999"/>
          </a:xfrm>
          <a:prstGeom prst="rect">
            <a:avLst/>
          </a:prstGeom>
          <a:noFill/>
        </p:spPr>
        <p:txBody>
          <a:bodyPr wrap="square">
            <a:spAutoFit/>
          </a:body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RC-S380 S</a:t>
            </a:r>
          </a:p>
        </p:txBody>
      </p:sp>
      <p:pic>
        <p:nvPicPr>
          <p:cNvPr id="237" name="図 236" descr="黒い背景と白い文字のロゴ&#10;&#10;AI によって生成されたコンテンツは間違っている可能性があります。">
            <a:extLst>
              <a:ext uri="{FF2B5EF4-FFF2-40B4-BE49-F238E27FC236}">
                <a16:creationId xmlns:a16="http://schemas.microsoft.com/office/drawing/2014/main" id="{044AA2E3-FD75-466D-FB6D-9873AAE48C68}"/>
              </a:ext>
            </a:extLst>
          </p:cNvPr>
          <p:cNvPicPr>
            <a:picLocks noChangeAspect="1"/>
          </p:cNvPicPr>
          <p:nvPr/>
        </p:nvPicPr>
        <p:blipFill>
          <a:blip r:embed="rId3">
            <a:biLevel thresh="50000"/>
            <a:extLst>
              <a:ext uri="{28A0092B-C50C-407E-A947-70E740481C1C}">
                <a14:useLocalDpi xmlns:a14="http://schemas.microsoft.com/office/drawing/2010/main" val="0"/>
              </a:ext>
            </a:extLst>
          </a:blip>
          <a:srcRect t="19474" b="18132"/>
          <a:stretch/>
        </p:blipFill>
        <p:spPr>
          <a:xfrm flipH="1">
            <a:off x="693160" y="4508703"/>
            <a:ext cx="1605014" cy="751622"/>
          </a:xfrm>
          <a:prstGeom prst="rect">
            <a:avLst/>
          </a:prstGeom>
        </p:spPr>
      </p:pic>
      <p:grpSp>
        <p:nvGrpSpPr>
          <p:cNvPr id="241" name="グループ化 240">
            <a:extLst>
              <a:ext uri="{FF2B5EF4-FFF2-40B4-BE49-F238E27FC236}">
                <a16:creationId xmlns:a16="http://schemas.microsoft.com/office/drawing/2014/main" id="{1549E69B-FB09-8204-E0E3-3B59282B5AC7}"/>
              </a:ext>
            </a:extLst>
          </p:cNvPr>
          <p:cNvGrpSpPr/>
          <p:nvPr/>
        </p:nvGrpSpPr>
        <p:grpSpPr>
          <a:xfrm>
            <a:off x="2051276" y="6087076"/>
            <a:ext cx="924337" cy="403333"/>
            <a:chOff x="2262291" y="5685876"/>
            <a:chExt cx="924337" cy="403333"/>
          </a:xfrm>
        </p:grpSpPr>
        <p:pic>
          <p:nvPicPr>
            <p:cNvPr id="286" name="図 285" descr="アイコン&#10;&#10;AI によって生成されたコンテンツは間違っている可能性があります。">
              <a:extLst>
                <a:ext uri="{FF2B5EF4-FFF2-40B4-BE49-F238E27FC236}">
                  <a16:creationId xmlns:a16="http://schemas.microsoft.com/office/drawing/2014/main" id="{28D37A68-16CD-FE27-D49B-18781E4E62DE}"/>
                </a:ext>
              </a:extLst>
            </p:cNvPr>
            <p:cNvPicPr>
              <a:picLocks noChangeAspect="1"/>
            </p:cNvPicPr>
            <p:nvPr/>
          </p:nvPicPr>
          <p:blipFill>
            <a:blip r:embed="rId4">
              <a:extLst>
                <a:ext uri="{28A0092B-C50C-407E-A947-70E740481C1C}">
                  <a14:useLocalDpi xmlns:a14="http://schemas.microsoft.com/office/drawing/2010/main" val="0"/>
                </a:ext>
              </a:extLst>
            </a:blip>
            <a:srcRect l="10553" t="5709" r="9769" b="4466"/>
            <a:stretch/>
          </p:blipFill>
          <p:spPr>
            <a:xfrm>
              <a:off x="2262291" y="5685876"/>
              <a:ext cx="357774" cy="403333"/>
            </a:xfrm>
            <a:prstGeom prst="rect">
              <a:avLst/>
            </a:prstGeom>
          </p:spPr>
        </p:pic>
        <p:sp>
          <p:nvSpPr>
            <p:cNvPr id="287" name="テキスト ボックス 286">
              <a:extLst>
                <a:ext uri="{FF2B5EF4-FFF2-40B4-BE49-F238E27FC236}">
                  <a16:creationId xmlns:a16="http://schemas.microsoft.com/office/drawing/2014/main" id="{32CDE03F-370A-3E1A-2C79-62F032A41FF7}"/>
                </a:ext>
              </a:extLst>
            </p:cNvPr>
            <p:cNvSpPr txBox="1"/>
            <p:nvPr/>
          </p:nvSpPr>
          <p:spPr>
            <a:xfrm>
              <a:off x="2557071" y="5749042"/>
              <a:ext cx="629557" cy="276999"/>
            </a:xfrm>
            <a:prstGeom prst="rect">
              <a:avLst/>
            </a:prstGeom>
            <a:noFill/>
          </p:spPr>
          <p:txBody>
            <a:bodyPr wrap="square">
              <a:spAutoFit/>
            </a:bodyPr>
            <a:lstStyle/>
            <a:p>
              <a:r>
                <a:rPr lang="en-US" altLang="ja-JP" sz="1200" dirty="0"/>
                <a:t>:3000</a:t>
              </a:r>
              <a:endParaRPr lang="ja-JP" altLang="en-US" sz="1200" dirty="0"/>
            </a:p>
          </p:txBody>
        </p:sp>
      </p:grpSp>
      <p:grpSp>
        <p:nvGrpSpPr>
          <p:cNvPr id="242" name="グループ化 241">
            <a:extLst>
              <a:ext uri="{FF2B5EF4-FFF2-40B4-BE49-F238E27FC236}">
                <a16:creationId xmlns:a16="http://schemas.microsoft.com/office/drawing/2014/main" id="{D994CDBB-D7AE-A8DE-96CF-2C5AA8B725F8}"/>
              </a:ext>
            </a:extLst>
          </p:cNvPr>
          <p:cNvGrpSpPr/>
          <p:nvPr/>
        </p:nvGrpSpPr>
        <p:grpSpPr>
          <a:xfrm>
            <a:off x="2043915" y="5648135"/>
            <a:ext cx="931698" cy="372497"/>
            <a:chOff x="2254930" y="5246935"/>
            <a:chExt cx="931698" cy="372497"/>
          </a:xfrm>
        </p:grpSpPr>
        <p:pic>
          <p:nvPicPr>
            <p:cNvPr id="284" name="グラフィックス 283">
              <a:extLst>
                <a:ext uri="{FF2B5EF4-FFF2-40B4-BE49-F238E27FC236}">
                  <a16:creationId xmlns:a16="http://schemas.microsoft.com/office/drawing/2014/main" id="{D02F1C55-A65E-0800-2E5F-480301DD0AF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254930" y="5246935"/>
              <a:ext cx="372497" cy="372497"/>
            </a:xfrm>
            <a:prstGeom prst="rect">
              <a:avLst/>
            </a:prstGeom>
          </p:spPr>
        </p:pic>
        <p:sp>
          <p:nvSpPr>
            <p:cNvPr id="285" name="テキスト ボックス 284">
              <a:extLst>
                <a:ext uri="{FF2B5EF4-FFF2-40B4-BE49-F238E27FC236}">
                  <a16:creationId xmlns:a16="http://schemas.microsoft.com/office/drawing/2014/main" id="{038798D6-F314-D497-DED5-0ABE908DE615}"/>
                </a:ext>
              </a:extLst>
            </p:cNvPr>
            <p:cNvSpPr txBox="1"/>
            <p:nvPr/>
          </p:nvSpPr>
          <p:spPr>
            <a:xfrm>
              <a:off x="2557071" y="5306333"/>
              <a:ext cx="629557" cy="276999"/>
            </a:xfrm>
            <a:prstGeom prst="rect">
              <a:avLst/>
            </a:prstGeom>
            <a:noFill/>
          </p:spPr>
          <p:txBody>
            <a:bodyPr wrap="square">
              <a:spAutoFit/>
            </a:bodyPr>
            <a:lstStyle/>
            <a:p>
              <a:r>
                <a:rPr lang="en-US" altLang="ja-JP" sz="1200" dirty="0"/>
                <a:t>:8000</a:t>
              </a:r>
              <a:endParaRPr lang="ja-JP" altLang="en-US" sz="1200" dirty="0"/>
            </a:p>
          </p:txBody>
        </p:sp>
      </p:grpSp>
      <p:sp>
        <p:nvSpPr>
          <p:cNvPr id="306" name="Rectangle 103" descr="Generic group dashed.">
            <a:extLst>
              <a:ext uri="{FF2B5EF4-FFF2-40B4-BE49-F238E27FC236}">
                <a16:creationId xmlns:a16="http://schemas.microsoft.com/office/drawing/2014/main" id="{53B3D720-03C3-4C59-A28F-24657E91E64B}"/>
              </a:ext>
            </a:extLst>
          </p:cNvPr>
          <p:cNvSpPr/>
          <p:nvPr/>
        </p:nvSpPr>
        <p:spPr>
          <a:xfrm>
            <a:off x="690522" y="3933107"/>
            <a:ext cx="2615365" cy="2822096"/>
          </a:xfrm>
          <a:prstGeom prst="rect">
            <a:avLst/>
          </a:prstGeom>
          <a:noFill/>
          <a:ln w="15875">
            <a:solidFill>
              <a:srgbClr val="7D8998"/>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a:defRPr/>
            </a:pPr>
            <a:r>
              <a:rPr lang="ja-JP" altLang="en-US" sz="1200" dirty="0">
                <a:solidFill>
                  <a:schemeClr val="tx1"/>
                </a:solidFill>
                <a:latin typeface="Arial" panose="020B0604020202020204" pitchFamily="34" charset="0"/>
                <a:cs typeface="Arial" panose="020B0604020202020204" pitchFamily="34" charset="0"/>
              </a:rPr>
              <a:t>学生部屋（</a:t>
            </a:r>
            <a:r>
              <a:rPr lang="en-US" altLang="ja-JP" sz="1200" dirty="0">
                <a:solidFill>
                  <a:schemeClr val="tx1"/>
                </a:solidFill>
                <a:latin typeface="Arial" panose="020B0604020202020204" pitchFamily="34" charset="0"/>
                <a:cs typeface="Arial" panose="020B0604020202020204" pitchFamily="34" charset="0"/>
              </a:rPr>
              <a:t>J1401</a:t>
            </a:r>
            <a:r>
              <a:rPr lang="ja-JP" altLang="en-US" sz="1200" dirty="0">
                <a:solidFill>
                  <a:schemeClr val="tx1"/>
                </a:solidFill>
                <a:latin typeface="Arial" panose="020B0604020202020204" pitchFamily="34" charset="0"/>
                <a:cs typeface="Arial" panose="020B0604020202020204" pitchFamily="34" charset="0"/>
              </a:rPr>
              <a:t>）</a:t>
            </a:r>
            <a:endParaRPr lang="en-US" sz="1200" dirty="0">
              <a:solidFill>
                <a:schemeClr val="tx1"/>
              </a:solidFill>
              <a:latin typeface="Arial" panose="020B0604020202020204" pitchFamily="34" charset="0"/>
              <a:cs typeface="Arial" panose="020B0604020202020204" pitchFamily="34" charset="0"/>
            </a:endParaRPr>
          </a:p>
        </p:txBody>
      </p:sp>
      <p:pic>
        <p:nvPicPr>
          <p:cNvPr id="307" name="グラフィックス 306">
            <a:extLst>
              <a:ext uri="{FF2B5EF4-FFF2-40B4-BE49-F238E27FC236}">
                <a16:creationId xmlns:a16="http://schemas.microsoft.com/office/drawing/2014/main" id="{26EC162C-C22D-3F2E-3265-CBED17620876}"/>
              </a:ext>
            </a:extLst>
          </p:cNvPr>
          <p:cNvPicPr>
            <a:picLocks noChangeAspect="1"/>
          </p:cNvPicPr>
          <p:nvPr/>
        </p:nvPicPr>
        <p:blipFill>
          <a:blip r:embed="rId7">
            <a:grayscl/>
            <a:extLst>
              <a:ext uri="{96DAC541-7B7A-43D3-8B79-37D633B846F1}">
                <asvg:svgBlip xmlns:asvg="http://schemas.microsoft.com/office/drawing/2016/SVG/main" r:embed="rId8"/>
              </a:ext>
            </a:extLst>
          </a:blip>
          <a:srcRect l="25148" t="16203" r="25948" b="16205"/>
          <a:stretch/>
        </p:blipFill>
        <p:spPr>
          <a:xfrm rot="16200000">
            <a:off x="1042395" y="5874413"/>
            <a:ext cx="599552" cy="828660"/>
          </a:xfrm>
          <a:prstGeom prst="rect">
            <a:avLst/>
          </a:prstGeom>
        </p:spPr>
      </p:pic>
      <p:cxnSp>
        <p:nvCxnSpPr>
          <p:cNvPr id="372" name="Straight Arrow Connector 52" descr="Double pointing horizontal arrow.">
            <a:extLst>
              <a:ext uri="{FF2B5EF4-FFF2-40B4-BE49-F238E27FC236}">
                <a16:creationId xmlns:a16="http://schemas.microsoft.com/office/drawing/2014/main" id="{34C51772-234F-4E0C-BC2B-EFC5BB1E4172}"/>
              </a:ext>
            </a:extLst>
          </p:cNvPr>
          <p:cNvCxnSpPr>
            <a:cxnSpLocks/>
            <a:stCxn id="286" idx="1"/>
            <a:endCxn id="307" idx="2"/>
          </p:cNvCxnSpPr>
          <p:nvPr/>
        </p:nvCxnSpPr>
        <p:spPr>
          <a:xfrm flipH="1">
            <a:off x="1756501" y="6288743"/>
            <a:ext cx="294775" cy="0"/>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pic>
        <p:nvPicPr>
          <p:cNvPr id="3" name="Picture 2" descr="Raspberry icon - Free download on Iconfinder">
            <a:extLst>
              <a:ext uri="{FF2B5EF4-FFF2-40B4-BE49-F238E27FC236}">
                <a16:creationId xmlns:a16="http://schemas.microsoft.com/office/drawing/2014/main" id="{155EE178-592B-0B81-278C-897FFEE3BFF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44769" y="4471085"/>
            <a:ext cx="544810" cy="544810"/>
          </a:xfrm>
          <a:prstGeom prst="rect">
            <a:avLst/>
          </a:prstGeom>
          <a:noFill/>
          <a:extLst>
            <a:ext uri="{909E8E84-426E-40DD-AFC4-6F175D3DCCD1}">
              <a14:hiddenFill xmlns:a14="http://schemas.microsoft.com/office/drawing/2010/main">
                <a:solidFill>
                  <a:srgbClr val="FFFFFF"/>
                </a:solidFill>
              </a14:hiddenFill>
            </a:ext>
          </a:extLst>
        </p:spPr>
      </p:pic>
      <p:grpSp>
        <p:nvGrpSpPr>
          <p:cNvPr id="9" name="グループ化 8">
            <a:extLst>
              <a:ext uri="{FF2B5EF4-FFF2-40B4-BE49-F238E27FC236}">
                <a16:creationId xmlns:a16="http://schemas.microsoft.com/office/drawing/2014/main" id="{D94E3E01-48DB-F822-6F84-62395D17B3C0}"/>
              </a:ext>
            </a:extLst>
          </p:cNvPr>
          <p:cNvGrpSpPr/>
          <p:nvPr/>
        </p:nvGrpSpPr>
        <p:grpSpPr>
          <a:xfrm>
            <a:off x="3305887" y="1301487"/>
            <a:ext cx="5430653" cy="5453716"/>
            <a:chOff x="3305887" y="1301487"/>
            <a:chExt cx="5430653" cy="5453716"/>
          </a:xfrm>
        </p:grpSpPr>
        <p:sp>
          <p:nvSpPr>
            <p:cNvPr id="6" name="正方形/長方形 5">
              <a:extLst>
                <a:ext uri="{FF2B5EF4-FFF2-40B4-BE49-F238E27FC236}">
                  <a16:creationId xmlns:a16="http://schemas.microsoft.com/office/drawing/2014/main" id="{AA021D32-F0D4-A474-0A59-FC925050DCE0}"/>
                </a:ext>
              </a:extLst>
            </p:cNvPr>
            <p:cNvSpPr/>
            <p:nvPr/>
          </p:nvSpPr>
          <p:spPr>
            <a:xfrm>
              <a:off x="3469616" y="1648657"/>
              <a:ext cx="5173870" cy="5106546"/>
            </a:xfrm>
            <a:prstGeom prst="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0000" rIns="0" bIns="0" rtlCol="0" anchor="ctr"/>
            <a:lstStyle/>
            <a:p>
              <a:r>
                <a:rPr lang="en-US" altLang="ja-JP" sz="1400" dirty="0"/>
                <a:t>.</a:t>
              </a:r>
            </a:p>
            <a:p>
              <a:r>
                <a:rPr lang="en-US" altLang="ja-JP" sz="1400" dirty="0"/>
                <a:t>├── .env</a:t>
              </a:r>
            </a:p>
            <a:p>
              <a:r>
                <a:rPr lang="en-US" altLang="ja-JP" sz="1400" dirty="0"/>
                <a:t>│</a:t>
              </a:r>
            </a:p>
            <a:p>
              <a:r>
                <a:rPr lang="en-US" altLang="ja-JP" sz="1400" dirty="0"/>
                <a:t>├── app</a:t>
              </a:r>
            </a:p>
            <a:p>
              <a:r>
                <a:rPr lang="en-US" altLang="ja-JP" sz="1400" dirty="0"/>
                <a:t>│   ├── …</a:t>
              </a:r>
            </a:p>
            <a:p>
              <a:r>
                <a:rPr lang="en-US" altLang="ja-JP" sz="1400" dirty="0"/>
                <a:t>│</a:t>
              </a:r>
            </a:p>
            <a:p>
              <a:r>
                <a:rPr lang="en-US" altLang="ja-JP" sz="1400" dirty="0"/>
                <a:t>├── data</a:t>
              </a:r>
            </a:p>
            <a:p>
              <a:r>
                <a:rPr lang="en-US" altLang="ja-JP" sz="1400" dirty="0"/>
                <a:t>│   ├── …</a:t>
              </a:r>
            </a:p>
            <a:p>
              <a:r>
                <a:rPr lang="ja-JP" altLang="en-US" sz="1400" dirty="0"/>
                <a:t>｜</a:t>
              </a:r>
              <a:endParaRPr lang="en-US" altLang="ja-JP" sz="1400" dirty="0"/>
            </a:p>
            <a:p>
              <a:r>
                <a:rPr lang="en-US" altLang="ja-JP" sz="1400" dirty="0"/>
                <a:t>├── logs</a:t>
              </a:r>
            </a:p>
            <a:p>
              <a:r>
                <a:rPr lang="en-US" altLang="ja-JP" sz="1400" dirty="0"/>
                <a:t>│   └── *.log</a:t>
              </a:r>
            </a:p>
            <a:p>
              <a:r>
                <a:rPr lang="en-US" altLang="ja-JP" sz="1400" dirty="0"/>
                <a:t>│</a:t>
              </a:r>
            </a:p>
            <a:p>
              <a:r>
                <a:rPr lang="en-US" altLang="ja-JP" sz="1400" dirty="0"/>
                <a:t>├── shared</a:t>
              </a:r>
            </a:p>
            <a:p>
              <a:r>
                <a:rPr lang="en-US" altLang="ja-JP" sz="1400" dirty="0"/>
                <a:t>│   ├── …</a:t>
              </a:r>
            </a:p>
            <a:p>
              <a:r>
                <a:rPr lang="ja-JP" altLang="en-US" sz="1400" dirty="0"/>
                <a:t>｜</a:t>
              </a:r>
              <a:endParaRPr lang="en-US" altLang="ja-JP" sz="1400" dirty="0"/>
            </a:p>
            <a:p>
              <a:r>
                <a:rPr lang="en-US" altLang="ja-JP" sz="1400" dirty="0"/>
                <a:t>├── web</a:t>
              </a:r>
            </a:p>
            <a:p>
              <a:r>
                <a:rPr lang="en-US" altLang="ja-JP" sz="1400" dirty="0"/>
                <a:t>│   └── frontend</a:t>
              </a:r>
            </a:p>
            <a:p>
              <a:r>
                <a:rPr lang="en-US" altLang="ja-JP" sz="1400" dirty="0"/>
                <a:t>│       </a:t>
              </a:r>
              <a:r>
                <a:rPr lang="ja-JP" altLang="en-US" sz="1400" dirty="0"/>
                <a:t>  </a:t>
              </a:r>
              <a:r>
                <a:rPr lang="en-US" altLang="ja-JP" sz="1400" dirty="0"/>
                <a:t>├── .env</a:t>
              </a:r>
            </a:p>
            <a:p>
              <a:r>
                <a:rPr lang="en-US" altLang="ja-JP" sz="1400" dirty="0"/>
                <a:t>│         └── …</a:t>
              </a:r>
            </a:p>
            <a:p>
              <a:r>
                <a:rPr lang="en-US" altLang="ja-JP" sz="1400" dirty="0"/>
                <a:t>│</a:t>
              </a:r>
              <a:endParaRPr lang="en-US" altLang="ja-JP" sz="1400" b="1" dirty="0"/>
            </a:p>
            <a:p>
              <a:r>
                <a:rPr lang="en-US" altLang="ja-JP" sz="1400" dirty="0"/>
                <a:t>└── worker</a:t>
              </a:r>
            </a:p>
            <a:p>
              <a:r>
                <a:rPr lang="en-US" altLang="ja-JP" sz="1400" dirty="0"/>
                <a:t>    ├── …</a:t>
              </a:r>
            </a:p>
            <a:p>
              <a:pPr algn="ctr"/>
              <a:endParaRPr kumimoji="1" lang="ja-JP" altLang="en-US" sz="1400" dirty="0"/>
            </a:p>
          </p:txBody>
        </p:sp>
        <p:sp>
          <p:nvSpPr>
            <p:cNvPr id="8" name="テキスト ボックス 7">
              <a:extLst>
                <a:ext uri="{FF2B5EF4-FFF2-40B4-BE49-F238E27FC236}">
                  <a16:creationId xmlns:a16="http://schemas.microsoft.com/office/drawing/2014/main" id="{03300138-4A15-B5B2-BAB1-0CA10A220077}"/>
                </a:ext>
              </a:extLst>
            </p:cNvPr>
            <p:cNvSpPr txBox="1"/>
            <p:nvPr/>
          </p:nvSpPr>
          <p:spPr>
            <a:xfrm>
              <a:off x="3305887" y="1301487"/>
              <a:ext cx="5430653" cy="338554"/>
            </a:xfrm>
            <a:prstGeom prst="rect">
              <a:avLst/>
            </a:prstGeom>
            <a:noFill/>
          </p:spPr>
          <p:txBody>
            <a:bodyPr wrap="square" rtlCol="0">
              <a:spAutoFit/>
            </a:bodyPr>
            <a:lstStyle/>
            <a:p>
              <a:pPr algn="ctr"/>
              <a:r>
                <a:rPr kumimoji="1" lang="ja-JP" altLang="en-US" sz="1600" dirty="0"/>
                <a:t>現行の制御デバイス</a:t>
              </a:r>
              <a:r>
                <a:rPr kumimoji="1" lang="en-US" altLang="ja-JP" sz="1600" dirty="0"/>
                <a:t>(172.16.15.8</a:t>
              </a:r>
              <a:r>
                <a:rPr lang="en-US" altLang="ja-JP" sz="1600" dirty="0"/>
                <a:t>)</a:t>
              </a:r>
              <a:r>
                <a:rPr lang="ja-JP" altLang="en-US" sz="1600" dirty="0"/>
                <a:t>のディレクトリ構成</a:t>
              </a:r>
              <a:endParaRPr kumimoji="1" lang="ja-JP" altLang="en-US" sz="1600" dirty="0"/>
            </a:p>
          </p:txBody>
        </p:sp>
      </p:grpSp>
      <p:sp>
        <p:nvSpPr>
          <p:cNvPr id="10" name="正方形/長方形 9">
            <a:extLst>
              <a:ext uri="{FF2B5EF4-FFF2-40B4-BE49-F238E27FC236}">
                <a16:creationId xmlns:a16="http://schemas.microsoft.com/office/drawing/2014/main" id="{EE749073-1C38-A259-F369-96FBEFA1E3F5}"/>
              </a:ext>
            </a:extLst>
          </p:cNvPr>
          <p:cNvSpPr/>
          <p:nvPr/>
        </p:nvSpPr>
        <p:spPr>
          <a:xfrm>
            <a:off x="3817249" y="2333486"/>
            <a:ext cx="1559081" cy="565110"/>
          </a:xfrm>
          <a:prstGeom prst="rect">
            <a:avLst/>
          </a:prstGeom>
          <a:solidFill>
            <a:srgbClr val="F2F2F2">
              <a:alpha val="50196"/>
            </a:srgbClr>
          </a:solid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BC842B14-4752-7D7E-9389-838E60EB93D9}"/>
              </a:ext>
            </a:extLst>
          </p:cNvPr>
          <p:cNvSpPr/>
          <p:nvPr/>
        </p:nvSpPr>
        <p:spPr>
          <a:xfrm>
            <a:off x="3817249" y="2980670"/>
            <a:ext cx="1559081" cy="565111"/>
          </a:xfrm>
          <a:prstGeom prst="rect">
            <a:avLst/>
          </a:prstGeom>
          <a:solidFill>
            <a:srgbClr val="F2F2F2">
              <a:alpha val="50196"/>
            </a:srgbClr>
          </a:solidFill>
          <a:ln w="1905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AFEEE1F9-A2F6-C79E-AE29-5E305C496488}"/>
              </a:ext>
            </a:extLst>
          </p:cNvPr>
          <p:cNvSpPr/>
          <p:nvPr/>
        </p:nvSpPr>
        <p:spPr>
          <a:xfrm>
            <a:off x="3817249" y="3627855"/>
            <a:ext cx="1559081" cy="565111"/>
          </a:xfrm>
          <a:prstGeom prst="rect">
            <a:avLst/>
          </a:prstGeom>
          <a:solidFill>
            <a:srgbClr val="F2F2F2">
              <a:alpha val="50196"/>
            </a:srgbClr>
          </a:solidFill>
          <a:ln w="1905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632B83D7-0E33-EB6E-D820-4AE2C6B3D172}"/>
              </a:ext>
            </a:extLst>
          </p:cNvPr>
          <p:cNvSpPr/>
          <p:nvPr/>
        </p:nvSpPr>
        <p:spPr>
          <a:xfrm>
            <a:off x="3817250" y="4275040"/>
            <a:ext cx="1559082" cy="565111"/>
          </a:xfrm>
          <a:prstGeom prst="rect">
            <a:avLst/>
          </a:prstGeom>
          <a:solidFill>
            <a:srgbClr val="F2F2F2">
              <a:alpha val="50196"/>
            </a:srgbClr>
          </a:solid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068C968C-0D88-CF61-C5A5-907A1A628A25}"/>
              </a:ext>
            </a:extLst>
          </p:cNvPr>
          <p:cNvSpPr/>
          <p:nvPr/>
        </p:nvSpPr>
        <p:spPr>
          <a:xfrm>
            <a:off x="3817249" y="4926787"/>
            <a:ext cx="1559083" cy="944846"/>
          </a:xfrm>
          <a:prstGeom prst="rect">
            <a:avLst/>
          </a:prstGeom>
          <a:solidFill>
            <a:srgbClr val="F2F2F2">
              <a:alpha val="50196"/>
            </a:srgbClr>
          </a:solidFill>
          <a:ln w="1905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5" name="正方形/長方形 14">
            <a:extLst>
              <a:ext uri="{FF2B5EF4-FFF2-40B4-BE49-F238E27FC236}">
                <a16:creationId xmlns:a16="http://schemas.microsoft.com/office/drawing/2014/main" id="{E6F5A670-6546-3680-E64B-B498C60EBFCD}"/>
              </a:ext>
            </a:extLst>
          </p:cNvPr>
          <p:cNvSpPr/>
          <p:nvPr/>
        </p:nvSpPr>
        <p:spPr>
          <a:xfrm>
            <a:off x="3817249" y="5959525"/>
            <a:ext cx="1559083" cy="565111"/>
          </a:xfrm>
          <a:prstGeom prst="rect">
            <a:avLst/>
          </a:prstGeom>
          <a:solidFill>
            <a:srgbClr val="F2F2F2">
              <a:alpha val="50196"/>
            </a:srgbClr>
          </a:solidFill>
          <a:ln w="1905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ボックス 15">
            <a:extLst>
              <a:ext uri="{FF2B5EF4-FFF2-40B4-BE49-F238E27FC236}">
                <a16:creationId xmlns:a16="http://schemas.microsoft.com/office/drawing/2014/main" id="{1C7B252D-D2A4-F443-85D1-916640A4BFF4}"/>
              </a:ext>
            </a:extLst>
          </p:cNvPr>
          <p:cNvSpPr txBox="1"/>
          <p:nvPr/>
        </p:nvSpPr>
        <p:spPr>
          <a:xfrm>
            <a:off x="5843374" y="2462152"/>
            <a:ext cx="2614826" cy="307777"/>
          </a:xfrm>
          <a:prstGeom prst="rect">
            <a:avLst/>
          </a:prstGeom>
          <a:noFill/>
        </p:spPr>
        <p:txBody>
          <a:bodyPr wrap="square" rtlCol="0">
            <a:spAutoFit/>
          </a:bodyPr>
          <a:lstStyle/>
          <a:p>
            <a:r>
              <a:rPr kumimoji="1" lang="en-US" altLang="ja-JP" sz="1400" dirty="0" err="1"/>
              <a:t>FastAPI</a:t>
            </a:r>
            <a:r>
              <a:rPr lang="ja-JP" altLang="en-US" sz="1400" dirty="0"/>
              <a:t>関連</a:t>
            </a:r>
            <a:endParaRPr kumimoji="1" lang="ja-JP" altLang="en-US" sz="1400" dirty="0"/>
          </a:p>
        </p:txBody>
      </p:sp>
      <p:pic>
        <p:nvPicPr>
          <p:cNvPr id="18" name="グラフィックス 17">
            <a:extLst>
              <a:ext uri="{FF2B5EF4-FFF2-40B4-BE49-F238E27FC236}">
                <a16:creationId xmlns:a16="http://schemas.microsoft.com/office/drawing/2014/main" id="{43A152BB-C3B6-EF1A-84E8-8AB2C499E69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470877" y="2429791"/>
            <a:ext cx="372497" cy="372497"/>
          </a:xfrm>
          <a:prstGeom prst="rect">
            <a:avLst/>
          </a:prstGeom>
        </p:spPr>
      </p:pic>
      <p:pic>
        <p:nvPicPr>
          <p:cNvPr id="1026" name="Picture 2" descr="SQLite】10分で分かる SQLiteとは？ | レンサバ">
            <a:extLst>
              <a:ext uri="{FF2B5EF4-FFF2-40B4-BE49-F238E27FC236}">
                <a16:creationId xmlns:a16="http://schemas.microsoft.com/office/drawing/2014/main" id="{F219762F-19FE-958B-592B-C052A6627B80}"/>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13878" r="14269"/>
          <a:stretch/>
        </p:blipFill>
        <p:spPr bwMode="auto">
          <a:xfrm>
            <a:off x="5475632" y="3073434"/>
            <a:ext cx="367742" cy="372497"/>
          </a:xfrm>
          <a:prstGeom prst="rect">
            <a:avLst/>
          </a:prstGeom>
          <a:noFill/>
          <a:extLst>
            <a:ext uri="{909E8E84-426E-40DD-AFC4-6F175D3DCCD1}">
              <a14:hiddenFill xmlns:a14="http://schemas.microsoft.com/office/drawing/2010/main">
                <a:solidFill>
                  <a:srgbClr val="FFFFFF"/>
                </a:solidFill>
              </a14:hiddenFill>
            </a:ext>
          </a:extLst>
        </p:spPr>
      </p:pic>
      <p:sp>
        <p:nvSpPr>
          <p:cNvPr id="20" name="テキスト ボックス 19">
            <a:extLst>
              <a:ext uri="{FF2B5EF4-FFF2-40B4-BE49-F238E27FC236}">
                <a16:creationId xmlns:a16="http://schemas.microsoft.com/office/drawing/2014/main" id="{BAACC119-16C6-28CF-ACDC-6703FA7EF047}"/>
              </a:ext>
            </a:extLst>
          </p:cNvPr>
          <p:cNvSpPr txBox="1"/>
          <p:nvPr/>
        </p:nvSpPr>
        <p:spPr>
          <a:xfrm>
            <a:off x="5843374" y="3125295"/>
            <a:ext cx="2614826" cy="307777"/>
          </a:xfrm>
          <a:prstGeom prst="rect">
            <a:avLst/>
          </a:prstGeom>
          <a:noFill/>
        </p:spPr>
        <p:txBody>
          <a:bodyPr wrap="square" rtlCol="0">
            <a:spAutoFit/>
          </a:bodyPr>
          <a:lstStyle/>
          <a:p>
            <a:r>
              <a:rPr lang="en-US" altLang="ja-JP" sz="1400" dirty="0"/>
              <a:t>Database</a:t>
            </a:r>
            <a:r>
              <a:rPr lang="ja-JP" altLang="en-US" sz="1400" dirty="0"/>
              <a:t>関連</a:t>
            </a:r>
            <a:endParaRPr kumimoji="1" lang="ja-JP" altLang="en-US" sz="1400" dirty="0"/>
          </a:p>
        </p:txBody>
      </p:sp>
      <p:sp>
        <p:nvSpPr>
          <p:cNvPr id="21" name="テキスト ボックス 20">
            <a:extLst>
              <a:ext uri="{FF2B5EF4-FFF2-40B4-BE49-F238E27FC236}">
                <a16:creationId xmlns:a16="http://schemas.microsoft.com/office/drawing/2014/main" id="{A150A37F-D01F-F4A7-5F35-6A1CB876E7B6}"/>
              </a:ext>
            </a:extLst>
          </p:cNvPr>
          <p:cNvSpPr txBox="1"/>
          <p:nvPr/>
        </p:nvSpPr>
        <p:spPr>
          <a:xfrm>
            <a:off x="5470877" y="3779218"/>
            <a:ext cx="2614826" cy="307777"/>
          </a:xfrm>
          <a:prstGeom prst="rect">
            <a:avLst/>
          </a:prstGeom>
          <a:noFill/>
        </p:spPr>
        <p:txBody>
          <a:bodyPr wrap="square" rtlCol="0">
            <a:spAutoFit/>
          </a:bodyPr>
          <a:lstStyle/>
          <a:p>
            <a:r>
              <a:rPr lang="ja-JP" altLang="en-US" sz="1400" dirty="0"/>
              <a:t>実行ログ関連</a:t>
            </a:r>
            <a:endParaRPr kumimoji="1" lang="ja-JP" altLang="en-US" sz="1400" dirty="0"/>
          </a:p>
        </p:txBody>
      </p:sp>
      <p:pic>
        <p:nvPicPr>
          <p:cNvPr id="23" name="図 22" descr="アイコン&#10;&#10;AI によって生成されたコンテンツは間違っている可能性があります。">
            <a:extLst>
              <a:ext uri="{FF2B5EF4-FFF2-40B4-BE49-F238E27FC236}">
                <a16:creationId xmlns:a16="http://schemas.microsoft.com/office/drawing/2014/main" id="{091D053F-25A1-0FE9-531C-F1F81A5C414B}"/>
              </a:ext>
            </a:extLst>
          </p:cNvPr>
          <p:cNvPicPr>
            <a:picLocks noChangeAspect="1"/>
          </p:cNvPicPr>
          <p:nvPr/>
        </p:nvPicPr>
        <p:blipFill>
          <a:blip r:embed="rId4">
            <a:extLst>
              <a:ext uri="{28A0092B-C50C-407E-A947-70E740481C1C}">
                <a14:useLocalDpi xmlns:a14="http://schemas.microsoft.com/office/drawing/2010/main" val="0"/>
              </a:ext>
            </a:extLst>
          </a:blip>
          <a:srcRect l="10553" t="5709" r="9769" b="4466"/>
          <a:stretch/>
        </p:blipFill>
        <p:spPr>
          <a:xfrm>
            <a:off x="5480878" y="5201191"/>
            <a:ext cx="357774" cy="403333"/>
          </a:xfrm>
          <a:prstGeom prst="rect">
            <a:avLst/>
          </a:prstGeom>
        </p:spPr>
      </p:pic>
      <p:sp>
        <p:nvSpPr>
          <p:cNvPr id="25" name="テキスト ボックス 24">
            <a:extLst>
              <a:ext uri="{FF2B5EF4-FFF2-40B4-BE49-F238E27FC236}">
                <a16:creationId xmlns:a16="http://schemas.microsoft.com/office/drawing/2014/main" id="{4BDC7E31-D032-2C4C-1E41-9F29B3CCF14D}"/>
              </a:ext>
            </a:extLst>
          </p:cNvPr>
          <p:cNvSpPr txBox="1"/>
          <p:nvPr/>
        </p:nvSpPr>
        <p:spPr>
          <a:xfrm>
            <a:off x="5838652" y="5248736"/>
            <a:ext cx="2614826" cy="307777"/>
          </a:xfrm>
          <a:prstGeom prst="rect">
            <a:avLst/>
          </a:prstGeom>
          <a:noFill/>
        </p:spPr>
        <p:txBody>
          <a:bodyPr wrap="square" rtlCol="0">
            <a:spAutoFit/>
          </a:bodyPr>
          <a:lstStyle/>
          <a:p>
            <a:r>
              <a:rPr lang="en-US" altLang="ja-JP" sz="1400" dirty="0"/>
              <a:t>React</a:t>
            </a:r>
            <a:r>
              <a:rPr lang="ja-JP" altLang="en-US" sz="1400" dirty="0"/>
              <a:t>関連</a:t>
            </a:r>
            <a:endParaRPr kumimoji="1" lang="ja-JP" altLang="en-US" sz="1400" dirty="0"/>
          </a:p>
        </p:txBody>
      </p:sp>
      <p:sp>
        <p:nvSpPr>
          <p:cNvPr id="26" name="テキスト ボックス 25">
            <a:extLst>
              <a:ext uri="{FF2B5EF4-FFF2-40B4-BE49-F238E27FC236}">
                <a16:creationId xmlns:a16="http://schemas.microsoft.com/office/drawing/2014/main" id="{80841490-5A16-D240-4EB4-5B31887C8A39}"/>
              </a:ext>
            </a:extLst>
          </p:cNvPr>
          <p:cNvSpPr txBox="1"/>
          <p:nvPr/>
        </p:nvSpPr>
        <p:spPr>
          <a:xfrm>
            <a:off x="5451820" y="4403706"/>
            <a:ext cx="2999019" cy="307777"/>
          </a:xfrm>
          <a:prstGeom prst="rect">
            <a:avLst/>
          </a:prstGeom>
          <a:noFill/>
        </p:spPr>
        <p:txBody>
          <a:bodyPr wrap="square" rtlCol="0">
            <a:spAutoFit/>
          </a:bodyPr>
          <a:lstStyle/>
          <a:p>
            <a:r>
              <a:rPr lang="en-US" altLang="ja-JP" sz="1400" dirty="0"/>
              <a:t>worker</a:t>
            </a:r>
            <a:r>
              <a:rPr lang="ja-JP" altLang="en-US" sz="1400" dirty="0"/>
              <a:t>と</a:t>
            </a:r>
            <a:r>
              <a:rPr lang="en-US" altLang="ja-JP" sz="1400" dirty="0"/>
              <a:t>app</a:t>
            </a:r>
            <a:r>
              <a:rPr lang="ja-JP" altLang="en-US" sz="1400" dirty="0"/>
              <a:t>の共通参照ファイル</a:t>
            </a:r>
            <a:endParaRPr kumimoji="1" lang="ja-JP" altLang="en-US" sz="1400" dirty="0"/>
          </a:p>
        </p:txBody>
      </p:sp>
      <p:sp>
        <p:nvSpPr>
          <p:cNvPr id="27" name="テキスト ボックス 26">
            <a:extLst>
              <a:ext uri="{FF2B5EF4-FFF2-40B4-BE49-F238E27FC236}">
                <a16:creationId xmlns:a16="http://schemas.microsoft.com/office/drawing/2014/main" id="{E7E47DB4-D325-8B44-ADE6-EC2D0B5FA7DD}"/>
              </a:ext>
            </a:extLst>
          </p:cNvPr>
          <p:cNvSpPr txBox="1"/>
          <p:nvPr/>
        </p:nvSpPr>
        <p:spPr>
          <a:xfrm>
            <a:off x="5451819" y="6093766"/>
            <a:ext cx="2999019" cy="307777"/>
          </a:xfrm>
          <a:prstGeom prst="rect">
            <a:avLst/>
          </a:prstGeom>
          <a:noFill/>
        </p:spPr>
        <p:txBody>
          <a:bodyPr wrap="square" rtlCol="0">
            <a:spAutoFit/>
          </a:bodyPr>
          <a:lstStyle/>
          <a:p>
            <a:r>
              <a:rPr lang="ja-JP" altLang="en-US" sz="1400" dirty="0"/>
              <a:t>タスク</a:t>
            </a:r>
            <a:r>
              <a:rPr kumimoji="1" lang="ja-JP" altLang="en-US" sz="1400" dirty="0"/>
              <a:t>処理関連</a:t>
            </a:r>
          </a:p>
        </p:txBody>
      </p:sp>
      <p:cxnSp>
        <p:nvCxnSpPr>
          <p:cNvPr id="7" name="直線矢印コネクタ 6">
            <a:extLst>
              <a:ext uri="{FF2B5EF4-FFF2-40B4-BE49-F238E27FC236}">
                <a16:creationId xmlns:a16="http://schemas.microsoft.com/office/drawing/2014/main" id="{79BD2DBC-2841-080F-348C-5B2DAFF4EFE3}"/>
              </a:ext>
            </a:extLst>
          </p:cNvPr>
          <p:cNvCxnSpPr>
            <a:cxnSpLocks/>
          </p:cNvCxnSpPr>
          <p:nvPr/>
        </p:nvCxnSpPr>
        <p:spPr>
          <a:xfrm>
            <a:off x="4272280" y="2645576"/>
            <a:ext cx="0" cy="1964558"/>
          </a:xfrm>
          <a:prstGeom prst="straightConnector1">
            <a:avLst/>
          </a:prstGeom>
          <a:ln w="57150">
            <a:solidFill>
              <a:schemeClr val="accent6"/>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93BEE4C9-D9F1-CE80-9218-6A846F138D82}"/>
              </a:ext>
            </a:extLst>
          </p:cNvPr>
          <p:cNvSpPr txBox="1"/>
          <p:nvPr/>
        </p:nvSpPr>
        <p:spPr>
          <a:xfrm>
            <a:off x="4648682" y="3803807"/>
            <a:ext cx="2999017" cy="369332"/>
          </a:xfrm>
          <a:prstGeom prst="rect">
            <a:avLst/>
          </a:prstGeom>
          <a:noFill/>
        </p:spPr>
        <p:txBody>
          <a:bodyPr wrap="square" rtlCol="0">
            <a:spAutoFit/>
          </a:bodyPr>
          <a:lstStyle/>
          <a:p>
            <a:endParaRPr kumimoji="1" lang="ja-JP" altLang="en-US" b="1" dirty="0">
              <a:solidFill>
                <a:schemeClr val="accent6"/>
              </a:solidFill>
            </a:endParaRPr>
          </a:p>
        </p:txBody>
      </p:sp>
      <p:sp>
        <p:nvSpPr>
          <p:cNvPr id="19" name="正方形/長方形 18">
            <a:extLst>
              <a:ext uri="{FF2B5EF4-FFF2-40B4-BE49-F238E27FC236}">
                <a16:creationId xmlns:a16="http://schemas.microsoft.com/office/drawing/2014/main" id="{C819E87E-40B0-C71E-B0F6-858E8D8D5A97}"/>
              </a:ext>
            </a:extLst>
          </p:cNvPr>
          <p:cNvSpPr/>
          <p:nvPr/>
        </p:nvSpPr>
        <p:spPr>
          <a:xfrm>
            <a:off x="3527195" y="1630354"/>
            <a:ext cx="2089610" cy="641081"/>
          </a:xfrm>
          <a:prstGeom prst="rect">
            <a:avLst/>
          </a:prstGeom>
          <a:solidFill>
            <a:schemeClr val="bg2"/>
          </a:solidFill>
          <a:ln>
            <a:solidFill>
              <a:schemeClr val="tx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lIns="0" tIns="46800" rIns="0" bIns="0" rtlCol="0" anchor="ctr"/>
          <a:lstStyle/>
          <a:p>
            <a:pPr algn="ctr"/>
            <a:r>
              <a:rPr lang="ja-JP" altLang="en-US" sz="1400" dirty="0">
                <a:solidFill>
                  <a:schemeClr val="accent6"/>
                </a:solidFill>
              </a:rPr>
              <a:t>①</a:t>
            </a:r>
            <a:endParaRPr lang="en-US" altLang="ja-JP" sz="1400" dirty="0">
              <a:solidFill>
                <a:schemeClr val="accent6"/>
              </a:solidFill>
            </a:endParaRPr>
          </a:p>
          <a:p>
            <a:pPr algn="ctr"/>
            <a:r>
              <a:rPr lang="en-US" altLang="ja-JP" sz="1400" dirty="0">
                <a:solidFill>
                  <a:schemeClr val="accent6"/>
                </a:solidFill>
              </a:rPr>
              <a:t>IC</a:t>
            </a:r>
            <a:r>
              <a:rPr lang="ja-JP" altLang="en-US" sz="1400" dirty="0">
                <a:solidFill>
                  <a:schemeClr val="accent6"/>
                </a:solidFill>
              </a:rPr>
              <a:t>カードリーダーを起動</a:t>
            </a:r>
            <a:endParaRPr lang="en-US" altLang="ja-JP" sz="1400" dirty="0">
              <a:solidFill>
                <a:schemeClr val="accent6"/>
              </a:solidFill>
            </a:endParaRPr>
          </a:p>
          <a:p>
            <a:pPr algn="ctr"/>
            <a:r>
              <a:rPr lang="en-US" altLang="ja-JP" sz="1400" dirty="0">
                <a:solidFill>
                  <a:schemeClr val="accent6"/>
                </a:solidFill>
              </a:rPr>
              <a:t>&amp; ID</a:t>
            </a:r>
            <a:r>
              <a:rPr lang="ja-JP" altLang="en-US" sz="1400" dirty="0">
                <a:solidFill>
                  <a:schemeClr val="accent6"/>
                </a:solidFill>
              </a:rPr>
              <a:t>を読み込む</a:t>
            </a:r>
            <a:endParaRPr lang="en-US" altLang="ja-JP" sz="1400" dirty="0">
              <a:solidFill>
                <a:schemeClr val="accent6"/>
              </a:solidFill>
            </a:endParaRPr>
          </a:p>
        </p:txBody>
      </p:sp>
      <p:cxnSp>
        <p:nvCxnSpPr>
          <p:cNvPr id="22" name="直線矢印コネクタ 21">
            <a:extLst>
              <a:ext uri="{FF2B5EF4-FFF2-40B4-BE49-F238E27FC236}">
                <a16:creationId xmlns:a16="http://schemas.microsoft.com/office/drawing/2014/main" id="{0EF29D3D-1FF4-9F1B-10D0-B8DE61767EB5}"/>
              </a:ext>
            </a:extLst>
          </p:cNvPr>
          <p:cNvCxnSpPr>
            <a:cxnSpLocks/>
          </p:cNvCxnSpPr>
          <p:nvPr/>
        </p:nvCxnSpPr>
        <p:spPr>
          <a:xfrm flipV="1">
            <a:off x="4917440" y="2582960"/>
            <a:ext cx="0" cy="1925743"/>
          </a:xfrm>
          <a:prstGeom prst="straightConnector1">
            <a:avLst/>
          </a:prstGeom>
          <a:ln w="57150">
            <a:solidFill>
              <a:schemeClr val="accent6"/>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EC059C34-8566-EE47-532B-01041E3F25A6}"/>
              </a:ext>
            </a:extLst>
          </p:cNvPr>
          <p:cNvSpPr/>
          <p:nvPr/>
        </p:nvSpPr>
        <p:spPr>
          <a:xfrm>
            <a:off x="2061918" y="3149351"/>
            <a:ext cx="2089610" cy="641081"/>
          </a:xfrm>
          <a:prstGeom prst="rect">
            <a:avLst/>
          </a:prstGeom>
          <a:solidFill>
            <a:schemeClr val="bg2"/>
          </a:solidFill>
          <a:ln>
            <a:solidFill>
              <a:schemeClr val="tx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lIns="0" tIns="46800" rIns="0" bIns="0" rtlCol="0" anchor="ctr"/>
          <a:lstStyle/>
          <a:p>
            <a:pPr algn="ctr"/>
            <a:r>
              <a:rPr lang="ja-JP" altLang="en-US" sz="1400" dirty="0">
                <a:solidFill>
                  <a:schemeClr val="accent6"/>
                </a:solidFill>
              </a:rPr>
              <a:t>②</a:t>
            </a:r>
            <a:endParaRPr lang="en-US" altLang="ja-JP" sz="1400" dirty="0">
              <a:solidFill>
                <a:schemeClr val="accent6"/>
              </a:solidFill>
            </a:endParaRPr>
          </a:p>
          <a:p>
            <a:pPr algn="ctr"/>
            <a:r>
              <a:rPr lang="ja-JP" altLang="en-US" sz="1400" dirty="0">
                <a:solidFill>
                  <a:schemeClr val="accent6"/>
                </a:solidFill>
              </a:rPr>
              <a:t>読み込んだ</a:t>
            </a:r>
            <a:r>
              <a:rPr lang="en-US" altLang="ja-JP" sz="1400" dirty="0">
                <a:solidFill>
                  <a:schemeClr val="accent6"/>
                </a:solidFill>
              </a:rPr>
              <a:t>ID</a:t>
            </a:r>
            <a:r>
              <a:rPr lang="ja-JP" altLang="en-US" sz="1400" dirty="0">
                <a:solidFill>
                  <a:schemeClr val="accent6"/>
                </a:solidFill>
              </a:rPr>
              <a:t>の</a:t>
            </a:r>
            <a:endParaRPr lang="en-US" altLang="ja-JP" sz="1400" dirty="0">
              <a:solidFill>
                <a:schemeClr val="accent6"/>
              </a:solidFill>
            </a:endParaRPr>
          </a:p>
          <a:p>
            <a:pPr algn="ctr"/>
            <a:r>
              <a:rPr lang="ja-JP" altLang="en-US" sz="1400" dirty="0">
                <a:solidFill>
                  <a:schemeClr val="accent6"/>
                </a:solidFill>
              </a:rPr>
              <a:t>ハッシュ化する</a:t>
            </a:r>
            <a:endParaRPr lang="en-US" altLang="ja-JP" sz="1400" dirty="0">
              <a:solidFill>
                <a:schemeClr val="accent6"/>
              </a:solidFill>
            </a:endParaRPr>
          </a:p>
        </p:txBody>
      </p:sp>
      <p:sp>
        <p:nvSpPr>
          <p:cNvPr id="30" name="正方形/長方形 29">
            <a:extLst>
              <a:ext uri="{FF2B5EF4-FFF2-40B4-BE49-F238E27FC236}">
                <a16:creationId xmlns:a16="http://schemas.microsoft.com/office/drawing/2014/main" id="{064876A1-EE6D-9745-478B-AEB4BAD6C436}"/>
              </a:ext>
            </a:extLst>
          </p:cNvPr>
          <p:cNvSpPr/>
          <p:nvPr/>
        </p:nvSpPr>
        <p:spPr>
          <a:xfrm>
            <a:off x="5011746" y="3149741"/>
            <a:ext cx="2089610" cy="641081"/>
          </a:xfrm>
          <a:prstGeom prst="rect">
            <a:avLst/>
          </a:prstGeom>
          <a:solidFill>
            <a:schemeClr val="bg2"/>
          </a:solidFill>
          <a:ln>
            <a:solidFill>
              <a:schemeClr val="tx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lIns="0" tIns="46800" rIns="0" bIns="0" rtlCol="0" anchor="ctr"/>
          <a:lstStyle/>
          <a:p>
            <a:pPr algn="ctr"/>
            <a:r>
              <a:rPr lang="ja-JP" altLang="en-US" sz="1400" dirty="0">
                <a:solidFill>
                  <a:schemeClr val="accent6"/>
                </a:solidFill>
              </a:rPr>
              <a:t>③</a:t>
            </a:r>
            <a:endParaRPr lang="en-US" altLang="ja-JP" sz="1400" dirty="0">
              <a:solidFill>
                <a:schemeClr val="accent6"/>
              </a:solidFill>
            </a:endParaRPr>
          </a:p>
          <a:p>
            <a:pPr algn="ctr"/>
            <a:r>
              <a:rPr lang="ja-JP" altLang="en-US" sz="1400" dirty="0">
                <a:solidFill>
                  <a:schemeClr val="accent6"/>
                </a:solidFill>
              </a:rPr>
              <a:t>ハッシュ化した</a:t>
            </a:r>
            <a:r>
              <a:rPr lang="en-US" altLang="ja-JP" sz="1400" dirty="0">
                <a:solidFill>
                  <a:schemeClr val="accent6"/>
                </a:solidFill>
              </a:rPr>
              <a:t>ID</a:t>
            </a:r>
            <a:r>
              <a:rPr lang="ja-JP" altLang="en-US" sz="1400" dirty="0">
                <a:solidFill>
                  <a:schemeClr val="accent6"/>
                </a:solidFill>
              </a:rPr>
              <a:t>を返す</a:t>
            </a:r>
            <a:endParaRPr lang="en-US" altLang="ja-JP" sz="1400" dirty="0">
              <a:solidFill>
                <a:schemeClr val="accent6"/>
              </a:solidFill>
            </a:endParaRPr>
          </a:p>
        </p:txBody>
      </p:sp>
      <p:sp>
        <p:nvSpPr>
          <p:cNvPr id="31" name="正方形/長方形 30">
            <a:extLst>
              <a:ext uri="{FF2B5EF4-FFF2-40B4-BE49-F238E27FC236}">
                <a16:creationId xmlns:a16="http://schemas.microsoft.com/office/drawing/2014/main" id="{FA3DB34F-3521-8E24-0851-5BB0632F0353}"/>
              </a:ext>
            </a:extLst>
          </p:cNvPr>
          <p:cNvSpPr/>
          <p:nvPr/>
        </p:nvSpPr>
        <p:spPr>
          <a:xfrm>
            <a:off x="693160" y="1635422"/>
            <a:ext cx="2612727" cy="1206448"/>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t>例：ある登録済みユーザーが</a:t>
            </a:r>
            <a:endParaRPr lang="en-US" altLang="ja-JP" sz="1400" dirty="0"/>
          </a:p>
          <a:p>
            <a:pPr algn="ctr"/>
            <a:r>
              <a:rPr lang="ja-JP" altLang="en-US" sz="1400" dirty="0"/>
              <a:t>「在室 </a:t>
            </a:r>
            <a:r>
              <a:rPr lang="en-US" altLang="ja-JP" sz="1400" dirty="0"/>
              <a:t>(Clock In)</a:t>
            </a:r>
            <a:r>
              <a:rPr lang="ja-JP" altLang="en-US" sz="1400" dirty="0"/>
              <a:t>」ボタンを</a:t>
            </a:r>
            <a:endParaRPr lang="en-US" altLang="ja-JP" sz="1400" dirty="0"/>
          </a:p>
          <a:p>
            <a:pPr algn="ctr"/>
            <a:r>
              <a:rPr lang="ja-JP" altLang="en-US" sz="1400" dirty="0"/>
              <a:t>押した後，自身の</a:t>
            </a:r>
            <a:r>
              <a:rPr lang="en-US" altLang="ja-JP" sz="1400" dirty="0"/>
              <a:t>IC</a:t>
            </a:r>
            <a:r>
              <a:rPr lang="ja-JP" altLang="en-US" sz="1400" dirty="0"/>
              <a:t>カードを</a:t>
            </a:r>
            <a:endParaRPr lang="en-US" altLang="ja-JP" sz="1400" dirty="0"/>
          </a:p>
          <a:p>
            <a:pPr algn="ctr"/>
            <a:r>
              <a:rPr lang="ja-JP" altLang="en-US" sz="1400" dirty="0"/>
              <a:t>読み込んだ場合</a:t>
            </a:r>
          </a:p>
        </p:txBody>
      </p:sp>
    </p:spTree>
    <p:extLst>
      <p:ext uri="{BB962C8B-B14F-4D97-AF65-F5344CB8AC3E}">
        <p14:creationId xmlns:p14="http://schemas.microsoft.com/office/powerpoint/2010/main" val="22579904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7E743-FD3A-91FC-7A13-761B0F30D60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B2990C4-D0E9-D685-A7D4-B47A2D75D6EE}"/>
              </a:ext>
            </a:extLst>
          </p:cNvPr>
          <p:cNvSpPr>
            <a:spLocks noGrp="1"/>
          </p:cNvSpPr>
          <p:nvPr>
            <p:ph type="title"/>
          </p:nvPr>
        </p:nvSpPr>
        <p:spPr/>
        <p:txBody>
          <a:bodyPr/>
          <a:lstStyle/>
          <a:p>
            <a:r>
              <a:rPr kumimoji="1" lang="ja-JP" altLang="en-US" dirty="0"/>
              <a:t>在室確認システム</a:t>
            </a:r>
            <a:r>
              <a:rPr lang="ja-JP" altLang="en-US" dirty="0"/>
              <a:t> </a:t>
            </a:r>
            <a:r>
              <a:rPr lang="en-US" altLang="ja-JP" dirty="0"/>
              <a:t>– </a:t>
            </a:r>
            <a:r>
              <a:rPr lang="ja-JP" altLang="en-US" dirty="0"/>
              <a:t>制御デバイス</a:t>
            </a:r>
            <a:endParaRPr kumimoji="1" lang="ja-JP" altLang="en-US" dirty="0"/>
          </a:p>
        </p:txBody>
      </p:sp>
      <p:sp>
        <p:nvSpPr>
          <p:cNvPr id="289" name="TextBox 12">
            <a:extLst>
              <a:ext uri="{FF2B5EF4-FFF2-40B4-BE49-F238E27FC236}">
                <a16:creationId xmlns:a16="http://schemas.microsoft.com/office/drawing/2014/main" id="{D046754C-3896-DFC9-80E0-EF488E23DAF6}"/>
              </a:ext>
            </a:extLst>
          </p:cNvPr>
          <p:cNvSpPr txBox="1">
            <a:spLocks noChangeArrowheads="1"/>
          </p:cNvSpPr>
          <p:nvPr/>
        </p:nvSpPr>
        <p:spPr bwMode="auto">
          <a:xfrm>
            <a:off x="1707208" y="5001976"/>
            <a:ext cx="16050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Raspberry Pi 4B</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(172.16.15.8)</a:t>
            </a:r>
          </a:p>
        </p:txBody>
      </p:sp>
      <p:sp>
        <p:nvSpPr>
          <p:cNvPr id="236" name="テキスト ボックス 235">
            <a:extLst>
              <a:ext uri="{FF2B5EF4-FFF2-40B4-BE49-F238E27FC236}">
                <a16:creationId xmlns:a16="http://schemas.microsoft.com/office/drawing/2014/main" id="{E86C4EE9-C736-2F18-5FB2-494F726DD6BF}"/>
              </a:ext>
            </a:extLst>
          </p:cNvPr>
          <p:cNvSpPr txBox="1"/>
          <p:nvPr/>
        </p:nvSpPr>
        <p:spPr>
          <a:xfrm>
            <a:off x="1077353" y="4303759"/>
            <a:ext cx="1162293" cy="276999"/>
          </a:xfrm>
          <a:prstGeom prst="rect">
            <a:avLst/>
          </a:prstGeom>
          <a:noFill/>
        </p:spPr>
        <p:txBody>
          <a:bodyPr wrap="square">
            <a:spAutoFit/>
          </a:body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RC-S380 S</a:t>
            </a:r>
          </a:p>
        </p:txBody>
      </p:sp>
      <p:pic>
        <p:nvPicPr>
          <p:cNvPr id="237" name="図 236" descr="黒い背景と白い文字のロゴ&#10;&#10;AI によって生成されたコンテンツは間違っている可能性があります。">
            <a:extLst>
              <a:ext uri="{FF2B5EF4-FFF2-40B4-BE49-F238E27FC236}">
                <a16:creationId xmlns:a16="http://schemas.microsoft.com/office/drawing/2014/main" id="{FC6F31C0-3077-83A9-155A-EAD4E5A95982}"/>
              </a:ext>
            </a:extLst>
          </p:cNvPr>
          <p:cNvPicPr>
            <a:picLocks noChangeAspect="1"/>
          </p:cNvPicPr>
          <p:nvPr/>
        </p:nvPicPr>
        <p:blipFill>
          <a:blip r:embed="rId3">
            <a:biLevel thresh="50000"/>
            <a:extLst>
              <a:ext uri="{28A0092B-C50C-407E-A947-70E740481C1C}">
                <a14:useLocalDpi xmlns:a14="http://schemas.microsoft.com/office/drawing/2010/main" val="0"/>
              </a:ext>
            </a:extLst>
          </a:blip>
          <a:srcRect t="19474" b="18132"/>
          <a:stretch/>
        </p:blipFill>
        <p:spPr>
          <a:xfrm flipH="1">
            <a:off x="693160" y="4508703"/>
            <a:ext cx="1605014" cy="751622"/>
          </a:xfrm>
          <a:prstGeom prst="rect">
            <a:avLst/>
          </a:prstGeom>
        </p:spPr>
      </p:pic>
      <p:grpSp>
        <p:nvGrpSpPr>
          <p:cNvPr id="241" name="グループ化 240">
            <a:extLst>
              <a:ext uri="{FF2B5EF4-FFF2-40B4-BE49-F238E27FC236}">
                <a16:creationId xmlns:a16="http://schemas.microsoft.com/office/drawing/2014/main" id="{442BDD87-9CBE-02EF-6F41-AE0D83E1461D}"/>
              </a:ext>
            </a:extLst>
          </p:cNvPr>
          <p:cNvGrpSpPr/>
          <p:nvPr/>
        </p:nvGrpSpPr>
        <p:grpSpPr>
          <a:xfrm>
            <a:off x="2051276" y="6087076"/>
            <a:ext cx="924337" cy="403333"/>
            <a:chOff x="2262291" y="5685876"/>
            <a:chExt cx="924337" cy="403333"/>
          </a:xfrm>
        </p:grpSpPr>
        <p:pic>
          <p:nvPicPr>
            <p:cNvPr id="286" name="図 285" descr="アイコン&#10;&#10;AI によって生成されたコンテンツは間違っている可能性があります。">
              <a:extLst>
                <a:ext uri="{FF2B5EF4-FFF2-40B4-BE49-F238E27FC236}">
                  <a16:creationId xmlns:a16="http://schemas.microsoft.com/office/drawing/2014/main" id="{6DFC84FC-95B8-2576-FBA3-8DAE710D67FE}"/>
                </a:ext>
              </a:extLst>
            </p:cNvPr>
            <p:cNvPicPr>
              <a:picLocks noChangeAspect="1"/>
            </p:cNvPicPr>
            <p:nvPr/>
          </p:nvPicPr>
          <p:blipFill>
            <a:blip r:embed="rId4">
              <a:extLst>
                <a:ext uri="{28A0092B-C50C-407E-A947-70E740481C1C}">
                  <a14:useLocalDpi xmlns:a14="http://schemas.microsoft.com/office/drawing/2010/main" val="0"/>
                </a:ext>
              </a:extLst>
            </a:blip>
            <a:srcRect l="10553" t="5709" r="9769" b="4466"/>
            <a:stretch/>
          </p:blipFill>
          <p:spPr>
            <a:xfrm>
              <a:off x="2262291" y="5685876"/>
              <a:ext cx="357774" cy="403333"/>
            </a:xfrm>
            <a:prstGeom prst="rect">
              <a:avLst/>
            </a:prstGeom>
          </p:spPr>
        </p:pic>
        <p:sp>
          <p:nvSpPr>
            <p:cNvPr id="287" name="テキスト ボックス 286">
              <a:extLst>
                <a:ext uri="{FF2B5EF4-FFF2-40B4-BE49-F238E27FC236}">
                  <a16:creationId xmlns:a16="http://schemas.microsoft.com/office/drawing/2014/main" id="{D5107032-E2FB-9402-9601-BD6F8F65E6FD}"/>
                </a:ext>
              </a:extLst>
            </p:cNvPr>
            <p:cNvSpPr txBox="1"/>
            <p:nvPr/>
          </p:nvSpPr>
          <p:spPr>
            <a:xfrm>
              <a:off x="2557071" y="5749042"/>
              <a:ext cx="629557" cy="276999"/>
            </a:xfrm>
            <a:prstGeom prst="rect">
              <a:avLst/>
            </a:prstGeom>
            <a:noFill/>
          </p:spPr>
          <p:txBody>
            <a:bodyPr wrap="square">
              <a:spAutoFit/>
            </a:bodyPr>
            <a:lstStyle/>
            <a:p>
              <a:r>
                <a:rPr lang="en-US" altLang="ja-JP" sz="1200" dirty="0"/>
                <a:t>:3000</a:t>
              </a:r>
              <a:endParaRPr lang="ja-JP" altLang="en-US" sz="1200" dirty="0"/>
            </a:p>
          </p:txBody>
        </p:sp>
      </p:grpSp>
      <p:grpSp>
        <p:nvGrpSpPr>
          <p:cNvPr id="242" name="グループ化 241">
            <a:extLst>
              <a:ext uri="{FF2B5EF4-FFF2-40B4-BE49-F238E27FC236}">
                <a16:creationId xmlns:a16="http://schemas.microsoft.com/office/drawing/2014/main" id="{EB8386E2-2C35-9461-DF24-10104790E87F}"/>
              </a:ext>
            </a:extLst>
          </p:cNvPr>
          <p:cNvGrpSpPr/>
          <p:nvPr/>
        </p:nvGrpSpPr>
        <p:grpSpPr>
          <a:xfrm>
            <a:off x="2043915" y="5648135"/>
            <a:ext cx="931698" cy="372497"/>
            <a:chOff x="2254930" y="5246935"/>
            <a:chExt cx="931698" cy="372497"/>
          </a:xfrm>
        </p:grpSpPr>
        <p:pic>
          <p:nvPicPr>
            <p:cNvPr id="284" name="グラフィックス 283">
              <a:extLst>
                <a:ext uri="{FF2B5EF4-FFF2-40B4-BE49-F238E27FC236}">
                  <a16:creationId xmlns:a16="http://schemas.microsoft.com/office/drawing/2014/main" id="{82B66CDD-6180-48EF-4088-30232E02A12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254930" y="5246935"/>
              <a:ext cx="372497" cy="372497"/>
            </a:xfrm>
            <a:prstGeom prst="rect">
              <a:avLst/>
            </a:prstGeom>
          </p:spPr>
        </p:pic>
        <p:sp>
          <p:nvSpPr>
            <p:cNvPr id="285" name="テキスト ボックス 284">
              <a:extLst>
                <a:ext uri="{FF2B5EF4-FFF2-40B4-BE49-F238E27FC236}">
                  <a16:creationId xmlns:a16="http://schemas.microsoft.com/office/drawing/2014/main" id="{62B8FAFD-331A-F9EB-8FB2-C29884055F55}"/>
                </a:ext>
              </a:extLst>
            </p:cNvPr>
            <p:cNvSpPr txBox="1"/>
            <p:nvPr/>
          </p:nvSpPr>
          <p:spPr>
            <a:xfrm>
              <a:off x="2557071" y="5306333"/>
              <a:ext cx="629557" cy="276999"/>
            </a:xfrm>
            <a:prstGeom prst="rect">
              <a:avLst/>
            </a:prstGeom>
            <a:noFill/>
          </p:spPr>
          <p:txBody>
            <a:bodyPr wrap="square">
              <a:spAutoFit/>
            </a:bodyPr>
            <a:lstStyle/>
            <a:p>
              <a:r>
                <a:rPr lang="en-US" altLang="ja-JP" sz="1200" dirty="0"/>
                <a:t>:8000</a:t>
              </a:r>
              <a:endParaRPr lang="ja-JP" altLang="en-US" sz="1200" dirty="0"/>
            </a:p>
          </p:txBody>
        </p:sp>
      </p:grpSp>
      <p:sp>
        <p:nvSpPr>
          <p:cNvPr id="306" name="Rectangle 103" descr="Generic group dashed.">
            <a:extLst>
              <a:ext uri="{FF2B5EF4-FFF2-40B4-BE49-F238E27FC236}">
                <a16:creationId xmlns:a16="http://schemas.microsoft.com/office/drawing/2014/main" id="{A75D01EB-7AB3-3DD9-6354-826B28E84123}"/>
              </a:ext>
            </a:extLst>
          </p:cNvPr>
          <p:cNvSpPr/>
          <p:nvPr/>
        </p:nvSpPr>
        <p:spPr>
          <a:xfrm>
            <a:off x="690522" y="3933107"/>
            <a:ext cx="2615365" cy="2822096"/>
          </a:xfrm>
          <a:prstGeom prst="rect">
            <a:avLst/>
          </a:prstGeom>
          <a:noFill/>
          <a:ln w="15875">
            <a:solidFill>
              <a:srgbClr val="7D8998"/>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a:defRPr/>
            </a:pPr>
            <a:r>
              <a:rPr lang="ja-JP" altLang="en-US" sz="1200" dirty="0">
                <a:solidFill>
                  <a:schemeClr val="tx1"/>
                </a:solidFill>
                <a:latin typeface="Arial" panose="020B0604020202020204" pitchFamily="34" charset="0"/>
                <a:cs typeface="Arial" panose="020B0604020202020204" pitchFamily="34" charset="0"/>
              </a:rPr>
              <a:t>学生部屋（</a:t>
            </a:r>
            <a:r>
              <a:rPr lang="en-US" altLang="ja-JP" sz="1200" dirty="0">
                <a:solidFill>
                  <a:schemeClr val="tx1"/>
                </a:solidFill>
                <a:latin typeface="Arial" panose="020B0604020202020204" pitchFamily="34" charset="0"/>
                <a:cs typeface="Arial" panose="020B0604020202020204" pitchFamily="34" charset="0"/>
              </a:rPr>
              <a:t>J1401</a:t>
            </a:r>
            <a:r>
              <a:rPr lang="ja-JP" altLang="en-US" sz="1200" dirty="0">
                <a:solidFill>
                  <a:schemeClr val="tx1"/>
                </a:solidFill>
                <a:latin typeface="Arial" panose="020B0604020202020204" pitchFamily="34" charset="0"/>
                <a:cs typeface="Arial" panose="020B0604020202020204" pitchFamily="34" charset="0"/>
              </a:rPr>
              <a:t>）</a:t>
            </a:r>
            <a:endParaRPr lang="en-US" sz="1200" dirty="0">
              <a:solidFill>
                <a:schemeClr val="tx1"/>
              </a:solidFill>
              <a:latin typeface="Arial" panose="020B0604020202020204" pitchFamily="34" charset="0"/>
              <a:cs typeface="Arial" panose="020B0604020202020204" pitchFamily="34" charset="0"/>
            </a:endParaRPr>
          </a:p>
        </p:txBody>
      </p:sp>
      <p:pic>
        <p:nvPicPr>
          <p:cNvPr id="307" name="グラフィックス 306">
            <a:extLst>
              <a:ext uri="{FF2B5EF4-FFF2-40B4-BE49-F238E27FC236}">
                <a16:creationId xmlns:a16="http://schemas.microsoft.com/office/drawing/2014/main" id="{390F6FFD-2DB8-1B05-7A59-8A9A49A8AB72}"/>
              </a:ext>
            </a:extLst>
          </p:cNvPr>
          <p:cNvPicPr>
            <a:picLocks noChangeAspect="1"/>
          </p:cNvPicPr>
          <p:nvPr/>
        </p:nvPicPr>
        <p:blipFill>
          <a:blip r:embed="rId7">
            <a:grayscl/>
            <a:extLst>
              <a:ext uri="{96DAC541-7B7A-43D3-8B79-37D633B846F1}">
                <asvg:svgBlip xmlns:asvg="http://schemas.microsoft.com/office/drawing/2016/SVG/main" r:embed="rId8"/>
              </a:ext>
            </a:extLst>
          </a:blip>
          <a:srcRect l="25148" t="16203" r="25948" b="16205"/>
          <a:stretch/>
        </p:blipFill>
        <p:spPr>
          <a:xfrm rot="16200000">
            <a:off x="1042395" y="5874413"/>
            <a:ext cx="599552" cy="828660"/>
          </a:xfrm>
          <a:prstGeom prst="rect">
            <a:avLst/>
          </a:prstGeom>
        </p:spPr>
      </p:pic>
      <p:cxnSp>
        <p:nvCxnSpPr>
          <p:cNvPr id="372" name="Straight Arrow Connector 52" descr="Double pointing horizontal arrow.">
            <a:extLst>
              <a:ext uri="{FF2B5EF4-FFF2-40B4-BE49-F238E27FC236}">
                <a16:creationId xmlns:a16="http://schemas.microsoft.com/office/drawing/2014/main" id="{A7DF02BB-7CED-4EF6-1BA6-F8B479F2EF91}"/>
              </a:ext>
            </a:extLst>
          </p:cNvPr>
          <p:cNvCxnSpPr>
            <a:cxnSpLocks/>
            <a:stCxn id="286" idx="1"/>
            <a:endCxn id="307" idx="2"/>
          </p:cNvCxnSpPr>
          <p:nvPr/>
        </p:nvCxnSpPr>
        <p:spPr>
          <a:xfrm flipH="1">
            <a:off x="1756501" y="6288743"/>
            <a:ext cx="294775" cy="0"/>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pic>
        <p:nvPicPr>
          <p:cNvPr id="3" name="Picture 2" descr="Raspberry icon - Free download on Iconfinder">
            <a:extLst>
              <a:ext uri="{FF2B5EF4-FFF2-40B4-BE49-F238E27FC236}">
                <a16:creationId xmlns:a16="http://schemas.microsoft.com/office/drawing/2014/main" id="{46E41204-09EC-6F7B-0231-C24FC3DE1F7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44769" y="4471085"/>
            <a:ext cx="544810" cy="544810"/>
          </a:xfrm>
          <a:prstGeom prst="rect">
            <a:avLst/>
          </a:prstGeom>
          <a:noFill/>
          <a:extLst>
            <a:ext uri="{909E8E84-426E-40DD-AFC4-6F175D3DCCD1}">
              <a14:hiddenFill xmlns:a14="http://schemas.microsoft.com/office/drawing/2010/main">
                <a:solidFill>
                  <a:srgbClr val="FFFFFF"/>
                </a:solidFill>
              </a14:hiddenFill>
            </a:ext>
          </a:extLst>
        </p:spPr>
      </p:pic>
      <p:grpSp>
        <p:nvGrpSpPr>
          <p:cNvPr id="9" name="グループ化 8">
            <a:extLst>
              <a:ext uri="{FF2B5EF4-FFF2-40B4-BE49-F238E27FC236}">
                <a16:creationId xmlns:a16="http://schemas.microsoft.com/office/drawing/2014/main" id="{B66A8424-CF99-D60A-E710-E84A4D8F2206}"/>
              </a:ext>
            </a:extLst>
          </p:cNvPr>
          <p:cNvGrpSpPr/>
          <p:nvPr/>
        </p:nvGrpSpPr>
        <p:grpSpPr>
          <a:xfrm>
            <a:off x="3305887" y="1301487"/>
            <a:ext cx="5430653" cy="5453716"/>
            <a:chOff x="3305887" y="1301487"/>
            <a:chExt cx="5430653" cy="5453716"/>
          </a:xfrm>
        </p:grpSpPr>
        <p:sp>
          <p:nvSpPr>
            <p:cNvPr id="6" name="正方形/長方形 5">
              <a:extLst>
                <a:ext uri="{FF2B5EF4-FFF2-40B4-BE49-F238E27FC236}">
                  <a16:creationId xmlns:a16="http://schemas.microsoft.com/office/drawing/2014/main" id="{751E3E64-4A7F-00CA-C0F3-AFCC182DF0A2}"/>
                </a:ext>
              </a:extLst>
            </p:cNvPr>
            <p:cNvSpPr/>
            <p:nvPr/>
          </p:nvSpPr>
          <p:spPr>
            <a:xfrm>
              <a:off x="3469616" y="1648657"/>
              <a:ext cx="5173870" cy="5106546"/>
            </a:xfrm>
            <a:prstGeom prst="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0000" rIns="0" bIns="0" rtlCol="0" anchor="ctr"/>
            <a:lstStyle/>
            <a:p>
              <a:r>
                <a:rPr lang="en-US" altLang="ja-JP" sz="1400" dirty="0"/>
                <a:t>.</a:t>
              </a:r>
            </a:p>
            <a:p>
              <a:r>
                <a:rPr lang="en-US" altLang="ja-JP" sz="1400" dirty="0"/>
                <a:t>├── .env</a:t>
              </a:r>
            </a:p>
            <a:p>
              <a:r>
                <a:rPr lang="en-US" altLang="ja-JP" sz="1400" dirty="0"/>
                <a:t>│</a:t>
              </a:r>
            </a:p>
            <a:p>
              <a:r>
                <a:rPr lang="en-US" altLang="ja-JP" sz="1400" dirty="0"/>
                <a:t>├── app</a:t>
              </a:r>
            </a:p>
            <a:p>
              <a:r>
                <a:rPr lang="en-US" altLang="ja-JP" sz="1400" dirty="0"/>
                <a:t>│   ├── …</a:t>
              </a:r>
            </a:p>
            <a:p>
              <a:r>
                <a:rPr lang="en-US" altLang="ja-JP" sz="1400" dirty="0"/>
                <a:t>│</a:t>
              </a:r>
            </a:p>
            <a:p>
              <a:r>
                <a:rPr lang="en-US" altLang="ja-JP" sz="1400" dirty="0"/>
                <a:t>├── data</a:t>
              </a:r>
            </a:p>
            <a:p>
              <a:r>
                <a:rPr lang="en-US" altLang="ja-JP" sz="1400" dirty="0"/>
                <a:t>│   ├── …</a:t>
              </a:r>
            </a:p>
            <a:p>
              <a:r>
                <a:rPr lang="ja-JP" altLang="en-US" sz="1400" dirty="0"/>
                <a:t>｜</a:t>
              </a:r>
              <a:endParaRPr lang="en-US" altLang="ja-JP" sz="1400" dirty="0"/>
            </a:p>
            <a:p>
              <a:r>
                <a:rPr lang="en-US" altLang="ja-JP" sz="1400" dirty="0"/>
                <a:t>├── logs</a:t>
              </a:r>
            </a:p>
            <a:p>
              <a:r>
                <a:rPr lang="en-US" altLang="ja-JP" sz="1400" dirty="0"/>
                <a:t>│   └── *.log</a:t>
              </a:r>
            </a:p>
            <a:p>
              <a:r>
                <a:rPr lang="en-US" altLang="ja-JP" sz="1400" dirty="0"/>
                <a:t>│</a:t>
              </a:r>
            </a:p>
            <a:p>
              <a:r>
                <a:rPr lang="en-US" altLang="ja-JP" sz="1400" dirty="0"/>
                <a:t>├── shared</a:t>
              </a:r>
            </a:p>
            <a:p>
              <a:r>
                <a:rPr lang="en-US" altLang="ja-JP" sz="1400" dirty="0"/>
                <a:t>│   ├── …</a:t>
              </a:r>
            </a:p>
            <a:p>
              <a:r>
                <a:rPr lang="ja-JP" altLang="en-US" sz="1400" dirty="0"/>
                <a:t>｜</a:t>
              </a:r>
              <a:endParaRPr lang="en-US" altLang="ja-JP" sz="1400" dirty="0"/>
            </a:p>
            <a:p>
              <a:r>
                <a:rPr lang="en-US" altLang="ja-JP" sz="1400" dirty="0"/>
                <a:t>├── web</a:t>
              </a:r>
            </a:p>
            <a:p>
              <a:r>
                <a:rPr lang="en-US" altLang="ja-JP" sz="1400" dirty="0"/>
                <a:t>│   └── frontend</a:t>
              </a:r>
            </a:p>
            <a:p>
              <a:r>
                <a:rPr lang="en-US" altLang="ja-JP" sz="1400" dirty="0"/>
                <a:t>│       </a:t>
              </a:r>
              <a:r>
                <a:rPr lang="ja-JP" altLang="en-US" sz="1400" dirty="0"/>
                <a:t>  </a:t>
              </a:r>
              <a:r>
                <a:rPr lang="en-US" altLang="ja-JP" sz="1400" dirty="0"/>
                <a:t>├── .env</a:t>
              </a:r>
            </a:p>
            <a:p>
              <a:r>
                <a:rPr lang="en-US" altLang="ja-JP" sz="1400" dirty="0"/>
                <a:t>│         └── …</a:t>
              </a:r>
            </a:p>
            <a:p>
              <a:r>
                <a:rPr lang="en-US" altLang="ja-JP" sz="1400" dirty="0"/>
                <a:t>│</a:t>
              </a:r>
              <a:endParaRPr lang="en-US" altLang="ja-JP" sz="1400" b="1" dirty="0"/>
            </a:p>
            <a:p>
              <a:r>
                <a:rPr lang="en-US" altLang="ja-JP" sz="1400" dirty="0"/>
                <a:t>└── worker</a:t>
              </a:r>
            </a:p>
            <a:p>
              <a:r>
                <a:rPr lang="en-US" altLang="ja-JP" sz="1400" dirty="0"/>
                <a:t>    ├── …</a:t>
              </a:r>
            </a:p>
            <a:p>
              <a:pPr algn="ctr"/>
              <a:endParaRPr kumimoji="1" lang="ja-JP" altLang="en-US" sz="1400" dirty="0"/>
            </a:p>
          </p:txBody>
        </p:sp>
        <p:sp>
          <p:nvSpPr>
            <p:cNvPr id="8" name="テキスト ボックス 7">
              <a:extLst>
                <a:ext uri="{FF2B5EF4-FFF2-40B4-BE49-F238E27FC236}">
                  <a16:creationId xmlns:a16="http://schemas.microsoft.com/office/drawing/2014/main" id="{159E3ADA-9123-CC2D-4A45-5CBCAC55BDB7}"/>
                </a:ext>
              </a:extLst>
            </p:cNvPr>
            <p:cNvSpPr txBox="1"/>
            <p:nvPr/>
          </p:nvSpPr>
          <p:spPr>
            <a:xfrm>
              <a:off x="3305887" y="1301487"/>
              <a:ext cx="5430653" cy="338554"/>
            </a:xfrm>
            <a:prstGeom prst="rect">
              <a:avLst/>
            </a:prstGeom>
            <a:noFill/>
          </p:spPr>
          <p:txBody>
            <a:bodyPr wrap="square" rtlCol="0">
              <a:spAutoFit/>
            </a:bodyPr>
            <a:lstStyle/>
            <a:p>
              <a:pPr algn="ctr"/>
              <a:r>
                <a:rPr kumimoji="1" lang="ja-JP" altLang="en-US" sz="1600" dirty="0"/>
                <a:t>現行の制御デバイス</a:t>
              </a:r>
              <a:r>
                <a:rPr kumimoji="1" lang="en-US" altLang="ja-JP" sz="1600" dirty="0"/>
                <a:t>(172.16.15.8</a:t>
              </a:r>
              <a:r>
                <a:rPr lang="en-US" altLang="ja-JP" sz="1600" dirty="0"/>
                <a:t>)</a:t>
              </a:r>
              <a:r>
                <a:rPr lang="ja-JP" altLang="en-US" sz="1600" dirty="0"/>
                <a:t>のディレクトリ構成</a:t>
              </a:r>
              <a:endParaRPr kumimoji="1" lang="ja-JP" altLang="en-US" sz="1600" dirty="0"/>
            </a:p>
          </p:txBody>
        </p:sp>
      </p:grpSp>
      <p:sp>
        <p:nvSpPr>
          <p:cNvPr id="10" name="正方形/長方形 9">
            <a:extLst>
              <a:ext uri="{FF2B5EF4-FFF2-40B4-BE49-F238E27FC236}">
                <a16:creationId xmlns:a16="http://schemas.microsoft.com/office/drawing/2014/main" id="{64F80A64-2F20-8A09-0FA0-41BCF591C584}"/>
              </a:ext>
            </a:extLst>
          </p:cNvPr>
          <p:cNvSpPr/>
          <p:nvPr/>
        </p:nvSpPr>
        <p:spPr>
          <a:xfrm>
            <a:off x="3817249" y="2333486"/>
            <a:ext cx="1559081" cy="565110"/>
          </a:xfrm>
          <a:prstGeom prst="rect">
            <a:avLst/>
          </a:prstGeom>
          <a:solidFill>
            <a:srgbClr val="F2F2F2">
              <a:alpha val="50196"/>
            </a:srgbClr>
          </a:solid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7BCA5464-8D24-4A39-5EF2-517606849CD8}"/>
              </a:ext>
            </a:extLst>
          </p:cNvPr>
          <p:cNvSpPr/>
          <p:nvPr/>
        </p:nvSpPr>
        <p:spPr>
          <a:xfrm>
            <a:off x="3817249" y="2980670"/>
            <a:ext cx="1559081" cy="565111"/>
          </a:xfrm>
          <a:prstGeom prst="rect">
            <a:avLst/>
          </a:prstGeom>
          <a:solidFill>
            <a:srgbClr val="F2F2F2">
              <a:alpha val="50196"/>
            </a:srgbClr>
          </a:solidFill>
          <a:ln w="1905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C4B09D59-F506-5B52-1563-7621D583BB3C}"/>
              </a:ext>
            </a:extLst>
          </p:cNvPr>
          <p:cNvSpPr/>
          <p:nvPr/>
        </p:nvSpPr>
        <p:spPr>
          <a:xfrm>
            <a:off x="3817249" y="3627855"/>
            <a:ext cx="1559081" cy="565111"/>
          </a:xfrm>
          <a:prstGeom prst="rect">
            <a:avLst/>
          </a:prstGeom>
          <a:solidFill>
            <a:srgbClr val="F2F2F2">
              <a:alpha val="50196"/>
            </a:srgbClr>
          </a:solidFill>
          <a:ln w="1905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161D69C9-23A8-03B3-237A-9A8333A93390}"/>
              </a:ext>
            </a:extLst>
          </p:cNvPr>
          <p:cNvSpPr/>
          <p:nvPr/>
        </p:nvSpPr>
        <p:spPr>
          <a:xfrm>
            <a:off x="3817250" y="4275040"/>
            <a:ext cx="1559082" cy="565111"/>
          </a:xfrm>
          <a:prstGeom prst="rect">
            <a:avLst/>
          </a:prstGeom>
          <a:solidFill>
            <a:srgbClr val="F2F2F2">
              <a:alpha val="50196"/>
            </a:srgbClr>
          </a:solidFill>
          <a:ln w="1905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E0DEE4CF-66A8-D3D2-8BED-3F8B5A3C0ADE}"/>
              </a:ext>
            </a:extLst>
          </p:cNvPr>
          <p:cNvSpPr/>
          <p:nvPr/>
        </p:nvSpPr>
        <p:spPr>
          <a:xfrm>
            <a:off x="3817249" y="4926787"/>
            <a:ext cx="1559083" cy="944846"/>
          </a:xfrm>
          <a:prstGeom prst="rect">
            <a:avLst/>
          </a:prstGeom>
          <a:solidFill>
            <a:srgbClr val="F2F2F2">
              <a:alpha val="50196"/>
            </a:srgbClr>
          </a:solid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5" name="正方形/長方形 14">
            <a:extLst>
              <a:ext uri="{FF2B5EF4-FFF2-40B4-BE49-F238E27FC236}">
                <a16:creationId xmlns:a16="http://schemas.microsoft.com/office/drawing/2014/main" id="{CD9998B6-6479-B9F1-A709-D0AE3061DC18}"/>
              </a:ext>
            </a:extLst>
          </p:cNvPr>
          <p:cNvSpPr/>
          <p:nvPr/>
        </p:nvSpPr>
        <p:spPr>
          <a:xfrm>
            <a:off x="3817249" y="5959525"/>
            <a:ext cx="1559083" cy="565111"/>
          </a:xfrm>
          <a:prstGeom prst="rect">
            <a:avLst/>
          </a:prstGeom>
          <a:solidFill>
            <a:srgbClr val="F2F2F2">
              <a:alpha val="50196"/>
            </a:srgbClr>
          </a:solidFill>
          <a:ln w="1905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ボックス 15">
            <a:extLst>
              <a:ext uri="{FF2B5EF4-FFF2-40B4-BE49-F238E27FC236}">
                <a16:creationId xmlns:a16="http://schemas.microsoft.com/office/drawing/2014/main" id="{D484E446-B43C-8D74-796E-4E37DCDA9A41}"/>
              </a:ext>
            </a:extLst>
          </p:cNvPr>
          <p:cNvSpPr txBox="1"/>
          <p:nvPr/>
        </p:nvSpPr>
        <p:spPr>
          <a:xfrm>
            <a:off x="5843374" y="2462152"/>
            <a:ext cx="2614826" cy="307777"/>
          </a:xfrm>
          <a:prstGeom prst="rect">
            <a:avLst/>
          </a:prstGeom>
          <a:noFill/>
        </p:spPr>
        <p:txBody>
          <a:bodyPr wrap="square" rtlCol="0">
            <a:spAutoFit/>
          </a:bodyPr>
          <a:lstStyle/>
          <a:p>
            <a:r>
              <a:rPr kumimoji="1" lang="en-US" altLang="ja-JP" sz="1400" dirty="0" err="1"/>
              <a:t>FastAPI</a:t>
            </a:r>
            <a:r>
              <a:rPr lang="ja-JP" altLang="en-US" sz="1400" dirty="0"/>
              <a:t>関連</a:t>
            </a:r>
            <a:endParaRPr kumimoji="1" lang="ja-JP" altLang="en-US" sz="1400" dirty="0"/>
          </a:p>
        </p:txBody>
      </p:sp>
      <p:pic>
        <p:nvPicPr>
          <p:cNvPr id="18" name="グラフィックス 17">
            <a:extLst>
              <a:ext uri="{FF2B5EF4-FFF2-40B4-BE49-F238E27FC236}">
                <a16:creationId xmlns:a16="http://schemas.microsoft.com/office/drawing/2014/main" id="{5CCDE721-A2F6-C2D4-4CB2-00E6FFD23C6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470877" y="2429791"/>
            <a:ext cx="372497" cy="372497"/>
          </a:xfrm>
          <a:prstGeom prst="rect">
            <a:avLst/>
          </a:prstGeom>
        </p:spPr>
      </p:pic>
      <p:pic>
        <p:nvPicPr>
          <p:cNvPr id="1026" name="Picture 2" descr="SQLite】10分で分かる SQLiteとは？ | レンサバ">
            <a:extLst>
              <a:ext uri="{FF2B5EF4-FFF2-40B4-BE49-F238E27FC236}">
                <a16:creationId xmlns:a16="http://schemas.microsoft.com/office/drawing/2014/main" id="{493AEF95-D6B2-09A7-0EEF-208BBC70B501}"/>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13878" r="14269"/>
          <a:stretch/>
        </p:blipFill>
        <p:spPr bwMode="auto">
          <a:xfrm>
            <a:off x="5475632" y="3073434"/>
            <a:ext cx="367742" cy="372497"/>
          </a:xfrm>
          <a:prstGeom prst="rect">
            <a:avLst/>
          </a:prstGeom>
          <a:noFill/>
          <a:extLst>
            <a:ext uri="{909E8E84-426E-40DD-AFC4-6F175D3DCCD1}">
              <a14:hiddenFill xmlns:a14="http://schemas.microsoft.com/office/drawing/2010/main">
                <a:solidFill>
                  <a:srgbClr val="FFFFFF"/>
                </a:solidFill>
              </a14:hiddenFill>
            </a:ext>
          </a:extLst>
        </p:spPr>
      </p:pic>
      <p:sp>
        <p:nvSpPr>
          <p:cNvPr id="20" name="テキスト ボックス 19">
            <a:extLst>
              <a:ext uri="{FF2B5EF4-FFF2-40B4-BE49-F238E27FC236}">
                <a16:creationId xmlns:a16="http://schemas.microsoft.com/office/drawing/2014/main" id="{5C195680-049C-B281-8F20-BB2509DDACB7}"/>
              </a:ext>
            </a:extLst>
          </p:cNvPr>
          <p:cNvSpPr txBox="1"/>
          <p:nvPr/>
        </p:nvSpPr>
        <p:spPr>
          <a:xfrm>
            <a:off x="5843374" y="3125295"/>
            <a:ext cx="2614826" cy="307777"/>
          </a:xfrm>
          <a:prstGeom prst="rect">
            <a:avLst/>
          </a:prstGeom>
          <a:noFill/>
        </p:spPr>
        <p:txBody>
          <a:bodyPr wrap="square" rtlCol="0">
            <a:spAutoFit/>
          </a:bodyPr>
          <a:lstStyle/>
          <a:p>
            <a:r>
              <a:rPr lang="en-US" altLang="ja-JP" sz="1400" dirty="0"/>
              <a:t>Database</a:t>
            </a:r>
            <a:r>
              <a:rPr lang="ja-JP" altLang="en-US" sz="1400" dirty="0"/>
              <a:t>関連</a:t>
            </a:r>
            <a:endParaRPr kumimoji="1" lang="ja-JP" altLang="en-US" sz="1400" dirty="0"/>
          </a:p>
        </p:txBody>
      </p:sp>
      <p:sp>
        <p:nvSpPr>
          <p:cNvPr id="21" name="テキスト ボックス 20">
            <a:extLst>
              <a:ext uri="{FF2B5EF4-FFF2-40B4-BE49-F238E27FC236}">
                <a16:creationId xmlns:a16="http://schemas.microsoft.com/office/drawing/2014/main" id="{B75F5A5E-18D9-534A-DB43-2C3981853DF5}"/>
              </a:ext>
            </a:extLst>
          </p:cNvPr>
          <p:cNvSpPr txBox="1"/>
          <p:nvPr/>
        </p:nvSpPr>
        <p:spPr>
          <a:xfrm>
            <a:off x="5470877" y="3779218"/>
            <a:ext cx="2614826" cy="307777"/>
          </a:xfrm>
          <a:prstGeom prst="rect">
            <a:avLst/>
          </a:prstGeom>
          <a:noFill/>
        </p:spPr>
        <p:txBody>
          <a:bodyPr wrap="square" rtlCol="0">
            <a:spAutoFit/>
          </a:bodyPr>
          <a:lstStyle/>
          <a:p>
            <a:r>
              <a:rPr lang="ja-JP" altLang="en-US" sz="1400" dirty="0"/>
              <a:t>実行ログ関連</a:t>
            </a:r>
            <a:endParaRPr kumimoji="1" lang="ja-JP" altLang="en-US" sz="1400" dirty="0"/>
          </a:p>
        </p:txBody>
      </p:sp>
      <p:pic>
        <p:nvPicPr>
          <p:cNvPr id="23" name="図 22" descr="アイコン&#10;&#10;AI によって生成されたコンテンツは間違っている可能性があります。">
            <a:extLst>
              <a:ext uri="{FF2B5EF4-FFF2-40B4-BE49-F238E27FC236}">
                <a16:creationId xmlns:a16="http://schemas.microsoft.com/office/drawing/2014/main" id="{146CB70B-92EC-F388-157D-A9A6A7E77EC3}"/>
              </a:ext>
            </a:extLst>
          </p:cNvPr>
          <p:cNvPicPr>
            <a:picLocks noChangeAspect="1"/>
          </p:cNvPicPr>
          <p:nvPr/>
        </p:nvPicPr>
        <p:blipFill>
          <a:blip r:embed="rId4">
            <a:extLst>
              <a:ext uri="{28A0092B-C50C-407E-A947-70E740481C1C}">
                <a14:useLocalDpi xmlns:a14="http://schemas.microsoft.com/office/drawing/2010/main" val="0"/>
              </a:ext>
            </a:extLst>
          </a:blip>
          <a:srcRect l="10553" t="5709" r="9769" b="4466"/>
          <a:stretch/>
        </p:blipFill>
        <p:spPr>
          <a:xfrm>
            <a:off x="5480878" y="5201191"/>
            <a:ext cx="357774" cy="403333"/>
          </a:xfrm>
          <a:prstGeom prst="rect">
            <a:avLst/>
          </a:prstGeom>
        </p:spPr>
      </p:pic>
      <p:sp>
        <p:nvSpPr>
          <p:cNvPr id="25" name="テキスト ボックス 24">
            <a:extLst>
              <a:ext uri="{FF2B5EF4-FFF2-40B4-BE49-F238E27FC236}">
                <a16:creationId xmlns:a16="http://schemas.microsoft.com/office/drawing/2014/main" id="{D37D490E-2B9E-7B62-229E-62D2A9BE0B5A}"/>
              </a:ext>
            </a:extLst>
          </p:cNvPr>
          <p:cNvSpPr txBox="1"/>
          <p:nvPr/>
        </p:nvSpPr>
        <p:spPr>
          <a:xfrm>
            <a:off x="5838652" y="5248736"/>
            <a:ext cx="2614826" cy="307777"/>
          </a:xfrm>
          <a:prstGeom prst="rect">
            <a:avLst/>
          </a:prstGeom>
          <a:noFill/>
        </p:spPr>
        <p:txBody>
          <a:bodyPr wrap="square" rtlCol="0">
            <a:spAutoFit/>
          </a:bodyPr>
          <a:lstStyle/>
          <a:p>
            <a:r>
              <a:rPr lang="en-US" altLang="ja-JP" sz="1400" dirty="0"/>
              <a:t>React</a:t>
            </a:r>
            <a:r>
              <a:rPr lang="ja-JP" altLang="en-US" sz="1400" dirty="0"/>
              <a:t>関連</a:t>
            </a:r>
            <a:endParaRPr kumimoji="1" lang="ja-JP" altLang="en-US" sz="1400" dirty="0"/>
          </a:p>
        </p:txBody>
      </p:sp>
      <p:sp>
        <p:nvSpPr>
          <p:cNvPr id="26" name="テキスト ボックス 25">
            <a:extLst>
              <a:ext uri="{FF2B5EF4-FFF2-40B4-BE49-F238E27FC236}">
                <a16:creationId xmlns:a16="http://schemas.microsoft.com/office/drawing/2014/main" id="{F1E1A1FF-6BB1-CB1A-16D9-714F4075B5DF}"/>
              </a:ext>
            </a:extLst>
          </p:cNvPr>
          <p:cNvSpPr txBox="1"/>
          <p:nvPr/>
        </p:nvSpPr>
        <p:spPr>
          <a:xfrm>
            <a:off x="5451820" y="4403706"/>
            <a:ext cx="2999019" cy="307777"/>
          </a:xfrm>
          <a:prstGeom prst="rect">
            <a:avLst/>
          </a:prstGeom>
          <a:noFill/>
        </p:spPr>
        <p:txBody>
          <a:bodyPr wrap="square" rtlCol="0">
            <a:spAutoFit/>
          </a:bodyPr>
          <a:lstStyle/>
          <a:p>
            <a:r>
              <a:rPr lang="en-US" altLang="ja-JP" sz="1400" dirty="0"/>
              <a:t>worker</a:t>
            </a:r>
            <a:r>
              <a:rPr lang="ja-JP" altLang="en-US" sz="1400" dirty="0"/>
              <a:t>と</a:t>
            </a:r>
            <a:r>
              <a:rPr lang="en-US" altLang="ja-JP" sz="1400" dirty="0"/>
              <a:t>app</a:t>
            </a:r>
            <a:r>
              <a:rPr lang="ja-JP" altLang="en-US" sz="1400" dirty="0"/>
              <a:t>の共通参照ファイル</a:t>
            </a:r>
            <a:endParaRPr kumimoji="1" lang="ja-JP" altLang="en-US" sz="1400" dirty="0"/>
          </a:p>
        </p:txBody>
      </p:sp>
      <p:sp>
        <p:nvSpPr>
          <p:cNvPr id="27" name="テキスト ボックス 26">
            <a:extLst>
              <a:ext uri="{FF2B5EF4-FFF2-40B4-BE49-F238E27FC236}">
                <a16:creationId xmlns:a16="http://schemas.microsoft.com/office/drawing/2014/main" id="{BAA51BC0-9FD9-D30B-4994-398083E1C012}"/>
              </a:ext>
            </a:extLst>
          </p:cNvPr>
          <p:cNvSpPr txBox="1"/>
          <p:nvPr/>
        </p:nvSpPr>
        <p:spPr>
          <a:xfrm>
            <a:off x="5451819" y="6093766"/>
            <a:ext cx="2999019" cy="307777"/>
          </a:xfrm>
          <a:prstGeom prst="rect">
            <a:avLst/>
          </a:prstGeom>
          <a:noFill/>
        </p:spPr>
        <p:txBody>
          <a:bodyPr wrap="square" rtlCol="0">
            <a:spAutoFit/>
          </a:bodyPr>
          <a:lstStyle/>
          <a:p>
            <a:r>
              <a:rPr lang="ja-JP" altLang="en-US" sz="1400" dirty="0"/>
              <a:t>タスク</a:t>
            </a:r>
            <a:r>
              <a:rPr kumimoji="1" lang="ja-JP" altLang="en-US" sz="1400" dirty="0"/>
              <a:t>処理関連</a:t>
            </a:r>
          </a:p>
        </p:txBody>
      </p:sp>
      <p:cxnSp>
        <p:nvCxnSpPr>
          <p:cNvPr id="7" name="直線矢印コネクタ 6">
            <a:extLst>
              <a:ext uri="{FF2B5EF4-FFF2-40B4-BE49-F238E27FC236}">
                <a16:creationId xmlns:a16="http://schemas.microsoft.com/office/drawing/2014/main" id="{79AD7965-3320-0FBB-9753-A42E4C6330C5}"/>
              </a:ext>
            </a:extLst>
          </p:cNvPr>
          <p:cNvCxnSpPr>
            <a:cxnSpLocks/>
          </p:cNvCxnSpPr>
          <p:nvPr/>
        </p:nvCxnSpPr>
        <p:spPr>
          <a:xfrm>
            <a:off x="4597400" y="2635250"/>
            <a:ext cx="0" cy="2828391"/>
          </a:xfrm>
          <a:prstGeom prst="straightConnector1">
            <a:avLst/>
          </a:prstGeom>
          <a:ln w="57150">
            <a:solidFill>
              <a:schemeClr val="accent6"/>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72FBB2A5-55CD-E091-E0D4-15E6BC552347}"/>
              </a:ext>
            </a:extLst>
          </p:cNvPr>
          <p:cNvSpPr txBox="1"/>
          <p:nvPr/>
        </p:nvSpPr>
        <p:spPr>
          <a:xfrm>
            <a:off x="4648682" y="3803807"/>
            <a:ext cx="2999017" cy="369332"/>
          </a:xfrm>
          <a:prstGeom prst="rect">
            <a:avLst/>
          </a:prstGeom>
          <a:noFill/>
        </p:spPr>
        <p:txBody>
          <a:bodyPr wrap="square" rtlCol="0">
            <a:spAutoFit/>
          </a:bodyPr>
          <a:lstStyle/>
          <a:p>
            <a:endParaRPr kumimoji="1" lang="ja-JP" altLang="en-US" b="1" dirty="0">
              <a:solidFill>
                <a:schemeClr val="accent6"/>
              </a:solidFill>
            </a:endParaRPr>
          </a:p>
        </p:txBody>
      </p:sp>
      <p:sp>
        <p:nvSpPr>
          <p:cNvPr id="19" name="正方形/長方形 18">
            <a:extLst>
              <a:ext uri="{FF2B5EF4-FFF2-40B4-BE49-F238E27FC236}">
                <a16:creationId xmlns:a16="http://schemas.microsoft.com/office/drawing/2014/main" id="{27BDAEBB-DA1A-918E-5220-59D0D7FB0E49}"/>
              </a:ext>
            </a:extLst>
          </p:cNvPr>
          <p:cNvSpPr/>
          <p:nvPr/>
        </p:nvSpPr>
        <p:spPr>
          <a:xfrm>
            <a:off x="4720510" y="3710607"/>
            <a:ext cx="2089610" cy="641081"/>
          </a:xfrm>
          <a:prstGeom prst="rect">
            <a:avLst/>
          </a:prstGeom>
          <a:solidFill>
            <a:schemeClr val="bg2"/>
          </a:solidFill>
          <a:ln>
            <a:solidFill>
              <a:schemeClr val="tx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lIns="0" tIns="46800" rIns="0" bIns="0" rtlCol="0" anchor="ctr"/>
          <a:lstStyle/>
          <a:p>
            <a:pPr algn="ctr"/>
            <a:r>
              <a:rPr lang="ja-JP" altLang="en-US" sz="1400" dirty="0">
                <a:solidFill>
                  <a:schemeClr val="accent6"/>
                </a:solidFill>
              </a:rPr>
              <a:t>ハッシュ化済み</a:t>
            </a:r>
            <a:r>
              <a:rPr lang="en-US" altLang="ja-JP" sz="1400" dirty="0">
                <a:solidFill>
                  <a:schemeClr val="accent6"/>
                </a:solidFill>
              </a:rPr>
              <a:t>ID</a:t>
            </a:r>
            <a:r>
              <a:rPr lang="ja-JP" altLang="en-US" sz="1400" dirty="0">
                <a:solidFill>
                  <a:schemeClr val="accent6"/>
                </a:solidFill>
              </a:rPr>
              <a:t>を返す</a:t>
            </a:r>
          </a:p>
        </p:txBody>
      </p:sp>
      <p:sp>
        <p:nvSpPr>
          <p:cNvPr id="24" name="正方形/長方形 23">
            <a:extLst>
              <a:ext uri="{FF2B5EF4-FFF2-40B4-BE49-F238E27FC236}">
                <a16:creationId xmlns:a16="http://schemas.microsoft.com/office/drawing/2014/main" id="{A157B45E-1C25-BB28-1F81-DE65539F778E}"/>
              </a:ext>
            </a:extLst>
          </p:cNvPr>
          <p:cNvSpPr/>
          <p:nvPr/>
        </p:nvSpPr>
        <p:spPr>
          <a:xfrm>
            <a:off x="693160" y="1635422"/>
            <a:ext cx="2612727" cy="1206448"/>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t>例：ある登録済みユーザーが</a:t>
            </a:r>
            <a:endParaRPr lang="en-US" altLang="ja-JP" sz="1400" dirty="0"/>
          </a:p>
          <a:p>
            <a:pPr algn="ctr"/>
            <a:r>
              <a:rPr lang="ja-JP" altLang="en-US" sz="1400" dirty="0"/>
              <a:t>「在室 </a:t>
            </a:r>
            <a:r>
              <a:rPr lang="en-US" altLang="ja-JP" sz="1400" dirty="0"/>
              <a:t>(Clock In)</a:t>
            </a:r>
            <a:r>
              <a:rPr lang="ja-JP" altLang="en-US" sz="1400" dirty="0"/>
              <a:t>」ボタンを</a:t>
            </a:r>
            <a:endParaRPr lang="en-US" altLang="ja-JP" sz="1400" dirty="0"/>
          </a:p>
          <a:p>
            <a:pPr algn="ctr"/>
            <a:r>
              <a:rPr lang="ja-JP" altLang="en-US" sz="1400" dirty="0"/>
              <a:t>押した後，自身の</a:t>
            </a:r>
            <a:r>
              <a:rPr lang="en-US" altLang="ja-JP" sz="1400" dirty="0"/>
              <a:t>IC</a:t>
            </a:r>
            <a:r>
              <a:rPr lang="ja-JP" altLang="en-US" sz="1400" dirty="0"/>
              <a:t>カードを</a:t>
            </a:r>
            <a:endParaRPr lang="en-US" altLang="ja-JP" sz="1400" dirty="0"/>
          </a:p>
          <a:p>
            <a:pPr algn="ctr"/>
            <a:r>
              <a:rPr lang="ja-JP" altLang="en-US" sz="1400" dirty="0"/>
              <a:t>読み込んだ場合</a:t>
            </a:r>
          </a:p>
        </p:txBody>
      </p:sp>
    </p:spTree>
    <p:extLst>
      <p:ext uri="{BB962C8B-B14F-4D97-AF65-F5344CB8AC3E}">
        <p14:creationId xmlns:p14="http://schemas.microsoft.com/office/powerpoint/2010/main" val="27802151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3CAD7-9610-4DD1-6B8C-3321517B4FC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4C3CD0E-CAE3-6BED-93FB-799A26CB98B7}"/>
              </a:ext>
            </a:extLst>
          </p:cNvPr>
          <p:cNvSpPr>
            <a:spLocks noGrp="1"/>
          </p:cNvSpPr>
          <p:nvPr>
            <p:ph type="title"/>
          </p:nvPr>
        </p:nvSpPr>
        <p:spPr/>
        <p:txBody>
          <a:bodyPr/>
          <a:lstStyle/>
          <a:p>
            <a:r>
              <a:rPr kumimoji="1" lang="ja-JP" altLang="en-US" dirty="0"/>
              <a:t>在室確認システム</a:t>
            </a:r>
            <a:r>
              <a:rPr lang="ja-JP" altLang="en-US" dirty="0"/>
              <a:t> </a:t>
            </a:r>
            <a:r>
              <a:rPr lang="en-US" altLang="ja-JP" dirty="0"/>
              <a:t>– </a:t>
            </a:r>
            <a:r>
              <a:rPr lang="ja-JP" altLang="en-US" dirty="0"/>
              <a:t>制御デバイス</a:t>
            </a:r>
            <a:endParaRPr kumimoji="1" lang="ja-JP" altLang="en-US" dirty="0"/>
          </a:p>
        </p:txBody>
      </p:sp>
      <p:sp>
        <p:nvSpPr>
          <p:cNvPr id="289" name="TextBox 12">
            <a:extLst>
              <a:ext uri="{FF2B5EF4-FFF2-40B4-BE49-F238E27FC236}">
                <a16:creationId xmlns:a16="http://schemas.microsoft.com/office/drawing/2014/main" id="{17E1F67E-E310-4D6C-3FC5-35988A6D4A4D}"/>
              </a:ext>
            </a:extLst>
          </p:cNvPr>
          <p:cNvSpPr txBox="1">
            <a:spLocks noChangeArrowheads="1"/>
          </p:cNvSpPr>
          <p:nvPr/>
        </p:nvSpPr>
        <p:spPr bwMode="auto">
          <a:xfrm>
            <a:off x="1707208" y="5001976"/>
            <a:ext cx="16050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Raspberry Pi 4B</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(172.16.15.8)</a:t>
            </a:r>
          </a:p>
        </p:txBody>
      </p:sp>
      <p:sp>
        <p:nvSpPr>
          <p:cNvPr id="236" name="テキスト ボックス 235">
            <a:extLst>
              <a:ext uri="{FF2B5EF4-FFF2-40B4-BE49-F238E27FC236}">
                <a16:creationId xmlns:a16="http://schemas.microsoft.com/office/drawing/2014/main" id="{0CCA0190-0D8D-8141-D029-F19C3CCC235E}"/>
              </a:ext>
            </a:extLst>
          </p:cNvPr>
          <p:cNvSpPr txBox="1"/>
          <p:nvPr/>
        </p:nvSpPr>
        <p:spPr>
          <a:xfrm>
            <a:off x="1077353" y="4303759"/>
            <a:ext cx="1162293" cy="276999"/>
          </a:xfrm>
          <a:prstGeom prst="rect">
            <a:avLst/>
          </a:prstGeom>
          <a:noFill/>
        </p:spPr>
        <p:txBody>
          <a:bodyPr wrap="square">
            <a:spAutoFit/>
          </a:body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RC-S380 S</a:t>
            </a:r>
          </a:p>
        </p:txBody>
      </p:sp>
      <p:pic>
        <p:nvPicPr>
          <p:cNvPr id="237" name="図 236" descr="黒い背景と白い文字のロゴ&#10;&#10;AI によって生成されたコンテンツは間違っている可能性があります。">
            <a:extLst>
              <a:ext uri="{FF2B5EF4-FFF2-40B4-BE49-F238E27FC236}">
                <a16:creationId xmlns:a16="http://schemas.microsoft.com/office/drawing/2014/main" id="{965CFC3F-1547-FE12-A0CE-EB28B81B0671}"/>
              </a:ext>
            </a:extLst>
          </p:cNvPr>
          <p:cNvPicPr>
            <a:picLocks noChangeAspect="1"/>
          </p:cNvPicPr>
          <p:nvPr/>
        </p:nvPicPr>
        <p:blipFill>
          <a:blip r:embed="rId3">
            <a:biLevel thresh="50000"/>
            <a:extLst>
              <a:ext uri="{28A0092B-C50C-407E-A947-70E740481C1C}">
                <a14:useLocalDpi xmlns:a14="http://schemas.microsoft.com/office/drawing/2010/main" val="0"/>
              </a:ext>
            </a:extLst>
          </a:blip>
          <a:srcRect t="19474" b="18132"/>
          <a:stretch/>
        </p:blipFill>
        <p:spPr>
          <a:xfrm flipH="1">
            <a:off x="693160" y="4508703"/>
            <a:ext cx="1605014" cy="751622"/>
          </a:xfrm>
          <a:prstGeom prst="rect">
            <a:avLst/>
          </a:prstGeom>
        </p:spPr>
      </p:pic>
      <p:grpSp>
        <p:nvGrpSpPr>
          <p:cNvPr id="241" name="グループ化 240">
            <a:extLst>
              <a:ext uri="{FF2B5EF4-FFF2-40B4-BE49-F238E27FC236}">
                <a16:creationId xmlns:a16="http://schemas.microsoft.com/office/drawing/2014/main" id="{3F8522C9-F72D-EF86-7F60-A88B5CC7F3A6}"/>
              </a:ext>
            </a:extLst>
          </p:cNvPr>
          <p:cNvGrpSpPr/>
          <p:nvPr/>
        </p:nvGrpSpPr>
        <p:grpSpPr>
          <a:xfrm>
            <a:off x="2051276" y="6087076"/>
            <a:ext cx="924337" cy="403333"/>
            <a:chOff x="2262291" y="5685876"/>
            <a:chExt cx="924337" cy="403333"/>
          </a:xfrm>
        </p:grpSpPr>
        <p:pic>
          <p:nvPicPr>
            <p:cNvPr id="286" name="図 285" descr="アイコン&#10;&#10;AI によって生成されたコンテンツは間違っている可能性があります。">
              <a:extLst>
                <a:ext uri="{FF2B5EF4-FFF2-40B4-BE49-F238E27FC236}">
                  <a16:creationId xmlns:a16="http://schemas.microsoft.com/office/drawing/2014/main" id="{32464A34-D04A-FD18-D69E-E549AF9FC6E5}"/>
                </a:ext>
              </a:extLst>
            </p:cNvPr>
            <p:cNvPicPr>
              <a:picLocks noChangeAspect="1"/>
            </p:cNvPicPr>
            <p:nvPr/>
          </p:nvPicPr>
          <p:blipFill>
            <a:blip r:embed="rId4">
              <a:extLst>
                <a:ext uri="{28A0092B-C50C-407E-A947-70E740481C1C}">
                  <a14:useLocalDpi xmlns:a14="http://schemas.microsoft.com/office/drawing/2010/main" val="0"/>
                </a:ext>
              </a:extLst>
            </a:blip>
            <a:srcRect l="10553" t="5709" r="9769" b="4466"/>
            <a:stretch/>
          </p:blipFill>
          <p:spPr>
            <a:xfrm>
              <a:off x="2262291" y="5685876"/>
              <a:ext cx="357774" cy="403333"/>
            </a:xfrm>
            <a:prstGeom prst="rect">
              <a:avLst/>
            </a:prstGeom>
          </p:spPr>
        </p:pic>
        <p:sp>
          <p:nvSpPr>
            <p:cNvPr id="287" name="テキスト ボックス 286">
              <a:extLst>
                <a:ext uri="{FF2B5EF4-FFF2-40B4-BE49-F238E27FC236}">
                  <a16:creationId xmlns:a16="http://schemas.microsoft.com/office/drawing/2014/main" id="{E9998AB7-2077-CD41-B5C7-BC7C43DE9731}"/>
                </a:ext>
              </a:extLst>
            </p:cNvPr>
            <p:cNvSpPr txBox="1"/>
            <p:nvPr/>
          </p:nvSpPr>
          <p:spPr>
            <a:xfrm>
              <a:off x="2557071" y="5749042"/>
              <a:ext cx="629557" cy="276999"/>
            </a:xfrm>
            <a:prstGeom prst="rect">
              <a:avLst/>
            </a:prstGeom>
            <a:noFill/>
          </p:spPr>
          <p:txBody>
            <a:bodyPr wrap="square">
              <a:spAutoFit/>
            </a:bodyPr>
            <a:lstStyle/>
            <a:p>
              <a:r>
                <a:rPr lang="en-US" altLang="ja-JP" sz="1200" dirty="0"/>
                <a:t>:3000</a:t>
              </a:r>
              <a:endParaRPr lang="ja-JP" altLang="en-US" sz="1200" dirty="0"/>
            </a:p>
          </p:txBody>
        </p:sp>
      </p:grpSp>
      <p:grpSp>
        <p:nvGrpSpPr>
          <p:cNvPr id="242" name="グループ化 241">
            <a:extLst>
              <a:ext uri="{FF2B5EF4-FFF2-40B4-BE49-F238E27FC236}">
                <a16:creationId xmlns:a16="http://schemas.microsoft.com/office/drawing/2014/main" id="{CED50E7A-00AC-8AFA-32A7-A1F85795A0CE}"/>
              </a:ext>
            </a:extLst>
          </p:cNvPr>
          <p:cNvGrpSpPr/>
          <p:nvPr/>
        </p:nvGrpSpPr>
        <p:grpSpPr>
          <a:xfrm>
            <a:off x="2043915" y="5648135"/>
            <a:ext cx="931698" cy="372497"/>
            <a:chOff x="2254930" y="5246935"/>
            <a:chExt cx="931698" cy="372497"/>
          </a:xfrm>
        </p:grpSpPr>
        <p:pic>
          <p:nvPicPr>
            <p:cNvPr id="284" name="グラフィックス 283">
              <a:extLst>
                <a:ext uri="{FF2B5EF4-FFF2-40B4-BE49-F238E27FC236}">
                  <a16:creationId xmlns:a16="http://schemas.microsoft.com/office/drawing/2014/main" id="{F31C4119-EF4F-FD3C-2CE2-6F51FE4688C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254930" y="5246935"/>
              <a:ext cx="372497" cy="372497"/>
            </a:xfrm>
            <a:prstGeom prst="rect">
              <a:avLst/>
            </a:prstGeom>
          </p:spPr>
        </p:pic>
        <p:sp>
          <p:nvSpPr>
            <p:cNvPr id="285" name="テキスト ボックス 284">
              <a:extLst>
                <a:ext uri="{FF2B5EF4-FFF2-40B4-BE49-F238E27FC236}">
                  <a16:creationId xmlns:a16="http://schemas.microsoft.com/office/drawing/2014/main" id="{67E311AB-AC70-4A2E-A593-569045A14EC2}"/>
                </a:ext>
              </a:extLst>
            </p:cNvPr>
            <p:cNvSpPr txBox="1"/>
            <p:nvPr/>
          </p:nvSpPr>
          <p:spPr>
            <a:xfrm>
              <a:off x="2557071" y="5306333"/>
              <a:ext cx="629557" cy="276999"/>
            </a:xfrm>
            <a:prstGeom prst="rect">
              <a:avLst/>
            </a:prstGeom>
            <a:noFill/>
          </p:spPr>
          <p:txBody>
            <a:bodyPr wrap="square">
              <a:spAutoFit/>
            </a:bodyPr>
            <a:lstStyle/>
            <a:p>
              <a:r>
                <a:rPr lang="en-US" altLang="ja-JP" sz="1200" dirty="0"/>
                <a:t>:8000</a:t>
              </a:r>
              <a:endParaRPr lang="ja-JP" altLang="en-US" sz="1200" dirty="0"/>
            </a:p>
          </p:txBody>
        </p:sp>
      </p:grpSp>
      <p:sp>
        <p:nvSpPr>
          <p:cNvPr id="306" name="Rectangle 103" descr="Generic group dashed.">
            <a:extLst>
              <a:ext uri="{FF2B5EF4-FFF2-40B4-BE49-F238E27FC236}">
                <a16:creationId xmlns:a16="http://schemas.microsoft.com/office/drawing/2014/main" id="{94A063E9-0207-D136-474D-D0198315559F}"/>
              </a:ext>
            </a:extLst>
          </p:cNvPr>
          <p:cNvSpPr/>
          <p:nvPr/>
        </p:nvSpPr>
        <p:spPr>
          <a:xfrm>
            <a:off x="690522" y="3933107"/>
            <a:ext cx="2615365" cy="2822096"/>
          </a:xfrm>
          <a:prstGeom prst="rect">
            <a:avLst/>
          </a:prstGeom>
          <a:noFill/>
          <a:ln w="15875">
            <a:solidFill>
              <a:srgbClr val="7D8998"/>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a:defRPr/>
            </a:pPr>
            <a:r>
              <a:rPr lang="ja-JP" altLang="en-US" sz="1200" dirty="0">
                <a:solidFill>
                  <a:schemeClr val="tx1"/>
                </a:solidFill>
                <a:latin typeface="Arial" panose="020B0604020202020204" pitchFamily="34" charset="0"/>
                <a:cs typeface="Arial" panose="020B0604020202020204" pitchFamily="34" charset="0"/>
              </a:rPr>
              <a:t>学生部屋（</a:t>
            </a:r>
            <a:r>
              <a:rPr lang="en-US" altLang="ja-JP" sz="1200" dirty="0">
                <a:solidFill>
                  <a:schemeClr val="tx1"/>
                </a:solidFill>
                <a:latin typeface="Arial" panose="020B0604020202020204" pitchFamily="34" charset="0"/>
                <a:cs typeface="Arial" panose="020B0604020202020204" pitchFamily="34" charset="0"/>
              </a:rPr>
              <a:t>J1401</a:t>
            </a:r>
            <a:r>
              <a:rPr lang="ja-JP" altLang="en-US" sz="1200" dirty="0">
                <a:solidFill>
                  <a:schemeClr val="tx1"/>
                </a:solidFill>
                <a:latin typeface="Arial" panose="020B0604020202020204" pitchFamily="34" charset="0"/>
                <a:cs typeface="Arial" panose="020B0604020202020204" pitchFamily="34" charset="0"/>
              </a:rPr>
              <a:t>）</a:t>
            </a:r>
            <a:endParaRPr lang="en-US" sz="1200" dirty="0">
              <a:solidFill>
                <a:schemeClr val="tx1"/>
              </a:solidFill>
              <a:latin typeface="Arial" panose="020B0604020202020204" pitchFamily="34" charset="0"/>
              <a:cs typeface="Arial" panose="020B0604020202020204" pitchFamily="34" charset="0"/>
            </a:endParaRPr>
          </a:p>
        </p:txBody>
      </p:sp>
      <p:pic>
        <p:nvPicPr>
          <p:cNvPr id="307" name="グラフィックス 306">
            <a:extLst>
              <a:ext uri="{FF2B5EF4-FFF2-40B4-BE49-F238E27FC236}">
                <a16:creationId xmlns:a16="http://schemas.microsoft.com/office/drawing/2014/main" id="{D6B9C1A8-9806-18FE-DF36-525F9F33602A}"/>
              </a:ext>
            </a:extLst>
          </p:cNvPr>
          <p:cNvPicPr>
            <a:picLocks noChangeAspect="1"/>
          </p:cNvPicPr>
          <p:nvPr/>
        </p:nvPicPr>
        <p:blipFill>
          <a:blip r:embed="rId7">
            <a:grayscl/>
            <a:extLst>
              <a:ext uri="{96DAC541-7B7A-43D3-8B79-37D633B846F1}">
                <asvg:svgBlip xmlns:asvg="http://schemas.microsoft.com/office/drawing/2016/SVG/main" r:embed="rId8"/>
              </a:ext>
            </a:extLst>
          </a:blip>
          <a:srcRect l="25148" t="16203" r="25948" b="16205"/>
          <a:stretch/>
        </p:blipFill>
        <p:spPr>
          <a:xfrm rot="16200000">
            <a:off x="1042395" y="5874413"/>
            <a:ext cx="599552" cy="828660"/>
          </a:xfrm>
          <a:prstGeom prst="rect">
            <a:avLst/>
          </a:prstGeom>
        </p:spPr>
      </p:pic>
      <p:cxnSp>
        <p:nvCxnSpPr>
          <p:cNvPr id="372" name="Straight Arrow Connector 52" descr="Double pointing horizontal arrow.">
            <a:extLst>
              <a:ext uri="{FF2B5EF4-FFF2-40B4-BE49-F238E27FC236}">
                <a16:creationId xmlns:a16="http://schemas.microsoft.com/office/drawing/2014/main" id="{3D9EA8E3-C19F-B94B-D858-84039C9FC212}"/>
              </a:ext>
            </a:extLst>
          </p:cNvPr>
          <p:cNvCxnSpPr>
            <a:cxnSpLocks/>
            <a:stCxn id="286" idx="1"/>
            <a:endCxn id="307" idx="2"/>
          </p:cNvCxnSpPr>
          <p:nvPr/>
        </p:nvCxnSpPr>
        <p:spPr>
          <a:xfrm flipH="1">
            <a:off x="1756501" y="6288743"/>
            <a:ext cx="294775" cy="0"/>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pic>
        <p:nvPicPr>
          <p:cNvPr id="3" name="Picture 2" descr="Raspberry icon - Free download on Iconfinder">
            <a:extLst>
              <a:ext uri="{FF2B5EF4-FFF2-40B4-BE49-F238E27FC236}">
                <a16:creationId xmlns:a16="http://schemas.microsoft.com/office/drawing/2014/main" id="{03004737-6454-7D30-64EF-7CAF7E6F0EF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44769" y="4471085"/>
            <a:ext cx="544810" cy="544810"/>
          </a:xfrm>
          <a:prstGeom prst="rect">
            <a:avLst/>
          </a:prstGeom>
          <a:noFill/>
          <a:extLst>
            <a:ext uri="{909E8E84-426E-40DD-AFC4-6F175D3DCCD1}">
              <a14:hiddenFill xmlns:a14="http://schemas.microsoft.com/office/drawing/2010/main">
                <a:solidFill>
                  <a:srgbClr val="FFFFFF"/>
                </a:solidFill>
              </a14:hiddenFill>
            </a:ext>
          </a:extLst>
        </p:spPr>
      </p:pic>
      <p:grpSp>
        <p:nvGrpSpPr>
          <p:cNvPr id="9" name="グループ化 8">
            <a:extLst>
              <a:ext uri="{FF2B5EF4-FFF2-40B4-BE49-F238E27FC236}">
                <a16:creationId xmlns:a16="http://schemas.microsoft.com/office/drawing/2014/main" id="{F1FBD0A2-BF61-9B91-CCBF-02263F4D08DF}"/>
              </a:ext>
            </a:extLst>
          </p:cNvPr>
          <p:cNvGrpSpPr/>
          <p:nvPr/>
        </p:nvGrpSpPr>
        <p:grpSpPr>
          <a:xfrm>
            <a:off x="3305887" y="1301487"/>
            <a:ext cx="5430653" cy="5453716"/>
            <a:chOff x="3305887" y="1301487"/>
            <a:chExt cx="5430653" cy="5453716"/>
          </a:xfrm>
        </p:grpSpPr>
        <p:sp>
          <p:nvSpPr>
            <p:cNvPr id="6" name="正方形/長方形 5">
              <a:extLst>
                <a:ext uri="{FF2B5EF4-FFF2-40B4-BE49-F238E27FC236}">
                  <a16:creationId xmlns:a16="http://schemas.microsoft.com/office/drawing/2014/main" id="{C1FE2709-2972-B460-505E-F8066FC27766}"/>
                </a:ext>
              </a:extLst>
            </p:cNvPr>
            <p:cNvSpPr/>
            <p:nvPr/>
          </p:nvSpPr>
          <p:spPr>
            <a:xfrm>
              <a:off x="3469616" y="1648657"/>
              <a:ext cx="5173870" cy="5106546"/>
            </a:xfrm>
            <a:prstGeom prst="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0000" rIns="0" bIns="0" rtlCol="0" anchor="ctr"/>
            <a:lstStyle/>
            <a:p>
              <a:r>
                <a:rPr lang="en-US" altLang="ja-JP" sz="1400" dirty="0"/>
                <a:t>.</a:t>
              </a:r>
            </a:p>
            <a:p>
              <a:r>
                <a:rPr lang="en-US" altLang="ja-JP" sz="1400" dirty="0"/>
                <a:t>├── .env</a:t>
              </a:r>
            </a:p>
            <a:p>
              <a:r>
                <a:rPr lang="en-US" altLang="ja-JP" sz="1400" dirty="0"/>
                <a:t>│</a:t>
              </a:r>
            </a:p>
            <a:p>
              <a:r>
                <a:rPr lang="en-US" altLang="ja-JP" sz="1400" dirty="0"/>
                <a:t>├── app</a:t>
              </a:r>
            </a:p>
            <a:p>
              <a:r>
                <a:rPr lang="en-US" altLang="ja-JP" sz="1400" dirty="0"/>
                <a:t>│   ├── …</a:t>
              </a:r>
            </a:p>
            <a:p>
              <a:r>
                <a:rPr lang="en-US" altLang="ja-JP" sz="1400" dirty="0"/>
                <a:t>│</a:t>
              </a:r>
            </a:p>
            <a:p>
              <a:r>
                <a:rPr lang="en-US" altLang="ja-JP" sz="1400" dirty="0"/>
                <a:t>├── data</a:t>
              </a:r>
            </a:p>
            <a:p>
              <a:r>
                <a:rPr lang="en-US" altLang="ja-JP" sz="1400" dirty="0"/>
                <a:t>│   ├── …</a:t>
              </a:r>
            </a:p>
            <a:p>
              <a:r>
                <a:rPr lang="ja-JP" altLang="en-US" sz="1400" dirty="0"/>
                <a:t>｜</a:t>
              </a:r>
              <a:endParaRPr lang="en-US" altLang="ja-JP" sz="1400" dirty="0"/>
            </a:p>
            <a:p>
              <a:r>
                <a:rPr lang="en-US" altLang="ja-JP" sz="1400" dirty="0"/>
                <a:t>├── logs</a:t>
              </a:r>
            </a:p>
            <a:p>
              <a:r>
                <a:rPr lang="en-US" altLang="ja-JP" sz="1400" dirty="0"/>
                <a:t>│   └── *.log</a:t>
              </a:r>
            </a:p>
            <a:p>
              <a:r>
                <a:rPr lang="en-US" altLang="ja-JP" sz="1400" dirty="0"/>
                <a:t>│</a:t>
              </a:r>
            </a:p>
            <a:p>
              <a:r>
                <a:rPr lang="en-US" altLang="ja-JP" sz="1400" dirty="0"/>
                <a:t>├── shared</a:t>
              </a:r>
            </a:p>
            <a:p>
              <a:r>
                <a:rPr lang="en-US" altLang="ja-JP" sz="1400" dirty="0"/>
                <a:t>│   ├── …</a:t>
              </a:r>
            </a:p>
            <a:p>
              <a:r>
                <a:rPr lang="ja-JP" altLang="en-US" sz="1400" dirty="0"/>
                <a:t>｜</a:t>
              </a:r>
              <a:endParaRPr lang="en-US" altLang="ja-JP" sz="1400" dirty="0"/>
            </a:p>
            <a:p>
              <a:r>
                <a:rPr lang="en-US" altLang="ja-JP" sz="1400" dirty="0"/>
                <a:t>├── web</a:t>
              </a:r>
            </a:p>
            <a:p>
              <a:r>
                <a:rPr lang="en-US" altLang="ja-JP" sz="1400" dirty="0"/>
                <a:t>│   └── frontend</a:t>
              </a:r>
            </a:p>
            <a:p>
              <a:r>
                <a:rPr lang="en-US" altLang="ja-JP" sz="1400" dirty="0"/>
                <a:t>│       </a:t>
              </a:r>
              <a:r>
                <a:rPr lang="ja-JP" altLang="en-US" sz="1400" dirty="0"/>
                <a:t>  </a:t>
              </a:r>
              <a:r>
                <a:rPr lang="en-US" altLang="ja-JP" sz="1400" dirty="0"/>
                <a:t>├── .env</a:t>
              </a:r>
            </a:p>
            <a:p>
              <a:r>
                <a:rPr lang="en-US" altLang="ja-JP" sz="1400" dirty="0"/>
                <a:t>│         └── …</a:t>
              </a:r>
            </a:p>
            <a:p>
              <a:r>
                <a:rPr lang="en-US" altLang="ja-JP" sz="1400" dirty="0"/>
                <a:t>│</a:t>
              </a:r>
              <a:endParaRPr lang="en-US" altLang="ja-JP" sz="1400" b="1" dirty="0"/>
            </a:p>
            <a:p>
              <a:r>
                <a:rPr lang="en-US" altLang="ja-JP" sz="1400" dirty="0"/>
                <a:t>└── worker</a:t>
              </a:r>
            </a:p>
            <a:p>
              <a:r>
                <a:rPr lang="en-US" altLang="ja-JP" sz="1400" dirty="0"/>
                <a:t>    ├── …</a:t>
              </a:r>
            </a:p>
            <a:p>
              <a:pPr algn="ctr"/>
              <a:endParaRPr kumimoji="1" lang="ja-JP" altLang="en-US" sz="1400" dirty="0"/>
            </a:p>
          </p:txBody>
        </p:sp>
        <p:sp>
          <p:nvSpPr>
            <p:cNvPr id="8" name="テキスト ボックス 7">
              <a:extLst>
                <a:ext uri="{FF2B5EF4-FFF2-40B4-BE49-F238E27FC236}">
                  <a16:creationId xmlns:a16="http://schemas.microsoft.com/office/drawing/2014/main" id="{C0A25554-23E0-038C-98AC-82BB9A0BE1EB}"/>
                </a:ext>
              </a:extLst>
            </p:cNvPr>
            <p:cNvSpPr txBox="1"/>
            <p:nvPr/>
          </p:nvSpPr>
          <p:spPr>
            <a:xfrm>
              <a:off x="3305887" y="1301487"/>
              <a:ext cx="5430653" cy="338554"/>
            </a:xfrm>
            <a:prstGeom prst="rect">
              <a:avLst/>
            </a:prstGeom>
            <a:noFill/>
          </p:spPr>
          <p:txBody>
            <a:bodyPr wrap="square" rtlCol="0">
              <a:spAutoFit/>
            </a:bodyPr>
            <a:lstStyle/>
            <a:p>
              <a:pPr algn="ctr"/>
              <a:r>
                <a:rPr kumimoji="1" lang="ja-JP" altLang="en-US" sz="1600" dirty="0"/>
                <a:t>現行の制御デバイス</a:t>
              </a:r>
              <a:r>
                <a:rPr kumimoji="1" lang="en-US" altLang="ja-JP" sz="1600" dirty="0"/>
                <a:t>(172.16.15.8</a:t>
              </a:r>
              <a:r>
                <a:rPr lang="en-US" altLang="ja-JP" sz="1600" dirty="0"/>
                <a:t>)</a:t>
              </a:r>
              <a:r>
                <a:rPr lang="ja-JP" altLang="en-US" sz="1600" dirty="0"/>
                <a:t>のディレクトリ構成</a:t>
              </a:r>
              <a:endParaRPr kumimoji="1" lang="ja-JP" altLang="en-US" sz="1600" dirty="0"/>
            </a:p>
          </p:txBody>
        </p:sp>
      </p:grpSp>
      <p:sp>
        <p:nvSpPr>
          <p:cNvPr id="10" name="正方形/長方形 9">
            <a:extLst>
              <a:ext uri="{FF2B5EF4-FFF2-40B4-BE49-F238E27FC236}">
                <a16:creationId xmlns:a16="http://schemas.microsoft.com/office/drawing/2014/main" id="{9EB5FDA4-B8FF-F441-E3B3-1ADFAC9278DB}"/>
              </a:ext>
            </a:extLst>
          </p:cNvPr>
          <p:cNvSpPr/>
          <p:nvPr/>
        </p:nvSpPr>
        <p:spPr>
          <a:xfrm>
            <a:off x="3817249" y="2333486"/>
            <a:ext cx="1559081" cy="565110"/>
          </a:xfrm>
          <a:prstGeom prst="rect">
            <a:avLst/>
          </a:prstGeom>
          <a:solidFill>
            <a:srgbClr val="F2F2F2">
              <a:alpha val="50196"/>
            </a:srgbClr>
          </a:solid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EE61EADD-42BC-CB0E-8919-837495FEEF41}"/>
              </a:ext>
            </a:extLst>
          </p:cNvPr>
          <p:cNvSpPr/>
          <p:nvPr/>
        </p:nvSpPr>
        <p:spPr>
          <a:xfrm>
            <a:off x="3817249" y="2980670"/>
            <a:ext cx="1559081" cy="565111"/>
          </a:xfrm>
          <a:prstGeom prst="rect">
            <a:avLst/>
          </a:prstGeom>
          <a:solidFill>
            <a:srgbClr val="F2F2F2">
              <a:alpha val="50196"/>
            </a:srgbClr>
          </a:solidFill>
          <a:ln w="1905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B74F7A09-685F-8C02-7301-513D62BBA01C}"/>
              </a:ext>
            </a:extLst>
          </p:cNvPr>
          <p:cNvSpPr/>
          <p:nvPr/>
        </p:nvSpPr>
        <p:spPr>
          <a:xfrm>
            <a:off x="3817249" y="3627855"/>
            <a:ext cx="1559081" cy="565111"/>
          </a:xfrm>
          <a:prstGeom prst="rect">
            <a:avLst/>
          </a:prstGeom>
          <a:solidFill>
            <a:srgbClr val="F2F2F2">
              <a:alpha val="50196"/>
            </a:srgbClr>
          </a:solidFill>
          <a:ln w="1905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7DFD6463-CF44-4A25-973B-3351157CED33}"/>
              </a:ext>
            </a:extLst>
          </p:cNvPr>
          <p:cNvSpPr/>
          <p:nvPr/>
        </p:nvSpPr>
        <p:spPr>
          <a:xfrm>
            <a:off x="3817250" y="4275040"/>
            <a:ext cx="1559082" cy="565111"/>
          </a:xfrm>
          <a:prstGeom prst="rect">
            <a:avLst/>
          </a:prstGeom>
          <a:solidFill>
            <a:srgbClr val="F2F2F2">
              <a:alpha val="50196"/>
            </a:srgbClr>
          </a:solidFill>
          <a:ln w="1905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23AA4F32-84DE-A686-C7BE-7FC634A42CF1}"/>
              </a:ext>
            </a:extLst>
          </p:cNvPr>
          <p:cNvSpPr/>
          <p:nvPr/>
        </p:nvSpPr>
        <p:spPr>
          <a:xfrm>
            <a:off x="3817249" y="4926787"/>
            <a:ext cx="1559083" cy="944846"/>
          </a:xfrm>
          <a:prstGeom prst="rect">
            <a:avLst/>
          </a:prstGeom>
          <a:solidFill>
            <a:srgbClr val="F2F2F2">
              <a:alpha val="50196"/>
            </a:srgbClr>
          </a:solid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5" name="正方形/長方形 14">
            <a:extLst>
              <a:ext uri="{FF2B5EF4-FFF2-40B4-BE49-F238E27FC236}">
                <a16:creationId xmlns:a16="http://schemas.microsoft.com/office/drawing/2014/main" id="{A6A823B5-C07D-FD26-2838-BF666A3AF4E5}"/>
              </a:ext>
            </a:extLst>
          </p:cNvPr>
          <p:cNvSpPr/>
          <p:nvPr/>
        </p:nvSpPr>
        <p:spPr>
          <a:xfrm>
            <a:off x="3817249" y="5959525"/>
            <a:ext cx="1559083" cy="565111"/>
          </a:xfrm>
          <a:prstGeom prst="rect">
            <a:avLst/>
          </a:prstGeom>
          <a:solidFill>
            <a:srgbClr val="F2F2F2">
              <a:alpha val="50196"/>
            </a:srgbClr>
          </a:solidFill>
          <a:ln w="1905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ボックス 15">
            <a:extLst>
              <a:ext uri="{FF2B5EF4-FFF2-40B4-BE49-F238E27FC236}">
                <a16:creationId xmlns:a16="http://schemas.microsoft.com/office/drawing/2014/main" id="{50A69812-DCE4-5214-7BD0-0355D6B403D5}"/>
              </a:ext>
            </a:extLst>
          </p:cNvPr>
          <p:cNvSpPr txBox="1"/>
          <p:nvPr/>
        </p:nvSpPr>
        <p:spPr>
          <a:xfrm>
            <a:off x="5843374" y="2462152"/>
            <a:ext cx="2614826" cy="307777"/>
          </a:xfrm>
          <a:prstGeom prst="rect">
            <a:avLst/>
          </a:prstGeom>
          <a:noFill/>
        </p:spPr>
        <p:txBody>
          <a:bodyPr wrap="square" rtlCol="0">
            <a:spAutoFit/>
          </a:bodyPr>
          <a:lstStyle/>
          <a:p>
            <a:r>
              <a:rPr kumimoji="1" lang="en-US" altLang="ja-JP" sz="1400" dirty="0" err="1"/>
              <a:t>FastAPI</a:t>
            </a:r>
            <a:r>
              <a:rPr lang="ja-JP" altLang="en-US" sz="1400" dirty="0"/>
              <a:t>関連</a:t>
            </a:r>
            <a:endParaRPr kumimoji="1" lang="ja-JP" altLang="en-US" sz="1400" dirty="0"/>
          </a:p>
        </p:txBody>
      </p:sp>
      <p:pic>
        <p:nvPicPr>
          <p:cNvPr id="18" name="グラフィックス 17">
            <a:extLst>
              <a:ext uri="{FF2B5EF4-FFF2-40B4-BE49-F238E27FC236}">
                <a16:creationId xmlns:a16="http://schemas.microsoft.com/office/drawing/2014/main" id="{74BA707B-58BE-5D6D-1103-DCEECB0F307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470877" y="2429791"/>
            <a:ext cx="372497" cy="372497"/>
          </a:xfrm>
          <a:prstGeom prst="rect">
            <a:avLst/>
          </a:prstGeom>
        </p:spPr>
      </p:pic>
      <p:pic>
        <p:nvPicPr>
          <p:cNvPr id="1026" name="Picture 2" descr="SQLite】10分で分かる SQLiteとは？ | レンサバ">
            <a:extLst>
              <a:ext uri="{FF2B5EF4-FFF2-40B4-BE49-F238E27FC236}">
                <a16:creationId xmlns:a16="http://schemas.microsoft.com/office/drawing/2014/main" id="{1924C9BE-61E9-1021-042A-E1AD3BAD5DD5}"/>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13878" r="14269"/>
          <a:stretch/>
        </p:blipFill>
        <p:spPr bwMode="auto">
          <a:xfrm>
            <a:off x="5475632" y="3073434"/>
            <a:ext cx="367742" cy="372497"/>
          </a:xfrm>
          <a:prstGeom prst="rect">
            <a:avLst/>
          </a:prstGeom>
          <a:noFill/>
          <a:extLst>
            <a:ext uri="{909E8E84-426E-40DD-AFC4-6F175D3DCCD1}">
              <a14:hiddenFill xmlns:a14="http://schemas.microsoft.com/office/drawing/2010/main">
                <a:solidFill>
                  <a:srgbClr val="FFFFFF"/>
                </a:solidFill>
              </a14:hiddenFill>
            </a:ext>
          </a:extLst>
        </p:spPr>
      </p:pic>
      <p:sp>
        <p:nvSpPr>
          <p:cNvPr id="20" name="テキスト ボックス 19">
            <a:extLst>
              <a:ext uri="{FF2B5EF4-FFF2-40B4-BE49-F238E27FC236}">
                <a16:creationId xmlns:a16="http://schemas.microsoft.com/office/drawing/2014/main" id="{E0BAD942-3ED0-978D-627F-651D0C165361}"/>
              </a:ext>
            </a:extLst>
          </p:cNvPr>
          <p:cNvSpPr txBox="1"/>
          <p:nvPr/>
        </p:nvSpPr>
        <p:spPr>
          <a:xfrm>
            <a:off x="5843374" y="3125295"/>
            <a:ext cx="2614826" cy="307777"/>
          </a:xfrm>
          <a:prstGeom prst="rect">
            <a:avLst/>
          </a:prstGeom>
          <a:noFill/>
        </p:spPr>
        <p:txBody>
          <a:bodyPr wrap="square" rtlCol="0">
            <a:spAutoFit/>
          </a:bodyPr>
          <a:lstStyle/>
          <a:p>
            <a:r>
              <a:rPr lang="en-US" altLang="ja-JP" sz="1400" dirty="0"/>
              <a:t>Database</a:t>
            </a:r>
            <a:r>
              <a:rPr lang="ja-JP" altLang="en-US" sz="1400" dirty="0"/>
              <a:t>関連</a:t>
            </a:r>
            <a:endParaRPr kumimoji="1" lang="ja-JP" altLang="en-US" sz="1400" dirty="0"/>
          </a:p>
        </p:txBody>
      </p:sp>
      <p:sp>
        <p:nvSpPr>
          <p:cNvPr id="21" name="テキスト ボックス 20">
            <a:extLst>
              <a:ext uri="{FF2B5EF4-FFF2-40B4-BE49-F238E27FC236}">
                <a16:creationId xmlns:a16="http://schemas.microsoft.com/office/drawing/2014/main" id="{7C5E9671-896C-0E88-D99C-85FC4E43960C}"/>
              </a:ext>
            </a:extLst>
          </p:cNvPr>
          <p:cNvSpPr txBox="1"/>
          <p:nvPr/>
        </p:nvSpPr>
        <p:spPr>
          <a:xfrm>
            <a:off x="5470877" y="3779218"/>
            <a:ext cx="2614826" cy="307777"/>
          </a:xfrm>
          <a:prstGeom prst="rect">
            <a:avLst/>
          </a:prstGeom>
          <a:noFill/>
        </p:spPr>
        <p:txBody>
          <a:bodyPr wrap="square" rtlCol="0">
            <a:spAutoFit/>
          </a:bodyPr>
          <a:lstStyle/>
          <a:p>
            <a:r>
              <a:rPr lang="ja-JP" altLang="en-US" sz="1400" dirty="0"/>
              <a:t>実行ログ関連</a:t>
            </a:r>
            <a:endParaRPr kumimoji="1" lang="ja-JP" altLang="en-US" sz="1400" dirty="0"/>
          </a:p>
        </p:txBody>
      </p:sp>
      <p:pic>
        <p:nvPicPr>
          <p:cNvPr id="23" name="図 22" descr="アイコン&#10;&#10;AI によって生成されたコンテンツは間違っている可能性があります。">
            <a:extLst>
              <a:ext uri="{FF2B5EF4-FFF2-40B4-BE49-F238E27FC236}">
                <a16:creationId xmlns:a16="http://schemas.microsoft.com/office/drawing/2014/main" id="{93E24844-ED38-8C0C-E1D2-9115DC378F62}"/>
              </a:ext>
            </a:extLst>
          </p:cNvPr>
          <p:cNvPicPr>
            <a:picLocks noChangeAspect="1"/>
          </p:cNvPicPr>
          <p:nvPr/>
        </p:nvPicPr>
        <p:blipFill>
          <a:blip r:embed="rId4">
            <a:extLst>
              <a:ext uri="{28A0092B-C50C-407E-A947-70E740481C1C}">
                <a14:useLocalDpi xmlns:a14="http://schemas.microsoft.com/office/drawing/2010/main" val="0"/>
              </a:ext>
            </a:extLst>
          </a:blip>
          <a:srcRect l="10553" t="5709" r="9769" b="4466"/>
          <a:stretch/>
        </p:blipFill>
        <p:spPr>
          <a:xfrm>
            <a:off x="5480878" y="5201191"/>
            <a:ext cx="357774" cy="403333"/>
          </a:xfrm>
          <a:prstGeom prst="rect">
            <a:avLst/>
          </a:prstGeom>
        </p:spPr>
      </p:pic>
      <p:sp>
        <p:nvSpPr>
          <p:cNvPr id="25" name="テキスト ボックス 24">
            <a:extLst>
              <a:ext uri="{FF2B5EF4-FFF2-40B4-BE49-F238E27FC236}">
                <a16:creationId xmlns:a16="http://schemas.microsoft.com/office/drawing/2014/main" id="{20C79480-D018-1B26-18B0-85388ED759AB}"/>
              </a:ext>
            </a:extLst>
          </p:cNvPr>
          <p:cNvSpPr txBox="1"/>
          <p:nvPr/>
        </p:nvSpPr>
        <p:spPr>
          <a:xfrm>
            <a:off x="5838652" y="5248736"/>
            <a:ext cx="2614826" cy="307777"/>
          </a:xfrm>
          <a:prstGeom prst="rect">
            <a:avLst/>
          </a:prstGeom>
          <a:noFill/>
        </p:spPr>
        <p:txBody>
          <a:bodyPr wrap="square" rtlCol="0">
            <a:spAutoFit/>
          </a:bodyPr>
          <a:lstStyle/>
          <a:p>
            <a:r>
              <a:rPr lang="en-US" altLang="ja-JP" sz="1400" dirty="0"/>
              <a:t>React</a:t>
            </a:r>
            <a:r>
              <a:rPr lang="ja-JP" altLang="en-US" sz="1400" dirty="0"/>
              <a:t>関連</a:t>
            </a:r>
            <a:endParaRPr kumimoji="1" lang="ja-JP" altLang="en-US" sz="1400" dirty="0"/>
          </a:p>
        </p:txBody>
      </p:sp>
      <p:sp>
        <p:nvSpPr>
          <p:cNvPr id="26" name="テキスト ボックス 25">
            <a:extLst>
              <a:ext uri="{FF2B5EF4-FFF2-40B4-BE49-F238E27FC236}">
                <a16:creationId xmlns:a16="http://schemas.microsoft.com/office/drawing/2014/main" id="{9812D089-51CD-9E6E-EE95-6F7C0335E8B4}"/>
              </a:ext>
            </a:extLst>
          </p:cNvPr>
          <p:cNvSpPr txBox="1"/>
          <p:nvPr/>
        </p:nvSpPr>
        <p:spPr>
          <a:xfrm>
            <a:off x="5451820" y="4403706"/>
            <a:ext cx="2999019" cy="307777"/>
          </a:xfrm>
          <a:prstGeom prst="rect">
            <a:avLst/>
          </a:prstGeom>
          <a:noFill/>
        </p:spPr>
        <p:txBody>
          <a:bodyPr wrap="square" rtlCol="0">
            <a:spAutoFit/>
          </a:bodyPr>
          <a:lstStyle/>
          <a:p>
            <a:r>
              <a:rPr lang="en-US" altLang="ja-JP" sz="1400" dirty="0"/>
              <a:t>worker</a:t>
            </a:r>
            <a:r>
              <a:rPr lang="ja-JP" altLang="en-US" sz="1400" dirty="0"/>
              <a:t>と</a:t>
            </a:r>
            <a:r>
              <a:rPr lang="en-US" altLang="ja-JP" sz="1400" dirty="0"/>
              <a:t>app</a:t>
            </a:r>
            <a:r>
              <a:rPr lang="ja-JP" altLang="en-US" sz="1400" dirty="0"/>
              <a:t>の共通参照ファイル</a:t>
            </a:r>
            <a:endParaRPr kumimoji="1" lang="ja-JP" altLang="en-US" sz="1400" dirty="0"/>
          </a:p>
        </p:txBody>
      </p:sp>
      <p:sp>
        <p:nvSpPr>
          <p:cNvPr id="27" name="テキスト ボックス 26">
            <a:extLst>
              <a:ext uri="{FF2B5EF4-FFF2-40B4-BE49-F238E27FC236}">
                <a16:creationId xmlns:a16="http://schemas.microsoft.com/office/drawing/2014/main" id="{E7D5AF51-A08B-F52D-ADB7-5E5FEA913F79}"/>
              </a:ext>
            </a:extLst>
          </p:cNvPr>
          <p:cNvSpPr txBox="1"/>
          <p:nvPr/>
        </p:nvSpPr>
        <p:spPr>
          <a:xfrm>
            <a:off x="5451819" y="6093766"/>
            <a:ext cx="2999019" cy="307777"/>
          </a:xfrm>
          <a:prstGeom prst="rect">
            <a:avLst/>
          </a:prstGeom>
          <a:noFill/>
        </p:spPr>
        <p:txBody>
          <a:bodyPr wrap="square" rtlCol="0">
            <a:spAutoFit/>
          </a:bodyPr>
          <a:lstStyle/>
          <a:p>
            <a:r>
              <a:rPr lang="ja-JP" altLang="en-US" sz="1400" dirty="0"/>
              <a:t>タスク</a:t>
            </a:r>
            <a:r>
              <a:rPr kumimoji="1" lang="ja-JP" altLang="en-US" sz="1400" dirty="0"/>
              <a:t>処理関連</a:t>
            </a:r>
          </a:p>
        </p:txBody>
      </p:sp>
      <p:cxnSp>
        <p:nvCxnSpPr>
          <p:cNvPr id="7" name="直線矢印コネクタ 6">
            <a:extLst>
              <a:ext uri="{FF2B5EF4-FFF2-40B4-BE49-F238E27FC236}">
                <a16:creationId xmlns:a16="http://schemas.microsoft.com/office/drawing/2014/main" id="{BE36A4EE-D3BA-2BAB-2921-D789CFB5992A}"/>
              </a:ext>
            </a:extLst>
          </p:cNvPr>
          <p:cNvCxnSpPr/>
          <p:nvPr/>
        </p:nvCxnSpPr>
        <p:spPr>
          <a:xfrm flipV="1">
            <a:off x="4595050" y="2636215"/>
            <a:ext cx="0" cy="2772075"/>
          </a:xfrm>
          <a:prstGeom prst="straightConnector1">
            <a:avLst/>
          </a:prstGeom>
          <a:ln w="57150">
            <a:solidFill>
              <a:schemeClr val="accent6"/>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2D39DCD9-787D-1EC2-81C8-1D425BF96081}"/>
              </a:ext>
            </a:extLst>
          </p:cNvPr>
          <p:cNvSpPr txBox="1"/>
          <p:nvPr/>
        </p:nvSpPr>
        <p:spPr>
          <a:xfrm>
            <a:off x="4648682" y="3803807"/>
            <a:ext cx="2999017" cy="369332"/>
          </a:xfrm>
          <a:prstGeom prst="rect">
            <a:avLst/>
          </a:prstGeom>
          <a:noFill/>
        </p:spPr>
        <p:txBody>
          <a:bodyPr wrap="square" rtlCol="0">
            <a:spAutoFit/>
          </a:bodyPr>
          <a:lstStyle/>
          <a:p>
            <a:endParaRPr kumimoji="1" lang="ja-JP" altLang="en-US" b="1" dirty="0">
              <a:solidFill>
                <a:schemeClr val="accent6"/>
              </a:solidFill>
            </a:endParaRPr>
          </a:p>
        </p:txBody>
      </p:sp>
      <p:sp>
        <p:nvSpPr>
          <p:cNvPr id="19" name="正方形/長方形 18">
            <a:extLst>
              <a:ext uri="{FF2B5EF4-FFF2-40B4-BE49-F238E27FC236}">
                <a16:creationId xmlns:a16="http://schemas.microsoft.com/office/drawing/2014/main" id="{6BC5E9C4-6B22-265C-9C79-1370FA020833}"/>
              </a:ext>
            </a:extLst>
          </p:cNvPr>
          <p:cNvSpPr/>
          <p:nvPr/>
        </p:nvSpPr>
        <p:spPr>
          <a:xfrm>
            <a:off x="2382853" y="3710607"/>
            <a:ext cx="2089610" cy="641081"/>
          </a:xfrm>
          <a:prstGeom prst="rect">
            <a:avLst/>
          </a:prstGeom>
          <a:solidFill>
            <a:schemeClr val="bg2"/>
          </a:solidFill>
          <a:ln>
            <a:solidFill>
              <a:schemeClr val="tx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lIns="0" tIns="46800" rIns="0" bIns="0" rtlCol="0" anchor="ctr"/>
          <a:lstStyle/>
          <a:p>
            <a:pPr algn="ctr"/>
            <a:r>
              <a:rPr lang="ja-JP" altLang="en-US" sz="1400" dirty="0">
                <a:solidFill>
                  <a:schemeClr val="accent6"/>
                </a:solidFill>
              </a:rPr>
              <a:t>読み込んだ</a:t>
            </a:r>
            <a:r>
              <a:rPr lang="en-US" altLang="ja-JP" sz="1400" dirty="0">
                <a:solidFill>
                  <a:schemeClr val="accent6"/>
                </a:solidFill>
              </a:rPr>
              <a:t>ID</a:t>
            </a:r>
            <a:r>
              <a:rPr lang="ja-JP" altLang="en-US" sz="1400" dirty="0">
                <a:solidFill>
                  <a:schemeClr val="accent6"/>
                </a:solidFill>
              </a:rPr>
              <a:t>で</a:t>
            </a:r>
            <a:endParaRPr lang="en-US" altLang="ja-JP" sz="1400" dirty="0">
              <a:solidFill>
                <a:schemeClr val="accent6"/>
              </a:solidFill>
            </a:endParaRPr>
          </a:p>
          <a:p>
            <a:pPr algn="ctr"/>
            <a:r>
              <a:rPr lang="ja-JP" altLang="en-US" sz="1400" dirty="0">
                <a:solidFill>
                  <a:schemeClr val="accent6"/>
                </a:solidFill>
              </a:rPr>
              <a:t>「出勤」への変更を要求</a:t>
            </a:r>
          </a:p>
        </p:txBody>
      </p:sp>
      <p:sp>
        <p:nvSpPr>
          <p:cNvPr id="4" name="正方形/長方形 3">
            <a:extLst>
              <a:ext uri="{FF2B5EF4-FFF2-40B4-BE49-F238E27FC236}">
                <a16:creationId xmlns:a16="http://schemas.microsoft.com/office/drawing/2014/main" id="{F76C19DC-DE2D-16FA-49A9-8E67D6C092D4}"/>
              </a:ext>
            </a:extLst>
          </p:cNvPr>
          <p:cNvSpPr/>
          <p:nvPr/>
        </p:nvSpPr>
        <p:spPr>
          <a:xfrm>
            <a:off x="693160" y="1635422"/>
            <a:ext cx="2612727" cy="1206448"/>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t>例：ある登録済みユーザーが</a:t>
            </a:r>
            <a:endParaRPr lang="en-US" altLang="ja-JP" sz="1400" dirty="0"/>
          </a:p>
          <a:p>
            <a:pPr algn="ctr"/>
            <a:r>
              <a:rPr lang="ja-JP" altLang="en-US" sz="1400" dirty="0"/>
              <a:t>「在室 </a:t>
            </a:r>
            <a:r>
              <a:rPr lang="en-US" altLang="ja-JP" sz="1400" dirty="0"/>
              <a:t>(Clock In)</a:t>
            </a:r>
            <a:r>
              <a:rPr lang="ja-JP" altLang="en-US" sz="1400" dirty="0"/>
              <a:t>」ボタンを</a:t>
            </a:r>
            <a:endParaRPr lang="en-US" altLang="ja-JP" sz="1400" dirty="0"/>
          </a:p>
          <a:p>
            <a:pPr algn="ctr"/>
            <a:r>
              <a:rPr lang="ja-JP" altLang="en-US" sz="1400" dirty="0"/>
              <a:t>押した後，自身の</a:t>
            </a:r>
            <a:r>
              <a:rPr lang="en-US" altLang="ja-JP" sz="1400" dirty="0"/>
              <a:t>IC</a:t>
            </a:r>
            <a:r>
              <a:rPr lang="ja-JP" altLang="en-US" sz="1400" dirty="0"/>
              <a:t>カードを</a:t>
            </a:r>
            <a:endParaRPr lang="en-US" altLang="ja-JP" sz="1400" dirty="0"/>
          </a:p>
          <a:p>
            <a:pPr algn="ctr"/>
            <a:r>
              <a:rPr lang="ja-JP" altLang="en-US" sz="1400" dirty="0"/>
              <a:t>読み込んだ場合</a:t>
            </a:r>
          </a:p>
        </p:txBody>
      </p:sp>
    </p:spTree>
    <p:extLst>
      <p:ext uri="{BB962C8B-B14F-4D97-AF65-F5344CB8AC3E}">
        <p14:creationId xmlns:p14="http://schemas.microsoft.com/office/powerpoint/2010/main" val="6658995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E7B24-1DE4-C3B5-EF1B-F684176E719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B708A47-A79E-DDF4-7B4D-CADC672ABE11}"/>
              </a:ext>
            </a:extLst>
          </p:cNvPr>
          <p:cNvSpPr>
            <a:spLocks noGrp="1"/>
          </p:cNvSpPr>
          <p:nvPr>
            <p:ph type="title"/>
          </p:nvPr>
        </p:nvSpPr>
        <p:spPr/>
        <p:txBody>
          <a:bodyPr/>
          <a:lstStyle/>
          <a:p>
            <a:r>
              <a:rPr kumimoji="1" lang="ja-JP" altLang="en-US" dirty="0"/>
              <a:t>在室確認システム</a:t>
            </a:r>
            <a:r>
              <a:rPr lang="ja-JP" altLang="en-US" dirty="0"/>
              <a:t> </a:t>
            </a:r>
            <a:r>
              <a:rPr lang="en-US" altLang="ja-JP" dirty="0"/>
              <a:t>– </a:t>
            </a:r>
            <a:r>
              <a:rPr lang="ja-JP" altLang="en-US" dirty="0"/>
              <a:t>制御デバイス</a:t>
            </a:r>
            <a:endParaRPr kumimoji="1" lang="ja-JP" altLang="en-US" dirty="0"/>
          </a:p>
        </p:txBody>
      </p:sp>
      <p:sp>
        <p:nvSpPr>
          <p:cNvPr id="289" name="TextBox 12">
            <a:extLst>
              <a:ext uri="{FF2B5EF4-FFF2-40B4-BE49-F238E27FC236}">
                <a16:creationId xmlns:a16="http://schemas.microsoft.com/office/drawing/2014/main" id="{44F9631C-5FD8-EF82-1C23-2AABDC3E9B9F}"/>
              </a:ext>
            </a:extLst>
          </p:cNvPr>
          <p:cNvSpPr txBox="1">
            <a:spLocks noChangeArrowheads="1"/>
          </p:cNvSpPr>
          <p:nvPr/>
        </p:nvSpPr>
        <p:spPr bwMode="auto">
          <a:xfrm>
            <a:off x="1707208" y="5001976"/>
            <a:ext cx="16050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Raspberry Pi 4B</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(172.16.15.8)</a:t>
            </a:r>
          </a:p>
        </p:txBody>
      </p:sp>
      <p:sp>
        <p:nvSpPr>
          <p:cNvPr id="236" name="テキスト ボックス 235">
            <a:extLst>
              <a:ext uri="{FF2B5EF4-FFF2-40B4-BE49-F238E27FC236}">
                <a16:creationId xmlns:a16="http://schemas.microsoft.com/office/drawing/2014/main" id="{D4AB8A52-96EA-E99F-625A-8FE2E9889509}"/>
              </a:ext>
            </a:extLst>
          </p:cNvPr>
          <p:cNvSpPr txBox="1"/>
          <p:nvPr/>
        </p:nvSpPr>
        <p:spPr>
          <a:xfrm>
            <a:off x="1077353" y="4303759"/>
            <a:ext cx="1162293" cy="276999"/>
          </a:xfrm>
          <a:prstGeom prst="rect">
            <a:avLst/>
          </a:prstGeom>
          <a:noFill/>
        </p:spPr>
        <p:txBody>
          <a:bodyPr wrap="square">
            <a:spAutoFit/>
          </a:body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RC-S380 S</a:t>
            </a:r>
          </a:p>
        </p:txBody>
      </p:sp>
      <p:pic>
        <p:nvPicPr>
          <p:cNvPr id="237" name="図 236" descr="黒い背景と白い文字のロゴ&#10;&#10;AI によって生成されたコンテンツは間違っている可能性があります。">
            <a:extLst>
              <a:ext uri="{FF2B5EF4-FFF2-40B4-BE49-F238E27FC236}">
                <a16:creationId xmlns:a16="http://schemas.microsoft.com/office/drawing/2014/main" id="{2A439ACF-AB7F-1DB8-684D-1DA620FD63B7}"/>
              </a:ext>
            </a:extLst>
          </p:cNvPr>
          <p:cNvPicPr>
            <a:picLocks noChangeAspect="1"/>
          </p:cNvPicPr>
          <p:nvPr/>
        </p:nvPicPr>
        <p:blipFill>
          <a:blip r:embed="rId3">
            <a:biLevel thresh="50000"/>
            <a:extLst>
              <a:ext uri="{28A0092B-C50C-407E-A947-70E740481C1C}">
                <a14:useLocalDpi xmlns:a14="http://schemas.microsoft.com/office/drawing/2010/main" val="0"/>
              </a:ext>
            </a:extLst>
          </a:blip>
          <a:srcRect t="19474" b="18132"/>
          <a:stretch/>
        </p:blipFill>
        <p:spPr>
          <a:xfrm flipH="1">
            <a:off x="693160" y="4508703"/>
            <a:ext cx="1605014" cy="751622"/>
          </a:xfrm>
          <a:prstGeom prst="rect">
            <a:avLst/>
          </a:prstGeom>
        </p:spPr>
      </p:pic>
      <p:grpSp>
        <p:nvGrpSpPr>
          <p:cNvPr id="241" name="グループ化 240">
            <a:extLst>
              <a:ext uri="{FF2B5EF4-FFF2-40B4-BE49-F238E27FC236}">
                <a16:creationId xmlns:a16="http://schemas.microsoft.com/office/drawing/2014/main" id="{4F818DB8-9AF1-11AD-209F-66ACAC7288BF}"/>
              </a:ext>
            </a:extLst>
          </p:cNvPr>
          <p:cNvGrpSpPr/>
          <p:nvPr/>
        </p:nvGrpSpPr>
        <p:grpSpPr>
          <a:xfrm>
            <a:off x="2051276" y="6087076"/>
            <a:ext cx="924337" cy="403333"/>
            <a:chOff x="2262291" y="5685876"/>
            <a:chExt cx="924337" cy="403333"/>
          </a:xfrm>
        </p:grpSpPr>
        <p:pic>
          <p:nvPicPr>
            <p:cNvPr id="286" name="図 285" descr="アイコン&#10;&#10;AI によって生成されたコンテンツは間違っている可能性があります。">
              <a:extLst>
                <a:ext uri="{FF2B5EF4-FFF2-40B4-BE49-F238E27FC236}">
                  <a16:creationId xmlns:a16="http://schemas.microsoft.com/office/drawing/2014/main" id="{E591E41E-17F9-7D5F-2B67-97909CBEFE5D}"/>
                </a:ext>
              </a:extLst>
            </p:cNvPr>
            <p:cNvPicPr>
              <a:picLocks noChangeAspect="1"/>
            </p:cNvPicPr>
            <p:nvPr/>
          </p:nvPicPr>
          <p:blipFill>
            <a:blip r:embed="rId4">
              <a:extLst>
                <a:ext uri="{28A0092B-C50C-407E-A947-70E740481C1C}">
                  <a14:useLocalDpi xmlns:a14="http://schemas.microsoft.com/office/drawing/2010/main" val="0"/>
                </a:ext>
              </a:extLst>
            </a:blip>
            <a:srcRect l="10553" t="5709" r="9769" b="4466"/>
            <a:stretch/>
          </p:blipFill>
          <p:spPr>
            <a:xfrm>
              <a:off x="2262291" y="5685876"/>
              <a:ext cx="357774" cy="403333"/>
            </a:xfrm>
            <a:prstGeom prst="rect">
              <a:avLst/>
            </a:prstGeom>
          </p:spPr>
        </p:pic>
        <p:sp>
          <p:nvSpPr>
            <p:cNvPr id="287" name="テキスト ボックス 286">
              <a:extLst>
                <a:ext uri="{FF2B5EF4-FFF2-40B4-BE49-F238E27FC236}">
                  <a16:creationId xmlns:a16="http://schemas.microsoft.com/office/drawing/2014/main" id="{D5039AA0-69C7-BF9B-1EBF-647B90572658}"/>
                </a:ext>
              </a:extLst>
            </p:cNvPr>
            <p:cNvSpPr txBox="1"/>
            <p:nvPr/>
          </p:nvSpPr>
          <p:spPr>
            <a:xfrm>
              <a:off x="2557071" y="5749042"/>
              <a:ext cx="629557" cy="276999"/>
            </a:xfrm>
            <a:prstGeom prst="rect">
              <a:avLst/>
            </a:prstGeom>
            <a:noFill/>
          </p:spPr>
          <p:txBody>
            <a:bodyPr wrap="square">
              <a:spAutoFit/>
            </a:bodyPr>
            <a:lstStyle/>
            <a:p>
              <a:r>
                <a:rPr lang="en-US" altLang="ja-JP" sz="1200" dirty="0"/>
                <a:t>:3000</a:t>
              </a:r>
              <a:endParaRPr lang="ja-JP" altLang="en-US" sz="1200" dirty="0"/>
            </a:p>
          </p:txBody>
        </p:sp>
      </p:grpSp>
      <p:grpSp>
        <p:nvGrpSpPr>
          <p:cNvPr id="242" name="グループ化 241">
            <a:extLst>
              <a:ext uri="{FF2B5EF4-FFF2-40B4-BE49-F238E27FC236}">
                <a16:creationId xmlns:a16="http://schemas.microsoft.com/office/drawing/2014/main" id="{5818F6A8-6CCB-DEF6-8E98-F9BB88AC1873}"/>
              </a:ext>
            </a:extLst>
          </p:cNvPr>
          <p:cNvGrpSpPr/>
          <p:nvPr/>
        </p:nvGrpSpPr>
        <p:grpSpPr>
          <a:xfrm>
            <a:off x="2043915" y="5648135"/>
            <a:ext cx="931698" cy="372497"/>
            <a:chOff x="2254930" y="5246935"/>
            <a:chExt cx="931698" cy="372497"/>
          </a:xfrm>
        </p:grpSpPr>
        <p:pic>
          <p:nvPicPr>
            <p:cNvPr id="284" name="グラフィックス 283">
              <a:extLst>
                <a:ext uri="{FF2B5EF4-FFF2-40B4-BE49-F238E27FC236}">
                  <a16:creationId xmlns:a16="http://schemas.microsoft.com/office/drawing/2014/main" id="{69CA0F64-EF85-4A66-5848-1731B506CDE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254930" y="5246935"/>
              <a:ext cx="372497" cy="372497"/>
            </a:xfrm>
            <a:prstGeom prst="rect">
              <a:avLst/>
            </a:prstGeom>
          </p:spPr>
        </p:pic>
        <p:sp>
          <p:nvSpPr>
            <p:cNvPr id="285" name="テキスト ボックス 284">
              <a:extLst>
                <a:ext uri="{FF2B5EF4-FFF2-40B4-BE49-F238E27FC236}">
                  <a16:creationId xmlns:a16="http://schemas.microsoft.com/office/drawing/2014/main" id="{6612BABE-4860-408A-7397-769A6AAB8560}"/>
                </a:ext>
              </a:extLst>
            </p:cNvPr>
            <p:cNvSpPr txBox="1"/>
            <p:nvPr/>
          </p:nvSpPr>
          <p:spPr>
            <a:xfrm>
              <a:off x="2557071" y="5306333"/>
              <a:ext cx="629557" cy="276999"/>
            </a:xfrm>
            <a:prstGeom prst="rect">
              <a:avLst/>
            </a:prstGeom>
            <a:noFill/>
          </p:spPr>
          <p:txBody>
            <a:bodyPr wrap="square">
              <a:spAutoFit/>
            </a:bodyPr>
            <a:lstStyle/>
            <a:p>
              <a:r>
                <a:rPr lang="en-US" altLang="ja-JP" sz="1200" dirty="0"/>
                <a:t>:8000</a:t>
              </a:r>
              <a:endParaRPr lang="ja-JP" altLang="en-US" sz="1200" dirty="0"/>
            </a:p>
          </p:txBody>
        </p:sp>
      </p:grpSp>
      <p:sp>
        <p:nvSpPr>
          <p:cNvPr id="306" name="Rectangle 103" descr="Generic group dashed.">
            <a:extLst>
              <a:ext uri="{FF2B5EF4-FFF2-40B4-BE49-F238E27FC236}">
                <a16:creationId xmlns:a16="http://schemas.microsoft.com/office/drawing/2014/main" id="{CD710A0D-C143-BC29-DBE7-BA8286EEF8DA}"/>
              </a:ext>
            </a:extLst>
          </p:cNvPr>
          <p:cNvSpPr/>
          <p:nvPr/>
        </p:nvSpPr>
        <p:spPr>
          <a:xfrm>
            <a:off x="690522" y="3933107"/>
            <a:ext cx="2615365" cy="2822096"/>
          </a:xfrm>
          <a:prstGeom prst="rect">
            <a:avLst/>
          </a:prstGeom>
          <a:noFill/>
          <a:ln w="15875">
            <a:solidFill>
              <a:srgbClr val="7D8998"/>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a:defRPr/>
            </a:pPr>
            <a:r>
              <a:rPr lang="ja-JP" altLang="en-US" sz="1200" dirty="0">
                <a:solidFill>
                  <a:schemeClr val="tx1"/>
                </a:solidFill>
                <a:latin typeface="Arial" panose="020B0604020202020204" pitchFamily="34" charset="0"/>
                <a:cs typeface="Arial" panose="020B0604020202020204" pitchFamily="34" charset="0"/>
              </a:rPr>
              <a:t>学生部屋（</a:t>
            </a:r>
            <a:r>
              <a:rPr lang="en-US" altLang="ja-JP" sz="1200" dirty="0">
                <a:solidFill>
                  <a:schemeClr val="tx1"/>
                </a:solidFill>
                <a:latin typeface="Arial" panose="020B0604020202020204" pitchFamily="34" charset="0"/>
                <a:cs typeface="Arial" panose="020B0604020202020204" pitchFamily="34" charset="0"/>
              </a:rPr>
              <a:t>J1401</a:t>
            </a:r>
            <a:r>
              <a:rPr lang="ja-JP" altLang="en-US" sz="1200" dirty="0">
                <a:solidFill>
                  <a:schemeClr val="tx1"/>
                </a:solidFill>
                <a:latin typeface="Arial" panose="020B0604020202020204" pitchFamily="34" charset="0"/>
                <a:cs typeface="Arial" panose="020B0604020202020204" pitchFamily="34" charset="0"/>
              </a:rPr>
              <a:t>）</a:t>
            </a:r>
            <a:endParaRPr lang="en-US" sz="1200" dirty="0">
              <a:solidFill>
                <a:schemeClr val="tx1"/>
              </a:solidFill>
              <a:latin typeface="Arial" panose="020B0604020202020204" pitchFamily="34" charset="0"/>
              <a:cs typeface="Arial" panose="020B0604020202020204" pitchFamily="34" charset="0"/>
            </a:endParaRPr>
          </a:p>
        </p:txBody>
      </p:sp>
      <p:pic>
        <p:nvPicPr>
          <p:cNvPr id="307" name="グラフィックス 306">
            <a:extLst>
              <a:ext uri="{FF2B5EF4-FFF2-40B4-BE49-F238E27FC236}">
                <a16:creationId xmlns:a16="http://schemas.microsoft.com/office/drawing/2014/main" id="{F19F974E-FE20-16D3-A3CE-FA950B11D3E8}"/>
              </a:ext>
            </a:extLst>
          </p:cNvPr>
          <p:cNvPicPr>
            <a:picLocks noChangeAspect="1"/>
          </p:cNvPicPr>
          <p:nvPr/>
        </p:nvPicPr>
        <p:blipFill>
          <a:blip r:embed="rId7">
            <a:grayscl/>
            <a:extLst>
              <a:ext uri="{96DAC541-7B7A-43D3-8B79-37D633B846F1}">
                <asvg:svgBlip xmlns:asvg="http://schemas.microsoft.com/office/drawing/2016/SVG/main" r:embed="rId8"/>
              </a:ext>
            </a:extLst>
          </a:blip>
          <a:srcRect l="25148" t="16203" r="25948" b="16205"/>
          <a:stretch/>
        </p:blipFill>
        <p:spPr>
          <a:xfrm rot="16200000">
            <a:off x="1042395" y="5874413"/>
            <a:ext cx="599552" cy="828660"/>
          </a:xfrm>
          <a:prstGeom prst="rect">
            <a:avLst/>
          </a:prstGeom>
        </p:spPr>
      </p:pic>
      <p:cxnSp>
        <p:nvCxnSpPr>
          <p:cNvPr id="372" name="Straight Arrow Connector 52" descr="Double pointing horizontal arrow.">
            <a:extLst>
              <a:ext uri="{FF2B5EF4-FFF2-40B4-BE49-F238E27FC236}">
                <a16:creationId xmlns:a16="http://schemas.microsoft.com/office/drawing/2014/main" id="{3F24EC3C-8D56-0046-AECC-35D11B92FCDD}"/>
              </a:ext>
            </a:extLst>
          </p:cNvPr>
          <p:cNvCxnSpPr>
            <a:cxnSpLocks/>
            <a:stCxn id="286" idx="1"/>
            <a:endCxn id="307" idx="2"/>
          </p:cNvCxnSpPr>
          <p:nvPr/>
        </p:nvCxnSpPr>
        <p:spPr>
          <a:xfrm flipH="1">
            <a:off x="1756501" y="6288743"/>
            <a:ext cx="294775" cy="0"/>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pic>
        <p:nvPicPr>
          <p:cNvPr id="3" name="Picture 2" descr="Raspberry icon - Free download on Iconfinder">
            <a:extLst>
              <a:ext uri="{FF2B5EF4-FFF2-40B4-BE49-F238E27FC236}">
                <a16:creationId xmlns:a16="http://schemas.microsoft.com/office/drawing/2014/main" id="{04EC73FB-2DBF-BBEF-36C1-CD96A097FF7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44769" y="4471085"/>
            <a:ext cx="544810" cy="544810"/>
          </a:xfrm>
          <a:prstGeom prst="rect">
            <a:avLst/>
          </a:prstGeom>
          <a:noFill/>
          <a:extLst>
            <a:ext uri="{909E8E84-426E-40DD-AFC4-6F175D3DCCD1}">
              <a14:hiddenFill xmlns:a14="http://schemas.microsoft.com/office/drawing/2010/main">
                <a:solidFill>
                  <a:srgbClr val="FFFFFF"/>
                </a:solidFill>
              </a14:hiddenFill>
            </a:ext>
          </a:extLst>
        </p:spPr>
      </p:pic>
      <p:grpSp>
        <p:nvGrpSpPr>
          <p:cNvPr id="9" name="グループ化 8">
            <a:extLst>
              <a:ext uri="{FF2B5EF4-FFF2-40B4-BE49-F238E27FC236}">
                <a16:creationId xmlns:a16="http://schemas.microsoft.com/office/drawing/2014/main" id="{D495B4E5-14DF-3888-A37F-839A39D3453D}"/>
              </a:ext>
            </a:extLst>
          </p:cNvPr>
          <p:cNvGrpSpPr/>
          <p:nvPr/>
        </p:nvGrpSpPr>
        <p:grpSpPr>
          <a:xfrm>
            <a:off x="3305887" y="1301487"/>
            <a:ext cx="5430653" cy="5453716"/>
            <a:chOff x="3305887" y="1301487"/>
            <a:chExt cx="5430653" cy="5453716"/>
          </a:xfrm>
        </p:grpSpPr>
        <p:sp>
          <p:nvSpPr>
            <p:cNvPr id="6" name="正方形/長方形 5">
              <a:extLst>
                <a:ext uri="{FF2B5EF4-FFF2-40B4-BE49-F238E27FC236}">
                  <a16:creationId xmlns:a16="http://schemas.microsoft.com/office/drawing/2014/main" id="{54A82F16-F07C-2659-5654-33D3B1F741C5}"/>
                </a:ext>
              </a:extLst>
            </p:cNvPr>
            <p:cNvSpPr/>
            <p:nvPr/>
          </p:nvSpPr>
          <p:spPr>
            <a:xfrm>
              <a:off x="3469616" y="1648657"/>
              <a:ext cx="5173870" cy="5106546"/>
            </a:xfrm>
            <a:prstGeom prst="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0000" rIns="0" bIns="0" rtlCol="0" anchor="ctr"/>
            <a:lstStyle/>
            <a:p>
              <a:r>
                <a:rPr lang="en-US" altLang="ja-JP" sz="1400" dirty="0"/>
                <a:t>.</a:t>
              </a:r>
            </a:p>
            <a:p>
              <a:r>
                <a:rPr lang="en-US" altLang="ja-JP" sz="1400" dirty="0"/>
                <a:t>├── .env</a:t>
              </a:r>
            </a:p>
            <a:p>
              <a:r>
                <a:rPr lang="en-US" altLang="ja-JP" sz="1400" dirty="0"/>
                <a:t>│</a:t>
              </a:r>
            </a:p>
            <a:p>
              <a:r>
                <a:rPr lang="en-US" altLang="ja-JP" sz="1400" dirty="0"/>
                <a:t>├── app</a:t>
              </a:r>
            </a:p>
            <a:p>
              <a:r>
                <a:rPr lang="en-US" altLang="ja-JP" sz="1400" dirty="0"/>
                <a:t>│   ├── …</a:t>
              </a:r>
            </a:p>
            <a:p>
              <a:r>
                <a:rPr lang="en-US" altLang="ja-JP" sz="1400" dirty="0"/>
                <a:t>│</a:t>
              </a:r>
            </a:p>
            <a:p>
              <a:r>
                <a:rPr lang="en-US" altLang="ja-JP" sz="1400" dirty="0"/>
                <a:t>├── data</a:t>
              </a:r>
            </a:p>
            <a:p>
              <a:r>
                <a:rPr lang="en-US" altLang="ja-JP" sz="1400" dirty="0"/>
                <a:t>│   ├── …</a:t>
              </a:r>
            </a:p>
            <a:p>
              <a:r>
                <a:rPr lang="ja-JP" altLang="en-US" sz="1400" dirty="0"/>
                <a:t>｜</a:t>
              </a:r>
              <a:endParaRPr lang="en-US" altLang="ja-JP" sz="1400" dirty="0"/>
            </a:p>
            <a:p>
              <a:r>
                <a:rPr lang="en-US" altLang="ja-JP" sz="1400" dirty="0"/>
                <a:t>├── logs</a:t>
              </a:r>
            </a:p>
            <a:p>
              <a:r>
                <a:rPr lang="en-US" altLang="ja-JP" sz="1400" dirty="0"/>
                <a:t>│   └── *.log</a:t>
              </a:r>
            </a:p>
            <a:p>
              <a:r>
                <a:rPr lang="en-US" altLang="ja-JP" sz="1400" dirty="0"/>
                <a:t>│</a:t>
              </a:r>
            </a:p>
            <a:p>
              <a:r>
                <a:rPr lang="en-US" altLang="ja-JP" sz="1400" dirty="0"/>
                <a:t>├── shared</a:t>
              </a:r>
            </a:p>
            <a:p>
              <a:r>
                <a:rPr lang="en-US" altLang="ja-JP" sz="1400" dirty="0"/>
                <a:t>│   ├── …</a:t>
              </a:r>
            </a:p>
            <a:p>
              <a:r>
                <a:rPr lang="ja-JP" altLang="en-US" sz="1400" dirty="0"/>
                <a:t>｜</a:t>
              </a:r>
              <a:endParaRPr lang="en-US" altLang="ja-JP" sz="1400" dirty="0"/>
            </a:p>
            <a:p>
              <a:r>
                <a:rPr lang="en-US" altLang="ja-JP" sz="1400" dirty="0"/>
                <a:t>├── web</a:t>
              </a:r>
            </a:p>
            <a:p>
              <a:r>
                <a:rPr lang="en-US" altLang="ja-JP" sz="1400" dirty="0"/>
                <a:t>│   └── frontend</a:t>
              </a:r>
            </a:p>
            <a:p>
              <a:r>
                <a:rPr lang="en-US" altLang="ja-JP" sz="1400" dirty="0"/>
                <a:t>│       </a:t>
              </a:r>
              <a:r>
                <a:rPr lang="ja-JP" altLang="en-US" sz="1400" dirty="0"/>
                <a:t>  </a:t>
              </a:r>
              <a:r>
                <a:rPr lang="en-US" altLang="ja-JP" sz="1400" dirty="0"/>
                <a:t>├── .env</a:t>
              </a:r>
            </a:p>
            <a:p>
              <a:r>
                <a:rPr lang="en-US" altLang="ja-JP" sz="1400" dirty="0"/>
                <a:t>│         └── …</a:t>
              </a:r>
            </a:p>
            <a:p>
              <a:r>
                <a:rPr lang="en-US" altLang="ja-JP" sz="1400" dirty="0"/>
                <a:t>│</a:t>
              </a:r>
              <a:endParaRPr lang="en-US" altLang="ja-JP" sz="1400" b="1" dirty="0"/>
            </a:p>
            <a:p>
              <a:r>
                <a:rPr lang="en-US" altLang="ja-JP" sz="1400" dirty="0"/>
                <a:t>└── worker</a:t>
              </a:r>
            </a:p>
            <a:p>
              <a:r>
                <a:rPr lang="en-US" altLang="ja-JP" sz="1400" dirty="0"/>
                <a:t>    ├── …</a:t>
              </a:r>
            </a:p>
            <a:p>
              <a:pPr algn="ctr"/>
              <a:endParaRPr kumimoji="1" lang="ja-JP" altLang="en-US" sz="1400" dirty="0"/>
            </a:p>
          </p:txBody>
        </p:sp>
        <p:sp>
          <p:nvSpPr>
            <p:cNvPr id="8" name="テキスト ボックス 7">
              <a:extLst>
                <a:ext uri="{FF2B5EF4-FFF2-40B4-BE49-F238E27FC236}">
                  <a16:creationId xmlns:a16="http://schemas.microsoft.com/office/drawing/2014/main" id="{C83DCED1-33CB-ADF0-603F-3E557B6E3F4E}"/>
                </a:ext>
              </a:extLst>
            </p:cNvPr>
            <p:cNvSpPr txBox="1"/>
            <p:nvPr/>
          </p:nvSpPr>
          <p:spPr>
            <a:xfrm>
              <a:off x="3305887" y="1301487"/>
              <a:ext cx="5430653" cy="338554"/>
            </a:xfrm>
            <a:prstGeom prst="rect">
              <a:avLst/>
            </a:prstGeom>
            <a:noFill/>
          </p:spPr>
          <p:txBody>
            <a:bodyPr wrap="square" rtlCol="0">
              <a:spAutoFit/>
            </a:bodyPr>
            <a:lstStyle/>
            <a:p>
              <a:pPr algn="ctr"/>
              <a:r>
                <a:rPr kumimoji="1" lang="ja-JP" altLang="en-US" sz="1600" dirty="0"/>
                <a:t>現行の制御デバイス</a:t>
              </a:r>
              <a:r>
                <a:rPr kumimoji="1" lang="en-US" altLang="ja-JP" sz="1600" dirty="0"/>
                <a:t>(172.16.15.8</a:t>
              </a:r>
              <a:r>
                <a:rPr lang="en-US" altLang="ja-JP" sz="1600" dirty="0"/>
                <a:t>)</a:t>
              </a:r>
              <a:r>
                <a:rPr lang="ja-JP" altLang="en-US" sz="1600" dirty="0"/>
                <a:t>のディレクトリ構成</a:t>
              </a:r>
              <a:endParaRPr kumimoji="1" lang="ja-JP" altLang="en-US" sz="1600" dirty="0"/>
            </a:p>
          </p:txBody>
        </p:sp>
      </p:grpSp>
      <p:sp>
        <p:nvSpPr>
          <p:cNvPr id="10" name="正方形/長方形 9">
            <a:extLst>
              <a:ext uri="{FF2B5EF4-FFF2-40B4-BE49-F238E27FC236}">
                <a16:creationId xmlns:a16="http://schemas.microsoft.com/office/drawing/2014/main" id="{04D525FD-C206-A1D0-5DF9-61FFFB9A2356}"/>
              </a:ext>
            </a:extLst>
          </p:cNvPr>
          <p:cNvSpPr/>
          <p:nvPr/>
        </p:nvSpPr>
        <p:spPr>
          <a:xfrm>
            <a:off x="3817249" y="2333486"/>
            <a:ext cx="1559081" cy="565110"/>
          </a:xfrm>
          <a:prstGeom prst="rect">
            <a:avLst/>
          </a:prstGeom>
          <a:solidFill>
            <a:srgbClr val="F2F2F2">
              <a:alpha val="50196"/>
            </a:srgbClr>
          </a:solid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9FE96242-3D5D-7FF2-7BB2-BBF0A7672441}"/>
              </a:ext>
            </a:extLst>
          </p:cNvPr>
          <p:cNvSpPr/>
          <p:nvPr/>
        </p:nvSpPr>
        <p:spPr>
          <a:xfrm>
            <a:off x="3817249" y="2980670"/>
            <a:ext cx="1559081" cy="565111"/>
          </a:xfrm>
          <a:prstGeom prst="rect">
            <a:avLst/>
          </a:prstGeom>
          <a:solidFill>
            <a:srgbClr val="F2F2F2">
              <a:alpha val="50196"/>
            </a:srgbClr>
          </a:solid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8CC25328-8453-9396-AE0D-12C465F71C3B}"/>
              </a:ext>
            </a:extLst>
          </p:cNvPr>
          <p:cNvSpPr/>
          <p:nvPr/>
        </p:nvSpPr>
        <p:spPr>
          <a:xfrm>
            <a:off x="3817249" y="3627855"/>
            <a:ext cx="1559081" cy="565111"/>
          </a:xfrm>
          <a:prstGeom prst="rect">
            <a:avLst/>
          </a:prstGeom>
          <a:solidFill>
            <a:srgbClr val="F2F2F2">
              <a:alpha val="50196"/>
            </a:srgbClr>
          </a:solidFill>
          <a:ln w="1905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D222EA88-AD1D-4B88-DC61-D46C0F8E2929}"/>
              </a:ext>
            </a:extLst>
          </p:cNvPr>
          <p:cNvSpPr/>
          <p:nvPr/>
        </p:nvSpPr>
        <p:spPr>
          <a:xfrm>
            <a:off x="3817250" y="4275040"/>
            <a:ext cx="1559082" cy="565111"/>
          </a:xfrm>
          <a:prstGeom prst="rect">
            <a:avLst/>
          </a:prstGeom>
          <a:solidFill>
            <a:srgbClr val="F2F2F2">
              <a:alpha val="50196"/>
            </a:srgbClr>
          </a:solid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B9652B83-1E82-A480-7CDC-70F3E67DEB54}"/>
              </a:ext>
            </a:extLst>
          </p:cNvPr>
          <p:cNvSpPr/>
          <p:nvPr/>
        </p:nvSpPr>
        <p:spPr>
          <a:xfrm>
            <a:off x="3817249" y="4926787"/>
            <a:ext cx="1559083" cy="944846"/>
          </a:xfrm>
          <a:prstGeom prst="rect">
            <a:avLst/>
          </a:prstGeom>
          <a:solidFill>
            <a:srgbClr val="F2F2F2">
              <a:alpha val="50196"/>
            </a:srgbClr>
          </a:solidFill>
          <a:ln w="1905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5" name="正方形/長方形 14">
            <a:extLst>
              <a:ext uri="{FF2B5EF4-FFF2-40B4-BE49-F238E27FC236}">
                <a16:creationId xmlns:a16="http://schemas.microsoft.com/office/drawing/2014/main" id="{28B946A4-2CEB-4849-262B-1C30A9E14CD7}"/>
              </a:ext>
            </a:extLst>
          </p:cNvPr>
          <p:cNvSpPr/>
          <p:nvPr/>
        </p:nvSpPr>
        <p:spPr>
          <a:xfrm>
            <a:off x="3817249" y="5959525"/>
            <a:ext cx="1559083" cy="565111"/>
          </a:xfrm>
          <a:prstGeom prst="rect">
            <a:avLst/>
          </a:prstGeom>
          <a:solidFill>
            <a:srgbClr val="F2F2F2">
              <a:alpha val="50196"/>
            </a:srgbClr>
          </a:solidFill>
          <a:ln w="1905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ボックス 15">
            <a:extLst>
              <a:ext uri="{FF2B5EF4-FFF2-40B4-BE49-F238E27FC236}">
                <a16:creationId xmlns:a16="http://schemas.microsoft.com/office/drawing/2014/main" id="{58C3EA5D-D910-6A76-BA03-B75F8BCA83AB}"/>
              </a:ext>
            </a:extLst>
          </p:cNvPr>
          <p:cNvSpPr txBox="1"/>
          <p:nvPr/>
        </p:nvSpPr>
        <p:spPr>
          <a:xfrm>
            <a:off x="5843374" y="2462152"/>
            <a:ext cx="2614826" cy="307777"/>
          </a:xfrm>
          <a:prstGeom prst="rect">
            <a:avLst/>
          </a:prstGeom>
          <a:noFill/>
        </p:spPr>
        <p:txBody>
          <a:bodyPr wrap="square" rtlCol="0">
            <a:spAutoFit/>
          </a:bodyPr>
          <a:lstStyle/>
          <a:p>
            <a:r>
              <a:rPr kumimoji="1" lang="en-US" altLang="ja-JP" sz="1400" dirty="0" err="1"/>
              <a:t>FastAPI</a:t>
            </a:r>
            <a:r>
              <a:rPr lang="ja-JP" altLang="en-US" sz="1400" dirty="0"/>
              <a:t>関連</a:t>
            </a:r>
            <a:endParaRPr kumimoji="1" lang="ja-JP" altLang="en-US" sz="1400" dirty="0"/>
          </a:p>
        </p:txBody>
      </p:sp>
      <p:pic>
        <p:nvPicPr>
          <p:cNvPr id="18" name="グラフィックス 17">
            <a:extLst>
              <a:ext uri="{FF2B5EF4-FFF2-40B4-BE49-F238E27FC236}">
                <a16:creationId xmlns:a16="http://schemas.microsoft.com/office/drawing/2014/main" id="{1EF7F760-0D33-29D6-45F4-6F1D99DFB23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470877" y="2429791"/>
            <a:ext cx="372497" cy="372497"/>
          </a:xfrm>
          <a:prstGeom prst="rect">
            <a:avLst/>
          </a:prstGeom>
        </p:spPr>
      </p:pic>
      <p:pic>
        <p:nvPicPr>
          <p:cNvPr id="1026" name="Picture 2" descr="SQLite】10分で分かる SQLiteとは？ | レンサバ">
            <a:extLst>
              <a:ext uri="{FF2B5EF4-FFF2-40B4-BE49-F238E27FC236}">
                <a16:creationId xmlns:a16="http://schemas.microsoft.com/office/drawing/2014/main" id="{22AFE9D3-F531-5423-568D-47489709CE0A}"/>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13878" r="14269"/>
          <a:stretch/>
        </p:blipFill>
        <p:spPr bwMode="auto">
          <a:xfrm>
            <a:off x="5475632" y="3073434"/>
            <a:ext cx="367742" cy="372497"/>
          </a:xfrm>
          <a:prstGeom prst="rect">
            <a:avLst/>
          </a:prstGeom>
          <a:noFill/>
          <a:extLst>
            <a:ext uri="{909E8E84-426E-40DD-AFC4-6F175D3DCCD1}">
              <a14:hiddenFill xmlns:a14="http://schemas.microsoft.com/office/drawing/2010/main">
                <a:solidFill>
                  <a:srgbClr val="FFFFFF"/>
                </a:solidFill>
              </a14:hiddenFill>
            </a:ext>
          </a:extLst>
        </p:spPr>
      </p:pic>
      <p:sp>
        <p:nvSpPr>
          <p:cNvPr id="20" name="テキスト ボックス 19">
            <a:extLst>
              <a:ext uri="{FF2B5EF4-FFF2-40B4-BE49-F238E27FC236}">
                <a16:creationId xmlns:a16="http://schemas.microsoft.com/office/drawing/2014/main" id="{FBA75759-B168-D5BA-8D75-FF5F121DB189}"/>
              </a:ext>
            </a:extLst>
          </p:cNvPr>
          <p:cNvSpPr txBox="1"/>
          <p:nvPr/>
        </p:nvSpPr>
        <p:spPr>
          <a:xfrm>
            <a:off x="5843374" y="3125295"/>
            <a:ext cx="2614826" cy="307777"/>
          </a:xfrm>
          <a:prstGeom prst="rect">
            <a:avLst/>
          </a:prstGeom>
          <a:noFill/>
        </p:spPr>
        <p:txBody>
          <a:bodyPr wrap="square" rtlCol="0">
            <a:spAutoFit/>
          </a:bodyPr>
          <a:lstStyle/>
          <a:p>
            <a:r>
              <a:rPr lang="en-US" altLang="ja-JP" sz="1400" dirty="0"/>
              <a:t>Database</a:t>
            </a:r>
            <a:r>
              <a:rPr lang="ja-JP" altLang="en-US" sz="1400" dirty="0"/>
              <a:t>関連</a:t>
            </a:r>
            <a:endParaRPr kumimoji="1" lang="ja-JP" altLang="en-US" sz="1400" dirty="0"/>
          </a:p>
        </p:txBody>
      </p:sp>
      <p:sp>
        <p:nvSpPr>
          <p:cNvPr id="21" name="テキスト ボックス 20">
            <a:extLst>
              <a:ext uri="{FF2B5EF4-FFF2-40B4-BE49-F238E27FC236}">
                <a16:creationId xmlns:a16="http://schemas.microsoft.com/office/drawing/2014/main" id="{FD20D7A1-40F0-E8A2-CC17-CB728F471D96}"/>
              </a:ext>
            </a:extLst>
          </p:cNvPr>
          <p:cNvSpPr txBox="1"/>
          <p:nvPr/>
        </p:nvSpPr>
        <p:spPr>
          <a:xfrm>
            <a:off x="5470877" y="3779218"/>
            <a:ext cx="2614826" cy="307777"/>
          </a:xfrm>
          <a:prstGeom prst="rect">
            <a:avLst/>
          </a:prstGeom>
          <a:noFill/>
        </p:spPr>
        <p:txBody>
          <a:bodyPr wrap="square" rtlCol="0">
            <a:spAutoFit/>
          </a:bodyPr>
          <a:lstStyle/>
          <a:p>
            <a:r>
              <a:rPr lang="ja-JP" altLang="en-US" sz="1400" dirty="0"/>
              <a:t>実行ログ関連</a:t>
            </a:r>
            <a:endParaRPr kumimoji="1" lang="ja-JP" altLang="en-US" sz="1400" dirty="0"/>
          </a:p>
        </p:txBody>
      </p:sp>
      <p:pic>
        <p:nvPicPr>
          <p:cNvPr id="23" name="図 22" descr="アイコン&#10;&#10;AI によって生成されたコンテンツは間違っている可能性があります。">
            <a:extLst>
              <a:ext uri="{FF2B5EF4-FFF2-40B4-BE49-F238E27FC236}">
                <a16:creationId xmlns:a16="http://schemas.microsoft.com/office/drawing/2014/main" id="{DCBD3063-D442-2B7D-9D66-8A236645E7FE}"/>
              </a:ext>
            </a:extLst>
          </p:cNvPr>
          <p:cNvPicPr>
            <a:picLocks noChangeAspect="1"/>
          </p:cNvPicPr>
          <p:nvPr/>
        </p:nvPicPr>
        <p:blipFill>
          <a:blip r:embed="rId4">
            <a:extLst>
              <a:ext uri="{28A0092B-C50C-407E-A947-70E740481C1C}">
                <a14:useLocalDpi xmlns:a14="http://schemas.microsoft.com/office/drawing/2010/main" val="0"/>
              </a:ext>
            </a:extLst>
          </a:blip>
          <a:srcRect l="10553" t="5709" r="9769" b="4466"/>
          <a:stretch/>
        </p:blipFill>
        <p:spPr>
          <a:xfrm>
            <a:off x="5480878" y="5201191"/>
            <a:ext cx="357774" cy="403333"/>
          </a:xfrm>
          <a:prstGeom prst="rect">
            <a:avLst/>
          </a:prstGeom>
        </p:spPr>
      </p:pic>
      <p:sp>
        <p:nvSpPr>
          <p:cNvPr id="25" name="テキスト ボックス 24">
            <a:extLst>
              <a:ext uri="{FF2B5EF4-FFF2-40B4-BE49-F238E27FC236}">
                <a16:creationId xmlns:a16="http://schemas.microsoft.com/office/drawing/2014/main" id="{08148AB0-F7ED-9108-2FC8-F9D7356C9788}"/>
              </a:ext>
            </a:extLst>
          </p:cNvPr>
          <p:cNvSpPr txBox="1"/>
          <p:nvPr/>
        </p:nvSpPr>
        <p:spPr>
          <a:xfrm>
            <a:off x="5838652" y="5248736"/>
            <a:ext cx="2614826" cy="307777"/>
          </a:xfrm>
          <a:prstGeom prst="rect">
            <a:avLst/>
          </a:prstGeom>
          <a:noFill/>
        </p:spPr>
        <p:txBody>
          <a:bodyPr wrap="square" rtlCol="0">
            <a:spAutoFit/>
          </a:bodyPr>
          <a:lstStyle/>
          <a:p>
            <a:r>
              <a:rPr lang="en-US" altLang="ja-JP" sz="1400" dirty="0"/>
              <a:t>React</a:t>
            </a:r>
            <a:r>
              <a:rPr lang="ja-JP" altLang="en-US" sz="1400" dirty="0"/>
              <a:t>関連</a:t>
            </a:r>
            <a:endParaRPr kumimoji="1" lang="ja-JP" altLang="en-US" sz="1400" dirty="0"/>
          </a:p>
        </p:txBody>
      </p:sp>
      <p:sp>
        <p:nvSpPr>
          <p:cNvPr id="26" name="テキスト ボックス 25">
            <a:extLst>
              <a:ext uri="{FF2B5EF4-FFF2-40B4-BE49-F238E27FC236}">
                <a16:creationId xmlns:a16="http://schemas.microsoft.com/office/drawing/2014/main" id="{CD28E677-EFD6-2557-A58C-9528CB5DB0C1}"/>
              </a:ext>
            </a:extLst>
          </p:cNvPr>
          <p:cNvSpPr txBox="1"/>
          <p:nvPr/>
        </p:nvSpPr>
        <p:spPr>
          <a:xfrm>
            <a:off x="5451820" y="4403706"/>
            <a:ext cx="2999019" cy="307777"/>
          </a:xfrm>
          <a:prstGeom prst="rect">
            <a:avLst/>
          </a:prstGeom>
          <a:noFill/>
        </p:spPr>
        <p:txBody>
          <a:bodyPr wrap="square" rtlCol="0">
            <a:spAutoFit/>
          </a:bodyPr>
          <a:lstStyle/>
          <a:p>
            <a:r>
              <a:rPr lang="en-US" altLang="ja-JP" sz="1400" dirty="0"/>
              <a:t>worker</a:t>
            </a:r>
            <a:r>
              <a:rPr lang="ja-JP" altLang="en-US" sz="1400" dirty="0"/>
              <a:t>と</a:t>
            </a:r>
            <a:r>
              <a:rPr lang="en-US" altLang="ja-JP" sz="1400" dirty="0"/>
              <a:t>app</a:t>
            </a:r>
            <a:r>
              <a:rPr lang="ja-JP" altLang="en-US" sz="1400" dirty="0"/>
              <a:t>の共通参照ファイル</a:t>
            </a:r>
            <a:endParaRPr kumimoji="1" lang="ja-JP" altLang="en-US" sz="1400" dirty="0"/>
          </a:p>
        </p:txBody>
      </p:sp>
      <p:sp>
        <p:nvSpPr>
          <p:cNvPr id="27" name="テキスト ボックス 26">
            <a:extLst>
              <a:ext uri="{FF2B5EF4-FFF2-40B4-BE49-F238E27FC236}">
                <a16:creationId xmlns:a16="http://schemas.microsoft.com/office/drawing/2014/main" id="{2E859423-E930-1D4C-C830-F6A145EF3DBE}"/>
              </a:ext>
            </a:extLst>
          </p:cNvPr>
          <p:cNvSpPr txBox="1"/>
          <p:nvPr/>
        </p:nvSpPr>
        <p:spPr>
          <a:xfrm>
            <a:off x="5451819" y="6093766"/>
            <a:ext cx="2999019" cy="307777"/>
          </a:xfrm>
          <a:prstGeom prst="rect">
            <a:avLst/>
          </a:prstGeom>
          <a:noFill/>
        </p:spPr>
        <p:txBody>
          <a:bodyPr wrap="square" rtlCol="0">
            <a:spAutoFit/>
          </a:bodyPr>
          <a:lstStyle/>
          <a:p>
            <a:r>
              <a:rPr lang="ja-JP" altLang="en-US" sz="1400" dirty="0"/>
              <a:t>タスク</a:t>
            </a:r>
            <a:r>
              <a:rPr kumimoji="1" lang="ja-JP" altLang="en-US" sz="1400" dirty="0"/>
              <a:t>処理関連</a:t>
            </a:r>
          </a:p>
        </p:txBody>
      </p:sp>
      <p:cxnSp>
        <p:nvCxnSpPr>
          <p:cNvPr id="7" name="直線矢印コネクタ 6">
            <a:extLst>
              <a:ext uri="{FF2B5EF4-FFF2-40B4-BE49-F238E27FC236}">
                <a16:creationId xmlns:a16="http://schemas.microsoft.com/office/drawing/2014/main" id="{BDEEEA4D-150D-C445-80AC-981CEB40C8AE}"/>
              </a:ext>
            </a:extLst>
          </p:cNvPr>
          <p:cNvCxnSpPr>
            <a:cxnSpLocks/>
          </p:cNvCxnSpPr>
          <p:nvPr/>
        </p:nvCxnSpPr>
        <p:spPr>
          <a:xfrm>
            <a:off x="4258236" y="2645576"/>
            <a:ext cx="0" cy="1964558"/>
          </a:xfrm>
          <a:prstGeom prst="straightConnector1">
            <a:avLst/>
          </a:prstGeom>
          <a:ln w="57150">
            <a:solidFill>
              <a:schemeClr val="accent6"/>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C2A3D266-D6F1-6458-ED0C-6D5CC9E893E6}"/>
              </a:ext>
            </a:extLst>
          </p:cNvPr>
          <p:cNvSpPr txBox="1"/>
          <p:nvPr/>
        </p:nvSpPr>
        <p:spPr>
          <a:xfrm>
            <a:off x="4648682" y="3803807"/>
            <a:ext cx="2999017" cy="369332"/>
          </a:xfrm>
          <a:prstGeom prst="rect">
            <a:avLst/>
          </a:prstGeom>
          <a:noFill/>
        </p:spPr>
        <p:txBody>
          <a:bodyPr wrap="square" rtlCol="0">
            <a:spAutoFit/>
          </a:bodyPr>
          <a:lstStyle/>
          <a:p>
            <a:endParaRPr kumimoji="1" lang="ja-JP" altLang="en-US" b="1" dirty="0">
              <a:solidFill>
                <a:schemeClr val="accent6"/>
              </a:solidFill>
            </a:endParaRPr>
          </a:p>
        </p:txBody>
      </p:sp>
      <p:sp>
        <p:nvSpPr>
          <p:cNvPr id="29" name="正方形/長方形 28">
            <a:extLst>
              <a:ext uri="{FF2B5EF4-FFF2-40B4-BE49-F238E27FC236}">
                <a16:creationId xmlns:a16="http://schemas.microsoft.com/office/drawing/2014/main" id="{F51C9CAF-8191-5435-83D3-9D20B9583574}"/>
              </a:ext>
            </a:extLst>
          </p:cNvPr>
          <p:cNvSpPr/>
          <p:nvPr/>
        </p:nvSpPr>
        <p:spPr>
          <a:xfrm>
            <a:off x="2035411" y="3239666"/>
            <a:ext cx="2089610" cy="641081"/>
          </a:xfrm>
          <a:prstGeom prst="rect">
            <a:avLst/>
          </a:prstGeom>
          <a:solidFill>
            <a:schemeClr val="bg2"/>
          </a:solidFill>
          <a:ln>
            <a:solidFill>
              <a:schemeClr val="tx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lIns="0" tIns="46800" rIns="0" bIns="0" rtlCol="0" anchor="ctr"/>
          <a:lstStyle/>
          <a:p>
            <a:pPr algn="ctr"/>
            <a:r>
              <a:rPr lang="ja-JP" altLang="en-US" sz="1400" dirty="0">
                <a:solidFill>
                  <a:schemeClr val="accent6"/>
                </a:solidFill>
              </a:rPr>
              <a:t>①</a:t>
            </a:r>
            <a:endParaRPr lang="en-US" altLang="ja-JP" sz="1400" dirty="0">
              <a:solidFill>
                <a:schemeClr val="accent6"/>
              </a:solidFill>
            </a:endParaRPr>
          </a:p>
          <a:p>
            <a:pPr algn="ctr"/>
            <a:r>
              <a:rPr lang="ja-JP" altLang="en-US" sz="1400" dirty="0">
                <a:solidFill>
                  <a:schemeClr val="accent6"/>
                </a:solidFill>
              </a:rPr>
              <a:t>「</a:t>
            </a:r>
            <a:r>
              <a:rPr lang="en-US" altLang="ja-JP" sz="1400" dirty="0">
                <a:solidFill>
                  <a:schemeClr val="accent6"/>
                </a:solidFill>
              </a:rPr>
              <a:t>ID</a:t>
            </a:r>
            <a:r>
              <a:rPr lang="ja-JP" altLang="en-US" sz="1400" dirty="0">
                <a:solidFill>
                  <a:schemeClr val="accent6"/>
                </a:solidFill>
              </a:rPr>
              <a:t>」と「出勤」</a:t>
            </a:r>
            <a:endParaRPr lang="en-US" altLang="ja-JP" sz="1400" dirty="0">
              <a:solidFill>
                <a:schemeClr val="accent6"/>
              </a:solidFill>
            </a:endParaRPr>
          </a:p>
          <a:p>
            <a:pPr algn="ctr"/>
            <a:r>
              <a:rPr lang="ja-JP" altLang="en-US" sz="1400" dirty="0">
                <a:solidFill>
                  <a:schemeClr val="accent6"/>
                </a:solidFill>
              </a:rPr>
              <a:t>の２つの情報を渡す</a:t>
            </a:r>
            <a:endParaRPr lang="en-US" altLang="ja-JP" sz="1400" dirty="0">
              <a:solidFill>
                <a:schemeClr val="accent6"/>
              </a:solidFill>
            </a:endParaRPr>
          </a:p>
        </p:txBody>
      </p:sp>
      <p:cxnSp>
        <p:nvCxnSpPr>
          <p:cNvPr id="4" name="直線矢印コネクタ 3">
            <a:extLst>
              <a:ext uri="{FF2B5EF4-FFF2-40B4-BE49-F238E27FC236}">
                <a16:creationId xmlns:a16="http://schemas.microsoft.com/office/drawing/2014/main" id="{6C3053F8-B719-0FC0-9BB3-4CD16699543E}"/>
              </a:ext>
            </a:extLst>
          </p:cNvPr>
          <p:cNvCxnSpPr>
            <a:cxnSpLocks/>
          </p:cNvCxnSpPr>
          <p:nvPr/>
        </p:nvCxnSpPr>
        <p:spPr>
          <a:xfrm flipV="1">
            <a:off x="4894730" y="3229316"/>
            <a:ext cx="0" cy="1287531"/>
          </a:xfrm>
          <a:prstGeom prst="straightConnector1">
            <a:avLst/>
          </a:prstGeom>
          <a:ln w="57150">
            <a:solidFill>
              <a:schemeClr val="accent6"/>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28" name="正方形/長方形 27">
            <a:extLst>
              <a:ext uri="{FF2B5EF4-FFF2-40B4-BE49-F238E27FC236}">
                <a16:creationId xmlns:a16="http://schemas.microsoft.com/office/drawing/2014/main" id="{0DCCFAAF-2D77-CFB5-73C6-F32684EB0F33}"/>
              </a:ext>
            </a:extLst>
          </p:cNvPr>
          <p:cNvSpPr/>
          <p:nvPr/>
        </p:nvSpPr>
        <p:spPr>
          <a:xfrm>
            <a:off x="5011745" y="3596887"/>
            <a:ext cx="2730501" cy="641081"/>
          </a:xfrm>
          <a:prstGeom prst="rect">
            <a:avLst/>
          </a:prstGeom>
          <a:solidFill>
            <a:schemeClr val="bg2"/>
          </a:solidFill>
          <a:ln>
            <a:solidFill>
              <a:schemeClr val="tx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lIns="0" tIns="46800" rIns="0" bIns="0" rtlCol="0" anchor="ctr"/>
          <a:lstStyle/>
          <a:p>
            <a:pPr algn="ctr"/>
            <a:r>
              <a:rPr lang="ja-JP" altLang="en-US" sz="1400" dirty="0">
                <a:solidFill>
                  <a:schemeClr val="accent6"/>
                </a:solidFill>
              </a:rPr>
              <a:t>②</a:t>
            </a:r>
            <a:endParaRPr lang="en-US" altLang="ja-JP" sz="1400" dirty="0">
              <a:solidFill>
                <a:schemeClr val="accent6"/>
              </a:solidFill>
            </a:endParaRPr>
          </a:p>
          <a:p>
            <a:pPr algn="ctr"/>
            <a:r>
              <a:rPr lang="en-US" altLang="ja-JP" sz="1400" dirty="0">
                <a:solidFill>
                  <a:schemeClr val="accent6"/>
                </a:solidFill>
              </a:rPr>
              <a:t>“</a:t>
            </a:r>
            <a:r>
              <a:rPr lang="ja-JP" altLang="en-US" sz="1400" dirty="0">
                <a:solidFill>
                  <a:schemeClr val="accent6"/>
                </a:solidFill>
              </a:rPr>
              <a:t>「</a:t>
            </a:r>
            <a:r>
              <a:rPr lang="en-US" altLang="ja-JP" sz="1400" dirty="0">
                <a:solidFill>
                  <a:schemeClr val="accent6"/>
                </a:solidFill>
              </a:rPr>
              <a:t>ID</a:t>
            </a:r>
            <a:r>
              <a:rPr lang="ja-JP" altLang="en-US" sz="1400" dirty="0">
                <a:solidFill>
                  <a:schemeClr val="accent6"/>
                </a:solidFill>
              </a:rPr>
              <a:t>」を「出勤」に変更</a:t>
            </a:r>
            <a:r>
              <a:rPr lang="en-US" altLang="ja-JP" sz="1400" dirty="0">
                <a:solidFill>
                  <a:schemeClr val="accent6"/>
                </a:solidFill>
              </a:rPr>
              <a:t>”</a:t>
            </a:r>
          </a:p>
          <a:p>
            <a:pPr algn="ctr"/>
            <a:r>
              <a:rPr lang="ja-JP" altLang="en-US" sz="1400" dirty="0">
                <a:solidFill>
                  <a:schemeClr val="accent6"/>
                </a:solidFill>
              </a:rPr>
              <a:t>というタスクとして</a:t>
            </a:r>
            <a:r>
              <a:rPr lang="en-US" altLang="ja-JP" sz="1400" dirty="0">
                <a:solidFill>
                  <a:schemeClr val="accent6"/>
                </a:solidFill>
              </a:rPr>
              <a:t>DB</a:t>
            </a:r>
            <a:r>
              <a:rPr lang="ja-JP" altLang="en-US" sz="1400" dirty="0">
                <a:solidFill>
                  <a:schemeClr val="accent6"/>
                </a:solidFill>
              </a:rPr>
              <a:t>に追加</a:t>
            </a:r>
            <a:endParaRPr lang="en-US" altLang="ja-JP" sz="1400" dirty="0">
              <a:solidFill>
                <a:schemeClr val="accent6"/>
              </a:solidFill>
            </a:endParaRPr>
          </a:p>
        </p:txBody>
      </p:sp>
      <p:sp>
        <p:nvSpPr>
          <p:cNvPr id="31" name="正方形/長方形 30">
            <a:extLst>
              <a:ext uri="{FF2B5EF4-FFF2-40B4-BE49-F238E27FC236}">
                <a16:creationId xmlns:a16="http://schemas.microsoft.com/office/drawing/2014/main" id="{F06F58AB-092F-AE4B-182E-9E8EDBFAF685}"/>
              </a:ext>
            </a:extLst>
          </p:cNvPr>
          <p:cNvSpPr/>
          <p:nvPr/>
        </p:nvSpPr>
        <p:spPr>
          <a:xfrm>
            <a:off x="693160" y="1635422"/>
            <a:ext cx="2612727" cy="1206448"/>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t>例：ある登録済みユーザーが</a:t>
            </a:r>
            <a:endParaRPr lang="en-US" altLang="ja-JP" sz="1400" dirty="0"/>
          </a:p>
          <a:p>
            <a:pPr algn="ctr"/>
            <a:r>
              <a:rPr lang="ja-JP" altLang="en-US" sz="1400" dirty="0"/>
              <a:t>「在室 </a:t>
            </a:r>
            <a:r>
              <a:rPr lang="en-US" altLang="ja-JP" sz="1400" dirty="0"/>
              <a:t>(Clock In)</a:t>
            </a:r>
            <a:r>
              <a:rPr lang="ja-JP" altLang="en-US" sz="1400" dirty="0"/>
              <a:t>」ボタンを</a:t>
            </a:r>
            <a:endParaRPr lang="en-US" altLang="ja-JP" sz="1400" dirty="0"/>
          </a:p>
          <a:p>
            <a:pPr algn="ctr"/>
            <a:r>
              <a:rPr lang="ja-JP" altLang="en-US" sz="1400" dirty="0"/>
              <a:t>押した後，自身の</a:t>
            </a:r>
            <a:r>
              <a:rPr lang="en-US" altLang="ja-JP" sz="1400" dirty="0"/>
              <a:t>IC</a:t>
            </a:r>
            <a:r>
              <a:rPr lang="ja-JP" altLang="en-US" sz="1400" dirty="0"/>
              <a:t>カードを</a:t>
            </a:r>
            <a:endParaRPr lang="en-US" altLang="ja-JP" sz="1400" dirty="0"/>
          </a:p>
          <a:p>
            <a:pPr algn="ctr"/>
            <a:r>
              <a:rPr lang="ja-JP" altLang="en-US" sz="1400" dirty="0"/>
              <a:t>読み込んだ場合</a:t>
            </a:r>
          </a:p>
        </p:txBody>
      </p:sp>
    </p:spTree>
    <p:extLst>
      <p:ext uri="{BB962C8B-B14F-4D97-AF65-F5344CB8AC3E}">
        <p14:creationId xmlns:p14="http://schemas.microsoft.com/office/powerpoint/2010/main" val="31146790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5B6C38-DA10-8095-5C4E-3D136DA0F89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C5104A7-74A7-29A9-9824-7D2B959DE373}"/>
              </a:ext>
            </a:extLst>
          </p:cNvPr>
          <p:cNvSpPr>
            <a:spLocks noGrp="1"/>
          </p:cNvSpPr>
          <p:nvPr>
            <p:ph type="title"/>
          </p:nvPr>
        </p:nvSpPr>
        <p:spPr/>
        <p:txBody>
          <a:bodyPr/>
          <a:lstStyle/>
          <a:p>
            <a:r>
              <a:rPr kumimoji="1" lang="ja-JP" altLang="en-US" dirty="0"/>
              <a:t>在室確認システム</a:t>
            </a:r>
            <a:r>
              <a:rPr lang="ja-JP" altLang="en-US" dirty="0"/>
              <a:t> </a:t>
            </a:r>
            <a:r>
              <a:rPr lang="en-US" altLang="ja-JP" dirty="0"/>
              <a:t>– </a:t>
            </a:r>
            <a:r>
              <a:rPr lang="ja-JP" altLang="en-US" dirty="0"/>
              <a:t>制御デバイス</a:t>
            </a:r>
            <a:endParaRPr kumimoji="1" lang="ja-JP" altLang="en-US" dirty="0"/>
          </a:p>
        </p:txBody>
      </p:sp>
      <p:sp>
        <p:nvSpPr>
          <p:cNvPr id="289" name="TextBox 12">
            <a:extLst>
              <a:ext uri="{FF2B5EF4-FFF2-40B4-BE49-F238E27FC236}">
                <a16:creationId xmlns:a16="http://schemas.microsoft.com/office/drawing/2014/main" id="{7AA3E6EC-BF39-9FC6-3051-8F4A3D270E41}"/>
              </a:ext>
            </a:extLst>
          </p:cNvPr>
          <p:cNvSpPr txBox="1">
            <a:spLocks noChangeArrowheads="1"/>
          </p:cNvSpPr>
          <p:nvPr/>
        </p:nvSpPr>
        <p:spPr bwMode="auto">
          <a:xfrm>
            <a:off x="1707208" y="5001976"/>
            <a:ext cx="16050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Raspberry Pi 4B</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(172.16.15.8)</a:t>
            </a:r>
          </a:p>
        </p:txBody>
      </p:sp>
      <p:sp>
        <p:nvSpPr>
          <p:cNvPr id="236" name="テキスト ボックス 235">
            <a:extLst>
              <a:ext uri="{FF2B5EF4-FFF2-40B4-BE49-F238E27FC236}">
                <a16:creationId xmlns:a16="http://schemas.microsoft.com/office/drawing/2014/main" id="{9B25534F-9786-ED49-4B4C-70FDB6E87A08}"/>
              </a:ext>
            </a:extLst>
          </p:cNvPr>
          <p:cNvSpPr txBox="1"/>
          <p:nvPr/>
        </p:nvSpPr>
        <p:spPr>
          <a:xfrm>
            <a:off x="1077353" y="4303759"/>
            <a:ext cx="1162293" cy="276999"/>
          </a:xfrm>
          <a:prstGeom prst="rect">
            <a:avLst/>
          </a:prstGeom>
          <a:noFill/>
        </p:spPr>
        <p:txBody>
          <a:bodyPr wrap="square">
            <a:spAutoFit/>
          </a:body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RC-S380 S</a:t>
            </a:r>
          </a:p>
        </p:txBody>
      </p:sp>
      <p:pic>
        <p:nvPicPr>
          <p:cNvPr id="237" name="図 236" descr="黒い背景と白い文字のロゴ&#10;&#10;AI によって生成されたコンテンツは間違っている可能性があります。">
            <a:extLst>
              <a:ext uri="{FF2B5EF4-FFF2-40B4-BE49-F238E27FC236}">
                <a16:creationId xmlns:a16="http://schemas.microsoft.com/office/drawing/2014/main" id="{908D5227-8EB3-02BD-ACF5-8F56B9A569C7}"/>
              </a:ext>
            </a:extLst>
          </p:cNvPr>
          <p:cNvPicPr>
            <a:picLocks noChangeAspect="1"/>
          </p:cNvPicPr>
          <p:nvPr/>
        </p:nvPicPr>
        <p:blipFill>
          <a:blip r:embed="rId3">
            <a:biLevel thresh="50000"/>
            <a:extLst>
              <a:ext uri="{28A0092B-C50C-407E-A947-70E740481C1C}">
                <a14:useLocalDpi xmlns:a14="http://schemas.microsoft.com/office/drawing/2010/main" val="0"/>
              </a:ext>
            </a:extLst>
          </a:blip>
          <a:srcRect t="19474" b="18132"/>
          <a:stretch/>
        </p:blipFill>
        <p:spPr>
          <a:xfrm flipH="1">
            <a:off x="693160" y="4508703"/>
            <a:ext cx="1605014" cy="751622"/>
          </a:xfrm>
          <a:prstGeom prst="rect">
            <a:avLst/>
          </a:prstGeom>
        </p:spPr>
      </p:pic>
      <p:grpSp>
        <p:nvGrpSpPr>
          <p:cNvPr id="241" name="グループ化 240">
            <a:extLst>
              <a:ext uri="{FF2B5EF4-FFF2-40B4-BE49-F238E27FC236}">
                <a16:creationId xmlns:a16="http://schemas.microsoft.com/office/drawing/2014/main" id="{1D93DBBB-D0DE-CFB5-D3D8-792E0FF519EE}"/>
              </a:ext>
            </a:extLst>
          </p:cNvPr>
          <p:cNvGrpSpPr/>
          <p:nvPr/>
        </p:nvGrpSpPr>
        <p:grpSpPr>
          <a:xfrm>
            <a:off x="2051276" y="6087076"/>
            <a:ext cx="924337" cy="403333"/>
            <a:chOff x="2262291" y="5685876"/>
            <a:chExt cx="924337" cy="403333"/>
          </a:xfrm>
        </p:grpSpPr>
        <p:pic>
          <p:nvPicPr>
            <p:cNvPr id="286" name="図 285" descr="アイコン&#10;&#10;AI によって生成されたコンテンツは間違っている可能性があります。">
              <a:extLst>
                <a:ext uri="{FF2B5EF4-FFF2-40B4-BE49-F238E27FC236}">
                  <a16:creationId xmlns:a16="http://schemas.microsoft.com/office/drawing/2014/main" id="{EDC8B9C0-4ACD-6284-BD27-9585A704E7DF}"/>
                </a:ext>
              </a:extLst>
            </p:cNvPr>
            <p:cNvPicPr>
              <a:picLocks noChangeAspect="1"/>
            </p:cNvPicPr>
            <p:nvPr/>
          </p:nvPicPr>
          <p:blipFill>
            <a:blip r:embed="rId4">
              <a:extLst>
                <a:ext uri="{28A0092B-C50C-407E-A947-70E740481C1C}">
                  <a14:useLocalDpi xmlns:a14="http://schemas.microsoft.com/office/drawing/2010/main" val="0"/>
                </a:ext>
              </a:extLst>
            </a:blip>
            <a:srcRect l="10553" t="5709" r="9769" b="4466"/>
            <a:stretch/>
          </p:blipFill>
          <p:spPr>
            <a:xfrm>
              <a:off x="2262291" y="5685876"/>
              <a:ext cx="357774" cy="403333"/>
            </a:xfrm>
            <a:prstGeom prst="rect">
              <a:avLst/>
            </a:prstGeom>
          </p:spPr>
        </p:pic>
        <p:sp>
          <p:nvSpPr>
            <p:cNvPr id="287" name="テキスト ボックス 286">
              <a:extLst>
                <a:ext uri="{FF2B5EF4-FFF2-40B4-BE49-F238E27FC236}">
                  <a16:creationId xmlns:a16="http://schemas.microsoft.com/office/drawing/2014/main" id="{A9040498-5A6B-493E-8992-23A20496A7E2}"/>
                </a:ext>
              </a:extLst>
            </p:cNvPr>
            <p:cNvSpPr txBox="1"/>
            <p:nvPr/>
          </p:nvSpPr>
          <p:spPr>
            <a:xfrm>
              <a:off x="2557071" y="5749042"/>
              <a:ext cx="629557" cy="276999"/>
            </a:xfrm>
            <a:prstGeom prst="rect">
              <a:avLst/>
            </a:prstGeom>
            <a:noFill/>
          </p:spPr>
          <p:txBody>
            <a:bodyPr wrap="square">
              <a:spAutoFit/>
            </a:bodyPr>
            <a:lstStyle/>
            <a:p>
              <a:r>
                <a:rPr lang="en-US" altLang="ja-JP" sz="1200" dirty="0"/>
                <a:t>:3000</a:t>
              </a:r>
              <a:endParaRPr lang="ja-JP" altLang="en-US" sz="1200" dirty="0"/>
            </a:p>
          </p:txBody>
        </p:sp>
      </p:grpSp>
      <p:grpSp>
        <p:nvGrpSpPr>
          <p:cNvPr id="242" name="グループ化 241">
            <a:extLst>
              <a:ext uri="{FF2B5EF4-FFF2-40B4-BE49-F238E27FC236}">
                <a16:creationId xmlns:a16="http://schemas.microsoft.com/office/drawing/2014/main" id="{46C2DB0B-16D8-7E4B-96F5-303C91D7816D}"/>
              </a:ext>
            </a:extLst>
          </p:cNvPr>
          <p:cNvGrpSpPr/>
          <p:nvPr/>
        </p:nvGrpSpPr>
        <p:grpSpPr>
          <a:xfrm>
            <a:off x="2043915" y="5648135"/>
            <a:ext cx="931698" cy="372497"/>
            <a:chOff x="2254930" y="5246935"/>
            <a:chExt cx="931698" cy="372497"/>
          </a:xfrm>
        </p:grpSpPr>
        <p:pic>
          <p:nvPicPr>
            <p:cNvPr id="284" name="グラフィックス 283">
              <a:extLst>
                <a:ext uri="{FF2B5EF4-FFF2-40B4-BE49-F238E27FC236}">
                  <a16:creationId xmlns:a16="http://schemas.microsoft.com/office/drawing/2014/main" id="{D44DDBD0-3169-7575-647F-7E287E4633D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254930" y="5246935"/>
              <a:ext cx="372497" cy="372497"/>
            </a:xfrm>
            <a:prstGeom prst="rect">
              <a:avLst/>
            </a:prstGeom>
          </p:spPr>
        </p:pic>
        <p:sp>
          <p:nvSpPr>
            <p:cNvPr id="285" name="テキスト ボックス 284">
              <a:extLst>
                <a:ext uri="{FF2B5EF4-FFF2-40B4-BE49-F238E27FC236}">
                  <a16:creationId xmlns:a16="http://schemas.microsoft.com/office/drawing/2014/main" id="{5AD4302A-E352-8D8A-9F9D-9258EEC297BF}"/>
                </a:ext>
              </a:extLst>
            </p:cNvPr>
            <p:cNvSpPr txBox="1"/>
            <p:nvPr/>
          </p:nvSpPr>
          <p:spPr>
            <a:xfrm>
              <a:off x="2557071" y="5306333"/>
              <a:ext cx="629557" cy="276999"/>
            </a:xfrm>
            <a:prstGeom prst="rect">
              <a:avLst/>
            </a:prstGeom>
            <a:noFill/>
          </p:spPr>
          <p:txBody>
            <a:bodyPr wrap="square">
              <a:spAutoFit/>
            </a:bodyPr>
            <a:lstStyle/>
            <a:p>
              <a:r>
                <a:rPr lang="en-US" altLang="ja-JP" sz="1200" dirty="0"/>
                <a:t>:8000</a:t>
              </a:r>
              <a:endParaRPr lang="ja-JP" altLang="en-US" sz="1200" dirty="0"/>
            </a:p>
          </p:txBody>
        </p:sp>
      </p:grpSp>
      <p:sp>
        <p:nvSpPr>
          <p:cNvPr id="306" name="Rectangle 103" descr="Generic group dashed.">
            <a:extLst>
              <a:ext uri="{FF2B5EF4-FFF2-40B4-BE49-F238E27FC236}">
                <a16:creationId xmlns:a16="http://schemas.microsoft.com/office/drawing/2014/main" id="{59AFAFDA-714D-9710-0ACC-7A23CC036AD8}"/>
              </a:ext>
            </a:extLst>
          </p:cNvPr>
          <p:cNvSpPr/>
          <p:nvPr/>
        </p:nvSpPr>
        <p:spPr>
          <a:xfrm>
            <a:off x="690522" y="3933107"/>
            <a:ext cx="2615365" cy="2822096"/>
          </a:xfrm>
          <a:prstGeom prst="rect">
            <a:avLst/>
          </a:prstGeom>
          <a:noFill/>
          <a:ln w="15875">
            <a:solidFill>
              <a:srgbClr val="7D8998"/>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a:defRPr/>
            </a:pPr>
            <a:r>
              <a:rPr lang="ja-JP" altLang="en-US" sz="1200" dirty="0">
                <a:solidFill>
                  <a:schemeClr val="tx1"/>
                </a:solidFill>
                <a:latin typeface="Arial" panose="020B0604020202020204" pitchFamily="34" charset="0"/>
                <a:cs typeface="Arial" panose="020B0604020202020204" pitchFamily="34" charset="0"/>
              </a:rPr>
              <a:t>学生部屋（</a:t>
            </a:r>
            <a:r>
              <a:rPr lang="en-US" altLang="ja-JP" sz="1200" dirty="0">
                <a:solidFill>
                  <a:schemeClr val="tx1"/>
                </a:solidFill>
                <a:latin typeface="Arial" panose="020B0604020202020204" pitchFamily="34" charset="0"/>
                <a:cs typeface="Arial" panose="020B0604020202020204" pitchFamily="34" charset="0"/>
              </a:rPr>
              <a:t>J1401</a:t>
            </a:r>
            <a:r>
              <a:rPr lang="ja-JP" altLang="en-US" sz="1200" dirty="0">
                <a:solidFill>
                  <a:schemeClr val="tx1"/>
                </a:solidFill>
                <a:latin typeface="Arial" panose="020B0604020202020204" pitchFamily="34" charset="0"/>
                <a:cs typeface="Arial" panose="020B0604020202020204" pitchFamily="34" charset="0"/>
              </a:rPr>
              <a:t>）</a:t>
            </a:r>
            <a:endParaRPr lang="en-US" sz="1200" dirty="0">
              <a:solidFill>
                <a:schemeClr val="tx1"/>
              </a:solidFill>
              <a:latin typeface="Arial" panose="020B0604020202020204" pitchFamily="34" charset="0"/>
              <a:cs typeface="Arial" panose="020B0604020202020204" pitchFamily="34" charset="0"/>
            </a:endParaRPr>
          </a:p>
        </p:txBody>
      </p:sp>
      <p:pic>
        <p:nvPicPr>
          <p:cNvPr id="307" name="グラフィックス 306">
            <a:extLst>
              <a:ext uri="{FF2B5EF4-FFF2-40B4-BE49-F238E27FC236}">
                <a16:creationId xmlns:a16="http://schemas.microsoft.com/office/drawing/2014/main" id="{0FF84349-0A7B-0211-25EC-D5B60D0520EC}"/>
              </a:ext>
            </a:extLst>
          </p:cNvPr>
          <p:cNvPicPr>
            <a:picLocks noChangeAspect="1"/>
          </p:cNvPicPr>
          <p:nvPr/>
        </p:nvPicPr>
        <p:blipFill>
          <a:blip r:embed="rId7">
            <a:grayscl/>
            <a:extLst>
              <a:ext uri="{96DAC541-7B7A-43D3-8B79-37D633B846F1}">
                <asvg:svgBlip xmlns:asvg="http://schemas.microsoft.com/office/drawing/2016/SVG/main" r:embed="rId8"/>
              </a:ext>
            </a:extLst>
          </a:blip>
          <a:srcRect l="25148" t="16203" r="25948" b="16205"/>
          <a:stretch/>
        </p:blipFill>
        <p:spPr>
          <a:xfrm rot="16200000">
            <a:off x="1042395" y="5874413"/>
            <a:ext cx="599552" cy="828660"/>
          </a:xfrm>
          <a:prstGeom prst="rect">
            <a:avLst/>
          </a:prstGeom>
        </p:spPr>
      </p:pic>
      <p:cxnSp>
        <p:nvCxnSpPr>
          <p:cNvPr id="372" name="Straight Arrow Connector 52" descr="Double pointing horizontal arrow.">
            <a:extLst>
              <a:ext uri="{FF2B5EF4-FFF2-40B4-BE49-F238E27FC236}">
                <a16:creationId xmlns:a16="http://schemas.microsoft.com/office/drawing/2014/main" id="{E1A508F1-4E70-3CDF-B7C5-9CB49EC9AE40}"/>
              </a:ext>
            </a:extLst>
          </p:cNvPr>
          <p:cNvCxnSpPr>
            <a:cxnSpLocks/>
            <a:stCxn id="286" idx="1"/>
            <a:endCxn id="307" idx="2"/>
          </p:cNvCxnSpPr>
          <p:nvPr/>
        </p:nvCxnSpPr>
        <p:spPr>
          <a:xfrm flipH="1">
            <a:off x="1756501" y="6288743"/>
            <a:ext cx="294775" cy="0"/>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pic>
        <p:nvPicPr>
          <p:cNvPr id="3" name="Picture 2" descr="Raspberry icon - Free download on Iconfinder">
            <a:extLst>
              <a:ext uri="{FF2B5EF4-FFF2-40B4-BE49-F238E27FC236}">
                <a16:creationId xmlns:a16="http://schemas.microsoft.com/office/drawing/2014/main" id="{34DBE351-C459-4867-2F3A-A60F0EBAAD7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44769" y="4471085"/>
            <a:ext cx="544810" cy="544810"/>
          </a:xfrm>
          <a:prstGeom prst="rect">
            <a:avLst/>
          </a:prstGeom>
          <a:noFill/>
          <a:extLst>
            <a:ext uri="{909E8E84-426E-40DD-AFC4-6F175D3DCCD1}">
              <a14:hiddenFill xmlns:a14="http://schemas.microsoft.com/office/drawing/2010/main">
                <a:solidFill>
                  <a:srgbClr val="FFFFFF"/>
                </a:solidFill>
              </a14:hiddenFill>
            </a:ext>
          </a:extLst>
        </p:spPr>
      </p:pic>
      <p:grpSp>
        <p:nvGrpSpPr>
          <p:cNvPr id="9" name="グループ化 8">
            <a:extLst>
              <a:ext uri="{FF2B5EF4-FFF2-40B4-BE49-F238E27FC236}">
                <a16:creationId xmlns:a16="http://schemas.microsoft.com/office/drawing/2014/main" id="{564D481C-0064-4918-C29B-8560A0F4D763}"/>
              </a:ext>
            </a:extLst>
          </p:cNvPr>
          <p:cNvGrpSpPr/>
          <p:nvPr/>
        </p:nvGrpSpPr>
        <p:grpSpPr>
          <a:xfrm>
            <a:off x="3305887" y="1301487"/>
            <a:ext cx="5430653" cy="5453716"/>
            <a:chOff x="3305887" y="1301487"/>
            <a:chExt cx="5430653" cy="5453716"/>
          </a:xfrm>
        </p:grpSpPr>
        <p:sp>
          <p:nvSpPr>
            <p:cNvPr id="6" name="正方形/長方形 5">
              <a:extLst>
                <a:ext uri="{FF2B5EF4-FFF2-40B4-BE49-F238E27FC236}">
                  <a16:creationId xmlns:a16="http://schemas.microsoft.com/office/drawing/2014/main" id="{D3CEA0DD-0520-28A0-D373-D33AF098165B}"/>
                </a:ext>
              </a:extLst>
            </p:cNvPr>
            <p:cNvSpPr/>
            <p:nvPr/>
          </p:nvSpPr>
          <p:spPr>
            <a:xfrm>
              <a:off x="3469616" y="1648657"/>
              <a:ext cx="5173870" cy="5106546"/>
            </a:xfrm>
            <a:prstGeom prst="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0000" rIns="0" bIns="0" rtlCol="0" anchor="ctr"/>
            <a:lstStyle/>
            <a:p>
              <a:r>
                <a:rPr lang="en-US" altLang="ja-JP" sz="1400" dirty="0"/>
                <a:t>.</a:t>
              </a:r>
            </a:p>
            <a:p>
              <a:r>
                <a:rPr lang="en-US" altLang="ja-JP" sz="1400" dirty="0"/>
                <a:t>├── .env</a:t>
              </a:r>
            </a:p>
            <a:p>
              <a:r>
                <a:rPr lang="en-US" altLang="ja-JP" sz="1400" dirty="0"/>
                <a:t>│</a:t>
              </a:r>
            </a:p>
            <a:p>
              <a:r>
                <a:rPr lang="en-US" altLang="ja-JP" sz="1400" dirty="0"/>
                <a:t>├── app</a:t>
              </a:r>
            </a:p>
            <a:p>
              <a:r>
                <a:rPr lang="en-US" altLang="ja-JP" sz="1400" dirty="0"/>
                <a:t>│   ├── …</a:t>
              </a:r>
            </a:p>
            <a:p>
              <a:r>
                <a:rPr lang="en-US" altLang="ja-JP" sz="1400" dirty="0"/>
                <a:t>│</a:t>
              </a:r>
            </a:p>
            <a:p>
              <a:r>
                <a:rPr lang="en-US" altLang="ja-JP" sz="1400" dirty="0"/>
                <a:t>├── data</a:t>
              </a:r>
            </a:p>
            <a:p>
              <a:r>
                <a:rPr lang="en-US" altLang="ja-JP" sz="1400" dirty="0"/>
                <a:t>│   ├── …</a:t>
              </a:r>
            </a:p>
            <a:p>
              <a:r>
                <a:rPr lang="ja-JP" altLang="en-US" sz="1400" dirty="0"/>
                <a:t>｜</a:t>
              </a:r>
              <a:endParaRPr lang="en-US" altLang="ja-JP" sz="1400" dirty="0"/>
            </a:p>
            <a:p>
              <a:r>
                <a:rPr lang="en-US" altLang="ja-JP" sz="1400" dirty="0"/>
                <a:t>├── logs</a:t>
              </a:r>
            </a:p>
            <a:p>
              <a:r>
                <a:rPr lang="en-US" altLang="ja-JP" sz="1400" dirty="0"/>
                <a:t>│   └── *.log</a:t>
              </a:r>
            </a:p>
            <a:p>
              <a:r>
                <a:rPr lang="en-US" altLang="ja-JP" sz="1400" dirty="0"/>
                <a:t>│</a:t>
              </a:r>
            </a:p>
            <a:p>
              <a:r>
                <a:rPr lang="en-US" altLang="ja-JP" sz="1400" dirty="0"/>
                <a:t>├── shared</a:t>
              </a:r>
            </a:p>
            <a:p>
              <a:r>
                <a:rPr lang="en-US" altLang="ja-JP" sz="1400" dirty="0"/>
                <a:t>│   ├── …</a:t>
              </a:r>
            </a:p>
            <a:p>
              <a:r>
                <a:rPr lang="ja-JP" altLang="en-US" sz="1400" dirty="0"/>
                <a:t>｜</a:t>
              </a:r>
              <a:endParaRPr lang="en-US" altLang="ja-JP" sz="1400" dirty="0"/>
            </a:p>
            <a:p>
              <a:r>
                <a:rPr lang="en-US" altLang="ja-JP" sz="1400" dirty="0"/>
                <a:t>├── web</a:t>
              </a:r>
            </a:p>
            <a:p>
              <a:r>
                <a:rPr lang="en-US" altLang="ja-JP" sz="1400" dirty="0"/>
                <a:t>│   └── frontend</a:t>
              </a:r>
            </a:p>
            <a:p>
              <a:r>
                <a:rPr lang="en-US" altLang="ja-JP" sz="1400" dirty="0"/>
                <a:t>│       </a:t>
              </a:r>
              <a:r>
                <a:rPr lang="ja-JP" altLang="en-US" sz="1400" dirty="0"/>
                <a:t>  </a:t>
              </a:r>
              <a:r>
                <a:rPr lang="en-US" altLang="ja-JP" sz="1400" dirty="0"/>
                <a:t>├── .env</a:t>
              </a:r>
            </a:p>
            <a:p>
              <a:r>
                <a:rPr lang="en-US" altLang="ja-JP" sz="1400" dirty="0"/>
                <a:t>│         └── …</a:t>
              </a:r>
            </a:p>
            <a:p>
              <a:r>
                <a:rPr lang="en-US" altLang="ja-JP" sz="1400" dirty="0"/>
                <a:t>│</a:t>
              </a:r>
              <a:endParaRPr lang="en-US" altLang="ja-JP" sz="1400" b="1" dirty="0"/>
            </a:p>
            <a:p>
              <a:r>
                <a:rPr lang="en-US" altLang="ja-JP" sz="1400" dirty="0"/>
                <a:t>└── worker</a:t>
              </a:r>
            </a:p>
            <a:p>
              <a:r>
                <a:rPr lang="en-US" altLang="ja-JP" sz="1400" dirty="0"/>
                <a:t>    ├── …</a:t>
              </a:r>
            </a:p>
            <a:p>
              <a:pPr algn="ctr"/>
              <a:endParaRPr kumimoji="1" lang="ja-JP" altLang="en-US" sz="1400" dirty="0"/>
            </a:p>
          </p:txBody>
        </p:sp>
        <p:sp>
          <p:nvSpPr>
            <p:cNvPr id="8" name="テキスト ボックス 7">
              <a:extLst>
                <a:ext uri="{FF2B5EF4-FFF2-40B4-BE49-F238E27FC236}">
                  <a16:creationId xmlns:a16="http://schemas.microsoft.com/office/drawing/2014/main" id="{AE344D40-DE0F-BD24-CB2E-67A038F02546}"/>
                </a:ext>
              </a:extLst>
            </p:cNvPr>
            <p:cNvSpPr txBox="1"/>
            <p:nvPr/>
          </p:nvSpPr>
          <p:spPr>
            <a:xfrm>
              <a:off x="3305887" y="1301487"/>
              <a:ext cx="5430653" cy="338554"/>
            </a:xfrm>
            <a:prstGeom prst="rect">
              <a:avLst/>
            </a:prstGeom>
            <a:noFill/>
          </p:spPr>
          <p:txBody>
            <a:bodyPr wrap="square" rtlCol="0">
              <a:spAutoFit/>
            </a:bodyPr>
            <a:lstStyle/>
            <a:p>
              <a:pPr algn="ctr"/>
              <a:r>
                <a:rPr kumimoji="1" lang="ja-JP" altLang="en-US" sz="1600" dirty="0"/>
                <a:t>現行の制御デバイス</a:t>
              </a:r>
              <a:r>
                <a:rPr kumimoji="1" lang="en-US" altLang="ja-JP" sz="1600" dirty="0"/>
                <a:t>(172.16.15.8</a:t>
              </a:r>
              <a:r>
                <a:rPr lang="en-US" altLang="ja-JP" sz="1600" dirty="0"/>
                <a:t>)</a:t>
              </a:r>
              <a:r>
                <a:rPr lang="ja-JP" altLang="en-US" sz="1600" dirty="0"/>
                <a:t>のディレクトリ構成</a:t>
              </a:r>
              <a:endParaRPr kumimoji="1" lang="ja-JP" altLang="en-US" sz="1600" dirty="0"/>
            </a:p>
          </p:txBody>
        </p:sp>
      </p:grpSp>
      <p:sp>
        <p:nvSpPr>
          <p:cNvPr id="10" name="正方形/長方形 9">
            <a:extLst>
              <a:ext uri="{FF2B5EF4-FFF2-40B4-BE49-F238E27FC236}">
                <a16:creationId xmlns:a16="http://schemas.microsoft.com/office/drawing/2014/main" id="{27D07EE7-D7EE-A54B-D632-B0561A7E6EEC}"/>
              </a:ext>
            </a:extLst>
          </p:cNvPr>
          <p:cNvSpPr/>
          <p:nvPr/>
        </p:nvSpPr>
        <p:spPr>
          <a:xfrm>
            <a:off x="3817249" y="2333486"/>
            <a:ext cx="1559081" cy="565110"/>
          </a:xfrm>
          <a:prstGeom prst="rect">
            <a:avLst/>
          </a:prstGeom>
          <a:solidFill>
            <a:srgbClr val="F2F2F2">
              <a:alpha val="50196"/>
            </a:srgbClr>
          </a:solid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984FFA29-4B3F-58BD-9DC4-ED8C6D8DBB1E}"/>
              </a:ext>
            </a:extLst>
          </p:cNvPr>
          <p:cNvSpPr/>
          <p:nvPr/>
        </p:nvSpPr>
        <p:spPr>
          <a:xfrm>
            <a:off x="3817249" y="2980670"/>
            <a:ext cx="1559081" cy="565111"/>
          </a:xfrm>
          <a:prstGeom prst="rect">
            <a:avLst/>
          </a:prstGeom>
          <a:solidFill>
            <a:srgbClr val="F2F2F2">
              <a:alpha val="50196"/>
            </a:srgbClr>
          </a:solidFill>
          <a:ln w="1905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7E12403B-CD68-E468-5309-67A8417B2DA3}"/>
              </a:ext>
            </a:extLst>
          </p:cNvPr>
          <p:cNvSpPr/>
          <p:nvPr/>
        </p:nvSpPr>
        <p:spPr>
          <a:xfrm>
            <a:off x="3817249" y="3627855"/>
            <a:ext cx="1559081" cy="565111"/>
          </a:xfrm>
          <a:prstGeom prst="rect">
            <a:avLst/>
          </a:prstGeom>
          <a:solidFill>
            <a:srgbClr val="F2F2F2">
              <a:alpha val="50196"/>
            </a:srgbClr>
          </a:solidFill>
          <a:ln w="1905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F9341F19-F4AE-2BCC-C72B-C51ABA5C6225}"/>
              </a:ext>
            </a:extLst>
          </p:cNvPr>
          <p:cNvSpPr/>
          <p:nvPr/>
        </p:nvSpPr>
        <p:spPr>
          <a:xfrm>
            <a:off x="3817250" y="4275040"/>
            <a:ext cx="1559082" cy="565111"/>
          </a:xfrm>
          <a:prstGeom prst="rect">
            <a:avLst/>
          </a:prstGeom>
          <a:solidFill>
            <a:srgbClr val="F2F2F2">
              <a:alpha val="50196"/>
            </a:srgbClr>
          </a:solidFill>
          <a:ln w="1905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EF7A5F43-C3BF-A2BB-6A25-28D359381BEE}"/>
              </a:ext>
            </a:extLst>
          </p:cNvPr>
          <p:cNvSpPr/>
          <p:nvPr/>
        </p:nvSpPr>
        <p:spPr>
          <a:xfrm>
            <a:off x="3817249" y="4926787"/>
            <a:ext cx="1559083" cy="944846"/>
          </a:xfrm>
          <a:prstGeom prst="rect">
            <a:avLst/>
          </a:prstGeom>
          <a:solidFill>
            <a:srgbClr val="F2F2F2">
              <a:alpha val="50196"/>
            </a:srgbClr>
          </a:solid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5" name="正方形/長方形 14">
            <a:extLst>
              <a:ext uri="{FF2B5EF4-FFF2-40B4-BE49-F238E27FC236}">
                <a16:creationId xmlns:a16="http://schemas.microsoft.com/office/drawing/2014/main" id="{C9263B04-FAB0-BAC7-E284-B52310ADF5E9}"/>
              </a:ext>
            </a:extLst>
          </p:cNvPr>
          <p:cNvSpPr/>
          <p:nvPr/>
        </p:nvSpPr>
        <p:spPr>
          <a:xfrm>
            <a:off x="3817249" y="5959525"/>
            <a:ext cx="1559083" cy="565111"/>
          </a:xfrm>
          <a:prstGeom prst="rect">
            <a:avLst/>
          </a:prstGeom>
          <a:solidFill>
            <a:srgbClr val="F2F2F2">
              <a:alpha val="50196"/>
            </a:srgbClr>
          </a:solidFill>
          <a:ln w="1905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ボックス 15">
            <a:extLst>
              <a:ext uri="{FF2B5EF4-FFF2-40B4-BE49-F238E27FC236}">
                <a16:creationId xmlns:a16="http://schemas.microsoft.com/office/drawing/2014/main" id="{BF2A086E-BA47-A123-AFBB-6B9C8533FFB2}"/>
              </a:ext>
            </a:extLst>
          </p:cNvPr>
          <p:cNvSpPr txBox="1"/>
          <p:nvPr/>
        </p:nvSpPr>
        <p:spPr>
          <a:xfrm>
            <a:off x="5843374" y="2462152"/>
            <a:ext cx="2614826" cy="307777"/>
          </a:xfrm>
          <a:prstGeom prst="rect">
            <a:avLst/>
          </a:prstGeom>
          <a:noFill/>
        </p:spPr>
        <p:txBody>
          <a:bodyPr wrap="square" rtlCol="0">
            <a:spAutoFit/>
          </a:bodyPr>
          <a:lstStyle/>
          <a:p>
            <a:r>
              <a:rPr kumimoji="1" lang="en-US" altLang="ja-JP" sz="1400" dirty="0" err="1"/>
              <a:t>FastAPI</a:t>
            </a:r>
            <a:r>
              <a:rPr lang="ja-JP" altLang="en-US" sz="1400" dirty="0"/>
              <a:t>関連</a:t>
            </a:r>
            <a:endParaRPr kumimoji="1" lang="ja-JP" altLang="en-US" sz="1400" dirty="0"/>
          </a:p>
        </p:txBody>
      </p:sp>
      <p:pic>
        <p:nvPicPr>
          <p:cNvPr id="18" name="グラフィックス 17">
            <a:extLst>
              <a:ext uri="{FF2B5EF4-FFF2-40B4-BE49-F238E27FC236}">
                <a16:creationId xmlns:a16="http://schemas.microsoft.com/office/drawing/2014/main" id="{A6D20EA7-2C78-486D-25D7-A2376DFA85B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470877" y="2429791"/>
            <a:ext cx="372497" cy="372497"/>
          </a:xfrm>
          <a:prstGeom prst="rect">
            <a:avLst/>
          </a:prstGeom>
        </p:spPr>
      </p:pic>
      <p:pic>
        <p:nvPicPr>
          <p:cNvPr id="1026" name="Picture 2" descr="SQLite】10分で分かる SQLiteとは？ | レンサバ">
            <a:extLst>
              <a:ext uri="{FF2B5EF4-FFF2-40B4-BE49-F238E27FC236}">
                <a16:creationId xmlns:a16="http://schemas.microsoft.com/office/drawing/2014/main" id="{E37E2AF4-4199-FD72-99C9-A623C57106E3}"/>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13878" r="14269"/>
          <a:stretch/>
        </p:blipFill>
        <p:spPr bwMode="auto">
          <a:xfrm>
            <a:off x="5475632" y="3073434"/>
            <a:ext cx="367742" cy="372497"/>
          </a:xfrm>
          <a:prstGeom prst="rect">
            <a:avLst/>
          </a:prstGeom>
          <a:noFill/>
          <a:extLst>
            <a:ext uri="{909E8E84-426E-40DD-AFC4-6F175D3DCCD1}">
              <a14:hiddenFill xmlns:a14="http://schemas.microsoft.com/office/drawing/2010/main">
                <a:solidFill>
                  <a:srgbClr val="FFFFFF"/>
                </a:solidFill>
              </a14:hiddenFill>
            </a:ext>
          </a:extLst>
        </p:spPr>
      </p:pic>
      <p:sp>
        <p:nvSpPr>
          <p:cNvPr id="20" name="テキスト ボックス 19">
            <a:extLst>
              <a:ext uri="{FF2B5EF4-FFF2-40B4-BE49-F238E27FC236}">
                <a16:creationId xmlns:a16="http://schemas.microsoft.com/office/drawing/2014/main" id="{C756771A-8391-18A9-45F2-DF29288E8006}"/>
              </a:ext>
            </a:extLst>
          </p:cNvPr>
          <p:cNvSpPr txBox="1"/>
          <p:nvPr/>
        </p:nvSpPr>
        <p:spPr>
          <a:xfrm>
            <a:off x="5843374" y="3125295"/>
            <a:ext cx="2614826" cy="307777"/>
          </a:xfrm>
          <a:prstGeom prst="rect">
            <a:avLst/>
          </a:prstGeom>
          <a:noFill/>
        </p:spPr>
        <p:txBody>
          <a:bodyPr wrap="square" rtlCol="0">
            <a:spAutoFit/>
          </a:bodyPr>
          <a:lstStyle/>
          <a:p>
            <a:r>
              <a:rPr lang="en-US" altLang="ja-JP" sz="1400" dirty="0"/>
              <a:t>Database</a:t>
            </a:r>
            <a:r>
              <a:rPr lang="ja-JP" altLang="en-US" sz="1400" dirty="0"/>
              <a:t>関連</a:t>
            </a:r>
            <a:endParaRPr kumimoji="1" lang="ja-JP" altLang="en-US" sz="1400" dirty="0"/>
          </a:p>
        </p:txBody>
      </p:sp>
      <p:sp>
        <p:nvSpPr>
          <p:cNvPr id="21" name="テキスト ボックス 20">
            <a:extLst>
              <a:ext uri="{FF2B5EF4-FFF2-40B4-BE49-F238E27FC236}">
                <a16:creationId xmlns:a16="http://schemas.microsoft.com/office/drawing/2014/main" id="{3C9944D7-3EFD-CC7D-7D3B-E8C8357560B9}"/>
              </a:ext>
            </a:extLst>
          </p:cNvPr>
          <p:cNvSpPr txBox="1"/>
          <p:nvPr/>
        </p:nvSpPr>
        <p:spPr>
          <a:xfrm>
            <a:off x="5470877" y="3779218"/>
            <a:ext cx="2614826" cy="307777"/>
          </a:xfrm>
          <a:prstGeom prst="rect">
            <a:avLst/>
          </a:prstGeom>
          <a:noFill/>
        </p:spPr>
        <p:txBody>
          <a:bodyPr wrap="square" rtlCol="0">
            <a:spAutoFit/>
          </a:bodyPr>
          <a:lstStyle/>
          <a:p>
            <a:r>
              <a:rPr lang="ja-JP" altLang="en-US" sz="1400" dirty="0"/>
              <a:t>実行ログ関連</a:t>
            </a:r>
            <a:endParaRPr kumimoji="1" lang="ja-JP" altLang="en-US" sz="1400" dirty="0"/>
          </a:p>
        </p:txBody>
      </p:sp>
      <p:pic>
        <p:nvPicPr>
          <p:cNvPr id="23" name="図 22" descr="アイコン&#10;&#10;AI によって生成されたコンテンツは間違っている可能性があります。">
            <a:extLst>
              <a:ext uri="{FF2B5EF4-FFF2-40B4-BE49-F238E27FC236}">
                <a16:creationId xmlns:a16="http://schemas.microsoft.com/office/drawing/2014/main" id="{A6EDBC8C-0456-2C0D-38B2-6339BB15540A}"/>
              </a:ext>
            </a:extLst>
          </p:cNvPr>
          <p:cNvPicPr>
            <a:picLocks noChangeAspect="1"/>
          </p:cNvPicPr>
          <p:nvPr/>
        </p:nvPicPr>
        <p:blipFill>
          <a:blip r:embed="rId4">
            <a:extLst>
              <a:ext uri="{28A0092B-C50C-407E-A947-70E740481C1C}">
                <a14:useLocalDpi xmlns:a14="http://schemas.microsoft.com/office/drawing/2010/main" val="0"/>
              </a:ext>
            </a:extLst>
          </a:blip>
          <a:srcRect l="10553" t="5709" r="9769" b="4466"/>
          <a:stretch/>
        </p:blipFill>
        <p:spPr>
          <a:xfrm>
            <a:off x="5480878" y="5201191"/>
            <a:ext cx="357774" cy="403333"/>
          </a:xfrm>
          <a:prstGeom prst="rect">
            <a:avLst/>
          </a:prstGeom>
        </p:spPr>
      </p:pic>
      <p:sp>
        <p:nvSpPr>
          <p:cNvPr id="25" name="テキスト ボックス 24">
            <a:extLst>
              <a:ext uri="{FF2B5EF4-FFF2-40B4-BE49-F238E27FC236}">
                <a16:creationId xmlns:a16="http://schemas.microsoft.com/office/drawing/2014/main" id="{EE45401D-CF84-FD85-966D-EFD7E5B6B006}"/>
              </a:ext>
            </a:extLst>
          </p:cNvPr>
          <p:cNvSpPr txBox="1"/>
          <p:nvPr/>
        </p:nvSpPr>
        <p:spPr>
          <a:xfrm>
            <a:off x="5838652" y="5248736"/>
            <a:ext cx="2614826" cy="307777"/>
          </a:xfrm>
          <a:prstGeom prst="rect">
            <a:avLst/>
          </a:prstGeom>
          <a:noFill/>
        </p:spPr>
        <p:txBody>
          <a:bodyPr wrap="square" rtlCol="0">
            <a:spAutoFit/>
          </a:bodyPr>
          <a:lstStyle/>
          <a:p>
            <a:r>
              <a:rPr lang="en-US" altLang="ja-JP" sz="1400" dirty="0"/>
              <a:t>React</a:t>
            </a:r>
            <a:r>
              <a:rPr lang="ja-JP" altLang="en-US" sz="1400" dirty="0"/>
              <a:t>関連</a:t>
            </a:r>
            <a:endParaRPr kumimoji="1" lang="ja-JP" altLang="en-US" sz="1400" dirty="0"/>
          </a:p>
        </p:txBody>
      </p:sp>
      <p:sp>
        <p:nvSpPr>
          <p:cNvPr id="26" name="テキスト ボックス 25">
            <a:extLst>
              <a:ext uri="{FF2B5EF4-FFF2-40B4-BE49-F238E27FC236}">
                <a16:creationId xmlns:a16="http://schemas.microsoft.com/office/drawing/2014/main" id="{5791628A-17E6-ED37-AC65-CF24EDADFE7C}"/>
              </a:ext>
            </a:extLst>
          </p:cNvPr>
          <p:cNvSpPr txBox="1"/>
          <p:nvPr/>
        </p:nvSpPr>
        <p:spPr>
          <a:xfrm>
            <a:off x="5451820" y="4403706"/>
            <a:ext cx="2999019" cy="307777"/>
          </a:xfrm>
          <a:prstGeom prst="rect">
            <a:avLst/>
          </a:prstGeom>
          <a:noFill/>
        </p:spPr>
        <p:txBody>
          <a:bodyPr wrap="square" rtlCol="0">
            <a:spAutoFit/>
          </a:bodyPr>
          <a:lstStyle/>
          <a:p>
            <a:r>
              <a:rPr lang="en-US" altLang="ja-JP" sz="1400" dirty="0"/>
              <a:t>worker</a:t>
            </a:r>
            <a:r>
              <a:rPr lang="ja-JP" altLang="en-US" sz="1400" dirty="0"/>
              <a:t>と</a:t>
            </a:r>
            <a:r>
              <a:rPr lang="en-US" altLang="ja-JP" sz="1400" dirty="0"/>
              <a:t>app</a:t>
            </a:r>
            <a:r>
              <a:rPr lang="ja-JP" altLang="en-US" sz="1400" dirty="0"/>
              <a:t>の共通参照ファイル</a:t>
            </a:r>
            <a:endParaRPr kumimoji="1" lang="ja-JP" altLang="en-US" sz="1400" dirty="0"/>
          </a:p>
        </p:txBody>
      </p:sp>
      <p:sp>
        <p:nvSpPr>
          <p:cNvPr id="27" name="テキスト ボックス 26">
            <a:extLst>
              <a:ext uri="{FF2B5EF4-FFF2-40B4-BE49-F238E27FC236}">
                <a16:creationId xmlns:a16="http://schemas.microsoft.com/office/drawing/2014/main" id="{59DCB708-23E8-8C61-6B56-D7844017741D}"/>
              </a:ext>
            </a:extLst>
          </p:cNvPr>
          <p:cNvSpPr txBox="1"/>
          <p:nvPr/>
        </p:nvSpPr>
        <p:spPr>
          <a:xfrm>
            <a:off x="5451819" y="6093766"/>
            <a:ext cx="2999019" cy="307777"/>
          </a:xfrm>
          <a:prstGeom prst="rect">
            <a:avLst/>
          </a:prstGeom>
          <a:noFill/>
        </p:spPr>
        <p:txBody>
          <a:bodyPr wrap="square" rtlCol="0">
            <a:spAutoFit/>
          </a:bodyPr>
          <a:lstStyle/>
          <a:p>
            <a:r>
              <a:rPr lang="ja-JP" altLang="en-US" sz="1400" dirty="0"/>
              <a:t>タスク</a:t>
            </a:r>
            <a:r>
              <a:rPr kumimoji="1" lang="ja-JP" altLang="en-US" sz="1400" dirty="0"/>
              <a:t>処理関連</a:t>
            </a:r>
          </a:p>
        </p:txBody>
      </p:sp>
      <p:cxnSp>
        <p:nvCxnSpPr>
          <p:cNvPr id="7" name="直線矢印コネクタ 6">
            <a:extLst>
              <a:ext uri="{FF2B5EF4-FFF2-40B4-BE49-F238E27FC236}">
                <a16:creationId xmlns:a16="http://schemas.microsoft.com/office/drawing/2014/main" id="{4B91E0E8-05ED-D84C-9B7F-CCCD7C31352C}"/>
              </a:ext>
            </a:extLst>
          </p:cNvPr>
          <p:cNvCxnSpPr>
            <a:cxnSpLocks/>
          </p:cNvCxnSpPr>
          <p:nvPr/>
        </p:nvCxnSpPr>
        <p:spPr>
          <a:xfrm>
            <a:off x="4597400" y="2635250"/>
            <a:ext cx="0" cy="2828391"/>
          </a:xfrm>
          <a:prstGeom prst="straightConnector1">
            <a:avLst/>
          </a:prstGeom>
          <a:ln w="57150">
            <a:solidFill>
              <a:schemeClr val="accent6"/>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A114851D-CE90-D7D2-9D9C-0F964E49F50D}"/>
              </a:ext>
            </a:extLst>
          </p:cNvPr>
          <p:cNvSpPr txBox="1"/>
          <p:nvPr/>
        </p:nvSpPr>
        <p:spPr>
          <a:xfrm>
            <a:off x="4648682" y="3803807"/>
            <a:ext cx="2999017" cy="369332"/>
          </a:xfrm>
          <a:prstGeom prst="rect">
            <a:avLst/>
          </a:prstGeom>
          <a:noFill/>
        </p:spPr>
        <p:txBody>
          <a:bodyPr wrap="square" rtlCol="0">
            <a:spAutoFit/>
          </a:bodyPr>
          <a:lstStyle/>
          <a:p>
            <a:endParaRPr kumimoji="1" lang="ja-JP" altLang="en-US" b="1" dirty="0">
              <a:solidFill>
                <a:schemeClr val="accent6"/>
              </a:solidFill>
            </a:endParaRPr>
          </a:p>
        </p:txBody>
      </p:sp>
      <p:sp>
        <p:nvSpPr>
          <p:cNvPr id="19" name="正方形/長方形 18">
            <a:extLst>
              <a:ext uri="{FF2B5EF4-FFF2-40B4-BE49-F238E27FC236}">
                <a16:creationId xmlns:a16="http://schemas.microsoft.com/office/drawing/2014/main" id="{05861C66-CE00-62A9-F35B-7F672845659C}"/>
              </a:ext>
            </a:extLst>
          </p:cNvPr>
          <p:cNvSpPr/>
          <p:nvPr/>
        </p:nvSpPr>
        <p:spPr>
          <a:xfrm>
            <a:off x="4720510" y="3710607"/>
            <a:ext cx="2089610" cy="641081"/>
          </a:xfrm>
          <a:prstGeom prst="rect">
            <a:avLst/>
          </a:prstGeom>
          <a:solidFill>
            <a:schemeClr val="bg2"/>
          </a:solidFill>
          <a:ln>
            <a:solidFill>
              <a:schemeClr val="tx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lIns="0" tIns="46800" rIns="0" bIns="0" rtlCol="0" anchor="ctr"/>
          <a:lstStyle/>
          <a:p>
            <a:pPr algn="ctr"/>
            <a:r>
              <a:rPr lang="ja-JP" altLang="en-US" sz="1400" dirty="0">
                <a:solidFill>
                  <a:schemeClr val="accent6"/>
                </a:solidFill>
              </a:rPr>
              <a:t>タスクを</a:t>
            </a:r>
            <a:r>
              <a:rPr lang="en-US" altLang="ja-JP" sz="1400" dirty="0">
                <a:solidFill>
                  <a:schemeClr val="accent6"/>
                </a:solidFill>
              </a:rPr>
              <a:t>DB</a:t>
            </a:r>
            <a:r>
              <a:rPr lang="ja-JP" altLang="en-US" sz="1400" dirty="0">
                <a:solidFill>
                  <a:schemeClr val="accent6"/>
                </a:solidFill>
              </a:rPr>
              <a:t>に追加した</a:t>
            </a:r>
            <a:endParaRPr lang="en-US" altLang="ja-JP" sz="1400" dirty="0">
              <a:solidFill>
                <a:schemeClr val="accent6"/>
              </a:solidFill>
            </a:endParaRPr>
          </a:p>
          <a:p>
            <a:pPr algn="ctr"/>
            <a:r>
              <a:rPr lang="ja-JP" altLang="en-US" sz="1400" dirty="0">
                <a:solidFill>
                  <a:schemeClr val="accent6"/>
                </a:solidFill>
              </a:rPr>
              <a:t>という返答をする</a:t>
            </a:r>
          </a:p>
        </p:txBody>
      </p:sp>
      <p:sp>
        <p:nvSpPr>
          <p:cNvPr id="4" name="正方形/長方形 3">
            <a:extLst>
              <a:ext uri="{FF2B5EF4-FFF2-40B4-BE49-F238E27FC236}">
                <a16:creationId xmlns:a16="http://schemas.microsoft.com/office/drawing/2014/main" id="{AFDB9590-FE55-C6D9-E610-4FBEFC7BB599}"/>
              </a:ext>
            </a:extLst>
          </p:cNvPr>
          <p:cNvSpPr/>
          <p:nvPr/>
        </p:nvSpPr>
        <p:spPr>
          <a:xfrm>
            <a:off x="693160" y="1635422"/>
            <a:ext cx="2612727" cy="1206448"/>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t>例：ある登録済みユーザーが</a:t>
            </a:r>
            <a:endParaRPr lang="en-US" altLang="ja-JP" sz="1400" dirty="0"/>
          </a:p>
          <a:p>
            <a:pPr algn="ctr"/>
            <a:r>
              <a:rPr lang="ja-JP" altLang="en-US" sz="1400" dirty="0"/>
              <a:t>「在室 </a:t>
            </a:r>
            <a:r>
              <a:rPr lang="en-US" altLang="ja-JP" sz="1400" dirty="0"/>
              <a:t>(Clock In)</a:t>
            </a:r>
            <a:r>
              <a:rPr lang="ja-JP" altLang="en-US" sz="1400" dirty="0"/>
              <a:t>」ボタンを</a:t>
            </a:r>
            <a:endParaRPr lang="en-US" altLang="ja-JP" sz="1400" dirty="0"/>
          </a:p>
          <a:p>
            <a:pPr algn="ctr"/>
            <a:r>
              <a:rPr lang="ja-JP" altLang="en-US" sz="1400" dirty="0"/>
              <a:t>押した後，自身の</a:t>
            </a:r>
            <a:r>
              <a:rPr lang="en-US" altLang="ja-JP" sz="1400" dirty="0"/>
              <a:t>IC</a:t>
            </a:r>
            <a:r>
              <a:rPr lang="ja-JP" altLang="en-US" sz="1400" dirty="0"/>
              <a:t>カードを</a:t>
            </a:r>
            <a:endParaRPr lang="en-US" altLang="ja-JP" sz="1400" dirty="0"/>
          </a:p>
          <a:p>
            <a:pPr algn="ctr"/>
            <a:r>
              <a:rPr lang="ja-JP" altLang="en-US" sz="1400" dirty="0"/>
              <a:t>読み込んだ場合</a:t>
            </a:r>
          </a:p>
        </p:txBody>
      </p:sp>
    </p:spTree>
    <p:extLst>
      <p:ext uri="{BB962C8B-B14F-4D97-AF65-F5344CB8AC3E}">
        <p14:creationId xmlns:p14="http://schemas.microsoft.com/office/powerpoint/2010/main" val="32575948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188B27-57FB-2B6D-47D7-CAC8A9BA441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791FAFA-6457-AC44-57CC-8112C930573A}"/>
              </a:ext>
            </a:extLst>
          </p:cNvPr>
          <p:cNvSpPr>
            <a:spLocks noGrp="1"/>
          </p:cNvSpPr>
          <p:nvPr>
            <p:ph type="title"/>
          </p:nvPr>
        </p:nvSpPr>
        <p:spPr/>
        <p:txBody>
          <a:bodyPr/>
          <a:lstStyle/>
          <a:p>
            <a:r>
              <a:rPr kumimoji="1" lang="ja-JP" altLang="en-US" dirty="0"/>
              <a:t>在室確認システム</a:t>
            </a:r>
            <a:r>
              <a:rPr lang="ja-JP" altLang="en-US" dirty="0"/>
              <a:t> </a:t>
            </a:r>
            <a:r>
              <a:rPr lang="en-US" altLang="ja-JP" dirty="0"/>
              <a:t>– </a:t>
            </a:r>
            <a:r>
              <a:rPr lang="ja-JP" altLang="en-US" dirty="0"/>
              <a:t>制御デバイス</a:t>
            </a:r>
            <a:endParaRPr kumimoji="1" lang="ja-JP" altLang="en-US" dirty="0"/>
          </a:p>
        </p:txBody>
      </p:sp>
      <p:sp>
        <p:nvSpPr>
          <p:cNvPr id="289" name="TextBox 12">
            <a:extLst>
              <a:ext uri="{FF2B5EF4-FFF2-40B4-BE49-F238E27FC236}">
                <a16:creationId xmlns:a16="http://schemas.microsoft.com/office/drawing/2014/main" id="{412935CF-735F-3697-5897-2D9491C679FB}"/>
              </a:ext>
            </a:extLst>
          </p:cNvPr>
          <p:cNvSpPr txBox="1">
            <a:spLocks noChangeArrowheads="1"/>
          </p:cNvSpPr>
          <p:nvPr/>
        </p:nvSpPr>
        <p:spPr bwMode="auto">
          <a:xfrm>
            <a:off x="1707208" y="5001976"/>
            <a:ext cx="16050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Raspberry Pi 4B</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(172.16.15.8)</a:t>
            </a:r>
          </a:p>
        </p:txBody>
      </p:sp>
      <p:sp>
        <p:nvSpPr>
          <p:cNvPr id="236" name="テキスト ボックス 235">
            <a:extLst>
              <a:ext uri="{FF2B5EF4-FFF2-40B4-BE49-F238E27FC236}">
                <a16:creationId xmlns:a16="http://schemas.microsoft.com/office/drawing/2014/main" id="{1BB93375-6383-BDAA-BDF2-B8F1AC4B1994}"/>
              </a:ext>
            </a:extLst>
          </p:cNvPr>
          <p:cNvSpPr txBox="1"/>
          <p:nvPr/>
        </p:nvSpPr>
        <p:spPr>
          <a:xfrm>
            <a:off x="1077353" y="4303759"/>
            <a:ext cx="1162293" cy="276999"/>
          </a:xfrm>
          <a:prstGeom prst="rect">
            <a:avLst/>
          </a:prstGeom>
          <a:noFill/>
        </p:spPr>
        <p:txBody>
          <a:bodyPr wrap="square">
            <a:spAutoFit/>
          </a:body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RC-S380 S</a:t>
            </a:r>
          </a:p>
        </p:txBody>
      </p:sp>
      <p:pic>
        <p:nvPicPr>
          <p:cNvPr id="237" name="図 236" descr="黒い背景と白い文字のロゴ&#10;&#10;AI によって生成されたコンテンツは間違っている可能性があります。">
            <a:extLst>
              <a:ext uri="{FF2B5EF4-FFF2-40B4-BE49-F238E27FC236}">
                <a16:creationId xmlns:a16="http://schemas.microsoft.com/office/drawing/2014/main" id="{252BCD52-A6AD-EA36-F08C-A5959B271BF4}"/>
              </a:ext>
            </a:extLst>
          </p:cNvPr>
          <p:cNvPicPr>
            <a:picLocks noChangeAspect="1"/>
          </p:cNvPicPr>
          <p:nvPr/>
        </p:nvPicPr>
        <p:blipFill>
          <a:blip r:embed="rId3">
            <a:biLevel thresh="50000"/>
            <a:extLst>
              <a:ext uri="{28A0092B-C50C-407E-A947-70E740481C1C}">
                <a14:useLocalDpi xmlns:a14="http://schemas.microsoft.com/office/drawing/2010/main" val="0"/>
              </a:ext>
            </a:extLst>
          </a:blip>
          <a:srcRect t="19474" b="18132"/>
          <a:stretch/>
        </p:blipFill>
        <p:spPr>
          <a:xfrm flipH="1">
            <a:off x="693160" y="4508703"/>
            <a:ext cx="1605014" cy="751622"/>
          </a:xfrm>
          <a:prstGeom prst="rect">
            <a:avLst/>
          </a:prstGeom>
        </p:spPr>
      </p:pic>
      <p:grpSp>
        <p:nvGrpSpPr>
          <p:cNvPr id="241" name="グループ化 240">
            <a:extLst>
              <a:ext uri="{FF2B5EF4-FFF2-40B4-BE49-F238E27FC236}">
                <a16:creationId xmlns:a16="http://schemas.microsoft.com/office/drawing/2014/main" id="{CE822686-F1B7-9BE0-94C3-78557C1B3D86}"/>
              </a:ext>
            </a:extLst>
          </p:cNvPr>
          <p:cNvGrpSpPr/>
          <p:nvPr/>
        </p:nvGrpSpPr>
        <p:grpSpPr>
          <a:xfrm>
            <a:off x="2051276" y="6087076"/>
            <a:ext cx="924337" cy="403333"/>
            <a:chOff x="2262291" y="5685876"/>
            <a:chExt cx="924337" cy="403333"/>
          </a:xfrm>
        </p:grpSpPr>
        <p:pic>
          <p:nvPicPr>
            <p:cNvPr id="286" name="図 285" descr="アイコン&#10;&#10;AI によって生成されたコンテンツは間違っている可能性があります。">
              <a:extLst>
                <a:ext uri="{FF2B5EF4-FFF2-40B4-BE49-F238E27FC236}">
                  <a16:creationId xmlns:a16="http://schemas.microsoft.com/office/drawing/2014/main" id="{B9277F4E-8516-558C-6317-CA1D39296454}"/>
                </a:ext>
              </a:extLst>
            </p:cNvPr>
            <p:cNvPicPr>
              <a:picLocks noChangeAspect="1"/>
            </p:cNvPicPr>
            <p:nvPr/>
          </p:nvPicPr>
          <p:blipFill>
            <a:blip r:embed="rId4">
              <a:extLst>
                <a:ext uri="{28A0092B-C50C-407E-A947-70E740481C1C}">
                  <a14:useLocalDpi xmlns:a14="http://schemas.microsoft.com/office/drawing/2010/main" val="0"/>
                </a:ext>
              </a:extLst>
            </a:blip>
            <a:srcRect l="10553" t="5709" r="9769" b="4466"/>
            <a:stretch/>
          </p:blipFill>
          <p:spPr>
            <a:xfrm>
              <a:off x="2262291" y="5685876"/>
              <a:ext cx="357774" cy="403333"/>
            </a:xfrm>
            <a:prstGeom prst="rect">
              <a:avLst/>
            </a:prstGeom>
          </p:spPr>
        </p:pic>
        <p:sp>
          <p:nvSpPr>
            <p:cNvPr id="287" name="テキスト ボックス 286">
              <a:extLst>
                <a:ext uri="{FF2B5EF4-FFF2-40B4-BE49-F238E27FC236}">
                  <a16:creationId xmlns:a16="http://schemas.microsoft.com/office/drawing/2014/main" id="{756735AB-6B4B-0250-0766-AE0CDD9E6B2B}"/>
                </a:ext>
              </a:extLst>
            </p:cNvPr>
            <p:cNvSpPr txBox="1"/>
            <p:nvPr/>
          </p:nvSpPr>
          <p:spPr>
            <a:xfrm>
              <a:off x="2557071" y="5749042"/>
              <a:ext cx="629557" cy="276999"/>
            </a:xfrm>
            <a:prstGeom prst="rect">
              <a:avLst/>
            </a:prstGeom>
            <a:noFill/>
          </p:spPr>
          <p:txBody>
            <a:bodyPr wrap="square">
              <a:spAutoFit/>
            </a:bodyPr>
            <a:lstStyle/>
            <a:p>
              <a:r>
                <a:rPr lang="en-US" altLang="ja-JP" sz="1200" dirty="0"/>
                <a:t>:3000</a:t>
              </a:r>
              <a:endParaRPr lang="ja-JP" altLang="en-US" sz="1200" dirty="0"/>
            </a:p>
          </p:txBody>
        </p:sp>
      </p:grpSp>
      <p:grpSp>
        <p:nvGrpSpPr>
          <p:cNvPr id="242" name="グループ化 241">
            <a:extLst>
              <a:ext uri="{FF2B5EF4-FFF2-40B4-BE49-F238E27FC236}">
                <a16:creationId xmlns:a16="http://schemas.microsoft.com/office/drawing/2014/main" id="{AAE282D1-6C07-E3FF-41A5-36CC253F4A17}"/>
              </a:ext>
            </a:extLst>
          </p:cNvPr>
          <p:cNvGrpSpPr/>
          <p:nvPr/>
        </p:nvGrpSpPr>
        <p:grpSpPr>
          <a:xfrm>
            <a:off x="2043915" y="5648135"/>
            <a:ext cx="931698" cy="372497"/>
            <a:chOff x="2254930" y="5246935"/>
            <a:chExt cx="931698" cy="372497"/>
          </a:xfrm>
        </p:grpSpPr>
        <p:pic>
          <p:nvPicPr>
            <p:cNvPr id="284" name="グラフィックス 283">
              <a:extLst>
                <a:ext uri="{FF2B5EF4-FFF2-40B4-BE49-F238E27FC236}">
                  <a16:creationId xmlns:a16="http://schemas.microsoft.com/office/drawing/2014/main" id="{5EF4AF61-1EEC-7EBB-3BD2-283FF5C2A5F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254930" y="5246935"/>
              <a:ext cx="372497" cy="372497"/>
            </a:xfrm>
            <a:prstGeom prst="rect">
              <a:avLst/>
            </a:prstGeom>
          </p:spPr>
        </p:pic>
        <p:sp>
          <p:nvSpPr>
            <p:cNvPr id="285" name="テキスト ボックス 284">
              <a:extLst>
                <a:ext uri="{FF2B5EF4-FFF2-40B4-BE49-F238E27FC236}">
                  <a16:creationId xmlns:a16="http://schemas.microsoft.com/office/drawing/2014/main" id="{F3FEB561-38E1-B43C-E5D0-3D755F927088}"/>
                </a:ext>
              </a:extLst>
            </p:cNvPr>
            <p:cNvSpPr txBox="1"/>
            <p:nvPr/>
          </p:nvSpPr>
          <p:spPr>
            <a:xfrm>
              <a:off x="2557071" y="5306333"/>
              <a:ext cx="629557" cy="276999"/>
            </a:xfrm>
            <a:prstGeom prst="rect">
              <a:avLst/>
            </a:prstGeom>
            <a:noFill/>
          </p:spPr>
          <p:txBody>
            <a:bodyPr wrap="square">
              <a:spAutoFit/>
            </a:bodyPr>
            <a:lstStyle/>
            <a:p>
              <a:r>
                <a:rPr lang="en-US" altLang="ja-JP" sz="1200" dirty="0"/>
                <a:t>:8000</a:t>
              </a:r>
              <a:endParaRPr lang="ja-JP" altLang="en-US" sz="1200" dirty="0"/>
            </a:p>
          </p:txBody>
        </p:sp>
      </p:grpSp>
      <p:sp>
        <p:nvSpPr>
          <p:cNvPr id="306" name="Rectangle 103" descr="Generic group dashed.">
            <a:extLst>
              <a:ext uri="{FF2B5EF4-FFF2-40B4-BE49-F238E27FC236}">
                <a16:creationId xmlns:a16="http://schemas.microsoft.com/office/drawing/2014/main" id="{2655193E-9DFA-D158-C2EA-F9A0A93452CA}"/>
              </a:ext>
            </a:extLst>
          </p:cNvPr>
          <p:cNvSpPr/>
          <p:nvPr/>
        </p:nvSpPr>
        <p:spPr>
          <a:xfrm>
            <a:off x="690522" y="3933107"/>
            <a:ext cx="2615365" cy="2822096"/>
          </a:xfrm>
          <a:prstGeom prst="rect">
            <a:avLst/>
          </a:prstGeom>
          <a:noFill/>
          <a:ln w="15875">
            <a:solidFill>
              <a:srgbClr val="7D8998"/>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a:defRPr/>
            </a:pPr>
            <a:r>
              <a:rPr lang="ja-JP" altLang="en-US" sz="1200" dirty="0">
                <a:solidFill>
                  <a:schemeClr val="tx1"/>
                </a:solidFill>
                <a:latin typeface="Arial" panose="020B0604020202020204" pitchFamily="34" charset="0"/>
                <a:cs typeface="Arial" panose="020B0604020202020204" pitchFamily="34" charset="0"/>
              </a:rPr>
              <a:t>学生部屋（</a:t>
            </a:r>
            <a:r>
              <a:rPr lang="en-US" altLang="ja-JP" sz="1200" dirty="0">
                <a:solidFill>
                  <a:schemeClr val="tx1"/>
                </a:solidFill>
                <a:latin typeface="Arial" panose="020B0604020202020204" pitchFamily="34" charset="0"/>
                <a:cs typeface="Arial" panose="020B0604020202020204" pitchFamily="34" charset="0"/>
              </a:rPr>
              <a:t>J1401</a:t>
            </a:r>
            <a:r>
              <a:rPr lang="ja-JP" altLang="en-US" sz="1200" dirty="0">
                <a:solidFill>
                  <a:schemeClr val="tx1"/>
                </a:solidFill>
                <a:latin typeface="Arial" panose="020B0604020202020204" pitchFamily="34" charset="0"/>
                <a:cs typeface="Arial" panose="020B0604020202020204" pitchFamily="34" charset="0"/>
              </a:rPr>
              <a:t>）</a:t>
            </a:r>
            <a:endParaRPr lang="en-US" sz="1200" dirty="0">
              <a:solidFill>
                <a:schemeClr val="tx1"/>
              </a:solidFill>
              <a:latin typeface="Arial" panose="020B0604020202020204" pitchFamily="34" charset="0"/>
              <a:cs typeface="Arial" panose="020B0604020202020204" pitchFamily="34" charset="0"/>
            </a:endParaRPr>
          </a:p>
        </p:txBody>
      </p:sp>
      <p:pic>
        <p:nvPicPr>
          <p:cNvPr id="307" name="グラフィックス 306">
            <a:extLst>
              <a:ext uri="{FF2B5EF4-FFF2-40B4-BE49-F238E27FC236}">
                <a16:creationId xmlns:a16="http://schemas.microsoft.com/office/drawing/2014/main" id="{583DF8A6-22D1-1DC3-4883-5B5ACBF0FE7C}"/>
              </a:ext>
            </a:extLst>
          </p:cNvPr>
          <p:cNvPicPr>
            <a:picLocks noChangeAspect="1"/>
          </p:cNvPicPr>
          <p:nvPr/>
        </p:nvPicPr>
        <p:blipFill>
          <a:blip r:embed="rId7">
            <a:grayscl/>
            <a:extLst>
              <a:ext uri="{96DAC541-7B7A-43D3-8B79-37D633B846F1}">
                <asvg:svgBlip xmlns:asvg="http://schemas.microsoft.com/office/drawing/2016/SVG/main" r:embed="rId8"/>
              </a:ext>
            </a:extLst>
          </a:blip>
          <a:srcRect l="25148" t="16203" r="25948" b="16205"/>
          <a:stretch/>
        </p:blipFill>
        <p:spPr>
          <a:xfrm rot="16200000">
            <a:off x="1042395" y="5874413"/>
            <a:ext cx="599552" cy="828660"/>
          </a:xfrm>
          <a:prstGeom prst="rect">
            <a:avLst/>
          </a:prstGeom>
        </p:spPr>
      </p:pic>
      <p:cxnSp>
        <p:nvCxnSpPr>
          <p:cNvPr id="372" name="Straight Arrow Connector 52" descr="Double pointing horizontal arrow.">
            <a:extLst>
              <a:ext uri="{FF2B5EF4-FFF2-40B4-BE49-F238E27FC236}">
                <a16:creationId xmlns:a16="http://schemas.microsoft.com/office/drawing/2014/main" id="{E099268A-A7B7-77EA-41FF-F222CAAB0A9B}"/>
              </a:ext>
            </a:extLst>
          </p:cNvPr>
          <p:cNvCxnSpPr>
            <a:cxnSpLocks/>
            <a:stCxn id="286" idx="1"/>
            <a:endCxn id="307" idx="2"/>
          </p:cNvCxnSpPr>
          <p:nvPr/>
        </p:nvCxnSpPr>
        <p:spPr>
          <a:xfrm flipH="1">
            <a:off x="1756501" y="6288743"/>
            <a:ext cx="294775" cy="0"/>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pic>
        <p:nvPicPr>
          <p:cNvPr id="3" name="Picture 2" descr="Raspberry icon - Free download on Iconfinder">
            <a:extLst>
              <a:ext uri="{FF2B5EF4-FFF2-40B4-BE49-F238E27FC236}">
                <a16:creationId xmlns:a16="http://schemas.microsoft.com/office/drawing/2014/main" id="{D1A68A52-7D21-3CBE-FF5C-1F280970A1F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44769" y="4471085"/>
            <a:ext cx="544810" cy="544810"/>
          </a:xfrm>
          <a:prstGeom prst="rect">
            <a:avLst/>
          </a:prstGeom>
          <a:noFill/>
          <a:extLst>
            <a:ext uri="{909E8E84-426E-40DD-AFC4-6F175D3DCCD1}">
              <a14:hiddenFill xmlns:a14="http://schemas.microsoft.com/office/drawing/2010/main">
                <a:solidFill>
                  <a:srgbClr val="FFFFFF"/>
                </a:solidFill>
              </a14:hiddenFill>
            </a:ext>
          </a:extLst>
        </p:spPr>
      </p:pic>
      <p:grpSp>
        <p:nvGrpSpPr>
          <p:cNvPr id="9" name="グループ化 8">
            <a:extLst>
              <a:ext uri="{FF2B5EF4-FFF2-40B4-BE49-F238E27FC236}">
                <a16:creationId xmlns:a16="http://schemas.microsoft.com/office/drawing/2014/main" id="{5C6674D5-C419-8B21-81CD-EC0795A2684E}"/>
              </a:ext>
            </a:extLst>
          </p:cNvPr>
          <p:cNvGrpSpPr/>
          <p:nvPr/>
        </p:nvGrpSpPr>
        <p:grpSpPr>
          <a:xfrm>
            <a:off x="3305887" y="1301487"/>
            <a:ext cx="5430653" cy="5453716"/>
            <a:chOff x="3305887" y="1301487"/>
            <a:chExt cx="5430653" cy="5453716"/>
          </a:xfrm>
        </p:grpSpPr>
        <p:sp>
          <p:nvSpPr>
            <p:cNvPr id="6" name="正方形/長方形 5">
              <a:extLst>
                <a:ext uri="{FF2B5EF4-FFF2-40B4-BE49-F238E27FC236}">
                  <a16:creationId xmlns:a16="http://schemas.microsoft.com/office/drawing/2014/main" id="{C47A7E51-02F3-5AEE-4780-9B812064E4AD}"/>
                </a:ext>
              </a:extLst>
            </p:cNvPr>
            <p:cNvSpPr/>
            <p:nvPr/>
          </p:nvSpPr>
          <p:spPr>
            <a:xfrm>
              <a:off x="3469616" y="1648657"/>
              <a:ext cx="5173870" cy="5106546"/>
            </a:xfrm>
            <a:prstGeom prst="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0000" rIns="0" bIns="0" rtlCol="0" anchor="ctr"/>
            <a:lstStyle/>
            <a:p>
              <a:r>
                <a:rPr lang="en-US" altLang="ja-JP" sz="1400" dirty="0"/>
                <a:t>.</a:t>
              </a:r>
            </a:p>
            <a:p>
              <a:r>
                <a:rPr lang="en-US" altLang="ja-JP" sz="1400" dirty="0"/>
                <a:t>├── .env</a:t>
              </a:r>
            </a:p>
            <a:p>
              <a:r>
                <a:rPr lang="en-US" altLang="ja-JP" sz="1400" dirty="0"/>
                <a:t>│</a:t>
              </a:r>
            </a:p>
            <a:p>
              <a:r>
                <a:rPr lang="en-US" altLang="ja-JP" sz="1400" dirty="0"/>
                <a:t>├── app</a:t>
              </a:r>
            </a:p>
            <a:p>
              <a:r>
                <a:rPr lang="en-US" altLang="ja-JP" sz="1400" dirty="0"/>
                <a:t>│   ├── …</a:t>
              </a:r>
            </a:p>
            <a:p>
              <a:r>
                <a:rPr lang="en-US" altLang="ja-JP" sz="1400" dirty="0"/>
                <a:t>│</a:t>
              </a:r>
            </a:p>
            <a:p>
              <a:r>
                <a:rPr lang="en-US" altLang="ja-JP" sz="1400" dirty="0"/>
                <a:t>├── data</a:t>
              </a:r>
            </a:p>
            <a:p>
              <a:r>
                <a:rPr lang="en-US" altLang="ja-JP" sz="1400" dirty="0"/>
                <a:t>│   ├── …</a:t>
              </a:r>
            </a:p>
            <a:p>
              <a:r>
                <a:rPr lang="ja-JP" altLang="en-US" sz="1400" dirty="0"/>
                <a:t>｜</a:t>
              </a:r>
              <a:endParaRPr lang="en-US" altLang="ja-JP" sz="1400" dirty="0"/>
            </a:p>
            <a:p>
              <a:r>
                <a:rPr lang="en-US" altLang="ja-JP" sz="1400" dirty="0"/>
                <a:t>├── logs</a:t>
              </a:r>
            </a:p>
            <a:p>
              <a:r>
                <a:rPr lang="en-US" altLang="ja-JP" sz="1400" dirty="0"/>
                <a:t>│   └── *.log</a:t>
              </a:r>
            </a:p>
            <a:p>
              <a:r>
                <a:rPr lang="en-US" altLang="ja-JP" sz="1400" dirty="0"/>
                <a:t>│</a:t>
              </a:r>
            </a:p>
            <a:p>
              <a:r>
                <a:rPr lang="en-US" altLang="ja-JP" sz="1400" dirty="0"/>
                <a:t>├── shared</a:t>
              </a:r>
            </a:p>
            <a:p>
              <a:r>
                <a:rPr lang="en-US" altLang="ja-JP" sz="1400" dirty="0"/>
                <a:t>│   ├── …</a:t>
              </a:r>
            </a:p>
            <a:p>
              <a:r>
                <a:rPr lang="ja-JP" altLang="en-US" sz="1400" dirty="0"/>
                <a:t>｜</a:t>
              </a:r>
              <a:endParaRPr lang="en-US" altLang="ja-JP" sz="1400" dirty="0"/>
            </a:p>
            <a:p>
              <a:r>
                <a:rPr lang="en-US" altLang="ja-JP" sz="1400" dirty="0"/>
                <a:t>├── web</a:t>
              </a:r>
            </a:p>
            <a:p>
              <a:r>
                <a:rPr lang="en-US" altLang="ja-JP" sz="1400" dirty="0"/>
                <a:t>│   └── frontend</a:t>
              </a:r>
            </a:p>
            <a:p>
              <a:r>
                <a:rPr lang="en-US" altLang="ja-JP" sz="1400" dirty="0"/>
                <a:t>│       </a:t>
              </a:r>
              <a:r>
                <a:rPr lang="ja-JP" altLang="en-US" sz="1400" dirty="0"/>
                <a:t>  </a:t>
              </a:r>
              <a:r>
                <a:rPr lang="en-US" altLang="ja-JP" sz="1400" dirty="0"/>
                <a:t>├── .env</a:t>
              </a:r>
            </a:p>
            <a:p>
              <a:r>
                <a:rPr lang="en-US" altLang="ja-JP" sz="1400" dirty="0"/>
                <a:t>│         └── …</a:t>
              </a:r>
            </a:p>
            <a:p>
              <a:r>
                <a:rPr lang="en-US" altLang="ja-JP" sz="1400" dirty="0"/>
                <a:t>│</a:t>
              </a:r>
              <a:endParaRPr lang="en-US" altLang="ja-JP" sz="1400" b="1" dirty="0"/>
            </a:p>
            <a:p>
              <a:r>
                <a:rPr lang="en-US" altLang="ja-JP" sz="1400" dirty="0"/>
                <a:t>└── worker</a:t>
              </a:r>
            </a:p>
            <a:p>
              <a:r>
                <a:rPr lang="en-US" altLang="ja-JP" sz="1400" dirty="0"/>
                <a:t>    ├── …</a:t>
              </a:r>
            </a:p>
            <a:p>
              <a:pPr algn="ctr"/>
              <a:endParaRPr kumimoji="1" lang="ja-JP" altLang="en-US" sz="1400" dirty="0"/>
            </a:p>
          </p:txBody>
        </p:sp>
        <p:sp>
          <p:nvSpPr>
            <p:cNvPr id="8" name="テキスト ボックス 7">
              <a:extLst>
                <a:ext uri="{FF2B5EF4-FFF2-40B4-BE49-F238E27FC236}">
                  <a16:creationId xmlns:a16="http://schemas.microsoft.com/office/drawing/2014/main" id="{70E9FDEE-0A1A-AE97-FBD8-2CE037FF9FCD}"/>
                </a:ext>
              </a:extLst>
            </p:cNvPr>
            <p:cNvSpPr txBox="1"/>
            <p:nvPr/>
          </p:nvSpPr>
          <p:spPr>
            <a:xfrm>
              <a:off x="3305887" y="1301487"/>
              <a:ext cx="5430653" cy="338554"/>
            </a:xfrm>
            <a:prstGeom prst="rect">
              <a:avLst/>
            </a:prstGeom>
            <a:noFill/>
          </p:spPr>
          <p:txBody>
            <a:bodyPr wrap="square" rtlCol="0">
              <a:spAutoFit/>
            </a:bodyPr>
            <a:lstStyle/>
            <a:p>
              <a:pPr algn="ctr"/>
              <a:r>
                <a:rPr kumimoji="1" lang="ja-JP" altLang="en-US" sz="1600" dirty="0"/>
                <a:t>現行の制御デバイス</a:t>
              </a:r>
              <a:r>
                <a:rPr kumimoji="1" lang="en-US" altLang="ja-JP" sz="1600" dirty="0"/>
                <a:t>(172.16.15.8</a:t>
              </a:r>
              <a:r>
                <a:rPr lang="en-US" altLang="ja-JP" sz="1600" dirty="0"/>
                <a:t>)</a:t>
              </a:r>
              <a:r>
                <a:rPr lang="ja-JP" altLang="en-US" sz="1600" dirty="0"/>
                <a:t>のディレクトリ構成</a:t>
              </a:r>
              <a:endParaRPr kumimoji="1" lang="ja-JP" altLang="en-US" sz="1600" dirty="0"/>
            </a:p>
          </p:txBody>
        </p:sp>
      </p:grpSp>
      <p:sp>
        <p:nvSpPr>
          <p:cNvPr id="10" name="正方形/長方形 9">
            <a:extLst>
              <a:ext uri="{FF2B5EF4-FFF2-40B4-BE49-F238E27FC236}">
                <a16:creationId xmlns:a16="http://schemas.microsoft.com/office/drawing/2014/main" id="{C9527FD3-FF80-9391-B34A-A05F39B16B0F}"/>
              </a:ext>
            </a:extLst>
          </p:cNvPr>
          <p:cNvSpPr/>
          <p:nvPr/>
        </p:nvSpPr>
        <p:spPr>
          <a:xfrm>
            <a:off x="3817249" y="2333486"/>
            <a:ext cx="1559081" cy="565110"/>
          </a:xfrm>
          <a:prstGeom prst="rect">
            <a:avLst/>
          </a:prstGeom>
          <a:solidFill>
            <a:srgbClr val="F2F2F2">
              <a:alpha val="50196"/>
            </a:srgbClr>
          </a:solidFill>
          <a:ln w="1905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ACC053CF-9C4B-1755-673C-6FD714F3ACC7}"/>
              </a:ext>
            </a:extLst>
          </p:cNvPr>
          <p:cNvSpPr/>
          <p:nvPr/>
        </p:nvSpPr>
        <p:spPr>
          <a:xfrm>
            <a:off x="3817249" y="2980670"/>
            <a:ext cx="1559081" cy="565111"/>
          </a:xfrm>
          <a:prstGeom prst="rect">
            <a:avLst/>
          </a:prstGeom>
          <a:solidFill>
            <a:srgbClr val="F2F2F2">
              <a:alpha val="50196"/>
            </a:srgbClr>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1B74E5B1-CC84-0FA3-0300-623A299D87A2}"/>
              </a:ext>
            </a:extLst>
          </p:cNvPr>
          <p:cNvSpPr/>
          <p:nvPr/>
        </p:nvSpPr>
        <p:spPr>
          <a:xfrm>
            <a:off x="3817249" y="3627855"/>
            <a:ext cx="1559081" cy="565111"/>
          </a:xfrm>
          <a:prstGeom prst="rect">
            <a:avLst/>
          </a:prstGeom>
          <a:solidFill>
            <a:srgbClr val="F2F2F2">
              <a:alpha val="50196"/>
            </a:srgbClr>
          </a:solidFill>
          <a:ln w="1905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CF860812-6166-4D2C-0A67-5A63DA01D5DA}"/>
              </a:ext>
            </a:extLst>
          </p:cNvPr>
          <p:cNvSpPr/>
          <p:nvPr/>
        </p:nvSpPr>
        <p:spPr>
          <a:xfrm>
            <a:off x="3817250" y="4275040"/>
            <a:ext cx="1559082" cy="565111"/>
          </a:xfrm>
          <a:prstGeom prst="rect">
            <a:avLst/>
          </a:prstGeom>
          <a:solidFill>
            <a:srgbClr val="F2F2F2">
              <a:alpha val="50196"/>
            </a:srgbClr>
          </a:solidFill>
          <a:ln w="1905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2BE9D2C8-46E1-1B99-09D2-DF851BDDA80F}"/>
              </a:ext>
            </a:extLst>
          </p:cNvPr>
          <p:cNvSpPr/>
          <p:nvPr/>
        </p:nvSpPr>
        <p:spPr>
          <a:xfrm>
            <a:off x="3817249" y="4926787"/>
            <a:ext cx="1559083" cy="944846"/>
          </a:xfrm>
          <a:prstGeom prst="rect">
            <a:avLst/>
          </a:prstGeom>
          <a:solidFill>
            <a:srgbClr val="F2F2F2">
              <a:alpha val="50196"/>
            </a:srgbClr>
          </a:solidFill>
          <a:ln w="1905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5" name="正方形/長方形 14">
            <a:extLst>
              <a:ext uri="{FF2B5EF4-FFF2-40B4-BE49-F238E27FC236}">
                <a16:creationId xmlns:a16="http://schemas.microsoft.com/office/drawing/2014/main" id="{13E5B572-4513-2B73-1941-31B2353EE0F6}"/>
              </a:ext>
            </a:extLst>
          </p:cNvPr>
          <p:cNvSpPr/>
          <p:nvPr/>
        </p:nvSpPr>
        <p:spPr>
          <a:xfrm>
            <a:off x="3817249" y="5959525"/>
            <a:ext cx="1559083" cy="565111"/>
          </a:xfrm>
          <a:prstGeom prst="rect">
            <a:avLst/>
          </a:prstGeom>
          <a:solidFill>
            <a:srgbClr val="F2F2F2">
              <a:alpha val="50196"/>
            </a:srgbClr>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ボックス 15">
            <a:extLst>
              <a:ext uri="{FF2B5EF4-FFF2-40B4-BE49-F238E27FC236}">
                <a16:creationId xmlns:a16="http://schemas.microsoft.com/office/drawing/2014/main" id="{0979B64D-9551-FF2D-1E09-3D5E8837637B}"/>
              </a:ext>
            </a:extLst>
          </p:cNvPr>
          <p:cNvSpPr txBox="1"/>
          <p:nvPr/>
        </p:nvSpPr>
        <p:spPr>
          <a:xfrm>
            <a:off x="5843374" y="2462152"/>
            <a:ext cx="2614826" cy="307777"/>
          </a:xfrm>
          <a:prstGeom prst="rect">
            <a:avLst/>
          </a:prstGeom>
          <a:noFill/>
        </p:spPr>
        <p:txBody>
          <a:bodyPr wrap="square" rtlCol="0">
            <a:spAutoFit/>
          </a:bodyPr>
          <a:lstStyle/>
          <a:p>
            <a:r>
              <a:rPr kumimoji="1" lang="en-US" altLang="ja-JP" sz="1400" dirty="0" err="1"/>
              <a:t>FastAPI</a:t>
            </a:r>
            <a:r>
              <a:rPr lang="ja-JP" altLang="en-US" sz="1400" dirty="0"/>
              <a:t>関連</a:t>
            </a:r>
            <a:endParaRPr kumimoji="1" lang="ja-JP" altLang="en-US" sz="1400" dirty="0"/>
          </a:p>
        </p:txBody>
      </p:sp>
      <p:pic>
        <p:nvPicPr>
          <p:cNvPr id="18" name="グラフィックス 17">
            <a:extLst>
              <a:ext uri="{FF2B5EF4-FFF2-40B4-BE49-F238E27FC236}">
                <a16:creationId xmlns:a16="http://schemas.microsoft.com/office/drawing/2014/main" id="{679C932B-5145-59AC-84EF-6B1C4E8651B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470877" y="2429791"/>
            <a:ext cx="372497" cy="372497"/>
          </a:xfrm>
          <a:prstGeom prst="rect">
            <a:avLst/>
          </a:prstGeom>
        </p:spPr>
      </p:pic>
      <p:pic>
        <p:nvPicPr>
          <p:cNvPr id="1026" name="Picture 2" descr="SQLite】10分で分かる SQLiteとは？ | レンサバ">
            <a:extLst>
              <a:ext uri="{FF2B5EF4-FFF2-40B4-BE49-F238E27FC236}">
                <a16:creationId xmlns:a16="http://schemas.microsoft.com/office/drawing/2014/main" id="{63247C24-903D-2481-81EC-421E08D19463}"/>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13878" r="14269"/>
          <a:stretch/>
        </p:blipFill>
        <p:spPr bwMode="auto">
          <a:xfrm>
            <a:off x="5475632" y="3073434"/>
            <a:ext cx="367742" cy="372497"/>
          </a:xfrm>
          <a:prstGeom prst="rect">
            <a:avLst/>
          </a:prstGeom>
          <a:noFill/>
          <a:extLst>
            <a:ext uri="{909E8E84-426E-40DD-AFC4-6F175D3DCCD1}">
              <a14:hiddenFill xmlns:a14="http://schemas.microsoft.com/office/drawing/2010/main">
                <a:solidFill>
                  <a:srgbClr val="FFFFFF"/>
                </a:solidFill>
              </a14:hiddenFill>
            </a:ext>
          </a:extLst>
        </p:spPr>
      </p:pic>
      <p:sp>
        <p:nvSpPr>
          <p:cNvPr id="20" name="テキスト ボックス 19">
            <a:extLst>
              <a:ext uri="{FF2B5EF4-FFF2-40B4-BE49-F238E27FC236}">
                <a16:creationId xmlns:a16="http://schemas.microsoft.com/office/drawing/2014/main" id="{C12AF6B4-A5FC-A546-0EC8-C1CF44664146}"/>
              </a:ext>
            </a:extLst>
          </p:cNvPr>
          <p:cNvSpPr txBox="1"/>
          <p:nvPr/>
        </p:nvSpPr>
        <p:spPr>
          <a:xfrm>
            <a:off x="5843374" y="3125295"/>
            <a:ext cx="2614826" cy="307777"/>
          </a:xfrm>
          <a:prstGeom prst="rect">
            <a:avLst/>
          </a:prstGeom>
          <a:noFill/>
        </p:spPr>
        <p:txBody>
          <a:bodyPr wrap="square" rtlCol="0">
            <a:spAutoFit/>
          </a:bodyPr>
          <a:lstStyle/>
          <a:p>
            <a:r>
              <a:rPr lang="en-US" altLang="ja-JP" sz="1400" dirty="0"/>
              <a:t>Database</a:t>
            </a:r>
            <a:r>
              <a:rPr lang="ja-JP" altLang="en-US" sz="1400" dirty="0"/>
              <a:t>関連</a:t>
            </a:r>
            <a:endParaRPr kumimoji="1" lang="ja-JP" altLang="en-US" sz="1400" dirty="0"/>
          </a:p>
        </p:txBody>
      </p:sp>
      <p:sp>
        <p:nvSpPr>
          <p:cNvPr id="21" name="テキスト ボックス 20">
            <a:extLst>
              <a:ext uri="{FF2B5EF4-FFF2-40B4-BE49-F238E27FC236}">
                <a16:creationId xmlns:a16="http://schemas.microsoft.com/office/drawing/2014/main" id="{8F1B02B7-7CB0-59B5-A922-C65DD18BF1D6}"/>
              </a:ext>
            </a:extLst>
          </p:cNvPr>
          <p:cNvSpPr txBox="1"/>
          <p:nvPr/>
        </p:nvSpPr>
        <p:spPr>
          <a:xfrm>
            <a:off x="5470877" y="3779218"/>
            <a:ext cx="2614826" cy="307777"/>
          </a:xfrm>
          <a:prstGeom prst="rect">
            <a:avLst/>
          </a:prstGeom>
          <a:noFill/>
        </p:spPr>
        <p:txBody>
          <a:bodyPr wrap="square" rtlCol="0">
            <a:spAutoFit/>
          </a:bodyPr>
          <a:lstStyle/>
          <a:p>
            <a:r>
              <a:rPr lang="ja-JP" altLang="en-US" sz="1400" dirty="0"/>
              <a:t>実行ログ関連</a:t>
            </a:r>
            <a:endParaRPr kumimoji="1" lang="ja-JP" altLang="en-US" sz="1400" dirty="0"/>
          </a:p>
        </p:txBody>
      </p:sp>
      <p:pic>
        <p:nvPicPr>
          <p:cNvPr id="23" name="図 22" descr="アイコン&#10;&#10;AI によって生成されたコンテンツは間違っている可能性があります。">
            <a:extLst>
              <a:ext uri="{FF2B5EF4-FFF2-40B4-BE49-F238E27FC236}">
                <a16:creationId xmlns:a16="http://schemas.microsoft.com/office/drawing/2014/main" id="{22B55B4A-5316-2362-1BA4-0B7B134F601F}"/>
              </a:ext>
            </a:extLst>
          </p:cNvPr>
          <p:cNvPicPr>
            <a:picLocks noChangeAspect="1"/>
          </p:cNvPicPr>
          <p:nvPr/>
        </p:nvPicPr>
        <p:blipFill>
          <a:blip r:embed="rId4">
            <a:extLst>
              <a:ext uri="{28A0092B-C50C-407E-A947-70E740481C1C}">
                <a14:useLocalDpi xmlns:a14="http://schemas.microsoft.com/office/drawing/2010/main" val="0"/>
              </a:ext>
            </a:extLst>
          </a:blip>
          <a:srcRect l="10553" t="5709" r="9769" b="4466"/>
          <a:stretch/>
        </p:blipFill>
        <p:spPr>
          <a:xfrm>
            <a:off x="5480878" y="5201191"/>
            <a:ext cx="357774" cy="403333"/>
          </a:xfrm>
          <a:prstGeom prst="rect">
            <a:avLst/>
          </a:prstGeom>
        </p:spPr>
      </p:pic>
      <p:sp>
        <p:nvSpPr>
          <p:cNvPr id="25" name="テキスト ボックス 24">
            <a:extLst>
              <a:ext uri="{FF2B5EF4-FFF2-40B4-BE49-F238E27FC236}">
                <a16:creationId xmlns:a16="http://schemas.microsoft.com/office/drawing/2014/main" id="{13B9F0D1-2469-6364-4C29-84F36B34C4B8}"/>
              </a:ext>
            </a:extLst>
          </p:cNvPr>
          <p:cNvSpPr txBox="1"/>
          <p:nvPr/>
        </p:nvSpPr>
        <p:spPr>
          <a:xfrm>
            <a:off x="5838652" y="5248736"/>
            <a:ext cx="2614826" cy="307777"/>
          </a:xfrm>
          <a:prstGeom prst="rect">
            <a:avLst/>
          </a:prstGeom>
          <a:noFill/>
        </p:spPr>
        <p:txBody>
          <a:bodyPr wrap="square" rtlCol="0">
            <a:spAutoFit/>
          </a:bodyPr>
          <a:lstStyle/>
          <a:p>
            <a:r>
              <a:rPr lang="en-US" altLang="ja-JP" sz="1400" dirty="0"/>
              <a:t>React</a:t>
            </a:r>
            <a:r>
              <a:rPr lang="ja-JP" altLang="en-US" sz="1400" dirty="0"/>
              <a:t>関連</a:t>
            </a:r>
            <a:endParaRPr kumimoji="1" lang="ja-JP" altLang="en-US" sz="1400" dirty="0"/>
          </a:p>
        </p:txBody>
      </p:sp>
      <p:sp>
        <p:nvSpPr>
          <p:cNvPr id="26" name="テキスト ボックス 25">
            <a:extLst>
              <a:ext uri="{FF2B5EF4-FFF2-40B4-BE49-F238E27FC236}">
                <a16:creationId xmlns:a16="http://schemas.microsoft.com/office/drawing/2014/main" id="{FE92DA26-6B59-9ABC-21D8-3912C47F5D86}"/>
              </a:ext>
            </a:extLst>
          </p:cNvPr>
          <p:cNvSpPr txBox="1"/>
          <p:nvPr/>
        </p:nvSpPr>
        <p:spPr>
          <a:xfrm>
            <a:off x="5451820" y="4403706"/>
            <a:ext cx="2999019" cy="307777"/>
          </a:xfrm>
          <a:prstGeom prst="rect">
            <a:avLst/>
          </a:prstGeom>
          <a:noFill/>
        </p:spPr>
        <p:txBody>
          <a:bodyPr wrap="square" rtlCol="0">
            <a:spAutoFit/>
          </a:bodyPr>
          <a:lstStyle/>
          <a:p>
            <a:r>
              <a:rPr lang="en-US" altLang="ja-JP" sz="1400" dirty="0"/>
              <a:t>worker</a:t>
            </a:r>
            <a:r>
              <a:rPr lang="ja-JP" altLang="en-US" sz="1400" dirty="0"/>
              <a:t>と</a:t>
            </a:r>
            <a:r>
              <a:rPr lang="en-US" altLang="ja-JP" sz="1400" dirty="0"/>
              <a:t>app</a:t>
            </a:r>
            <a:r>
              <a:rPr lang="ja-JP" altLang="en-US" sz="1400" dirty="0"/>
              <a:t>の共通参照ファイル</a:t>
            </a:r>
            <a:endParaRPr kumimoji="1" lang="ja-JP" altLang="en-US" sz="1400" dirty="0"/>
          </a:p>
        </p:txBody>
      </p:sp>
      <p:sp>
        <p:nvSpPr>
          <p:cNvPr id="27" name="テキスト ボックス 26">
            <a:extLst>
              <a:ext uri="{FF2B5EF4-FFF2-40B4-BE49-F238E27FC236}">
                <a16:creationId xmlns:a16="http://schemas.microsoft.com/office/drawing/2014/main" id="{9F101B10-B2AA-CB36-527C-5C39D1046AA4}"/>
              </a:ext>
            </a:extLst>
          </p:cNvPr>
          <p:cNvSpPr txBox="1"/>
          <p:nvPr/>
        </p:nvSpPr>
        <p:spPr>
          <a:xfrm>
            <a:off x="5451819" y="6093766"/>
            <a:ext cx="2999019" cy="307777"/>
          </a:xfrm>
          <a:prstGeom prst="rect">
            <a:avLst/>
          </a:prstGeom>
          <a:noFill/>
        </p:spPr>
        <p:txBody>
          <a:bodyPr wrap="square" rtlCol="0">
            <a:spAutoFit/>
          </a:bodyPr>
          <a:lstStyle/>
          <a:p>
            <a:r>
              <a:rPr lang="ja-JP" altLang="en-US" sz="1400" dirty="0"/>
              <a:t>タスク</a:t>
            </a:r>
            <a:r>
              <a:rPr kumimoji="1" lang="ja-JP" altLang="en-US" sz="1400" dirty="0"/>
              <a:t>処理関連</a:t>
            </a:r>
          </a:p>
        </p:txBody>
      </p:sp>
      <p:sp>
        <p:nvSpPr>
          <p:cNvPr id="17" name="テキスト ボックス 16">
            <a:extLst>
              <a:ext uri="{FF2B5EF4-FFF2-40B4-BE49-F238E27FC236}">
                <a16:creationId xmlns:a16="http://schemas.microsoft.com/office/drawing/2014/main" id="{EF941C43-2C2F-39FA-49DB-2D9A12189D05}"/>
              </a:ext>
            </a:extLst>
          </p:cNvPr>
          <p:cNvSpPr txBox="1"/>
          <p:nvPr/>
        </p:nvSpPr>
        <p:spPr>
          <a:xfrm>
            <a:off x="4648682" y="3803807"/>
            <a:ext cx="2999017" cy="369332"/>
          </a:xfrm>
          <a:prstGeom prst="rect">
            <a:avLst/>
          </a:prstGeom>
          <a:noFill/>
        </p:spPr>
        <p:txBody>
          <a:bodyPr wrap="square" rtlCol="0">
            <a:spAutoFit/>
          </a:bodyPr>
          <a:lstStyle/>
          <a:p>
            <a:endParaRPr kumimoji="1" lang="ja-JP" altLang="en-US" b="1" dirty="0">
              <a:solidFill>
                <a:schemeClr val="accent6"/>
              </a:solidFill>
            </a:endParaRPr>
          </a:p>
        </p:txBody>
      </p:sp>
      <p:sp>
        <p:nvSpPr>
          <p:cNvPr id="19" name="正方形/長方形 18">
            <a:extLst>
              <a:ext uri="{FF2B5EF4-FFF2-40B4-BE49-F238E27FC236}">
                <a16:creationId xmlns:a16="http://schemas.microsoft.com/office/drawing/2014/main" id="{CA76C35C-C3E9-6454-C4A2-9491C0EEAFB9}"/>
              </a:ext>
            </a:extLst>
          </p:cNvPr>
          <p:cNvSpPr/>
          <p:nvPr/>
        </p:nvSpPr>
        <p:spPr>
          <a:xfrm>
            <a:off x="4771488" y="4477578"/>
            <a:ext cx="2089610" cy="641081"/>
          </a:xfrm>
          <a:prstGeom prst="rect">
            <a:avLst/>
          </a:prstGeom>
          <a:solidFill>
            <a:schemeClr val="bg2"/>
          </a:solidFill>
          <a:ln>
            <a:solidFill>
              <a:schemeClr val="tx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lIns="0" tIns="46800" rIns="0" bIns="0" rtlCol="0" anchor="ctr"/>
          <a:lstStyle/>
          <a:p>
            <a:pPr algn="ctr"/>
            <a:r>
              <a:rPr lang="ja-JP" altLang="en-US" sz="1400" dirty="0">
                <a:solidFill>
                  <a:schemeClr val="accent1"/>
                </a:solidFill>
              </a:rPr>
              <a:t>新しい未処理タスクの</a:t>
            </a:r>
            <a:endParaRPr lang="en-US" altLang="ja-JP" sz="1400" dirty="0">
              <a:solidFill>
                <a:schemeClr val="accent1"/>
              </a:solidFill>
            </a:endParaRPr>
          </a:p>
          <a:p>
            <a:pPr algn="ctr"/>
            <a:r>
              <a:rPr lang="ja-JP" altLang="en-US" sz="1400" dirty="0">
                <a:solidFill>
                  <a:schemeClr val="accent1"/>
                </a:solidFill>
              </a:rPr>
              <a:t>追加を検知・読込</a:t>
            </a:r>
          </a:p>
        </p:txBody>
      </p:sp>
      <p:cxnSp>
        <p:nvCxnSpPr>
          <p:cNvPr id="22" name="直線矢印コネクタ 21">
            <a:extLst>
              <a:ext uri="{FF2B5EF4-FFF2-40B4-BE49-F238E27FC236}">
                <a16:creationId xmlns:a16="http://schemas.microsoft.com/office/drawing/2014/main" id="{19277FC1-E899-05DB-EAEE-D4AD242D6401}"/>
              </a:ext>
            </a:extLst>
          </p:cNvPr>
          <p:cNvCxnSpPr>
            <a:cxnSpLocks/>
          </p:cNvCxnSpPr>
          <p:nvPr/>
        </p:nvCxnSpPr>
        <p:spPr>
          <a:xfrm flipV="1">
            <a:off x="4590564" y="3217248"/>
            <a:ext cx="0" cy="3071495"/>
          </a:xfrm>
          <a:prstGeom prst="straightConnector1">
            <a:avLst/>
          </a:prstGeom>
          <a:ln w="5715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24" name="正方形/長方形 23">
            <a:extLst>
              <a:ext uri="{FF2B5EF4-FFF2-40B4-BE49-F238E27FC236}">
                <a16:creationId xmlns:a16="http://schemas.microsoft.com/office/drawing/2014/main" id="{87688401-493A-29CB-8BA4-9E501923DDD9}"/>
              </a:ext>
            </a:extLst>
          </p:cNvPr>
          <p:cNvSpPr/>
          <p:nvPr/>
        </p:nvSpPr>
        <p:spPr>
          <a:xfrm>
            <a:off x="693160" y="1635422"/>
            <a:ext cx="2612727" cy="1206448"/>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t>例：ある登録済みユーザーが</a:t>
            </a:r>
            <a:endParaRPr lang="en-US" altLang="ja-JP" sz="1400" dirty="0"/>
          </a:p>
          <a:p>
            <a:pPr algn="ctr"/>
            <a:r>
              <a:rPr lang="ja-JP" altLang="en-US" sz="1400" dirty="0"/>
              <a:t>「在室 </a:t>
            </a:r>
            <a:r>
              <a:rPr lang="en-US" altLang="ja-JP" sz="1400" dirty="0"/>
              <a:t>(Clock In)</a:t>
            </a:r>
            <a:r>
              <a:rPr lang="ja-JP" altLang="en-US" sz="1400" dirty="0"/>
              <a:t>」ボタンを</a:t>
            </a:r>
            <a:endParaRPr lang="en-US" altLang="ja-JP" sz="1400" dirty="0"/>
          </a:p>
          <a:p>
            <a:pPr algn="ctr"/>
            <a:r>
              <a:rPr lang="ja-JP" altLang="en-US" sz="1400" dirty="0"/>
              <a:t>押した後，自身の</a:t>
            </a:r>
            <a:r>
              <a:rPr lang="en-US" altLang="ja-JP" sz="1400" dirty="0"/>
              <a:t>IC</a:t>
            </a:r>
            <a:r>
              <a:rPr lang="ja-JP" altLang="en-US" sz="1400" dirty="0"/>
              <a:t>カードを</a:t>
            </a:r>
            <a:endParaRPr lang="en-US" altLang="ja-JP" sz="1400" dirty="0"/>
          </a:p>
          <a:p>
            <a:pPr algn="ctr"/>
            <a:r>
              <a:rPr lang="ja-JP" altLang="en-US" sz="1400" dirty="0"/>
              <a:t>読み込んだ場合</a:t>
            </a:r>
          </a:p>
        </p:txBody>
      </p:sp>
    </p:spTree>
    <p:extLst>
      <p:ext uri="{BB962C8B-B14F-4D97-AF65-F5344CB8AC3E}">
        <p14:creationId xmlns:p14="http://schemas.microsoft.com/office/powerpoint/2010/main" val="24196431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3BE89D-D01B-864C-18F1-A4503385AB6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552BE95-9E7A-8D13-D4EE-055AFCEEE2DA}"/>
              </a:ext>
            </a:extLst>
          </p:cNvPr>
          <p:cNvSpPr>
            <a:spLocks noGrp="1"/>
          </p:cNvSpPr>
          <p:nvPr>
            <p:ph type="title"/>
          </p:nvPr>
        </p:nvSpPr>
        <p:spPr/>
        <p:txBody>
          <a:bodyPr/>
          <a:lstStyle/>
          <a:p>
            <a:r>
              <a:rPr kumimoji="1" lang="ja-JP" altLang="en-US" dirty="0"/>
              <a:t>在室確認システム</a:t>
            </a:r>
            <a:r>
              <a:rPr lang="ja-JP" altLang="en-US" dirty="0"/>
              <a:t> </a:t>
            </a:r>
            <a:r>
              <a:rPr lang="en-US" altLang="ja-JP" dirty="0"/>
              <a:t>– </a:t>
            </a:r>
            <a:r>
              <a:rPr lang="ja-JP" altLang="en-US" dirty="0"/>
              <a:t>制御デバイス</a:t>
            </a:r>
            <a:endParaRPr kumimoji="1" lang="ja-JP" altLang="en-US" dirty="0"/>
          </a:p>
        </p:txBody>
      </p:sp>
      <p:sp>
        <p:nvSpPr>
          <p:cNvPr id="289" name="TextBox 12">
            <a:extLst>
              <a:ext uri="{FF2B5EF4-FFF2-40B4-BE49-F238E27FC236}">
                <a16:creationId xmlns:a16="http://schemas.microsoft.com/office/drawing/2014/main" id="{ABBA5E40-93BF-271E-DD56-6F7026122757}"/>
              </a:ext>
            </a:extLst>
          </p:cNvPr>
          <p:cNvSpPr txBox="1">
            <a:spLocks noChangeArrowheads="1"/>
          </p:cNvSpPr>
          <p:nvPr/>
        </p:nvSpPr>
        <p:spPr bwMode="auto">
          <a:xfrm>
            <a:off x="1707208" y="5001976"/>
            <a:ext cx="16050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Raspberry Pi 4B</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(172.16.15.8)</a:t>
            </a:r>
          </a:p>
        </p:txBody>
      </p:sp>
      <p:sp>
        <p:nvSpPr>
          <p:cNvPr id="236" name="テキスト ボックス 235">
            <a:extLst>
              <a:ext uri="{FF2B5EF4-FFF2-40B4-BE49-F238E27FC236}">
                <a16:creationId xmlns:a16="http://schemas.microsoft.com/office/drawing/2014/main" id="{3DABDCCC-D2DD-793C-F3C2-52FE1D3B81B7}"/>
              </a:ext>
            </a:extLst>
          </p:cNvPr>
          <p:cNvSpPr txBox="1"/>
          <p:nvPr/>
        </p:nvSpPr>
        <p:spPr>
          <a:xfrm>
            <a:off x="1077353" y="4303759"/>
            <a:ext cx="1162293" cy="276999"/>
          </a:xfrm>
          <a:prstGeom prst="rect">
            <a:avLst/>
          </a:prstGeom>
          <a:noFill/>
        </p:spPr>
        <p:txBody>
          <a:bodyPr wrap="square">
            <a:spAutoFit/>
          </a:body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RC-S380 S</a:t>
            </a:r>
          </a:p>
        </p:txBody>
      </p:sp>
      <p:pic>
        <p:nvPicPr>
          <p:cNvPr id="237" name="図 236" descr="黒い背景と白い文字のロゴ&#10;&#10;AI によって生成されたコンテンツは間違っている可能性があります。">
            <a:extLst>
              <a:ext uri="{FF2B5EF4-FFF2-40B4-BE49-F238E27FC236}">
                <a16:creationId xmlns:a16="http://schemas.microsoft.com/office/drawing/2014/main" id="{42C89EED-6988-19CB-5B81-C1B182A42604}"/>
              </a:ext>
            </a:extLst>
          </p:cNvPr>
          <p:cNvPicPr>
            <a:picLocks noChangeAspect="1"/>
          </p:cNvPicPr>
          <p:nvPr/>
        </p:nvPicPr>
        <p:blipFill>
          <a:blip r:embed="rId3">
            <a:biLevel thresh="50000"/>
            <a:extLst>
              <a:ext uri="{28A0092B-C50C-407E-A947-70E740481C1C}">
                <a14:useLocalDpi xmlns:a14="http://schemas.microsoft.com/office/drawing/2010/main" val="0"/>
              </a:ext>
            </a:extLst>
          </a:blip>
          <a:srcRect t="19474" b="18132"/>
          <a:stretch/>
        </p:blipFill>
        <p:spPr>
          <a:xfrm flipH="1">
            <a:off x="693160" y="4508703"/>
            <a:ext cx="1605014" cy="751622"/>
          </a:xfrm>
          <a:prstGeom prst="rect">
            <a:avLst/>
          </a:prstGeom>
        </p:spPr>
      </p:pic>
      <p:grpSp>
        <p:nvGrpSpPr>
          <p:cNvPr id="241" name="グループ化 240">
            <a:extLst>
              <a:ext uri="{FF2B5EF4-FFF2-40B4-BE49-F238E27FC236}">
                <a16:creationId xmlns:a16="http://schemas.microsoft.com/office/drawing/2014/main" id="{88DD4755-1950-B45A-8985-40CCF937C0D0}"/>
              </a:ext>
            </a:extLst>
          </p:cNvPr>
          <p:cNvGrpSpPr/>
          <p:nvPr/>
        </p:nvGrpSpPr>
        <p:grpSpPr>
          <a:xfrm>
            <a:off x="2051276" y="6087076"/>
            <a:ext cx="924337" cy="403333"/>
            <a:chOff x="2262291" y="5685876"/>
            <a:chExt cx="924337" cy="403333"/>
          </a:xfrm>
        </p:grpSpPr>
        <p:pic>
          <p:nvPicPr>
            <p:cNvPr id="286" name="図 285" descr="アイコン&#10;&#10;AI によって生成されたコンテンツは間違っている可能性があります。">
              <a:extLst>
                <a:ext uri="{FF2B5EF4-FFF2-40B4-BE49-F238E27FC236}">
                  <a16:creationId xmlns:a16="http://schemas.microsoft.com/office/drawing/2014/main" id="{D63905BC-64D0-AC3F-E1C9-9B99CF69B445}"/>
                </a:ext>
              </a:extLst>
            </p:cNvPr>
            <p:cNvPicPr>
              <a:picLocks noChangeAspect="1"/>
            </p:cNvPicPr>
            <p:nvPr/>
          </p:nvPicPr>
          <p:blipFill>
            <a:blip r:embed="rId4">
              <a:extLst>
                <a:ext uri="{28A0092B-C50C-407E-A947-70E740481C1C}">
                  <a14:useLocalDpi xmlns:a14="http://schemas.microsoft.com/office/drawing/2010/main" val="0"/>
                </a:ext>
              </a:extLst>
            </a:blip>
            <a:srcRect l="10553" t="5709" r="9769" b="4466"/>
            <a:stretch/>
          </p:blipFill>
          <p:spPr>
            <a:xfrm>
              <a:off x="2262291" y="5685876"/>
              <a:ext cx="357774" cy="403333"/>
            </a:xfrm>
            <a:prstGeom prst="rect">
              <a:avLst/>
            </a:prstGeom>
          </p:spPr>
        </p:pic>
        <p:sp>
          <p:nvSpPr>
            <p:cNvPr id="287" name="テキスト ボックス 286">
              <a:extLst>
                <a:ext uri="{FF2B5EF4-FFF2-40B4-BE49-F238E27FC236}">
                  <a16:creationId xmlns:a16="http://schemas.microsoft.com/office/drawing/2014/main" id="{835D4CB4-D0BF-BB2D-7232-2100AAE38722}"/>
                </a:ext>
              </a:extLst>
            </p:cNvPr>
            <p:cNvSpPr txBox="1"/>
            <p:nvPr/>
          </p:nvSpPr>
          <p:spPr>
            <a:xfrm>
              <a:off x="2557071" y="5749042"/>
              <a:ext cx="629557" cy="276999"/>
            </a:xfrm>
            <a:prstGeom prst="rect">
              <a:avLst/>
            </a:prstGeom>
            <a:noFill/>
          </p:spPr>
          <p:txBody>
            <a:bodyPr wrap="square">
              <a:spAutoFit/>
            </a:bodyPr>
            <a:lstStyle/>
            <a:p>
              <a:r>
                <a:rPr lang="en-US" altLang="ja-JP" sz="1200" dirty="0"/>
                <a:t>:3000</a:t>
              </a:r>
              <a:endParaRPr lang="ja-JP" altLang="en-US" sz="1200" dirty="0"/>
            </a:p>
          </p:txBody>
        </p:sp>
      </p:grpSp>
      <p:grpSp>
        <p:nvGrpSpPr>
          <p:cNvPr id="242" name="グループ化 241">
            <a:extLst>
              <a:ext uri="{FF2B5EF4-FFF2-40B4-BE49-F238E27FC236}">
                <a16:creationId xmlns:a16="http://schemas.microsoft.com/office/drawing/2014/main" id="{2BAAA106-9D8F-3653-F5CE-40E7964484D2}"/>
              </a:ext>
            </a:extLst>
          </p:cNvPr>
          <p:cNvGrpSpPr/>
          <p:nvPr/>
        </p:nvGrpSpPr>
        <p:grpSpPr>
          <a:xfrm>
            <a:off x="2043915" y="5648135"/>
            <a:ext cx="931698" cy="372497"/>
            <a:chOff x="2254930" y="5246935"/>
            <a:chExt cx="931698" cy="372497"/>
          </a:xfrm>
        </p:grpSpPr>
        <p:pic>
          <p:nvPicPr>
            <p:cNvPr id="284" name="グラフィックス 283">
              <a:extLst>
                <a:ext uri="{FF2B5EF4-FFF2-40B4-BE49-F238E27FC236}">
                  <a16:creationId xmlns:a16="http://schemas.microsoft.com/office/drawing/2014/main" id="{774EBB2B-BF86-8A4A-A590-059652E0C41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254930" y="5246935"/>
              <a:ext cx="372497" cy="372497"/>
            </a:xfrm>
            <a:prstGeom prst="rect">
              <a:avLst/>
            </a:prstGeom>
          </p:spPr>
        </p:pic>
        <p:sp>
          <p:nvSpPr>
            <p:cNvPr id="285" name="テキスト ボックス 284">
              <a:extLst>
                <a:ext uri="{FF2B5EF4-FFF2-40B4-BE49-F238E27FC236}">
                  <a16:creationId xmlns:a16="http://schemas.microsoft.com/office/drawing/2014/main" id="{EBC20BB7-D386-2532-DE76-B323AB918796}"/>
                </a:ext>
              </a:extLst>
            </p:cNvPr>
            <p:cNvSpPr txBox="1"/>
            <p:nvPr/>
          </p:nvSpPr>
          <p:spPr>
            <a:xfrm>
              <a:off x="2557071" y="5306333"/>
              <a:ext cx="629557" cy="276999"/>
            </a:xfrm>
            <a:prstGeom prst="rect">
              <a:avLst/>
            </a:prstGeom>
            <a:noFill/>
          </p:spPr>
          <p:txBody>
            <a:bodyPr wrap="square">
              <a:spAutoFit/>
            </a:bodyPr>
            <a:lstStyle/>
            <a:p>
              <a:r>
                <a:rPr lang="en-US" altLang="ja-JP" sz="1200" dirty="0"/>
                <a:t>:8000</a:t>
              </a:r>
              <a:endParaRPr lang="ja-JP" altLang="en-US" sz="1200" dirty="0"/>
            </a:p>
          </p:txBody>
        </p:sp>
      </p:grpSp>
      <p:sp>
        <p:nvSpPr>
          <p:cNvPr id="306" name="Rectangle 103" descr="Generic group dashed.">
            <a:extLst>
              <a:ext uri="{FF2B5EF4-FFF2-40B4-BE49-F238E27FC236}">
                <a16:creationId xmlns:a16="http://schemas.microsoft.com/office/drawing/2014/main" id="{B14A5ED5-92EA-E6CB-04C9-8B27CBF0AE81}"/>
              </a:ext>
            </a:extLst>
          </p:cNvPr>
          <p:cNvSpPr/>
          <p:nvPr/>
        </p:nvSpPr>
        <p:spPr>
          <a:xfrm>
            <a:off x="690522" y="3933107"/>
            <a:ext cx="2615365" cy="2822096"/>
          </a:xfrm>
          <a:prstGeom prst="rect">
            <a:avLst/>
          </a:prstGeom>
          <a:noFill/>
          <a:ln w="15875">
            <a:solidFill>
              <a:srgbClr val="7D8998"/>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a:defRPr/>
            </a:pPr>
            <a:r>
              <a:rPr lang="ja-JP" altLang="en-US" sz="1200" dirty="0">
                <a:solidFill>
                  <a:schemeClr val="tx1"/>
                </a:solidFill>
                <a:latin typeface="Arial" panose="020B0604020202020204" pitchFamily="34" charset="0"/>
                <a:cs typeface="Arial" panose="020B0604020202020204" pitchFamily="34" charset="0"/>
              </a:rPr>
              <a:t>学生部屋（</a:t>
            </a:r>
            <a:r>
              <a:rPr lang="en-US" altLang="ja-JP" sz="1200" dirty="0">
                <a:solidFill>
                  <a:schemeClr val="tx1"/>
                </a:solidFill>
                <a:latin typeface="Arial" panose="020B0604020202020204" pitchFamily="34" charset="0"/>
                <a:cs typeface="Arial" panose="020B0604020202020204" pitchFamily="34" charset="0"/>
              </a:rPr>
              <a:t>J1401</a:t>
            </a:r>
            <a:r>
              <a:rPr lang="ja-JP" altLang="en-US" sz="1200" dirty="0">
                <a:solidFill>
                  <a:schemeClr val="tx1"/>
                </a:solidFill>
                <a:latin typeface="Arial" panose="020B0604020202020204" pitchFamily="34" charset="0"/>
                <a:cs typeface="Arial" panose="020B0604020202020204" pitchFamily="34" charset="0"/>
              </a:rPr>
              <a:t>）</a:t>
            </a:r>
            <a:endParaRPr lang="en-US" sz="1200" dirty="0">
              <a:solidFill>
                <a:schemeClr val="tx1"/>
              </a:solidFill>
              <a:latin typeface="Arial" panose="020B0604020202020204" pitchFamily="34" charset="0"/>
              <a:cs typeface="Arial" panose="020B0604020202020204" pitchFamily="34" charset="0"/>
            </a:endParaRPr>
          </a:p>
        </p:txBody>
      </p:sp>
      <p:pic>
        <p:nvPicPr>
          <p:cNvPr id="307" name="グラフィックス 306">
            <a:extLst>
              <a:ext uri="{FF2B5EF4-FFF2-40B4-BE49-F238E27FC236}">
                <a16:creationId xmlns:a16="http://schemas.microsoft.com/office/drawing/2014/main" id="{9950EF00-C5F0-6BB6-2A8C-B00B35FE2744}"/>
              </a:ext>
            </a:extLst>
          </p:cNvPr>
          <p:cNvPicPr>
            <a:picLocks noChangeAspect="1"/>
          </p:cNvPicPr>
          <p:nvPr/>
        </p:nvPicPr>
        <p:blipFill>
          <a:blip r:embed="rId7">
            <a:grayscl/>
            <a:extLst>
              <a:ext uri="{96DAC541-7B7A-43D3-8B79-37D633B846F1}">
                <asvg:svgBlip xmlns:asvg="http://schemas.microsoft.com/office/drawing/2016/SVG/main" r:embed="rId8"/>
              </a:ext>
            </a:extLst>
          </a:blip>
          <a:srcRect l="25148" t="16203" r="25948" b="16205"/>
          <a:stretch/>
        </p:blipFill>
        <p:spPr>
          <a:xfrm rot="16200000">
            <a:off x="1042395" y="5874413"/>
            <a:ext cx="599552" cy="828660"/>
          </a:xfrm>
          <a:prstGeom prst="rect">
            <a:avLst/>
          </a:prstGeom>
        </p:spPr>
      </p:pic>
      <p:cxnSp>
        <p:nvCxnSpPr>
          <p:cNvPr id="372" name="Straight Arrow Connector 52" descr="Double pointing horizontal arrow.">
            <a:extLst>
              <a:ext uri="{FF2B5EF4-FFF2-40B4-BE49-F238E27FC236}">
                <a16:creationId xmlns:a16="http://schemas.microsoft.com/office/drawing/2014/main" id="{5E71E139-18CB-F8DF-6F6A-33F1908E04F0}"/>
              </a:ext>
            </a:extLst>
          </p:cNvPr>
          <p:cNvCxnSpPr>
            <a:cxnSpLocks/>
            <a:stCxn id="286" idx="1"/>
            <a:endCxn id="307" idx="2"/>
          </p:cNvCxnSpPr>
          <p:nvPr/>
        </p:nvCxnSpPr>
        <p:spPr>
          <a:xfrm flipH="1">
            <a:off x="1756501" y="6288743"/>
            <a:ext cx="294775" cy="0"/>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pic>
        <p:nvPicPr>
          <p:cNvPr id="3" name="Picture 2" descr="Raspberry icon - Free download on Iconfinder">
            <a:extLst>
              <a:ext uri="{FF2B5EF4-FFF2-40B4-BE49-F238E27FC236}">
                <a16:creationId xmlns:a16="http://schemas.microsoft.com/office/drawing/2014/main" id="{5C5F1D02-B73D-E896-617B-1576B32969E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44769" y="4471085"/>
            <a:ext cx="544810" cy="544810"/>
          </a:xfrm>
          <a:prstGeom prst="rect">
            <a:avLst/>
          </a:prstGeom>
          <a:noFill/>
          <a:extLst>
            <a:ext uri="{909E8E84-426E-40DD-AFC4-6F175D3DCCD1}">
              <a14:hiddenFill xmlns:a14="http://schemas.microsoft.com/office/drawing/2010/main">
                <a:solidFill>
                  <a:srgbClr val="FFFFFF"/>
                </a:solidFill>
              </a14:hiddenFill>
            </a:ext>
          </a:extLst>
        </p:spPr>
      </p:pic>
      <p:grpSp>
        <p:nvGrpSpPr>
          <p:cNvPr id="9" name="グループ化 8">
            <a:extLst>
              <a:ext uri="{FF2B5EF4-FFF2-40B4-BE49-F238E27FC236}">
                <a16:creationId xmlns:a16="http://schemas.microsoft.com/office/drawing/2014/main" id="{2957B7C0-4567-AF39-5420-AD1852F7A4FA}"/>
              </a:ext>
            </a:extLst>
          </p:cNvPr>
          <p:cNvGrpSpPr/>
          <p:nvPr/>
        </p:nvGrpSpPr>
        <p:grpSpPr>
          <a:xfrm>
            <a:off x="3305887" y="1301487"/>
            <a:ext cx="5430653" cy="5453716"/>
            <a:chOff x="3305887" y="1301487"/>
            <a:chExt cx="5430653" cy="5453716"/>
          </a:xfrm>
        </p:grpSpPr>
        <p:sp>
          <p:nvSpPr>
            <p:cNvPr id="6" name="正方形/長方形 5">
              <a:extLst>
                <a:ext uri="{FF2B5EF4-FFF2-40B4-BE49-F238E27FC236}">
                  <a16:creationId xmlns:a16="http://schemas.microsoft.com/office/drawing/2014/main" id="{5853351D-9EC6-31AB-DF87-AE6CA167824A}"/>
                </a:ext>
              </a:extLst>
            </p:cNvPr>
            <p:cNvSpPr/>
            <p:nvPr/>
          </p:nvSpPr>
          <p:spPr>
            <a:xfrm>
              <a:off x="3469616" y="1648657"/>
              <a:ext cx="5173870" cy="5106546"/>
            </a:xfrm>
            <a:prstGeom prst="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0000" rIns="0" bIns="0" rtlCol="0" anchor="ctr"/>
            <a:lstStyle/>
            <a:p>
              <a:r>
                <a:rPr lang="en-US" altLang="ja-JP" sz="1400" dirty="0"/>
                <a:t>.</a:t>
              </a:r>
            </a:p>
            <a:p>
              <a:r>
                <a:rPr lang="en-US" altLang="ja-JP" sz="1400" dirty="0"/>
                <a:t>├── </a:t>
              </a:r>
              <a:r>
                <a:rPr lang="en-US" altLang="ja-JP" sz="1400" b="1" dirty="0">
                  <a:solidFill>
                    <a:schemeClr val="accent1"/>
                  </a:solidFill>
                </a:rPr>
                <a:t>.env</a:t>
              </a:r>
            </a:p>
            <a:p>
              <a:r>
                <a:rPr lang="en-US" altLang="ja-JP" sz="1400" dirty="0"/>
                <a:t>│</a:t>
              </a:r>
            </a:p>
            <a:p>
              <a:r>
                <a:rPr lang="en-US" altLang="ja-JP" sz="1400" dirty="0"/>
                <a:t>├── app</a:t>
              </a:r>
            </a:p>
            <a:p>
              <a:r>
                <a:rPr lang="en-US" altLang="ja-JP" sz="1400" dirty="0"/>
                <a:t>│   ├── …</a:t>
              </a:r>
            </a:p>
            <a:p>
              <a:r>
                <a:rPr lang="en-US" altLang="ja-JP" sz="1400" dirty="0"/>
                <a:t>│</a:t>
              </a:r>
            </a:p>
            <a:p>
              <a:r>
                <a:rPr lang="en-US" altLang="ja-JP" sz="1400" dirty="0"/>
                <a:t>├── data</a:t>
              </a:r>
            </a:p>
            <a:p>
              <a:r>
                <a:rPr lang="en-US" altLang="ja-JP" sz="1400" dirty="0"/>
                <a:t>│   ├── …</a:t>
              </a:r>
            </a:p>
            <a:p>
              <a:r>
                <a:rPr lang="ja-JP" altLang="en-US" sz="1400" dirty="0"/>
                <a:t>｜</a:t>
              </a:r>
              <a:endParaRPr lang="en-US" altLang="ja-JP" sz="1400" dirty="0"/>
            </a:p>
            <a:p>
              <a:r>
                <a:rPr lang="en-US" altLang="ja-JP" sz="1400" dirty="0"/>
                <a:t>├── logs</a:t>
              </a:r>
            </a:p>
            <a:p>
              <a:r>
                <a:rPr lang="en-US" altLang="ja-JP" sz="1400" dirty="0"/>
                <a:t>│   └── *.log</a:t>
              </a:r>
            </a:p>
            <a:p>
              <a:r>
                <a:rPr lang="en-US" altLang="ja-JP" sz="1400" dirty="0"/>
                <a:t>│</a:t>
              </a:r>
            </a:p>
            <a:p>
              <a:r>
                <a:rPr lang="en-US" altLang="ja-JP" sz="1400" dirty="0"/>
                <a:t>├── shared</a:t>
              </a:r>
            </a:p>
            <a:p>
              <a:r>
                <a:rPr lang="en-US" altLang="ja-JP" sz="1400" dirty="0"/>
                <a:t>│   ├── …</a:t>
              </a:r>
            </a:p>
            <a:p>
              <a:r>
                <a:rPr lang="ja-JP" altLang="en-US" sz="1400" dirty="0"/>
                <a:t>｜</a:t>
              </a:r>
              <a:endParaRPr lang="en-US" altLang="ja-JP" sz="1400" dirty="0"/>
            </a:p>
            <a:p>
              <a:r>
                <a:rPr lang="en-US" altLang="ja-JP" sz="1400" dirty="0"/>
                <a:t>├── web</a:t>
              </a:r>
            </a:p>
            <a:p>
              <a:r>
                <a:rPr lang="en-US" altLang="ja-JP" sz="1400" dirty="0"/>
                <a:t>│   └── frontend</a:t>
              </a:r>
            </a:p>
            <a:p>
              <a:r>
                <a:rPr lang="en-US" altLang="ja-JP" sz="1400" dirty="0"/>
                <a:t>│       </a:t>
              </a:r>
              <a:r>
                <a:rPr lang="ja-JP" altLang="en-US" sz="1400" dirty="0"/>
                <a:t>  </a:t>
              </a:r>
              <a:r>
                <a:rPr lang="en-US" altLang="ja-JP" sz="1400" dirty="0"/>
                <a:t>├── .env</a:t>
              </a:r>
            </a:p>
            <a:p>
              <a:r>
                <a:rPr lang="en-US" altLang="ja-JP" sz="1400" dirty="0"/>
                <a:t>│         └── …</a:t>
              </a:r>
            </a:p>
            <a:p>
              <a:r>
                <a:rPr lang="en-US" altLang="ja-JP" sz="1400" dirty="0"/>
                <a:t>│</a:t>
              </a:r>
              <a:endParaRPr lang="en-US" altLang="ja-JP" sz="1400" b="1" dirty="0"/>
            </a:p>
            <a:p>
              <a:r>
                <a:rPr lang="en-US" altLang="ja-JP" sz="1400" dirty="0"/>
                <a:t>└── worker</a:t>
              </a:r>
            </a:p>
            <a:p>
              <a:r>
                <a:rPr lang="en-US" altLang="ja-JP" sz="1400" dirty="0"/>
                <a:t>    ├── …</a:t>
              </a:r>
            </a:p>
            <a:p>
              <a:pPr algn="ctr"/>
              <a:endParaRPr kumimoji="1" lang="ja-JP" altLang="en-US" sz="1400" dirty="0"/>
            </a:p>
          </p:txBody>
        </p:sp>
        <p:sp>
          <p:nvSpPr>
            <p:cNvPr id="8" name="テキスト ボックス 7">
              <a:extLst>
                <a:ext uri="{FF2B5EF4-FFF2-40B4-BE49-F238E27FC236}">
                  <a16:creationId xmlns:a16="http://schemas.microsoft.com/office/drawing/2014/main" id="{B65BE6F8-0EC0-6CB5-D1B0-904685421B18}"/>
                </a:ext>
              </a:extLst>
            </p:cNvPr>
            <p:cNvSpPr txBox="1"/>
            <p:nvPr/>
          </p:nvSpPr>
          <p:spPr>
            <a:xfrm>
              <a:off x="3305887" y="1301487"/>
              <a:ext cx="5430653" cy="338554"/>
            </a:xfrm>
            <a:prstGeom prst="rect">
              <a:avLst/>
            </a:prstGeom>
            <a:noFill/>
          </p:spPr>
          <p:txBody>
            <a:bodyPr wrap="square" rtlCol="0">
              <a:spAutoFit/>
            </a:bodyPr>
            <a:lstStyle/>
            <a:p>
              <a:pPr algn="ctr"/>
              <a:r>
                <a:rPr kumimoji="1" lang="ja-JP" altLang="en-US" sz="1600" dirty="0"/>
                <a:t>現行の制御デバイス</a:t>
              </a:r>
              <a:r>
                <a:rPr kumimoji="1" lang="en-US" altLang="ja-JP" sz="1600" dirty="0"/>
                <a:t>(172.16.15.8</a:t>
              </a:r>
              <a:r>
                <a:rPr lang="en-US" altLang="ja-JP" sz="1600" dirty="0"/>
                <a:t>)</a:t>
              </a:r>
              <a:r>
                <a:rPr lang="ja-JP" altLang="en-US" sz="1600" dirty="0"/>
                <a:t>のディレクトリ構成</a:t>
              </a:r>
              <a:endParaRPr kumimoji="1" lang="ja-JP" altLang="en-US" sz="1600" dirty="0"/>
            </a:p>
          </p:txBody>
        </p:sp>
      </p:grpSp>
      <p:sp>
        <p:nvSpPr>
          <p:cNvPr id="10" name="正方形/長方形 9">
            <a:extLst>
              <a:ext uri="{FF2B5EF4-FFF2-40B4-BE49-F238E27FC236}">
                <a16:creationId xmlns:a16="http://schemas.microsoft.com/office/drawing/2014/main" id="{B1DB3EDF-FE8C-509A-7B59-6CB76FAC6A30}"/>
              </a:ext>
            </a:extLst>
          </p:cNvPr>
          <p:cNvSpPr/>
          <p:nvPr/>
        </p:nvSpPr>
        <p:spPr>
          <a:xfrm>
            <a:off x="3817249" y="2333486"/>
            <a:ext cx="1559081" cy="565110"/>
          </a:xfrm>
          <a:prstGeom prst="rect">
            <a:avLst/>
          </a:prstGeom>
          <a:solidFill>
            <a:srgbClr val="F2F2F2">
              <a:alpha val="50196"/>
            </a:srgbClr>
          </a:solidFill>
          <a:ln w="1905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43A527E1-344B-F690-1334-B69D57DD1A7E}"/>
              </a:ext>
            </a:extLst>
          </p:cNvPr>
          <p:cNvSpPr/>
          <p:nvPr/>
        </p:nvSpPr>
        <p:spPr>
          <a:xfrm>
            <a:off x="3817249" y="2980670"/>
            <a:ext cx="1559081" cy="565111"/>
          </a:xfrm>
          <a:prstGeom prst="rect">
            <a:avLst/>
          </a:prstGeom>
          <a:solidFill>
            <a:srgbClr val="F2F2F2">
              <a:alpha val="50196"/>
            </a:srgbClr>
          </a:solidFill>
          <a:ln w="1905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FB1F5B0F-A6E4-D024-8354-5E711158DCA7}"/>
              </a:ext>
            </a:extLst>
          </p:cNvPr>
          <p:cNvSpPr/>
          <p:nvPr/>
        </p:nvSpPr>
        <p:spPr>
          <a:xfrm>
            <a:off x="3817249" y="3627855"/>
            <a:ext cx="1559081" cy="565111"/>
          </a:xfrm>
          <a:prstGeom prst="rect">
            <a:avLst/>
          </a:prstGeom>
          <a:solidFill>
            <a:srgbClr val="F2F2F2">
              <a:alpha val="50196"/>
            </a:srgbClr>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06F8485F-DA38-DC92-8BD8-B90178C58FF4}"/>
              </a:ext>
            </a:extLst>
          </p:cNvPr>
          <p:cNvSpPr/>
          <p:nvPr/>
        </p:nvSpPr>
        <p:spPr>
          <a:xfrm>
            <a:off x="3817250" y="4275040"/>
            <a:ext cx="1559082" cy="565111"/>
          </a:xfrm>
          <a:prstGeom prst="rect">
            <a:avLst/>
          </a:prstGeom>
          <a:solidFill>
            <a:srgbClr val="F2F2F2">
              <a:alpha val="50196"/>
            </a:srgbClr>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E352384C-71E2-AC19-1830-6D30414E4F52}"/>
              </a:ext>
            </a:extLst>
          </p:cNvPr>
          <p:cNvSpPr/>
          <p:nvPr/>
        </p:nvSpPr>
        <p:spPr>
          <a:xfrm>
            <a:off x="3817249" y="4926787"/>
            <a:ext cx="1559083" cy="944846"/>
          </a:xfrm>
          <a:prstGeom prst="rect">
            <a:avLst/>
          </a:prstGeom>
          <a:solidFill>
            <a:srgbClr val="F2F2F2">
              <a:alpha val="50196"/>
            </a:srgbClr>
          </a:solidFill>
          <a:ln w="1905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5" name="正方形/長方形 14">
            <a:extLst>
              <a:ext uri="{FF2B5EF4-FFF2-40B4-BE49-F238E27FC236}">
                <a16:creationId xmlns:a16="http://schemas.microsoft.com/office/drawing/2014/main" id="{176143B5-E1CC-6999-24D1-5A2B9B0A93A0}"/>
              </a:ext>
            </a:extLst>
          </p:cNvPr>
          <p:cNvSpPr/>
          <p:nvPr/>
        </p:nvSpPr>
        <p:spPr>
          <a:xfrm>
            <a:off x="3817249" y="5959525"/>
            <a:ext cx="1559083" cy="565111"/>
          </a:xfrm>
          <a:prstGeom prst="rect">
            <a:avLst/>
          </a:prstGeom>
          <a:solidFill>
            <a:srgbClr val="F2F2F2">
              <a:alpha val="50196"/>
            </a:srgbClr>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ボックス 15">
            <a:extLst>
              <a:ext uri="{FF2B5EF4-FFF2-40B4-BE49-F238E27FC236}">
                <a16:creationId xmlns:a16="http://schemas.microsoft.com/office/drawing/2014/main" id="{105690F9-5578-88EF-76C5-1446900FDD0C}"/>
              </a:ext>
            </a:extLst>
          </p:cNvPr>
          <p:cNvSpPr txBox="1"/>
          <p:nvPr/>
        </p:nvSpPr>
        <p:spPr>
          <a:xfrm>
            <a:off x="5843374" y="2462152"/>
            <a:ext cx="2614826" cy="307777"/>
          </a:xfrm>
          <a:prstGeom prst="rect">
            <a:avLst/>
          </a:prstGeom>
          <a:noFill/>
        </p:spPr>
        <p:txBody>
          <a:bodyPr wrap="square" rtlCol="0">
            <a:spAutoFit/>
          </a:bodyPr>
          <a:lstStyle/>
          <a:p>
            <a:r>
              <a:rPr kumimoji="1" lang="en-US" altLang="ja-JP" sz="1400" dirty="0" err="1"/>
              <a:t>FastAPI</a:t>
            </a:r>
            <a:r>
              <a:rPr lang="ja-JP" altLang="en-US" sz="1400" dirty="0"/>
              <a:t>関連</a:t>
            </a:r>
            <a:endParaRPr kumimoji="1" lang="ja-JP" altLang="en-US" sz="1400" dirty="0"/>
          </a:p>
        </p:txBody>
      </p:sp>
      <p:pic>
        <p:nvPicPr>
          <p:cNvPr id="18" name="グラフィックス 17">
            <a:extLst>
              <a:ext uri="{FF2B5EF4-FFF2-40B4-BE49-F238E27FC236}">
                <a16:creationId xmlns:a16="http://schemas.microsoft.com/office/drawing/2014/main" id="{6BF4F3D5-39C3-D345-FD3A-223CCBE89C8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470877" y="2429791"/>
            <a:ext cx="372497" cy="372497"/>
          </a:xfrm>
          <a:prstGeom prst="rect">
            <a:avLst/>
          </a:prstGeom>
        </p:spPr>
      </p:pic>
      <p:pic>
        <p:nvPicPr>
          <p:cNvPr id="1026" name="Picture 2" descr="SQLite】10分で分かる SQLiteとは？ | レンサバ">
            <a:extLst>
              <a:ext uri="{FF2B5EF4-FFF2-40B4-BE49-F238E27FC236}">
                <a16:creationId xmlns:a16="http://schemas.microsoft.com/office/drawing/2014/main" id="{6B6ECB88-4794-8471-9EBC-4EA48CDB701F}"/>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13878" r="14269"/>
          <a:stretch/>
        </p:blipFill>
        <p:spPr bwMode="auto">
          <a:xfrm>
            <a:off x="5475632" y="3073434"/>
            <a:ext cx="367742" cy="372497"/>
          </a:xfrm>
          <a:prstGeom prst="rect">
            <a:avLst/>
          </a:prstGeom>
          <a:noFill/>
          <a:extLst>
            <a:ext uri="{909E8E84-426E-40DD-AFC4-6F175D3DCCD1}">
              <a14:hiddenFill xmlns:a14="http://schemas.microsoft.com/office/drawing/2010/main">
                <a:solidFill>
                  <a:srgbClr val="FFFFFF"/>
                </a:solidFill>
              </a14:hiddenFill>
            </a:ext>
          </a:extLst>
        </p:spPr>
      </p:pic>
      <p:sp>
        <p:nvSpPr>
          <p:cNvPr id="20" name="テキスト ボックス 19">
            <a:extLst>
              <a:ext uri="{FF2B5EF4-FFF2-40B4-BE49-F238E27FC236}">
                <a16:creationId xmlns:a16="http://schemas.microsoft.com/office/drawing/2014/main" id="{8CB48957-583C-A1B1-EDE4-944A16EA17AF}"/>
              </a:ext>
            </a:extLst>
          </p:cNvPr>
          <p:cNvSpPr txBox="1"/>
          <p:nvPr/>
        </p:nvSpPr>
        <p:spPr>
          <a:xfrm>
            <a:off x="5843374" y="3125295"/>
            <a:ext cx="2614826" cy="307777"/>
          </a:xfrm>
          <a:prstGeom prst="rect">
            <a:avLst/>
          </a:prstGeom>
          <a:noFill/>
        </p:spPr>
        <p:txBody>
          <a:bodyPr wrap="square" rtlCol="0">
            <a:spAutoFit/>
          </a:bodyPr>
          <a:lstStyle/>
          <a:p>
            <a:r>
              <a:rPr lang="en-US" altLang="ja-JP" sz="1400" dirty="0"/>
              <a:t>Database</a:t>
            </a:r>
            <a:r>
              <a:rPr lang="ja-JP" altLang="en-US" sz="1400" dirty="0"/>
              <a:t>関連</a:t>
            </a:r>
            <a:endParaRPr kumimoji="1" lang="ja-JP" altLang="en-US" sz="1400" dirty="0"/>
          </a:p>
        </p:txBody>
      </p:sp>
      <p:sp>
        <p:nvSpPr>
          <p:cNvPr id="21" name="テキスト ボックス 20">
            <a:extLst>
              <a:ext uri="{FF2B5EF4-FFF2-40B4-BE49-F238E27FC236}">
                <a16:creationId xmlns:a16="http://schemas.microsoft.com/office/drawing/2014/main" id="{98798646-BB88-C65B-FC83-46BEECFD5299}"/>
              </a:ext>
            </a:extLst>
          </p:cNvPr>
          <p:cNvSpPr txBox="1"/>
          <p:nvPr/>
        </p:nvSpPr>
        <p:spPr>
          <a:xfrm>
            <a:off x="5470877" y="3779218"/>
            <a:ext cx="2614826" cy="307777"/>
          </a:xfrm>
          <a:prstGeom prst="rect">
            <a:avLst/>
          </a:prstGeom>
          <a:noFill/>
        </p:spPr>
        <p:txBody>
          <a:bodyPr wrap="square" rtlCol="0">
            <a:spAutoFit/>
          </a:bodyPr>
          <a:lstStyle/>
          <a:p>
            <a:r>
              <a:rPr lang="ja-JP" altLang="en-US" sz="1400" dirty="0"/>
              <a:t>実行ログ関連</a:t>
            </a:r>
            <a:endParaRPr kumimoji="1" lang="ja-JP" altLang="en-US" sz="1400" dirty="0"/>
          </a:p>
        </p:txBody>
      </p:sp>
      <p:pic>
        <p:nvPicPr>
          <p:cNvPr id="23" name="図 22" descr="アイコン&#10;&#10;AI によって生成されたコンテンツは間違っている可能性があります。">
            <a:extLst>
              <a:ext uri="{FF2B5EF4-FFF2-40B4-BE49-F238E27FC236}">
                <a16:creationId xmlns:a16="http://schemas.microsoft.com/office/drawing/2014/main" id="{D03933EF-37AC-B234-DE31-B1A8D885CD5B}"/>
              </a:ext>
            </a:extLst>
          </p:cNvPr>
          <p:cNvPicPr>
            <a:picLocks noChangeAspect="1"/>
          </p:cNvPicPr>
          <p:nvPr/>
        </p:nvPicPr>
        <p:blipFill>
          <a:blip r:embed="rId4">
            <a:extLst>
              <a:ext uri="{28A0092B-C50C-407E-A947-70E740481C1C}">
                <a14:useLocalDpi xmlns:a14="http://schemas.microsoft.com/office/drawing/2010/main" val="0"/>
              </a:ext>
            </a:extLst>
          </a:blip>
          <a:srcRect l="10553" t="5709" r="9769" b="4466"/>
          <a:stretch/>
        </p:blipFill>
        <p:spPr>
          <a:xfrm>
            <a:off x="5480878" y="5201191"/>
            <a:ext cx="357774" cy="403333"/>
          </a:xfrm>
          <a:prstGeom prst="rect">
            <a:avLst/>
          </a:prstGeom>
        </p:spPr>
      </p:pic>
      <p:sp>
        <p:nvSpPr>
          <p:cNvPr id="25" name="テキスト ボックス 24">
            <a:extLst>
              <a:ext uri="{FF2B5EF4-FFF2-40B4-BE49-F238E27FC236}">
                <a16:creationId xmlns:a16="http://schemas.microsoft.com/office/drawing/2014/main" id="{75A5F341-C488-53A0-22C4-FE3420EC955B}"/>
              </a:ext>
            </a:extLst>
          </p:cNvPr>
          <p:cNvSpPr txBox="1"/>
          <p:nvPr/>
        </p:nvSpPr>
        <p:spPr>
          <a:xfrm>
            <a:off x="5838652" y="5248736"/>
            <a:ext cx="2614826" cy="307777"/>
          </a:xfrm>
          <a:prstGeom prst="rect">
            <a:avLst/>
          </a:prstGeom>
          <a:noFill/>
        </p:spPr>
        <p:txBody>
          <a:bodyPr wrap="square" rtlCol="0">
            <a:spAutoFit/>
          </a:bodyPr>
          <a:lstStyle/>
          <a:p>
            <a:r>
              <a:rPr lang="en-US" altLang="ja-JP" sz="1400" dirty="0"/>
              <a:t>React</a:t>
            </a:r>
            <a:r>
              <a:rPr lang="ja-JP" altLang="en-US" sz="1400" dirty="0"/>
              <a:t>関連</a:t>
            </a:r>
            <a:endParaRPr kumimoji="1" lang="ja-JP" altLang="en-US" sz="1400" dirty="0"/>
          </a:p>
        </p:txBody>
      </p:sp>
      <p:sp>
        <p:nvSpPr>
          <p:cNvPr id="26" name="テキスト ボックス 25">
            <a:extLst>
              <a:ext uri="{FF2B5EF4-FFF2-40B4-BE49-F238E27FC236}">
                <a16:creationId xmlns:a16="http://schemas.microsoft.com/office/drawing/2014/main" id="{E6E9B6E6-80DC-5D21-B74E-091351979315}"/>
              </a:ext>
            </a:extLst>
          </p:cNvPr>
          <p:cNvSpPr txBox="1"/>
          <p:nvPr/>
        </p:nvSpPr>
        <p:spPr>
          <a:xfrm>
            <a:off x="5451820" y="4403706"/>
            <a:ext cx="2999019" cy="307777"/>
          </a:xfrm>
          <a:prstGeom prst="rect">
            <a:avLst/>
          </a:prstGeom>
          <a:noFill/>
        </p:spPr>
        <p:txBody>
          <a:bodyPr wrap="square" rtlCol="0">
            <a:spAutoFit/>
          </a:bodyPr>
          <a:lstStyle/>
          <a:p>
            <a:r>
              <a:rPr lang="en-US" altLang="ja-JP" sz="1400" dirty="0"/>
              <a:t>worker</a:t>
            </a:r>
            <a:r>
              <a:rPr lang="ja-JP" altLang="en-US" sz="1400" dirty="0"/>
              <a:t>と</a:t>
            </a:r>
            <a:r>
              <a:rPr lang="en-US" altLang="ja-JP" sz="1400" dirty="0"/>
              <a:t>app</a:t>
            </a:r>
            <a:r>
              <a:rPr lang="ja-JP" altLang="en-US" sz="1400" dirty="0"/>
              <a:t>の共通参照ファイル</a:t>
            </a:r>
            <a:endParaRPr kumimoji="1" lang="ja-JP" altLang="en-US" sz="1400" dirty="0"/>
          </a:p>
        </p:txBody>
      </p:sp>
      <p:sp>
        <p:nvSpPr>
          <p:cNvPr id="27" name="テキスト ボックス 26">
            <a:extLst>
              <a:ext uri="{FF2B5EF4-FFF2-40B4-BE49-F238E27FC236}">
                <a16:creationId xmlns:a16="http://schemas.microsoft.com/office/drawing/2014/main" id="{F2D89A3C-ED5E-32A5-E827-954E92872048}"/>
              </a:ext>
            </a:extLst>
          </p:cNvPr>
          <p:cNvSpPr txBox="1"/>
          <p:nvPr/>
        </p:nvSpPr>
        <p:spPr>
          <a:xfrm>
            <a:off x="5451819" y="6093766"/>
            <a:ext cx="2999019" cy="307777"/>
          </a:xfrm>
          <a:prstGeom prst="rect">
            <a:avLst/>
          </a:prstGeom>
          <a:noFill/>
        </p:spPr>
        <p:txBody>
          <a:bodyPr wrap="square" rtlCol="0">
            <a:spAutoFit/>
          </a:bodyPr>
          <a:lstStyle/>
          <a:p>
            <a:r>
              <a:rPr lang="ja-JP" altLang="en-US" sz="1400" dirty="0"/>
              <a:t>タスク</a:t>
            </a:r>
            <a:r>
              <a:rPr kumimoji="1" lang="ja-JP" altLang="en-US" sz="1400" dirty="0"/>
              <a:t>処理関連</a:t>
            </a:r>
          </a:p>
        </p:txBody>
      </p:sp>
      <p:cxnSp>
        <p:nvCxnSpPr>
          <p:cNvPr id="7" name="直線矢印コネクタ 6">
            <a:extLst>
              <a:ext uri="{FF2B5EF4-FFF2-40B4-BE49-F238E27FC236}">
                <a16:creationId xmlns:a16="http://schemas.microsoft.com/office/drawing/2014/main" id="{A0DE8720-F77C-BC47-2CAB-EA8B1BC0ED74}"/>
              </a:ext>
            </a:extLst>
          </p:cNvPr>
          <p:cNvCxnSpPr>
            <a:cxnSpLocks/>
          </p:cNvCxnSpPr>
          <p:nvPr/>
        </p:nvCxnSpPr>
        <p:spPr>
          <a:xfrm flipV="1">
            <a:off x="4301807" y="4508703"/>
            <a:ext cx="0" cy="1780040"/>
          </a:xfrm>
          <a:prstGeom prst="straightConnector1">
            <a:avLst/>
          </a:prstGeom>
          <a:ln w="5715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1FEAFA93-D719-6D45-29DA-10736204B8BB}"/>
              </a:ext>
            </a:extLst>
          </p:cNvPr>
          <p:cNvSpPr txBox="1"/>
          <p:nvPr/>
        </p:nvSpPr>
        <p:spPr>
          <a:xfrm>
            <a:off x="4648682" y="3803807"/>
            <a:ext cx="2999017" cy="369332"/>
          </a:xfrm>
          <a:prstGeom prst="rect">
            <a:avLst/>
          </a:prstGeom>
          <a:noFill/>
        </p:spPr>
        <p:txBody>
          <a:bodyPr wrap="square" rtlCol="0">
            <a:spAutoFit/>
          </a:bodyPr>
          <a:lstStyle/>
          <a:p>
            <a:endParaRPr kumimoji="1" lang="ja-JP" altLang="en-US" b="1" dirty="0">
              <a:solidFill>
                <a:schemeClr val="accent6"/>
              </a:solidFill>
            </a:endParaRPr>
          </a:p>
        </p:txBody>
      </p:sp>
      <p:sp>
        <p:nvSpPr>
          <p:cNvPr id="19" name="正方形/長方形 18">
            <a:extLst>
              <a:ext uri="{FF2B5EF4-FFF2-40B4-BE49-F238E27FC236}">
                <a16:creationId xmlns:a16="http://schemas.microsoft.com/office/drawing/2014/main" id="{45400C71-204C-FCBE-6CC6-150E221C6B85}"/>
              </a:ext>
            </a:extLst>
          </p:cNvPr>
          <p:cNvSpPr/>
          <p:nvPr/>
        </p:nvSpPr>
        <p:spPr>
          <a:xfrm>
            <a:off x="2085560" y="5025295"/>
            <a:ext cx="2089610" cy="641081"/>
          </a:xfrm>
          <a:prstGeom prst="rect">
            <a:avLst/>
          </a:prstGeom>
          <a:solidFill>
            <a:schemeClr val="bg2"/>
          </a:solidFill>
          <a:ln>
            <a:solidFill>
              <a:schemeClr val="tx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lIns="0" tIns="46800" rIns="0" bIns="0" rtlCol="0" anchor="ctr"/>
          <a:lstStyle/>
          <a:p>
            <a:pPr algn="ctr"/>
            <a:r>
              <a:rPr lang="ja-JP" altLang="en-US" sz="1400" dirty="0">
                <a:solidFill>
                  <a:schemeClr val="accent1"/>
                </a:solidFill>
              </a:rPr>
              <a:t>①</a:t>
            </a:r>
            <a:endParaRPr lang="en-US" altLang="ja-JP" sz="1400" dirty="0">
              <a:solidFill>
                <a:schemeClr val="accent1"/>
              </a:solidFill>
            </a:endParaRPr>
          </a:p>
          <a:p>
            <a:pPr algn="ctr"/>
            <a:r>
              <a:rPr lang="ja-JP" altLang="en-US" sz="1400" dirty="0">
                <a:solidFill>
                  <a:schemeClr val="accent1"/>
                </a:solidFill>
              </a:rPr>
              <a:t>新しい未処理タスクを</a:t>
            </a:r>
            <a:endParaRPr lang="en-US" altLang="ja-JP" sz="1400" dirty="0">
              <a:solidFill>
                <a:schemeClr val="accent1"/>
              </a:solidFill>
            </a:endParaRPr>
          </a:p>
          <a:p>
            <a:pPr algn="ctr"/>
            <a:r>
              <a:rPr lang="ja-JP" altLang="en-US" sz="1400" dirty="0">
                <a:solidFill>
                  <a:schemeClr val="accent1"/>
                </a:solidFill>
              </a:rPr>
              <a:t>実行する</a:t>
            </a:r>
          </a:p>
        </p:txBody>
      </p:sp>
      <p:cxnSp>
        <p:nvCxnSpPr>
          <p:cNvPr id="22" name="直線矢印コネクタ 21">
            <a:extLst>
              <a:ext uri="{FF2B5EF4-FFF2-40B4-BE49-F238E27FC236}">
                <a16:creationId xmlns:a16="http://schemas.microsoft.com/office/drawing/2014/main" id="{E71780AD-ED8F-FD94-A275-DBBBE142531C}"/>
              </a:ext>
            </a:extLst>
          </p:cNvPr>
          <p:cNvCxnSpPr>
            <a:cxnSpLocks/>
          </p:cNvCxnSpPr>
          <p:nvPr/>
        </p:nvCxnSpPr>
        <p:spPr>
          <a:xfrm flipV="1">
            <a:off x="4864297" y="3803807"/>
            <a:ext cx="0" cy="2493692"/>
          </a:xfrm>
          <a:prstGeom prst="straightConnector1">
            <a:avLst/>
          </a:prstGeom>
          <a:ln w="5715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46CC96CA-576D-6BE7-D50E-97CC8E80ED9E}"/>
              </a:ext>
            </a:extLst>
          </p:cNvPr>
          <p:cNvSpPr/>
          <p:nvPr/>
        </p:nvSpPr>
        <p:spPr>
          <a:xfrm>
            <a:off x="5006913" y="4635800"/>
            <a:ext cx="2089610" cy="641081"/>
          </a:xfrm>
          <a:prstGeom prst="rect">
            <a:avLst/>
          </a:prstGeom>
          <a:solidFill>
            <a:schemeClr val="bg2"/>
          </a:solidFill>
          <a:ln>
            <a:solidFill>
              <a:schemeClr val="tx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lIns="0" tIns="46800" rIns="0" bIns="0" rtlCol="0" anchor="ctr"/>
          <a:lstStyle/>
          <a:p>
            <a:pPr algn="ctr"/>
            <a:r>
              <a:rPr lang="ja-JP" altLang="en-US" sz="1400" dirty="0">
                <a:solidFill>
                  <a:schemeClr val="accent1"/>
                </a:solidFill>
              </a:rPr>
              <a:t>②</a:t>
            </a:r>
            <a:endParaRPr lang="en-US" altLang="ja-JP" sz="1400" dirty="0">
              <a:solidFill>
                <a:schemeClr val="accent1"/>
              </a:solidFill>
            </a:endParaRPr>
          </a:p>
          <a:p>
            <a:pPr algn="ctr"/>
            <a:r>
              <a:rPr lang="ja-JP" altLang="en-US" sz="1400" dirty="0">
                <a:solidFill>
                  <a:schemeClr val="accent1"/>
                </a:solidFill>
              </a:rPr>
              <a:t>タスクの実行結果を</a:t>
            </a:r>
            <a:endParaRPr lang="en-US" altLang="ja-JP" sz="1400" dirty="0">
              <a:solidFill>
                <a:schemeClr val="accent1"/>
              </a:solidFill>
            </a:endParaRPr>
          </a:p>
          <a:p>
            <a:pPr algn="ctr"/>
            <a:r>
              <a:rPr lang="ja-JP" altLang="en-US" sz="1400" dirty="0">
                <a:solidFill>
                  <a:schemeClr val="accent1"/>
                </a:solidFill>
              </a:rPr>
              <a:t>ログに追記</a:t>
            </a:r>
          </a:p>
        </p:txBody>
      </p:sp>
      <p:sp>
        <p:nvSpPr>
          <p:cNvPr id="30" name="正方形/長方形 29">
            <a:extLst>
              <a:ext uri="{FF2B5EF4-FFF2-40B4-BE49-F238E27FC236}">
                <a16:creationId xmlns:a16="http://schemas.microsoft.com/office/drawing/2014/main" id="{B5B15833-798A-7F31-6CA6-23C2B810C7BA}"/>
              </a:ext>
            </a:extLst>
          </p:cNvPr>
          <p:cNvSpPr/>
          <p:nvPr/>
        </p:nvSpPr>
        <p:spPr>
          <a:xfrm>
            <a:off x="693160" y="1635422"/>
            <a:ext cx="2612727" cy="1206448"/>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t>例：ある登録済みユーザーが</a:t>
            </a:r>
            <a:endParaRPr lang="en-US" altLang="ja-JP" sz="1400" dirty="0"/>
          </a:p>
          <a:p>
            <a:pPr algn="ctr"/>
            <a:r>
              <a:rPr lang="ja-JP" altLang="en-US" sz="1400" dirty="0"/>
              <a:t>「在室 </a:t>
            </a:r>
            <a:r>
              <a:rPr lang="en-US" altLang="ja-JP" sz="1400" dirty="0"/>
              <a:t>(Clock In)</a:t>
            </a:r>
            <a:r>
              <a:rPr lang="ja-JP" altLang="en-US" sz="1400" dirty="0"/>
              <a:t>」ボタンを</a:t>
            </a:r>
            <a:endParaRPr lang="en-US" altLang="ja-JP" sz="1400" dirty="0"/>
          </a:p>
          <a:p>
            <a:pPr algn="ctr"/>
            <a:r>
              <a:rPr lang="ja-JP" altLang="en-US" sz="1400" dirty="0"/>
              <a:t>押した後，自身の</a:t>
            </a:r>
            <a:r>
              <a:rPr lang="en-US" altLang="ja-JP" sz="1400" dirty="0"/>
              <a:t>IC</a:t>
            </a:r>
            <a:r>
              <a:rPr lang="ja-JP" altLang="en-US" sz="1400" dirty="0"/>
              <a:t>カードを</a:t>
            </a:r>
            <a:endParaRPr lang="en-US" altLang="ja-JP" sz="1400" dirty="0"/>
          </a:p>
          <a:p>
            <a:pPr algn="ctr"/>
            <a:r>
              <a:rPr lang="ja-JP" altLang="en-US" sz="1400" dirty="0"/>
              <a:t>読み込んだ場合</a:t>
            </a:r>
          </a:p>
        </p:txBody>
      </p:sp>
    </p:spTree>
    <p:extLst>
      <p:ext uri="{BB962C8B-B14F-4D97-AF65-F5344CB8AC3E}">
        <p14:creationId xmlns:p14="http://schemas.microsoft.com/office/powerpoint/2010/main" val="11952618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E6D21B-18D1-FE82-0FBD-9541B6A7119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AE25378-3C97-62D7-B260-7D55754C8AD1}"/>
              </a:ext>
            </a:extLst>
          </p:cNvPr>
          <p:cNvSpPr>
            <a:spLocks noGrp="1"/>
          </p:cNvSpPr>
          <p:nvPr>
            <p:ph type="title"/>
          </p:nvPr>
        </p:nvSpPr>
        <p:spPr/>
        <p:txBody>
          <a:bodyPr/>
          <a:lstStyle/>
          <a:p>
            <a:r>
              <a:rPr kumimoji="1" lang="ja-JP" altLang="en-US" dirty="0"/>
              <a:t>在室確認システム</a:t>
            </a:r>
            <a:r>
              <a:rPr lang="ja-JP" altLang="en-US" dirty="0"/>
              <a:t> </a:t>
            </a:r>
            <a:r>
              <a:rPr lang="en-US" altLang="ja-JP" dirty="0"/>
              <a:t>– </a:t>
            </a:r>
            <a:r>
              <a:rPr lang="ja-JP" altLang="en-US" dirty="0"/>
              <a:t>制御デバイス</a:t>
            </a:r>
            <a:endParaRPr kumimoji="1" lang="ja-JP" altLang="en-US" dirty="0"/>
          </a:p>
        </p:txBody>
      </p:sp>
      <p:sp>
        <p:nvSpPr>
          <p:cNvPr id="289" name="TextBox 12">
            <a:extLst>
              <a:ext uri="{FF2B5EF4-FFF2-40B4-BE49-F238E27FC236}">
                <a16:creationId xmlns:a16="http://schemas.microsoft.com/office/drawing/2014/main" id="{B8A49148-D205-68B5-B650-712FD0E50C02}"/>
              </a:ext>
            </a:extLst>
          </p:cNvPr>
          <p:cNvSpPr txBox="1">
            <a:spLocks noChangeArrowheads="1"/>
          </p:cNvSpPr>
          <p:nvPr/>
        </p:nvSpPr>
        <p:spPr bwMode="auto">
          <a:xfrm>
            <a:off x="1707208" y="5001976"/>
            <a:ext cx="16050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Raspberry Pi 4B</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(172.16.15.8)</a:t>
            </a:r>
          </a:p>
        </p:txBody>
      </p:sp>
      <p:sp>
        <p:nvSpPr>
          <p:cNvPr id="236" name="テキスト ボックス 235">
            <a:extLst>
              <a:ext uri="{FF2B5EF4-FFF2-40B4-BE49-F238E27FC236}">
                <a16:creationId xmlns:a16="http://schemas.microsoft.com/office/drawing/2014/main" id="{433D9A7C-08C2-7BA9-F4F0-0DDACF276E53}"/>
              </a:ext>
            </a:extLst>
          </p:cNvPr>
          <p:cNvSpPr txBox="1"/>
          <p:nvPr/>
        </p:nvSpPr>
        <p:spPr>
          <a:xfrm>
            <a:off x="1077353" y="4303759"/>
            <a:ext cx="1162293" cy="276999"/>
          </a:xfrm>
          <a:prstGeom prst="rect">
            <a:avLst/>
          </a:prstGeom>
          <a:noFill/>
        </p:spPr>
        <p:txBody>
          <a:bodyPr wrap="square">
            <a:spAutoFit/>
          </a:body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RC-S380 S</a:t>
            </a:r>
          </a:p>
        </p:txBody>
      </p:sp>
      <p:pic>
        <p:nvPicPr>
          <p:cNvPr id="237" name="図 236" descr="黒い背景と白い文字のロゴ&#10;&#10;AI によって生成されたコンテンツは間違っている可能性があります。">
            <a:extLst>
              <a:ext uri="{FF2B5EF4-FFF2-40B4-BE49-F238E27FC236}">
                <a16:creationId xmlns:a16="http://schemas.microsoft.com/office/drawing/2014/main" id="{291ABB48-35A6-28DD-213D-1532F52A957D}"/>
              </a:ext>
            </a:extLst>
          </p:cNvPr>
          <p:cNvPicPr>
            <a:picLocks noChangeAspect="1"/>
          </p:cNvPicPr>
          <p:nvPr/>
        </p:nvPicPr>
        <p:blipFill>
          <a:blip r:embed="rId3">
            <a:biLevel thresh="50000"/>
            <a:extLst>
              <a:ext uri="{28A0092B-C50C-407E-A947-70E740481C1C}">
                <a14:useLocalDpi xmlns:a14="http://schemas.microsoft.com/office/drawing/2010/main" val="0"/>
              </a:ext>
            </a:extLst>
          </a:blip>
          <a:srcRect t="19474" b="18132"/>
          <a:stretch/>
        </p:blipFill>
        <p:spPr>
          <a:xfrm flipH="1">
            <a:off x="693160" y="4508703"/>
            <a:ext cx="1605014" cy="751622"/>
          </a:xfrm>
          <a:prstGeom prst="rect">
            <a:avLst/>
          </a:prstGeom>
        </p:spPr>
      </p:pic>
      <p:grpSp>
        <p:nvGrpSpPr>
          <p:cNvPr id="241" name="グループ化 240">
            <a:extLst>
              <a:ext uri="{FF2B5EF4-FFF2-40B4-BE49-F238E27FC236}">
                <a16:creationId xmlns:a16="http://schemas.microsoft.com/office/drawing/2014/main" id="{2B436D7A-E740-D28F-DE42-DF34AF87DDEA}"/>
              </a:ext>
            </a:extLst>
          </p:cNvPr>
          <p:cNvGrpSpPr/>
          <p:nvPr/>
        </p:nvGrpSpPr>
        <p:grpSpPr>
          <a:xfrm>
            <a:off x="2051276" y="6087076"/>
            <a:ext cx="924337" cy="403333"/>
            <a:chOff x="2262291" y="5685876"/>
            <a:chExt cx="924337" cy="403333"/>
          </a:xfrm>
        </p:grpSpPr>
        <p:pic>
          <p:nvPicPr>
            <p:cNvPr id="286" name="図 285" descr="アイコン&#10;&#10;AI によって生成されたコンテンツは間違っている可能性があります。">
              <a:extLst>
                <a:ext uri="{FF2B5EF4-FFF2-40B4-BE49-F238E27FC236}">
                  <a16:creationId xmlns:a16="http://schemas.microsoft.com/office/drawing/2014/main" id="{A2309025-AC94-C549-1D1D-8E229E650DE6}"/>
                </a:ext>
              </a:extLst>
            </p:cNvPr>
            <p:cNvPicPr>
              <a:picLocks noChangeAspect="1"/>
            </p:cNvPicPr>
            <p:nvPr/>
          </p:nvPicPr>
          <p:blipFill>
            <a:blip r:embed="rId4">
              <a:extLst>
                <a:ext uri="{28A0092B-C50C-407E-A947-70E740481C1C}">
                  <a14:useLocalDpi xmlns:a14="http://schemas.microsoft.com/office/drawing/2010/main" val="0"/>
                </a:ext>
              </a:extLst>
            </a:blip>
            <a:srcRect l="10553" t="5709" r="9769" b="4466"/>
            <a:stretch/>
          </p:blipFill>
          <p:spPr>
            <a:xfrm>
              <a:off x="2262291" y="5685876"/>
              <a:ext cx="357774" cy="403333"/>
            </a:xfrm>
            <a:prstGeom prst="rect">
              <a:avLst/>
            </a:prstGeom>
          </p:spPr>
        </p:pic>
        <p:sp>
          <p:nvSpPr>
            <p:cNvPr id="287" name="テキスト ボックス 286">
              <a:extLst>
                <a:ext uri="{FF2B5EF4-FFF2-40B4-BE49-F238E27FC236}">
                  <a16:creationId xmlns:a16="http://schemas.microsoft.com/office/drawing/2014/main" id="{30F85ED4-B02D-64B1-3D80-D5F7952792D8}"/>
                </a:ext>
              </a:extLst>
            </p:cNvPr>
            <p:cNvSpPr txBox="1"/>
            <p:nvPr/>
          </p:nvSpPr>
          <p:spPr>
            <a:xfrm>
              <a:off x="2557071" y="5749042"/>
              <a:ext cx="629557" cy="276999"/>
            </a:xfrm>
            <a:prstGeom prst="rect">
              <a:avLst/>
            </a:prstGeom>
            <a:noFill/>
          </p:spPr>
          <p:txBody>
            <a:bodyPr wrap="square">
              <a:spAutoFit/>
            </a:bodyPr>
            <a:lstStyle/>
            <a:p>
              <a:r>
                <a:rPr lang="en-US" altLang="ja-JP" sz="1200" dirty="0"/>
                <a:t>:3000</a:t>
              </a:r>
              <a:endParaRPr lang="ja-JP" altLang="en-US" sz="1200" dirty="0"/>
            </a:p>
          </p:txBody>
        </p:sp>
      </p:grpSp>
      <p:grpSp>
        <p:nvGrpSpPr>
          <p:cNvPr id="242" name="グループ化 241">
            <a:extLst>
              <a:ext uri="{FF2B5EF4-FFF2-40B4-BE49-F238E27FC236}">
                <a16:creationId xmlns:a16="http://schemas.microsoft.com/office/drawing/2014/main" id="{B654001D-3303-9B66-9ADE-7DAD257376C6}"/>
              </a:ext>
            </a:extLst>
          </p:cNvPr>
          <p:cNvGrpSpPr/>
          <p:nvPr/>
        </p:nvGrpSpPr>
        <p:grpSpPr>
          <a:xfrm>
            <a:off x="2043915" y="5648135"/>
            <a:ext cx="931698" cy="372497"/>
            <a:chOff x="2254930" y="5246935"/>
            <a:chExt cx="931698" cy="372497"/>
          </a:xfrm>
        </p:grpSpPr>
        <p:pic>
          <p:nvPicPr>
            <p:cNvPr id="284" name="グラフィックス 283">
              <a:extLst>
                <a:ext uri="{FF2B5EF4-FFF2-40B4-BE49-F238E27FC236}">
                  <a16:creationId xmlns:a16="http://schemas.microsoft.com/office/drawing/2014/main" id="{4B486613-D48B-C189-4F74-984D448296E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254930" y="5246935"/>
              <a:ext cx="372497" cy="372497"/>
            </a:xfrm>
            <a:prstGeom prst="rect">
              <a:avLst/>
            </a:prstGeom>
          </p:spPr>
        </p:pic>
        <p:sp>
          <p:nvSpPr>
            <p:cNvPr id="285" name="テキスト ボックス 284">
              <a:extLst>
                <a:ext uri="{FF2B5EF4-FFF2-40B4-BE49-F238E27FC236}">
                  <a16:creationId xmlns:a16="http://schemas.microsoft.com/office/drawing/2014/main" id="{FF72695B-8C01-A04A-E6BF-FB80DB4553FE}"/>
                </a:ext>
              </a:extLst>
            </p:cNvPr>
            <p:cNvSpPr txBox="1"/>
            <p:nvPr/>
          </p:nvSpPr>
          <p:spPr>
            <a:xfrm>
              <a:off x="2557071" y="5306333"/>
              <a:ext cx="629557" cy="276999"/>
            </a:xfrm>
            <a:prstGeom prst="rect">
              <a:avLst/>
            </a:prstGeom>
            <a:noFill/>
          </p:spPr>
          <p:txBody>
            <a:bodyPr wrap="square">
              <a:spAutoFit/>
            </a:bodyPr>
            <a:lstStyle/>
            <a:p>
              <a:r>
                <a:rPr lang="en-US" altLang="ja-JP" sz="1200" dirty="0"/>
                <a:t>:8000</a:t>
              </a:r>
              <a:endParaRPr lang="ja-JP" altLang="en-US" sz="1200" dirty="0"/>
            </a:p>
          </p:txBody>
        </p:sp>
      </p:grpSp>
      <p:sp>
        <p:nvSpPr>
          <p:cNvPr id="306" name="Rectangle 103" descr="Generic group dashed.">
            <a:extLst>
              <a:ext uri="{FF2B5EF4-FFF2-40B4-BE49-F238E27FC236}">
                <a16:creationId xmlns:a16="http://schemas.microsoft.com/office/drawing/2014/main" id="{2C599E27-29D9-0547-25F0-7135D7704289}"/>
              </a:ext>
            </a:extLst>
          </p:cNvPr>
          <p:cNvSpPr/>
          <p:nvPr/>
        </p:nvSpPr>
        <p:spPr>
          <a:xfrm>
            <a:off x="690522" y="3933107"/>
            <a:ext cx="2615365" cy="2822096"/>
          </a:xfrm>
          <a:prstGeom prst="rect">
            <a:avLst/>
          </a:prstGeom>
          <a:noFill/>
          <a:ln w="15875">
            <a:solidFill>
              <a:srgbClr val="7D8998"/>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a:defRPr/>
            </a:pPr>
            <a:r>
              <a:rPr lang="ja-JP" altLang="en-US" sz="1200" dirty="0">
                <a:solidFill>
                  <a:schemeClr val="tx1"/>
                </a:solidFill>
                <a:latin typeface="Arial" panose="020B0604020202020204" pitchFamily="34" charset="0"/>
                <a:cs typeface="Arial" panose="020B0604020202020204" pitchFamily="34" charset="0"/>
              </a:rPr>
              <a:t>学生部屋（</a:t>
            </a:r>
            <a:r>
              <a:rPr lang="en-US" altLang="ja-JP" sz="1200" dirty="0">
                <a:solidFill>
                  <a:schemeClr val="tx1"/>
                </a:solidFill>
                <a:latin typeface="Arial" panose="020B0604020202020204" pitchFamily="34" charset="0"/>
                <a:cs typeface="Arial" panose="020B0604020202020204" pitchFamily="34" charset="0"/>
              </a:rPr>
              <a:t>J1401</a:t>
            </a:r>
            <a:r>
              <a:rPr lang="ja-JP" altLang="en-US" sz="1200" dirty="0">
                <a:solidFill>
                  <a:schemeClr val="tx1"/>
                </a:solidFill>
                <a:latin typeface="Arial" panose="020B0604020202020204" pitchFamily="34" charset="0"/>
                <a:cs typeface="Arial" panose="020B0604020202020204" pitchFamily="34" charset="0"/>
              </a:rPr>
              <a:t>）</a:t>
            </a:r>
            <a:endParaRPr lang="en-US" sz="1200" dirty="0">
              <a:solidFill>
                <a:schemeClr val="tx1"/>
              </a:solidFill>
              <a:latin typeface="Arial" panose="020B0604020202020204" pitchFamily="34" charset="0"/>
              <a:cs typeface="Arial" panose="020B0604020202020204" pitchFamily="34" charset="0"/>
            </a:endParaRPr>
          </a:p>
        </p:txBody>
      </p:sp>
      <p:pic>
        <p:nvPicPr>
          <p:cNvPr id="307" name="グラフィックス 306">
            <a:extLst>
              <a:ext uri="{FF2B5EF4-FFF2-40B4-BE49-F238E27FC236}">
                <a16:creationId xmlns:a16="http://schemas.microsoft.com/office/drawing/2014/main" id="{6B700E86-8E88-2EB9-8B42-240D1CB3D68E}"/>
              </a:ext>
            </a:extLst>
          </p:cNvPr>
          <p:cNvPicPr>
            <a:picLocks noChangeAspect="1"/>
          </p:cNvPicPr>
          <p:nvPr/>
        </p:nvPicPr>
        <p:blipFill>
          <a:blip r:embed="rId7">
            <a:grayscl/>
            <a:extLst>
              <a:ext uri="{96DAC541-7B7A-43D3-8B79-37D633B846F1}">
                <asvg:svgBlip xmlns:asvg="http://schemas.microsoft.com/office/drawing/2016/SVG/main" r:embed="rId8"/>
              </a:ext>
            </a:extLst>
          </a:blip>
          <a:srcRect l="25148" t="16203" r="25948" b="16205"/>
          <a:stretch/>
        </p:blipFill>
        <p:spPr>
          <a:xfrm rot="16200000">
            <a:off x="1042395" y="5874413"/>
            <a:ext cx="599552" cy="828660"/>
          </a:xfrm>
          <a:prstGeom prst="rect">
            <a:avLst/>
          </a:prstGeom>
        </p:spPr>
      </p:pic>
      <p:cxnSp>
        <p:nvCxnSpPr>
          <p:cNvPr id="372" name="Straight Arrow Connector 52" descr="Double pointing horizontal arrow.">
            <a:extLst>
              <a:ext uri="{FF2B5EF4-FFF2-40B4-BE49-F238E27FC236}">
                <a16:creationId xmlns:a16="http://schemas.microsoft.com/office/drawing/2014/main" id="{38A352E3-E67B-00E6-3E81-AB9F92E22DC2}"/>
              </a:ext>
            </a:extLst>
          </p:cNvPr>
          <p:cNvCxnSpPr>
            <a:cxnSpLocks/>
            <a:stCxn id="286" idx="1"/>
            <a:endCxn id="307" idx="2"/>
          </p:cNvCxnSpPr>
          <p:nvPr/>
        </p:nvCxnSpPr>
        <p:spPr>
          <a:xfrm flipH="1">
            <a:off x="1756501" y="6288743"/>
            <a:ext cx="294775" cy="0"/>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pic>
        <p:nvPicPr>
          <p:cNvPr id="3" name="Picture 2" descr="Raspberry icon - Free download on Iconfinder">
            <a:extLst>
              <a:ext uri="{FF2B5EF4-FFF2-40B4-BE49-F238E27FC236}">
                <a16:creationId xmlns:a16="http://schemas.microsoft.com/office/drawing/2014/main" id="{3D56B4FF-515E-0150-27FD-49C9F034DCC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44769" y="4471085"/>
            <a:ext cx="544810" cy="544810"/>
          </a:xfrm>
          <a:prstGeom prst="rect">
            <a:avLst/>
          </a:prstGeom>
          <a:noFill/>
          <a:extLst>
            <a:ext uri="{909E8E84-426E-40DD-AFC4-6F175D3DCCD1}">
              <a14:hiddenFill xmlns:a14="http://schemas.microsoft.com/office/drawing/2010/main">
                <a:solidFill>
                  <a:srgbClr val="FFFFFF"/>
                </a:solidFill>
              </a14:hiddenFill>
            </a:ext>
          </a:extLst>
        </p:spPr>
      </p:pic>
      <p:grpSp>
        <p:nvGrpSpPr>
          <p:cNvPr id="9" name="グループ化 8">
            <a:extLst>
              <a:ext uri="{FF2B5EF4-FFF2-40B4-BE49-F238E27FC236}">
                <a16:creationId xmlns:a16="http://schemas.microsoft.com/office/drawing/2014/main" id="{CEA57A15-DCB2-14FE-94B1-C8D5AF0E7CBA}"/>
              </a:ext>
            </a:extLst>
          </p:cNvPr>
          <p:cNvGrpSpPr/>
          <p:nvPr/>
        </p:nvGrpSpPr>
        <p:grpSpPr>
          <a:xfrm>
            <a:off x="3305887" y="1301487"/>
            <a:ext cx="5430653" cy="5453716"/>
            <a:chOff x="3305887" y="1301487"/>
            <a:chExt cx="5430653" cy="5453716"/>
          </a:xfrm>
        </p:grpSpPr>
        <p:sp>
          <p:nvSpPr>
            <p:cNvPr id="6" name="正方形/長方形 5">
              <a:extLst>
                <a:ext uri="{FF2B5EF4-FFF2-40B4-BE49-F238E27FC236}">
                  <a16:creationId xmlns:a16="http://schemas.microsoft.com/office/drawing/2014/main" id="{2929CE4C-794F-1533-2E74-F9851B726D2C}"/>
                </a:ext>
              </a:extLst>
            </p:cNvPr>
            <p:cNvSpPr/>
            <p:nvPr/>
          </p:nvSpPr>
          <p:spPr>
            <a:xfrm>
              <a:off x="3469616" y="1648657"/>
              <a:ext cx="5173870" cy="5106546"/>
            </a:xfrm>
            <a:prstGeom prst="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0000" rIns="0" bIns="0" rtlCol="0" anchor="ctr"/>
            <a:lstStyle/>
            <a:p>
              <a:r>
                <a:rPr lang="en-US" altLang="ja-JP" sz="1400" dirty="0"/>
                <a:t>.</a:t>
              </a:r>
            </a:p>
            <a:p>
              <a:r>
                <a:rPr lang="en-US" altLang="ja-JP" sz="1400" dirty="0"/>
                <a:t>├── .env</a:t>
              </a:r>
            </a:p>
            <a:p>
              <a:r>
                <a:rPr lang="en-US" altLang="ja-JP" sz="1400" dirty="0"/>
                <a:t>│</a:t>
              </a:r>
            </a:p>
            <a:p>
              <a:r>
                <a:rPr lang="en-US" altLang="ja-JP" sz="1400" dirty="0"/>
                <a:t>├── app</a:t>
              </a:r>
            </a:p>
            <a:p>
              <a:r>
                <a:rPr lang="en-US" altLang="ja-JP" sz="1400" dirty="0"/>
                <a:t>│   ├── …</a:t>
              </a:r>
            </a:p>
            <a:p>
              <a:r>
                <a:rPr lang="en-US" altLang="ja-JP" sz="1400" dirty="0"/>
                <a:t>│</a:t>
              </a:r>
            </a:p>
            <a:p>
              <a:r>
                <a:rPr lang="en-US" altLang="ja-JP" sz="1400" dirty="0"/>
                <a:t>├── data</a:t>
              </a:r>
            </a:p>
            <a:p>
              <a:r>
                <a:rPr lang="en-US" altLang="ja-JP" sz="1400" dirty="0"/>
                <a:t>│   ├── …</a:t>
              </a:r>
            </a:p>
            <a:p>
              <a:r>
                <a:rPr lang="ja-JP" altLang="en-US" sz="1400" dirty="0"/>
                <a:t>｜</a:t>
              </a:r>
              <a:endParaRPr lang="en-US" altLang="ja-JP" sz="1400" dirty="0"/>
            </a:p>
            <a:p>
              <a:r>
                <a:rPr lang="en-US" altLang="ja-JP" sz="1400" dirty="0"/>
                <a:t>├── logs</a:t>
              </a:r>
            </a:p>
            <a:p>
              <a:r>
                <a:rPr lang="en-US" altLang="ja-JP" sz="1400" dirty="0"/>
                <a:t>│   └── *.log</a:t>
              </a:r>
            </a:p>
            <a:p>
              <a:r>
                <a:rPr lang="en-US" altLang="ja-JP" sz="1400" dirty="0"/>
                <a:t>│</a:t>
              </a:r>
            </a:p>
            <a:p>
              <a:r>
                <a:rPr lang="en-US" altLang="ja-JP" sz="1400" dirty="0"/>
                <a:t>├── shared</a:t>
              </a:r>
            </a:p>
            <a:p>
              <a:r>
                <a:rPr lang="en-US" altLang="ja-JP" sz="1400" dirty="0"/>
                <a:t>│   ├── …</a:t>
              </a:r>
            </a:p>
            <a:p>
              <a:r>
                <a:rPr lang="ja-JP" altLang="en-US" sz="1400" dirty="0"/>
                <a:t>｜</a:t>
              </a:r>
              <a:endParaRPr lang="en-US" altLang="ja-JP" sz="1400" dirty="0"/>
            </a:p>
            <a:p>
              <a:r>
                <a:rPr lang="en-US" altLang="ja-JP" sz="1400" dirty="0"/>
                <a:t>├── web</a:t>
              </a:r>
            </a:p>
            <a:p>
              <a:r>
                <a:rPr lang="en-US" altLang="ja-JP" sz="1400" dirty="0"/>
                <a:t>│   └── frontend</a:t>
              </a:r>
            </a:p>
            <a:p>
              <a:r>
                <a:rPr lang="en-US" altLang="ja-JP" sz="1400" dirty="0"/>
                <a:t>│       </a:t>
              </a:r>
              <a:r>
                <a:rPr lang="ja-JP" altLang="en-US" sz="1400" dirty="0"/>
                <a:t>  </a:t>
              </a:r>
              <a:r>
                <a:rPr lang="en-US" altLang="ja-JP" sz="1400" dirty="0"/>
                <a:t>├── .env</a:t>
              </a:r>
            </a:p>
            <a:p>
              <a:r>
                <a:rPr lang="en-US" altLang="ja-JP" sz="1400" dirty="0"/>
                <a:t>│         └── …</a:t>
              </a:r>
            </a:p>
            <a:p>
              <a:r>
                <a:rPr lang="en-US" altLang="ja-JP" sz="1400" dirty="0"/>
                <a:t>│</a:t>
              </a:r>
              <a:endParaRPr lang="en-US" altLang="ja-JP" sz="1400" b="1" dirty="0"/>
            </a:p>
            <a:p>
              <a:r>
                <a:rPr lang="en-US" altLang="ja-JP" sz="1400" dirty="0"/>
                <a:t>└── worker</a:t>
              </a:r>
            </a:p>
            <a:p>
              <a:r>
                <a:rPr lang="en-US" altLang="ja-JP" sz="1400" dirty="0"/>
                <a:t>    ├── …</a:t>
              </a:r>
            </a:p>
            <a:p>
              <a:pPr algn="ctr"/>
              <a:endParaRPr kumimoji="1" lang="ja-JP" altLang="en-US" sz="1400" dirty="0"/>
            </a:p>
          </p:txBody>
        </p:sp>
        <p:sp>
          <p:nvSpPr>
            <p:cNvPr id="8" name="テキスト ボックス 7">
              <a:extLst>
                <a:ext uri="{FF2B5EF4-FFF2-40B4-BE49-F238E27FC236}">
                  <a16:creationId xmlns:a16="http://schemas.microsoft.com/office/drawing/2014/main" id="{771DADE1-099F-FE58-0853-CB1C8575E777}"/>
                </a:ext>
              </a:extLst>
            </p:cNvPr>
            <p:cNvSpPr txBox="1"/>
            <p:nvPr/>
          </p:nvSpPr>
          <p:spPr>
            <a:xfrm>
              <a:off x="3305887" y="1301487"/>
              <a:ext cx="5430653" cy="338554"/>
            </a:xfrm>
            <a:prstGeom prst="rect">
              <a:avLst/>
            </a:prstGeom>
            <a:noFill/>
          </p:spPr>
          <p:txBody>
            <a:bodyPr wrap="square" rtlCol="0">
              <a:spAutoFit/>
            </a:bodyPr>
            <a:lstStyle/>
            <a:p>
              <a:pPr algn="ctr"/>
              <a:r>
                <a:rPr kumimoji="1" lang="ja-JP" altLang="en-US" sz="1600" dirty="0"/>
                <a:t>現行の制御デバイス</a:t>
              </a:r>
              <a:r>
                <a:rPr kumimoji="1" lang="en-US" altLang="ja-JP" sz="1600" dirty="0"/>
                <a:t>(172.16.15.8</a:t>
              </a:r>
              <a:r>
                <a:rPr lang="en-US" altLang="ja-JP" sz="1600" dirty="0"/>
                <a:t>)</a:t>
              </a:r>
              <a:r>
                <a:rPr lang="ja-JP" altLang="en-US" sz="1600" dirty="0"/>
                <a:t>のディレクトリ構成</a:t>
              </a:r>
              <a:endParaRPr kumimoji="1" lang="ja-JP" altLang="en-US" sz="1600" dirty="0"/>
            </a:p>
          </p:txBody>
        </p:sp>
      </p:grpSp>
      <p:sp>
        <p:nvSpPr>
          <p:cNvPr id="10" name="正方形/長方形 9">
            <a:extLst>
              <a:ext uri="{FF2B5EF4-FFF2-40B4-BE49-F238E27FC236}">
                <a16:creationId xmlns:a16="http://schemas.microsoft.com/office/drawing/2014/main" id="{91B9A820-497F-7C04-9606-FCBF46F02955}"/>
              </a:ext>
            </a:extLst>
          </p:cNvPr>
          <p:cNvSpPr/>
          <p:nvPr/>
        </p:nvSpPr>
        <p:spPr>
          <a:xfrm>
            <a:off x="3817249" y="2333486"/>
            <a:ext cx="1559081" cy="565110"/>
          </a:xfrm>
          <a:prstGeom prst="rect">
            <a:avLst/>
          </a:prstGeom>
          <a:solidFill>
            <a:schemeClr val="accent6">
              <a:lumMod val="20000"/>
              <a:lumOff val="80000"/>
              <a:alpha val="50196"/>
            </a:schemeClr>
          </a:solid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9B2D2389-C62F-20C1-7695-95799958737F}"/>
              </a:ext>
            </a:extLst>
          </p:cNvPr>
          <p:cNvSpPr/>
          <p:nvPr/>
        </p:nvSpPr>
        <p:spPr>
          <a:xfrm>
            <a:off x="3817249" y="2980670"/>
            <a:ext cx="1559081" cy="565111"/>
          </a:xfrm>
          <a:prstGeom prst="rect">
            <a:avLst/>
          </a:prstGeom>
          <a:solidFill>
            <a:schemeClr val="accent4">
              <a:lumMod val="20000"/>
              <a:lumOff val="80000"/>
              <a:alpha val="50196"/>
            </a:schemeClr>
          </a:solid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7E2680C4-7171-8D8B-00FC-C82A3E41DC94}"/>
              </a:ext>
            </a:extLst>
          </p:cNvPr>
          <p:cNvSpPr/>
          <p:nvPr/>
        </p:nvSpPr>
        <p:spPr>
          <a:xfrm>
            <a:off x="3817249" y="3627855"/>
            <a:ext cx="1559081" cy="565111"/>
          </a:xfrm>
          <a:prstGeom prst="rect">
            <a:avLst/>
          </a:prstGeom>
          <a:solidFill>
            <a:schemeClr val="accent5">
              <a:lumMod val="20000"/>
              <a:lumOff val="80000"/>
              <a:alpha val="50196"/>
            </a:schemeClr>
          </a:solidFill>
          <a:ln w="190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01EFF260-F479-A02C-2A2C-EABB6A13DB75}"/>
              </a:ext>
            </a:extLst>
          </p:cNvPr>
          <p:cNvSpPr/>
          <p:nvPr/>
        </p:nvSpPr>
        <p:spPr>
          <a:xfrm>
            <a:off x="3817250" y="4275040"/>
            <a:ext cx="1559082" cy="565111"/>
          </a:xfrm>
          <a:prstGeom prst="rect">
            <a:avLst/>
          </a:prstGeom>
          <a:solidFill>
            <a:srgbClr val="F9D4FE">
              <a:alpha val="49804"/>
            </a:srgbClr>
          </a:solidFill>
          <a:ln w="190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75EEEAC2-AA6A-9C6E-295A-97438FF51BF9}"/>
              </a:ext>
            </a:extLst>
          </p:cNvPr>
          <p:cNvSpPr/>
          <p:nvPr/>
        </p:nvSpPr>
        <p:spPr>
          <a:xfrm>
            <a:off x="3817249" y="4926787"/>
            <a:ext cx="1559083" cy="944846"/>
          </a:xfrm>
          <a:prstGeom prst="rect">
            <a:avLst/>
          </a:prstGeom>
          <a:solidFill>
            <a:schemeClr val="accent1">
              <a:lumMod val="20000"/>
              <a:lumOff val="80000"/>
              <a:alpha val="49804"/>
            </a:schemeClr>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a:extLst>
              <a:ext uri="{FF2B5EF4-FFF2-40B4-BE49-F238E27FC236}">
                <a16:creationId xmlns:a16="http://schemas.microsoft.com/office/drawing/2014/main" id="{C82416C3-D80C-2944-13D5-992A526BD052}"/>
              </a:ext>
            </a:extLst>
          </p:cNvPr>
          <p:cNvSpPr/>
          <p:nvPr/>
        </p:nvSpPr>
        <p:spPr>
          <a:xfrm>
            <a:off x="3817249" y="5959525"/>
            <a:ext cx="1559083" cy="565111"/>
          </a:xfrm>
          <a:prstGeom prst="rect">
            <a:avLst/>
          </a:prstGeom>
          <a:solidFill>
            <a:schemeClr val="tx2">
              <a:lumMod val="90000"/>
              <a:alpha val="49804"/>
            </a:schemeClr>
          </a:solidFill>
          <a:ln w="19050">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ボックス 15">
            <a:extLst>
              <a:ext uri="{FF2B5EF4-FFF2-40B4-BE49-F238E27FC236}">
                <a16:creationId xmlns:a16="http://schemas.microsoft.com/office/drawing/2014/main" id="{656DFBE3-19E7-7C69-76BF-00160F433FCB}"/>
              </a:ext>
            </a:extLst>
          </p:cNvPr>
          <p:cNvSpPr txBox="1"/>
          <p:nvPr/>
        </p:nvSpPr>
        <p:spPr>
          <a:xfrm>
            <a:off x="5843374" y="2462152"/>
            <a:ext cx="2614826" cy="307777"/>
          </a:xfrm>
          <a:prstGeom prst="rect">
            <a:avLst/>
          </a:prstGeom>
          <a:noFill/>
        </p:spPr>
        <p:txBody>
          <a:bodyPr wrap="square" rtlCol="0">
            <a:spAutoFit/>
          </a:bodyPr>
          <a:lstStyle/>
          <a:p>
            <a:r>
              <a:rPr kumimoji="1" lang="en-US" altLang="ja-JP" sz="1400" dirty="0" err="1"/>
              <a:t>FastAPI</a:t>
            </a:r>
            <a:r>
              <a:rPr lang="ja-JP" altLang="en-US" sz="1400" dirty="0"/>
              <a:t>関連</a:t>
            </a:r>
            <a:endParaRPr kumimoji="1" lang="ja-JP" altLang="en-US" sz="1400" dirty="0"/>
          </a:p>
        </p:txBody>
      </p:sp>
      <p:pic>
        <p:nvPicPr>
          <p:cNvPr id="18" name="グラフィックス 17">
            <a:extLst>
              <a:ext uri="{FF2B5EF4-FFF2-40B4-BE49-F238E27FC236}">
                <a16:creationId xmlns:a16="http://schemas.microsoft.com/office/drawing/2014/main" id="{4948CE7F-FDEE-2F23-A5A2-3945847BBF8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470877" y="2429791"/>
            <a:ext cx="372497" cy="372497"/>
          </a:xfrm>
          <a:prstGeom prst="rect">
            <a:avLst/>
          </a:prstGeom>
        </p:spPr>
      </p:pic>
      <p:pic>
        <p:nvPicPr>
          <p:cNvPr id="1026" name="Picture 2" descr="SQLite】10分で分かる SQLiteとは？ | レンサバ">
            <a:extLst>
              <a:ext uri="{FF2B5EF4-FFF2-40B4-BE49-F238E27FC236}">
                <a16:creationId xmlns:a16="http://schemas.microsoft.com/office/drawing/2014/main" id="{46A94B95-1E29-4758-91A3-9E0434F00DF0}"/>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13878" r="14269"/>
          <a:stretch/>
        </p:blipFill>
        <p:spPr bwMode="auto">
          <a:xfrm>
            <a:off x="5475632" y="3073434"/>
            <a:ext cx="367742" cy="372497"/>
          </a:xfrm>
          <a:prstGeom prst="rect">
            <a:avLst/>
          </a:prstGeom>
          <a:noFill/>
          <a:extLst>
            <a:ext uri="{909E8E84-426E-40DD-AFC4-6F175D3DCCD1}">
              <a14:hiddenFill xmlns:a14="http://schemas.microsoft.com/office/drawing/2010/main">
                <a:solidFill>
                  <a:srgbClr val="FFFFFF"/>
                </a:solidFill>
              </a14:hiddenFill>
            </a:ext>
          </a:extLst>
        </p:spPr>
      </p:pic>
      <p:sp>
        <p:nvSpPr>
          <p:cNvPr id="20" name="テキスト ボックス 19">
            <a:extLst>
              <a:ext uri="{FF2B5EF4-FFF2-40B4-BE49-F238E27FC236}">
                <a16:creationId xmlns:a16="http://schemas.microsoft.com/office/drawing/2014/main" id="{99C24449-CD58-8C8C-8F3A-D9D87242BC36}"/>
              </a:ext>
            </a:extLst>
          </p:cNvPr>
          <p:cNvSpPr txBox="1"/>
          <p:nvPr/>
        </p:nvSpPr>
        <p:spPr>
          <a:xfrm>
            <a:off x="5843374" y="3125295"/>
            <a:ext cx="2614826" cy="307777"/>
          </a:xfrm>
          <a:prstGeom prst="rect">
            <a:avLst/>
          </a:prstGeom>
          <a:noFill/>
        </p:spPr>
        <p:txBody>
          <a:bodyPr wrap="square" rtlCol="0">
            <a:spAutoFit/>
          </a:bodyPr>
          <a:lstStyle/>
          <a:p>
            <a:r>
              <a:rPr lang="en-US" altLang="ja-JP" sz="1400" dirty="0"/>
              <a:t>Database</a:t>
            </a:r>
            <a:r>
              <a:rPr lang="ja-JP" altLang="en-US" sz="1400" dirty="0"/>
              <a:t>関連</a:t>
            </a:r>
            <a:endParaRPr kumimoji="1" lang="ja-JP" altLang="en-US" sz="1400" dirty="0"/>
          </a:p>
        </p:txBody>
      </p:sp>
      <p:sp>
        <p:nvSpPr>
          <p:cNvPr id="21" name="テキスト ボックス 20">
            <a:extLst>
              <a:ext uri="{FF2B5EF4-FFF2-40B4-BE49-F238E27FC236}">
                <a16:creationId xmlns:a16="http://schemas.microsoft.com/office/drawing/2014/main" id="{E58D2915-81E4-F243-8C6A-FE04971294CE}"/>
              </a:ext>
            </a:extLst>
          </p:cNvPr>
          <p:cNvSpPr txBox="1"/>
          <p:nvPr/>
        </p:nvSpPr>
        <p:spPr>
          <a:xfrm>
            <a:off x="5470877" y="3779218"/>
            <a:ext cx="2614826" cy="307777"/>
          </a:xfrm>
          <a:prstGeom prst="rect">
            <a:avLst/>
          </a:prstGeom>
          <a:noFill/>
        </p:spPr>
        <p:txBody>
          <a:bodyPr wrap="square" rtlCol="0">
            <a:spAutoFit/>
          </a:bodyPr>
          <a:lstStyle/>
          <a:p>
            <a:r>
              <a:rPr lang="ja-JP" altLang="en-US" sz="1400" dirty="0"/>
              <a:t>実行ログ関連</a:t>
            </a:r>
            <a:endParaRPr kumimoji="1" lang="ja-JP" altLang="en-US" sz="1400" dirty="0"/>
          </a:p>
        </p:txBody>
      </p:sp>
      <p:pic>
        <p:nvPicPr>
          <p:cNvPr id="23" name="図 22" descr="アイコン&#10;&#10;AI によって生成されたコンテンツは間違っている可能性があります。">
            <a:extLst>
              <a:ext uri="{FF2B5EF4-FFF2-40B4-BE49-F238E27FC236}">
                <a16:creationId xmlns:a16="http://schemas.microsoft.com/office/drawing/2014/main" id="{A418D63F-6128-D027-26B0-5A3A518DC1DA}"/>
              </a:ext>
            </a:extLst>
          </p:cNvPr>
          <p:cNvPicPr>
            <a:picLocks noChangeAspect="1"/>
          </p:cNvPicPr>
          <p:nvPr/>
        </p:nvPicPr>
        <p:blipFill>
          <a:blip r:embed="rId4">
            <a:extLst>
              <a:ext uri="{28A0092B-C50C-407E-A947-70E740481C1C}">
                <a14:useLocalDpi xmlns:a14="http://schemas.microsoft.com/office/drawing/2010/main" val="0"/>
              </a:ext>
            </a:extLst>
          </a:blip>
          <a:srcRect l="10553" t="5709" r="9769" b="4466"/>
          <a:stretch/>
        </p:blipFill>
        <p:spPr>
          <a:xfrm>
            <a:off x="5480878" y="5201191"/>
            <a:ext cx="357774" cy="403333"/>
          </a:xfrm>
          <a:prstGeom prst="rect">
            <a:avLst/>
          </a:prstGeom>
        </p:spPr>
      </p:pic>
      <p:sp>
        <p:nvSpPr>
          <p:cNvPr id="25" name="テキスト ボックス 24">
            <a:extLst>
              <a:ext uri="{FF2B5EF4-FFF2-40B4-BE49-F238E27FC236}">
                <a16:creationId xmlns:a16="http://schemas.microsoft.com/office/drawing/2014/main" id="{B399D16C-4F03-6D35-DF2B-11F9F83B480B}"/>
              </a:ext>
            </a:extLst>
          </p:cNvPr>
          <p:cNvSpPr txBox="1"/>
          <p:nvPr/>
        </p:nvSpPr>
        <p:spPr>
          <a:xfrm>
            <a:off x="5838652" y="5248736"/>
            <a:ext cx="2614826" cy="307777"/>
          </a:xfrm>
          <a:prstGeom prst="rect">
            <a:avLst/>
          </a:prstGeom>
          <a:noFill/>
        </p:spPr>
        <p:txBody>
          <a:bodyPr wrap="square" rtlCol="0">
            <a:spAutoFit/>
          </a:bodyPr>
          <a:lstStyle/>
          <a:p>
            <a:r>
              <a:rPr lang="en-US" altLang="ja-JP" sz="1400" dirty="0"/>
              <a:t>React</a:t>
            </a:r>
            <a:r>
              <a:rPr lang="ja-JP" altLang="en-US" sz="1400" dirty="0"/>
              <a:t>関連</a:t>
            </a:r>
            <a:endParaRPr kumimoji="1" lang="ja-JP" altLang="en-US" sz="1400" dirty="0"/>
          </a:p>
        </p:txBody>
      </p:sp>
      <p:sp>
        <p:nvSpPr>
          <p:cNvPr id="26" name="テキスト ボックス 25">
            <a:extLst>
              <a:ext uri="{FF2B5EF4-FFF2-40B4-BE49-F238E27FC236}">
                <a16:creationId xmlns:a16="http://schemas.microsoft.com/office/drawing/2014/main" id="{3DE9B8EC-E3B8-F260-30C0-791203111BB9}"/>
              </a:ext>
            </a:extLst>
          </p:cNvPr>
          <p:cNvSpPr txBox="1"/>
          <p:nvPr/>
        </p:nvSpPr>
        <p:spPr>
          <a:xfrm>
            <a:off x="5451820" y="4403706"/>
            <a:ext cx="2999019" cy="307777"/>
          </a:xfrm>
          <a:prstGeom prst="rect">
            <a:avLst/>
          </a:prstGeom>
          <a:noFill/>
        </p:spPr>
        <p:txBody>
          <a:bodyPr wrap="square" rtlCol="0">
            <a:spAutoFit/>
          </a:bodyPr>
          <a:lstStyle/>
          <a:p>
            <a:r>
              <a:rPr lang="en-US" altLang="ja-JP" sz="1400" dirty="0"/>
              <a:t>worker</a:t>
            </a:r>
            <a:r>
              <a:rPr lang="ja-JP" altLang="en-US" sz="1400" dirty="0"/>
              <a:t>と</a:t>
            </a:r>
            <a:r>
              <a:rPr lang="en-US" altLang="ja-JP" sz="1400" dirty="0"/>
              <a:t>app</a:t>
            </a:r>
            <a:r>
              <a:rPr lang="ja-JP" altLang="en-US" sz="1400" dirty="0"/>
              <a:t>の共通参照ファイル</a:t>
            </a:r>
            <a:endParaRPr kumimoji="1" lang="ja-JP" altLang="en-US" sz="1400" dirty="0"/>
          </a:p>
        </p:txBody>
      </p:sp>
      <p:sp>
        <p:nvSpPr>
          <p:cNvPr id="27" name="テキスト ボックス 26">
            <a:extLst>
              <a:ext uri="{FF2B5EF4-FFF2-40B4-BE49-F238E27FC236}">
                <a16:creationId xmlns:a16="http://schemas.microsoft.com/office/drawing/2014/main" id="{A543E491-E314-609D-332A-2EFBB8889409}"/>
              </a:ext>
            </a:extLst>
          </p:cNvPr>
          <p:cNvSpPr txBox="1"/>
          <p:nvPr/>
        </p:nvSpPr>
        <p:spPr>
          <a:xfrm>
            <a:off x="5451819" y="6093766"/>
            <a:ext cx="2999019" cy="307777"/>
          </a:xfrm>
          <a:prstGeom prst="rect">
            <a:avLst/>
          </a:prstGeom>
          <a:noFill/>
        </p:spPr>
        <p:txBody>
          <a:bodyPr wrap="square" rtlCol="0">
            <a:spAutoFit/>
          </a:bodyPr>
          <a:lstStyle/>
          <a:p>
            <a:r>
              <a:rPr lang="ja-JP" altLang="en-US" sz="1400" dirty="0"/>
              <a:t>タスク</a:t>
            </a:r>
            <a:r>
              <a:rPr kumimoji="1" lang="ja-JP" altLang="en-US" sz="1400" dirty="0"/>
              <a:t>処理関連</a:t>
            </a:r>
          </a:p>
        </p:txBody>
      </p:sp>
    </p:spTree>
    <p:extLst>
      <p:ext uri="{BB962C8B-B14F-4D97-AF65-F5344CB8AC3E}">
        <p14:creationId xmlns:p14="http://schemas.microsoft.com/office/powerpoint/2010/main" val="34071267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7B9F29-A038-A766-1170-F475CD64DA6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4BFB016-3137-9F7B-C6FD-2241E70BFB28}"/>
              </a:ext>
            </a:extLst>
          </p:cNvPr>
          <p:cNvSpPr>
            <a:spLocks noGrp="1"/>
          </p:cNvSpPr>
          <p:nvPr>
            <p:ph type="title"/>
          </p:nvPr>
        </p:nvSpPr>
        <p:spPr/>
        <p:txBody>
          <a:bodyPr/>
          <a:lstStyle/>
          <a:p>
            <a:r>
              <a:rPr kumimoji="1" lang="ja-JP" altLang="en-US" dirty="0"/>
              <a:t>在室確認システム</a:t>
            </a:r>
            <a:r>
              <a:rPr lang="ja-JP" altLang="en-US" dirty="0"/>
              <a:t> </a:t>
            </a:r>
            <a:r>
              <a:rPr lang="en-US" altLang="ja-JP" dirty="0"/>
              <a:t>– </a:t>
            </a:r>
            <a:r>
              <a:rPr lang="ja-JP" altLang="en-US" dirty="0"/>
              <a:t>制御デバイス</a:t>
            </a:r>
            <a:endParaRPr kumimoji="1" lang="ja-JP" altLang="en-US" dirty="0"/>
          </a:p>
        </p:txBody>
      </p:sp>
      <p:sp>
        <p:nvSpPr>
          <p:cNvPr id="289" name="TextBox 12">
            <a:extLst>
              <a:ext uri="{FF2B5EF4-FFF2-40B4-BE49-F238E27FC236}">
                <a16:creationId xmlns:a16="http://schemas.microsoft.com/office/drawing/2014/main" id="{FCB8E771-DA10-C224-3C90-494B1AB0FDA1}"/>
              </a:ext>
            </a:extLst>
          </p:cNvPr>
          <p:cNvSpPr txBox="1">
            <a:spLocks noChangeArrowheads="1"/>
          </p:cNvSpPr>
          <p:nvPr/>
        </p:nvSpPr>
        <p:spPr bwMode="auto">
          <a:xfrm>
            <a:off x="1707208" y="5001976"/>
            <a:ext cx="16050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Raspberry Pi 4B</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(172.16.15.8)</a:t>
            </a:r>
          </a:p>
        </p:txBody>
      </p:sp>
      <p:sp>
        <p:nvSpPr>
          <p:cNvPr id="236" name="テキスト ボックス 235">
            <a:extLst>
              <a:ext uri="{FF2B5EF4-FFF2-40B4-BE49-F238E27FC236}">
                <a16:creationId xmlns:a16="http://schemas.microsoft.com/office/drawing/2014/main" id="{421DF8CF-AC87-FAB0-1753-3E79F4BF0875}"/>
              </a:ext>
            </a:extLst>
          </p:cNvPr>
          <p:cNvSpPr txBox="1"/>
          <p:nvPr/>
        </p:nvSpPr>
        <p:spPr>
          <a:xfrm>
            <a:off x="1077353" y="4303759"/>
            <a:ext cx="1162293" cy="276999"/>
          </a:xfrm>
          <a:prstGeom prst="rect">
            <a:avLst/>
          </a:prstGeom>
          <a:noFill/>
        </p:spPr>
        <p:txBody>
          <a:bodyPr wrap="square">
            <a:spAutoFit/>
          </a:body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RC-S380 S</a:t>
            </a:r>
          </a:p>
        </p:txBody>
      </p:sp>
      <p:pic>
        <p:nvPicPr>
          <p:cNvPr id="237" name="図 236" descr="黒い背景と白い文字のロゴ&#10;&#10;AI によって生成されたコンテンツは間違っている可能性があります。">
            <a:extLst>
              <a:ext uri="{FF2B5EF4-FFF2-40B4-BE49-F238E27FC236}">
                <a16:creationId xmlns:a16="http://schemas.microsoft.com/office/drawing/2014/main" id="{58BD70CE-B0A5-5047-8CC9-410048B8DC5C}"/>
              </a:ext>
            </a:extLst>
          </p:cNvPr>
          <p:cNvPicPr>
            <a:picLocks noChangeAspect="1"/>
          </p:cNvPicPr>
          <p:nvPr/>
        </p:nvPicPr>
        <p:blipFill>
          <a:blip r:embed="rId3">
            <a:biLevel thresh="50000"/>
            <a:extLst>
              <a:ext uri="{28A0092B-C50C-407E-A947-70E740481C1C}">
                <a14:useLocalDpi xmlns:a14="http://schemas.microsoft.com/office/drawing/2010/main" val="0"/>
              </a:ext>
            </a:extLst>
          </a:blip>
          <a:srcRect t="19474" b="18132"/>
          <a:stretch/>
        </p:blipFill>
        <p:spPr>
          <a:xfrm flipH="1">
            <a:off x="693160" y="4508703"/>
            <a:ext cx="1605014" cy="751622"/>
          </a:xfrm>
          <a:prstGeom prst="rect">
            <a:avLst/>
          </a:prstGeom>
        </p:spPr>
      </p:pic>
      <p:grpSp>
        <p:nvGrpSpPr>
          <p:cNvPr id="241" name="グループ化 240">
            <a:extLst>
              <a:ext uri="{FF2B5EF4-FFF2-40B4-BE49-F238E27FC236}">
                <a16:creationId xmlns:a16="http://schemas.microsoft.com/office/drawing/2014/main" id="{B7356DEA-A3C1-467D-75EC-599C4F894B5F}"/>
              </a:ext>
            </a:extLst>
          </p:cNvPr>
          <p:cNvGrpSpPr/>
          <p:nvPr/>
        </p:nvGrpSpPr>
        <p:grpSpPr>
          <a:xfrm>
            <a:off x="2051276" y="6087076"/>
            <a:ext cx="924337" cy="403333"/>
            <a:chOff x="2262291" y="5685876"/>
            <a:chExt cx="924337" cy="403333"/>
          </a:xfrm>
        </p:grpSpPr>
        <p:pic>
          <p:nvPicPr>
            <p:cNvPr id="286" name="図 285" descr="アイコン&#10;&#10;AI によって生成されたコンテンツは間違っている可能性があります。">
              <a:extLst>
                <a:ext uri="{FF2B5EF4-FFF2-40B4-BE49-F238E27FC236}">
                  <a16:creationId xmlns:a16="http://schemas.microsoft.com/office/drawing/2014/main" id="{F81DD2D3-0ABB-9CEF-00D5-ED40A165D0DF}"/>
                </a:ext>
              </a:extLst>
            </p:cNvPr>
            <p:cNvPicPr>
              <a:picLocks noChangeAspect="1"/>
            </p:cNvPicPr>
            <p:nvPr/>
          </p:nvPicPr>
          <p:blipFill>
            <a:blip r:embed="rId4">
              <a:extLst>
                <a:ext uri="{28A0092B-C50C-407E-A947-70E740481C1C}">
                  <a14:useLocalDpi xmlns:a14="http://schemas.microsoft.com/office/drawing/2010/main" val="0"/>
                </a:ext>
              </a:extLst>
            </a:blip>
            <a:srcRect l="10553" t="5709" r="9769" b="4466"/>
            <a:stretch/>
          </p:blipFill>
          <p:spPr>
            <a:xfrm>
              <a:off x="2262291" y="5685876"/>
              <a:ext cx="357774" cy="403333"/>
            </a:xfrm>
            <a:prstGeom prst="rect">
              <a:avLst/>
            </a:prstGeom>
          </p:spPr>
        </p:pic>
        <p:sp>
          <p:nvSpPr>
            <p:cNvPr id="287" name="テキスト ボックス 286">
              <a:extLst>
                <a:ext uri="{FF2B5EF4-FFF2-40B4-BE49-F238E27FC236}">
                  <a16:creationId xmlns:a16="http://schemas.microsoft.com/office/drawing/2014/main" id="{13BCF48F-988B-CBC0-F874-40DDD3A6AEDC}"/>
                </a:ext>
              </a:extLst>
            </p:cNvPr>
            <p:cNvSpPr txBox="1"/>
            <p:nvPr/>
          </p:nvSpPr>
          <p:spPr>
            <a:xfrm>
              <a:off x="2557071" y="5749042"/>
              <a:ext cx="629557" cy="276999"/>
            </a:xfrm>
            <a:prstGeom prst="rect">
              <a:avLst/>
            </a:prstGeom>
            <a:noFill/>
          </p:spPr>
          <p:txBody>
            <a:bodyPr wrap="square">
              <a:spAutoFit/>
            </a:bodyPr>
            <a:lstStyle/>
            <a:p>
              <a:r>
                <a:rPr lang="en-US" altLang="ja-JP" sz="1200" dirty="0"/>
                <a:t>:3000</a:t>
              </a:r>
              <a:endParaRPr lang="ja-JP" altLang="en-US" sz="1200" dirty="0"/>
            </a:p>
          </p:txBody>
        </p:sp>
      </p:grpSp>
      <p:grpSp>
        <p:nvGrpSpPr>
          <p:cNvPr id="242" name="グループ化 241">
            <a:extLst>
              <a:ext uri="{FF2B5EF4-FFF2-40B4-BE49-F238E27FC236}">
                <a16:creationId xmlns:a16="http://schemas.microsoft.com/office/drawing/2014/main" id="{BC09224E-1BA5-9CB1-B10C-4AC89016A92E}"/>
              </a:ext>
            </a:extLst>
          </p:cNvPr>
          <p:cNvGrpSpPr/>
          <p:nvPr/>
        </p:nvGrpSpPr>
        <p:grpSpPr>
          <a:xfrm>
            <a:off x="2043915" y="5648135"/>
            <a:ext cx="931698" cy="372497"/>
            <a:chOff x="2254930" y="5246935"/>
            <a:chExt cx="931698" cy="372497"/>
          </a:xfrm>
        </p:grpSpPr>
        <p:pic>
          <p:nvPicPr>
            <p:cNvPr id="284" name="グラフィックス 283">
              <a:extLst>
                <a:ext uri="{FF2B5EF4-FFF2-40B4-BE49-F238E27FC236}">
                  <a16:creationId xmlns:a16="http://schemas.microsoft.com/office/drawing/2014/main" id="{5C262C7B-881C-9EA2-F9D0-8C944D3E9B2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254930" y="5246935"/>
              <a:ext cx="372497" cy="372497"/>
            </a:xfrm>
            <a:prstGeom prst="rect">
              <a:avLst/>
            </a:prstGeom>
          </p:spPr>
        </p:pic>
        <p:sp>
          <p:nvSpPr>
            <p:cNvPr id="285" name="テキスト ボックス 284">
              <a:extLst>
                <a:ext uri="{FF2B5EF4-FFF2-40B4-BE49-F238E27FC236}">
                  <a16:creationId xmlns:a16="http://schemas.microsoft.com/office/drawing/2014/main" id="{FD57F21C-6EF2-2B3C-737B-2A3D68267594}"/>
                </a:ext>
              </a:extLst>
            </p:cNvPr>
            <p:cNvSpPr txBox="1"/>
            <p:nvPr/>
          </p:nvSpPr>
          <p:spPr>
            <a:xfrm>
              <a:off x="2557071" y="5306333"/>
              <a:ext cx="629557" cy="276999"/>
            </a:xfrm>
            <a:prstGeom prst="rect">
              <a:avLst/>
            </a:prstGeom>
            <a:noFill/>
          </p:spPr>
          <p:txBody>
            <a:bodyPr wrap="square">
              <a:spAutoFit/>
            </a:bodyPr>
            <a:lstStyle/>
            <a:p>
              <a:r>
                <a:rPr lang="en-US" altLang="ja-JP" sz="1200" dirty="0"/>
                <a:t>:8000</a:t>
              </a:r>
              <a:endParaRPr lang="ja-JP" altLang="en-US" sz="1200" dirty="0"/>
            </a:p>
          </p:txBody>
        </p:sp>
      </p:grpSp>
      <p:sp>
        <p:nvSpPr>
          <p:cNvPr id="306" name="Rectangle 103" descr="Generic group dashed.">
            <a:extLst>
              <a:ext uri="{FF2B5EF4-FFF2-40B4-BE49-F238E27FC236}">
                <a16:creationId xmlns:a16="http://schemas.microsoft.com/office/drawing/2014/main" id="{D1CD0930-3929-04A6-1275-00E31510490A}"/>
              </a:ext>
            </a:extLst>
          </p:cNvPr>
          <p:cNvSpPr/>
          <p:nvPr/>
        </p:nvSpPr>
        <p:spPr>
          <a:xfrm>
            <a:off x="690522" y="3933107"/>
            <a:ext cx="2615365" cy="2822096"/>
          </a:xfrm>
          <a:prstGeom prst="rect">
            <a:avLst/>
          </a:prstGeom>
          <a:noFill/>
          <a:ln w="15875">
            <a:solidFill>
              <a:srgbClr val="7D8998"/>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a:defRPr/>
            </a:pPr>
            <a:r>
              <a:rPr lang="ja-JP" altLang="en-US" sz="1200" dirty="0">
                <a:solidFill>
                  <a:schemeClr val="tx1"/>
                </a:solidFill>
                <a:latin typeface="Arial" panose="020B0604020202020204" pitchFamily="34" charset="0"/>
                <a:cs typeface="Arial" panose="020B0604020202020204" pitchFamily="34" charset="0"/>
              </a:rPr>
              <a:t>学生部屋（</a:t>
            </a:r>
            <a:r>
              <a:rPr lang="en-US" altLang="ja-JP" sz="1200" dirty="0">
                <a:solidFill>
                  <a:schemeClr val="tx1"/>
                </a:solidFill>
                <a:latin typeface="Arial" panose="020B0604020202020204" pitchFamily="34" charset="0"/>
                <a:cs typeface="Arial" panose="020B0604020202020204" pitchFamily="34" charset="0"/>
              </a:rPr>
              <a:t>J1401</a:t>
            </a:r>
            <a:r>
              <a:rPr lang="ja-JP" altLang="en-US" sz="1200" dirty="0">
                <a:solidFill>
                  <a:schemeClr val="tx1"/>
                </a:solidFill>
                <a:latin typeface="Arial" panose="020B0604020202020204" pitchFamily="34" charset="0"/>
                <a:cs typeface="Arial" panose="020B0604020202020204" pitchFamily="34" charset="0"/>
              </a:rPr>
              <a:t>）</a:t>
            </a:r>
            <a:endParaRPr lang="en-US" sz="1200" dirty="0">
              <a:solidFill>
                <a:schemeClr val="tx1"/>
              </a:solidFill>
              <a:latin typeface="Arial" panose="020B0604020202020204" pitchFamily="34" charset="0"/>
              <a:cs typeface="Arial" panose="020B0604020202020204" pitchFamily="34" charset="0"/>
            </a:endParaRPr>
          </a:p>
        </p:txBody>
      </p:sp>
      <p:pic>
        <p:nvPicPr>
          <p:cNvPr id="307" name="グラフィックス 306">
            <a:extLst>
              <a:ext uri="{FF2B5EF4-FFF2-40B4-BE49-F238E27FC236}">
                <a16:creationId xmlns:a16="http://schemas.microsoft.com/office/drawing/2014/main" id="{FD39ED89-8D29-B725-0D15-97A9F96BFFC6}"/>
              </a:ext>
            </a:extLst>
          </p:cNvPr>
          <p:cNvPicPr>
            <a:picLocks noChangeAspect="1"/>
          </p:cNvPicPr>
          <p:nvPr/>
        </p:nvPicPr>
        <p:blipFill>
          <a:blip r:embed="rId7">
            <a:grayscl/>
            <a:extLst>
              <a:ext uri="{96DAC541-7B7A-43D3-8B79-37D633B846F1}">
                <asvg:svgBlip xmlns:asvg="http://schemas.microsoft.com/office/drawing/2016/SVG/main" r:embed="rId8"/>
              </a:ext>
            </a:extLst>
          </a:blip>
          <a:srcRect l="25148" t="16203" r="25948" b="16205"/>
          <a:stretch/>
        </p:blipFill>
        <p:spPr>
          <a:xfrm rot="16200000">
            <a:off x="1042395" y="5874413"/>
            <a:ext cx="599552" cy="828660"/>
          </a:xfrm>
          <a:prstGeom prst="rect">
            <a:avLst/>
          </a:prstGeom>
        </p:spPr>
      </p:pic>
      <p:cxnSp>
        <p:nvCxnSpPr>
          <p:cNvPr id="372" name="Straight Arrow Connector 52" descr="Double pointing horizontal arrow.">
            <a:extLst>
              <a:ext uri="{FF2B5EF4-FFF2-40B4-BE49-F238E27FC236}">
                <a16:creationId xmlns:a16="http://schemas.microsoft.com/office/drawing/2014/main" id="{9BB47E02-3CE2-ACE8-9525-16D63AF7D2D0}"/>
              </a:ext>
            </a:extLst>
          </p:cNvPr>
          <p:cNvCxnSpPr>
            <a:cxnSpLocks/>
            <a:stCxn id="286" idx="1"/>
            <a:endCxn id="307" idx="2"/>
          </p:cNvCxnSpPr>
          <p:nvPr/>
        </p:nvCxnSpPr>
        <p:spPr>
          <a:xfrm flipH="1">
            <a:off x="1756501" y="6288743"/>
            <a:ext cx="294775" cy="0"/>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pic>
        <p:nvPicPr>
          <p:cNvPr id="3" name="Picture 2" descr="Raspberry icon - Free download on Iconfinder">
            <a:extLst>
              <a:ext uri="{FF2B5EF4-FFF2-40B4-BE49-F238E27FC236}">
                <a16:creationId xmlns:a16="http://schemas.microsoft.com/office/drawing/2014/main" id="{338FA1BB-AD67-96D6-57FB-6514E4FB264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44769" y="4471085"/>
            <a:ext cx="544810" cy="544810"/>
          </a:xfrm>
          <a:prstGeom prst="rect">
            <a:avLst/>
          </a:prstGeom>
          <a:noFill/>
          <a:extLst>
            <a:ext uri="{909E8E84-426E-40DD-AFC4-6F175D3DCCD1}">
              <a14:hiddenFill xmlns:a14="http://schemas.microsoft.com/office/drawing/2010/main">
                <a:solidFill>
                  <a:srgbClr val="FFFFFF"/>
                </a:solidFill>
              </a14:hiddenFill>
            </a:ext>
          </a:extLst>
        </p:spPr>
      </p:pic>
      <p:grpSp>
        <p:nvGrpSpPr>
          <p:cNvPr id="9" name="グループ化 8">
            <a:extLst>
              <a:ext uri="{FF2B5EF4-FFF2-40B4-BE49-F238E27FC236}">
                <a16:creationId xmlns:a16="http://schemas.microsoft.com/office/drawing/2014/main" id="{ECC736F6-9737-4F87-A341-7B5CD02447B3}"/>
              </a:ext>
            </a:extLst>
          </p:cNvPr>
          <p:cNvGrpSpPr/>
          <p:nvPr/>
        </p:nvGrpSpPr>
        <p:grpSpPr>
          <a:xfrm>
            <a:off x="3305887" y="1301487"/>
            <a:ext cx="5430653" cy="5453716"/>
            <a:chOff x="3305887" y="1301487"/>
            <a:chExt cx="5430653" cy="5453716"/>
          </a:xfrm>
        </p:grpSpPr>
        <p:sp>
          <p:nvSpPr>
            <p:cNvPr id="6" name="正方形/長方形 5">
              <a:extLst>
                <a:ext uri="{FF2B5EF4-FFF2-40B4-BE49-F238E27FC236}">
                  <a16:creationId xmlns:a16="http://schemas.microsoft.com/office/drawing/2014/main" id="{257C6766-E435-D35E-9B9B-233202EFD1C3}"/>
                </a:ext>
              </a:extLst>
            </p:cNvPr>
            <p:cNvSpPr/>
            <p:nvPr/>
          </p:nvSpPr>
          <p:spPr>
            <a:xfrm>
              <a:off x="3469616" y="1648657"/>
              <a:ext cx="5173870" cy="5106546"/>
            </a:xfrm>
            <a:prstGeom prst="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0000" rIns="0" bIns="0" rtlCol="0" anchor="ctr"/>
            <a:lstStyle/>
            <a:p>
              <a:r>
                <a:rPr lang="en-US" altLang="ja-JP" sz="1400" dirty="0"/>
                <a:t>.</a:t>
              </a:r>
            </a:p>
            <a:p>
              <a:r>
                <a:rPr lang="en-US" altLang="ja-JP" sz="1400" dirty="0"/>
                <a:t>├── .env</a:t>
              </a:r>
            </a:p>
            <a:p>
              <a:r>
                <a:rPr lang="en-US" altLang="ja-JP" sz="1400" dirty="0"/>
                <a:t>│</a:t>
              </a:r>
            </a:p>
            <a:p>
              <a:r>
                <a:rPr lang="en-US" altLang="ja-JP" sz="1400" dirty="0"/>
                <a:t>├── app</a:t>
              </a:r>
            </a:p>
            <a:p>
              <a:r>
                <a:rPr lang="en-US" altLang="ja-JP" sz="1400" dirty="0"/>
                <a:t>│   ├── …</a:t>
              </a:r>
            </a:p>
            <a:p>
              <a:r>
                <a:rPr lang="en-US" altLang="ja-JP" sz="1400" dirty="0"/>
                <a:t>│</a:t>
              </a:r>
            </a:p>
            <a:p>
              <a:r>
                <a:rPr lang="en-US" altLang="ja-JP" sz="1400" dirty="0"/>
                <a:t>├── data</a:t>
              </a:r>
            </a:p>
            <a:p>
              <a:r>
                <a:rPr lang="en-US" altLang="ja-JP" sz="1400" dirty="0"/>
                <a:t>│   ├── …</a:t>
              </a:r>
            </a:p>
            <a:p>
              <a:r>
                <a:rPr lang="ja-JP" altLang="en-US" sz="1400" dirty="0"/>
                <a:t>｜</a:t>
              </a:r>
              <a:endParaRPr lang="en-US" altLang="ja-JP" sz="1400" dirty="0"/>
            </a:p>
            <a:p>
              <a:r>
                <a:rPr lang="en-US" altLang="ja-JP" sz="1400" dirty="0"/>
                <a:t>├── logs</a:t>
              </a:r>
            </a:p>
            <a:p>
              <a:r>
                <a:rPr lang="en-US" altLang="ja-JP" sz="1400" dirty="0"/>
                <a:t>│   └── *.log</a:t>
              </a:r>
            </a:p>
            <a:p>
              <a:r>
                <a:rPr lang="en-US" altLang="ja-JP" sz="1400" dirty="0"/>
                <a:t>│</a:t>
              </a:r>
            </a:p>
            <a:p>
              <a:r>
                <a:rPr lang="en-US" altLang="ja-JP" sz="1400" dirty="0"/>
                <a:t>├── shared</a:t>
              </a:r>
            </a:p>
            <a:p>
              <a:r>
                <a:rPr lang="en-US" altLang="ja-JP" sz="1400" dirty="0"/>
                <a:t>│   ├── …</a:t>
              </a:r>
            </a:p>
            <a:p>
              <a:r>
                <a:rPr lang="ja-JP" altLang="en-US" sz="1400" dirty="0"/>
                <a:t>｜</a:t>
              </a:r>
              <a:endParaRPr lang="en-US" altLang="ja-JP" sz="1400" dirty="0"/>
            </a:p>
            <a:p>
              <a:r>
                <a:rPr lang="en-US" altLang="ja-JP" sz="1400" dirty="0"/>
                <a:t>├── web</a:t>
              </a:r>
            </a:p>
            <a:p>
              <a:r>
                <a:rPr lang="en-US" altLang="ja-JP" sz="1400" dirty="0"/>
                <a:t>│   └── frontend</a:t>
              </a:r>
            </a:p>
            <a:p>
              <a:r>
                <a:rPr lang="en-US" altLang="ja-JP" sz="1400" dirty="0"/>
                <a:t>│       </a:t>
              </a:r>
              <a:r>
                <a:rPr lang="ja-JP" altLang="en-US" sz="1400" dirty="0"/>
                <a:t>  </a:t>
              </a:r>
              <a:r>
                <a:rPr lang="en-US" altLang="ja-JP" sz="1400" dirty="0"/>
                <a:t>├── .env</a:t>
              </a:r>
            </a:p>
            <a:p>
              <a:r>
                <a:rPr lang="en-US" altLang="ja-JP" sz="1400" dirty="0"/>
                <a:t>│         └── …</a:t>
              </a:r>
            </a:p>
            <a:p>
              <a:r>
                <a:rPr lang="en-US" altLang="ja-JP" sz="1400" dirty="0"/>
                <a:t>│</a:t>
              </a:r>
              <a:endParaRPr lang="en-US" altLang="ja-JP" sz="1400" b="1" dirty="0"/>
            </a:p>
            <a:p>
              <a:r>
                <a:rPr lang="en-US" altLang="ja-JP" sz="1400" dirty="0"/>
                <a:t>└── worker</a:t>
              </a:r>
            </a:p>
            <a:p>
              <a:r>
                <a:rPr lang="en-US" altLang="ja-JP" sz="1400" dirty="0"/>
                <a:t>    ├── …</a:t>
              </a:r>
            </a:p>
            <a:p>
              <a:pPr algn="ctr"/>
              <a:endParaRPr kumimoji="1" lang="ja-JP" altLang="en-US" sz="1400" dirty="0"/>
            </a:p>
          </p:txBody>
        </p:sp>
        <p:sp>
          <p:nvSpPr>
            <p:cNvPr id="8" name="テキスト ボックス 7">
              <a:extLst>
                <a:ext uri="{FF2B5EF4-FFF2-40B4-BE49-F238E27FC236}">
                  <a16:creationId xmlns:a16="http://schemas.microsoft.com/office/drawing/2014/main" id="{667C78E8-BE30-8FD6-5E1C-DF3375303A20}"/>
                </a:ext>
              </a:extLst>
            </p:cNvPr>
            <p:cNvSpPr txBox="1"/>
            <p:nvPr/>
          </p:nvSpPr>
          <p:spPr>
            <a:xfrm>
              <a:off x="3305887" y="1301487"/>
              <a:ext cx="5430653" cy="338554"/>
            </a:xfrm>
            <a:prstGeom prst="rect">
              <a:avLst/>
            </a:prstGeom>
            <a:noFill/>
          </p:spPr>
          <p:txBody>
            <a:bodyPr wrap="square" rtlCol="0">
              <a:spAutoFit/>
            </a:bodyPr>
            <a:lstStyle/>
            <a:p>
              <a:pPr algn="ctr"/>
              <a:r>
                <a:rPr kumimoji="1" lang="ja-JP" altLang="en-US" sz="1600" dirty="0"/>
                <a:t>現行の制御デバイス</a:t>
              </a:r>
              <a:r>
                <a:rPr kumimoji="1" lang="en-US" altLang="ja-JP" sz="1600" dirty="0"/>
                <a:t>(172.16.15.8</a:t>
              </a:r>
              <a:r>
                <a:rPr lang="en-US" altLang="ja-JP" sz="1600" dirty="0"/>
                <a:t>)</a:t>
              </a:r>
              <a:r>
                <a:rPr lang="ja-JP" altLang="en-US" sz="1600" dirty="0"/>
                <a:t>のディレクトリ構成</a:t>
              </a:r>
              <a:endParaRPr kumimoji="1" lang="ja-JP" altLang="en-US" sz="1600" dirty="0"/>
            </a:p>
          </p:txBody>
        </p:sp>
      </p:grpSp>
      <p:sp>
        <p:nvSpPr>
          <p:cNvPr id="5" name="正方形/長方形 4">
            <a:extLst>
              <a:ext uri="{FF2B5EF4-FFF2-40B4-BE49-F238E27FC236}">
                <a16:creationId xmlns:a16="http://schemas.microsoft.com/office/drawing/2014/main" id="{6700B872-8F14-4649-CE48-2885487DCF82}"/>
              </a:ext>
            </a:extLst>
          </p:cNvPr>
          <p:cNvSpPr/>
          <p:nvPr/>
        </p:nvSpPr>
        <p:spPr>
          <a:xfrm>
            <a:off x="4048515" y="1918741"/>
            <a:ext cx="558800" cy="323662"/>
          </a:xfrm>
          <a:prstGeom prst="rect">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FC883112-FE48-FB3C-D5B4-F031BF471CDD}"/>
              </a:ext>
            </a:extLst>
          </p:cNvPr>
          <p:cNvSpPr txBox="1"/>
          <p:nvPr/>
        </p:nvSpPr>
        <p:spPr>
          <a:xfrm>
            <a:off x="4607315" y="1943242"/>
            <a:ext cx="3613818" cy="307777"/>
          </a:xfrm>
          <a:prstGeom prst="rect">
            <a:avLst/>
          </a:prstGeom>
          <a:noFill/>
        </p:spPr>
        <p:txBody>
          <a:bodyPr wrap="square" rtlCol="0">
            <a:spAutoFit/>
          </a:bodyPr>
          <a:lstStyle/>
          <a:p>
            <a:r>
              <a:rPr lang="ja-JP" altLang="en-US" sz="1400" dirty="0">
                <a:solidFill>
                  <a:schemeClr val="accent6"/>
                </a:solidFill>
              </a:rPr>
              <a:t>超</a:t>
            </a:r>
            <a:r>
              <a:rPr kumimoji="1" lang="ja-JP" altLang="en-US" sz="1400" dirty="0">
                <a:solidFill>
                  <a:schemeClr val="accent6"/>
                </a:solidFill>
              </a:rPr>
              <a:t>大事（</a:t>
            </a:r>
            <a:r>
              <a:rPr kumimoji="1" lang="en-US" altLang="ja-JP" sz="1400" dirty="0">
                <a:solidFill>
                  <a:schemeClr val="accent6"/>
                </a:solidFill>
              </a:rPr>
              <a:t>AWS</a:t>
            </a:r>
            <a:r>
              <a:rPr kumimoji="1" lang="ja-JP" altLang="en-US" sz="1400" dirty="0">
                <a:solidFill>
                  <a:schemeClr val="accent6"/>
                </a:solidFill>
              </a:rPr>
              <a:t>認証系の情報が記載）</a:t>
            </a:r>
          </a:p>
        </p:txBody>
      </p:sp>
      <p:sp>
        <p:nvSpPr>
          <p:cNvPr id="28" name="正方形/長方形 27">
            <a:extLst>
              <a:ext uri="{FF2B5EF4-FFF2-40B4-BE49-F238E27FC236}">
                <a16:creationId xmlns:a16="http://schemas.microsoft.com/office/drawing/2014/main" id="{C5ABEBD7-4FC3-84AD-E9CD-828702CC915F}"/>
              </a:ext>
            </a:extLst>
          </p:cNvPr>
          <p:cNvSpPr/>
          <p:nvPr/>
        </p:nvSpPr>
        <p:spPr>
          <a:xfrm>
            <a:off x="3817249" y="3627855"/>
            <a:ext cx="1559081" cy="565111"/>
          </a:xfrm>
          <a:prstGeom prst="rect">
            <a:avLst/>
          </a:pr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E12D809D-FBA9-3D32-F6C0-7DB700F26DB8}"/>
              </a:ext>
            </a:extLst>
          </p:cNvPr>
          <p:cNvSpPr txBox="1"/>
          <p:nvPr/>
        </p:nvSpPr>
        <p:spPr>
          <a:xfrm>
            <a:off x="5353050" y="5357667"/>
            <a:ext cx="3383490" cy="307777"/>
          </a:xfrm>
          <a:prstGeom prst="rect">
            <a:avLst/>
          </a:prstGeom>
          <a:noFill/>
        </p:spPr>
        <p:txBody>
          <a:bodyPr wrap="square" rtlCol="0">
            <a:spAutoFit/>
          </a:bodyPr>
          <a:lstStyle/>
          <a:p>
            <a:r>
              <a:rPr kumimoji="1" lang="ja-JP" altLang="en-US" sz="1400" dirty="0">
                <a:solidFill>
                  <a:schemeClr val="accent6"/>
                </a:solidFill>
              </a:rPr>
              <a:t>大事（ユーザー名などの情報が記載）</a:t>
            </a:r>
          </a:p>
        </p:txBody>
      </p:sp>
      <p:sp>
        <p:nvSpPr>
          <p:cNvPr id="24" name="テキスト ボックス 23">
            <a:extLst>
              <a:ext uri="{FF2B5EF4-FFF2-40B4-BE49-F238E27FC236}">
                <a16:creationId xmlns:a16="http://schemas.microsoft.com/office/drawing/2014/main" id="{D8F61B0C-D57B-2550-51CA-1BD29FFB7BF0}"/>
              </a:ext>
            </a:extLst>
          </p:cNvPr>
          <p:cNvSpPr txBox="1"/>
          <p:nvPr/>
        </p:nvSpPr>
        <p:spPr>
          <a:xfrm>
            <a:off x="5377301" y="3756521"/>
            <a:ext cx="3359239" cy="307777"/>
          </a:xfrm>
          <a:prstGeom prst="rect">
            <a:avLst/>
          </a:prstGeom>
          <a:noFill/>
        </p:spPr>
        <p:txBody>
          <a:bodyPr wrap="square" rtlCol="0">
            <a:spAutoFit/>
          </a:bodyPr>
          <a:lstStyle/>
          <a:p>
            <a:r>
              <a:rPr lang="ja-JP" altLang="en-US" sz="1400" dirty="0">
                <a:solidFill>
                  <a:schemeClr val="accent5">
                    <a:lumMod val="75000"/>
                  </a:schemeClr>
                </a:solidFill>
              </a:rPr>
              <a:t>問題発生時にデバッグ情報として参照</a:t>
            </a:r>
            <a:endParaRPr kumimoji="1" lang="ja-JP" altLang="en-US" sz="1400" dirty="0">
              <a:solidFill>
                <a:schemeClr val="accent5">
                  <a:lumMod val="75000"/>
                </a:schemeClr>
              </a:solidFill>
            </a:endParaRPr>
          </a:p>
        </p:txBody>
      </p:sp>
      <p:sp>
        <p:nvSpPr>
          <p:cNvPr id="32" name="正方形/長方形 31">
            <a:extLst>
              <a:ext uri="{FF2B5EF4-FFF2-40B4-BE49-F238E27FC236}">
                <a16:creationId xmlns:a16="http://schemas.microsoft.com/office/drawing/2014/main" id="{F9C38425-87C8-F377-8927-CF434E147042}"/>
              </a:ext>
            </a:extLst>
          </p:cNvPr>
          <p:cNvSpPr/>
          <p:nvPr/>
        </p:nvSpPr>
        <p:spPr>
          <a:xfrm>
            <a:off x="4804831" y="5337173"/>
            <a:ext cx="558800" cy="312673"/>
          </a:xfrm>
          <a:prstGeom prst="rect">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2779443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1043" name="グループ化 1042">
            <a:extLst>
              <a:ext uri="{FF2B5EF4-FFF2-40B4-BE49-F238E27FC236}">
                <a16:creationId xmlns:a16="http://schemas.microsoft.com/office/drawing/2014/main" id="{CC9E8D36-34E5-6CED-1903-BD90C194B95E}"/>
              </a:ext>
            </a:extLst>
          </p:cNvPr>
          <p:cNvGrpSpPr/>
          <p:nvPr/>
        </p:nvGrpSpPr>
        <p:grpSpPr>
          <a:xfrm>
            <a:off x="-762000" y="596766"/>
            <a:ext cx="10748681" cy="5783988"/>
            <a:chOff x="-762000" y="596766"/>
            <a:chExt cx="10748681" cy="5783988"/>
          </a:xfrm>
        </p:grpSpPr>
        <p:sp>
          <p:nvSpPr>
            <p:cNvPr id="43" name="正方形/長方形 42">
              <a:extLst>
                <a:ext uri="{FF2B5EF4-FFF2-40B4-BE49-F238E27FC236}">
                  <a16:creationId xmlns:a16="http://schemas.microsoft.com/office/drawing/2014/main" id="{282F6DA2-8E18-C288-E257-C29E31B7F7EA}"/>
                </a:ext>
              </a:extLst>
            </p:cNvPr>
            <p:cNvSpPr/>
            <p:nvPr/>
          </p:nvSpPr>
          <p:spPr>
            <a:xfrm>
              <a:off x="-762000" y="596766"/>
              <a:ext cx="10748681" cy="578398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5" name="直線コネクタ 24">
              <a:extLst>
                <a:ext uri="{FF2B5EF4-FFF2-40B4-BE49-F238E27FC236}">
                  <a16:creationId xmlns:a16="http://schemas.microsoft.com/office/drawing/2014/main" id="{72B313A7-95BE-0D10-2858-D777B7C94F6B}"/>
                </a:ext>
              </a:extLst>
            </p:cNvPr>
            <p:cNvCxnSpPr>
              <a:cxnSpLocks/>
              <a:stCxn id="11" idx="1"/>
              <a:endCxn id="1024" idx="3"/>
            </p:cNvCxnSpPr>
            <p:nvPr/>
          </p:nvCxnSpPr>
          <p:spPr>
            <a:xfrm flipH="1" flipV="1">
              <a:off x="5782829" y="4401669"/>
              <a:ext cx="797558" cy="1219"/>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0" name="直線コネクタ 19">
              <a:extLst>
                <a:ext uri="{FF2B5EF4-FFF2-40B4-BE49-F238E27FC236}">
                  <a16:creationId xmlns:a16="http://schemas.microsoft.com/office/drawing/2014/main" id="{403BCC70-1900-317F-D5C8-96BE76DE305A}"/>
                </a:ext>
              </a:extLst>
            </p:cNvPr>
            <p:cNvCxnSpPr>
              <a:cxnSpLocks/>
              <a:stCxn id="2052" idx="1"/>
              <a:endCxn id="10" idx="3"/>
            </p:cNvCxnSpPr>
            <p:nvPr/>
          </p:nvCxnSpPr>
          <p:spPr>
            <a:xfrm flipH="1" flipV="1">
              <a:off x="2588886" y="4401669"/>
              <a:ext cx="820387" cy="1"/>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pic>
          <p:nvPicPr>
            <p:cNvPr id="2052" name="Picture 4" descr="AWS - inteltank">
              <a:extLst>
                <a:ext uri="{FF2B5EF4-FFF2-40B4-BE49-F238E27FC236}">
                  <a16:creationId xmlns:a16="http://schemas.microsoft.com/office/drawing/2014/main" id="{E0E3A3C3-BB4F-043C-8862-859B36E4BF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09273" y="3849776"/>
              <a:ext cx="1680894" cy="1103788"/>
            </a:xfrm>
            <a:prstGeom prst="rect">
              <a:avLst/>
            </a:prstGeom>
            <a:noFill/>
            <a:extLst>
              <a:ext uri="{909E8E84-426E-40DD-AFC4-6F175D3DCCD1}">
                <a14:hiddenFill xmlns:a14="http://schemas.microsoft.com/office/drawing/2010/main">
                  <a:solidFill>
                    <a:srgbClr val="FFFFFF"/>
                  </a:solidFill>
                </a14:hiddenFill>
              </a:ext>
            </a:extLst>
          </p:spPr>
        </p:pic>
        <p:sp>
          <p:nvSpPr>
            <p:cNvPr id="38" name="吹き出し: 角を丸めた四角形 37">
              <a:extLst>
                <a:ext uri="{FF2B5EF4-FFF2-40B4-BE49-F238E27FC236}">
                  <a16:creationId xmlns:a16="http://schemas.microsoft.com/office/drawing/2014/main" id="{962F5F6C-BB58-D7E1-E21D-B48C6566EF9E}"/>
                </a:ext>
              </a:extLst>
            </p:cNvPr>
            <p:cNvSpPr/>
            <p:nvPr/>
          </p:nvSpPr>
          <p:spPr>
            <a:xfrm>
              <a:off x="3638702" y="1469216"/>
              <a:ext cx="1982197" cy="1350738"/>
            </a:xfrm>
            <a:prstGeom prst="wedgeRoundRectCallout">
              <a:avLst>
                <a:gd name="adj1" fmla="val 607"/>
                <a:gd name="adj2" fmla="val 71793"/>
                <a:gd name="adj3" fmla="val 16667"/>
              </a:avLst>
            </a:prstGeom>
            <a:solidFill>
              <a:schemeClr val="bg2"/>
            </a:solidFill>
            <a:ln w="19050">
              <a:prstDash val="sysDash"/>
            </a:ln>
          </p:spPr>
          <p:style>
            <a:lnRef idx="2">
              <a:schemeClr val="accent1">
                <a:shade val="15000"/>
              </a:schemeClr>
            </a:lnRef>
            <a:fillRef idx="1">
              <a:schemeClr val="accent1"/>
            </a:fillRef>
            <a:effectRef idx="0">
              <a:schemeClr val="accent1"/>
            </a:effectRef>
            <a:fontRef idx="minor">
              <a:schemeClr val="lt1"/>
            </a:fontRef>
          </p:style>
          <p:txBody>
            <a:bodyPr lIns="90000" rIns="0" bIns="0" rtlCol="0" anchor="ctr"/>
            <a:lstStyle/>
            <a:p>
              <a:r>
                <a:rPr kumimoji="1" lang="ja-JP" altLang="en-US" dirty="0">
                  <a:solidFill>
                    <a:schemeClr val="tx1"/>
                  </a:solidFill>
                </a:rPr>
                <a:t>・ユーザー</a:t>
              </a:r>
              <a:r>
                <a:rPr kumimoji="1" lang="en-US" altLang="ja-JP" dirty="0">
                  <a:solidFill>
                    <a:schemeClr val="tx1"/>
                  </a:solidFill>
                </a:rPr>
                <a:t>ID</a:t>
              </a:r>
            </a:p>
            <a:p>
              <a:r>
                <a:rPr lang="ja-JP" altLang="en-US" dirty="0">
                  <a:solidFill>
                    <a:schemeClr val="tx1"/>
                  </a:solidFill>
                </a:rPr>
                <a:t>・ユーザー名</a:t>
              </a:r>
              <a:endParaRPr lang="en-US" altLang="ja-JP" dirty="0">
                <a:solidFill>
                  <a:schemeClr val="tx1"/>
                </a:solidFill>
              </a:endParaRPr>
            </a:p>
            <a:p>
              <a:r>
                <a:rPr kumimoji="1" lang="ja-JP" altLang="en-US" dirty="0">
                  <a:solidFill>
                    <a:schemeClr val="tx1"/>
                  </a:solidFill>
                </a:rPr>
                <a:t>・在室状況</a:t>
              </a:r>
              <a:r>
                <a:rPr lang="en-US" altLang="ja-JP" dirty="0">
                  <a:solidFill>
                    <a:schemeClr val="tx1"/>
                  </a:solidFill>
                </a:rPr>
                <a:t> etc.</a:t>
              </a:r>
              <a:endParaRPr kumimoji="1" lang="ja-JP" altLang="en-US" dirty="0">
                <a:solidFill>
                  <a:schemeClr val="tx1"/>
                </a:solidFill>
              </a:endParaRPr>
            </a:p>
          </p:txBody>
        </p:sp>
        <p:grpSp>
          <p:nvGrpSpPr>
            <p:cNvPr id="45" name="グループ化 44">
              <a:extLst>
                <a:ext uri="{FF2B5EF4-FFF2-40B4-BE49-F238E27FC236}">
                  <a16:creationId xmlns:a16="http://schemas.microsoft.com/office/drawing/2014/main" id="{AE703A51-2AB3-C25B-24DA-0B6A952512E0}"/>
                </a:ext>
              </a:extLst>
            </p:cNvPr>
            <p:cNvGrpSpPr/>
            <p:nvPr/>
          </p:nvGrpSpPr>
          <p:grpSpPr>
            <a:xfrm>
              <a:off x="444895" y="798923"/>
              <a:ext cx="2346436" cy="5373276"/>
              <a:chOff x="-662014" y="798923"/>
              <a:chExt cx="2346436" cy="5373276"/>
            </a:xfrm>
          </p:grpSpPr>
          <p:sp>
            <p:nvSpPr>
              <p:cNvPr id="41" name="正方形/長方形 40">
                <a:extLst>
                  <a:ext uri="{FF2B5EF4-FFF2-40B4-BE49-F238E27FC236}">
                    <a16:creationId xmlns:a16="http://schemas.microsoft.com/office/drawing/2014/main" id="{81217620-E52B-F5B2-709D-A893C03548D8}"/>
                  </a:ext>
                </a:extLst>
              </p:cNvPr>
              <p:cNvSpPr/>
              <p:nvPr/>
            </p:nvSpPr>
            <p:spPr>
              <a:xfrm>
                <a:off x="-662012" y="1257300"/>
                <a:ext cx="2346434" cy="4914899"/>
              </a:xfrm>
              <a:prstGeom prst="rect">
                <a:avLst/>
              </a:prstGeom>
              <a:solidFill>
                <a:srgbClr val="29567B">
                  <a:alpha val="20000"/>
                </a:srgbClr>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46B1B1DC-0E72-DF33-BA28-6DF4B458B528}"/>
                  </a:ext>
                </a:extLst>
              </p:cNvPr>
              <p:cNvSpPr/>
              <p:nvPr/>
            </p:nvSpPr>
            <p:spPr>
              <a:xfrm>
                <a:off x="-500220" y="4119281"/>
                <a:ext cx="1982197" cy="564776"/>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bIns="0" rtlCol="0" anchor="ctr"/>
              <a:lstStyle/>
              <a:p>
                <a:pPr algn="ctr"/>
                <a:r>
                  <a:rPr kumimoji="1" lang="ja-JP" altLang="en-US" b="1" dirty="0">
                    <a:solidFill>
                      <a:schemeClr val="tx1"/>
                    </a:solidFill>
                  </a:rPr>
                  <a:t>制御用デバイス</a:t>
                </a:r>
              </a:p>
            </p:txBody>
          </p:sp>
          <p:sp>
            <p:nvSpPr>
              <p:cNvPr id="12" name="正方形/長方形 11">
                <a:extLst>
                  <a:ext uri="{FF2B5EF4-FFF2-40B4-BE49-F238E27FC236}">
                    <a16:creationId xmlns:a16="http://schemas.microsoft.com/office/drawing/2014/main" id="{1EA94579-66C6-BBBB-B08B-F3B783D64BBE}"/>
                  </a:ext>
                </a:extLst>
              </p:cNvPr>
              <p:cNvSpPr/>
              <p:nvPr/>
            </p:nvSpPr>
            <p:spPr>
              <a:xfrm>
                <a:off x="-500220" y="5296150"/>
                <a:ext cx="1982197" cy="564776"/>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bIns="0" rtlCol="0" anchor="ctr"/>
              <a:lstStyle/>
              <a:p>
                <a:pPr algn="ctr"/>
                <a:r>
                  <a:rPr kumimoji="1" lang="ja-JP" altLang="en-US" b="1" dirty="0">
                    <a:solidFill>
                      <a:schemeClr val="tx1"/>
                    </a:solidFill>
                  </a:rPr>
                  <a:t>カードリーダー</a:t>
                </a:r>
              </a:p>
            </p:txBody>
          </p:sp>
          <p:cxnSp>
            <p:nvCxnSpPr>
              <p:cNvPr id="14" name="直線コネクタ 13">
                <a:extLst>
                  <a:ext uri="{FF2B5EF4-FFF2-40B4-BE49-F238E27FC236}">
                    <a16:creationId xmlns:a16="http://schemas.microsoft.com/office/drawing/2014/main" id="{49756AD0-AB30-25F4-E634-26DC15167182}"/>
                  </a:ext>
                </a:extLst>
              </p:cNvPr>
              <p:cNvCxnSpPr>
                <a:cxnSpLocks/>
                <a:stCxn id="10" idx="2"/>
                <a:endCxn id="12" idx="0"/>
              </p:cNvCxnSpPr>
              <p:nvPr/>
            </p:nvCxnSpPr>
            <p:spPr>
              <a:xfrm>
                <a:off x="490879" y="4684057"/>
                <a:ext cx="0" cy="61209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正方形/長方形 15">
                <a:extLst>
                  <a:ext uri="{FF2B5EF4-FFF2-40B4-BE49-F238E27FC236}">
                    <a16:creationId xmlns:a16="http://schemas.microsoft.com/office/drawing/2014/main" id="{7AC95C80-32CD-34D5-1C1C-AB3B6F0C9672}"/>
                  </a:ext>
                </a:extLst>
              </p:cNvPr>
              <p:cNvSpPr/>
              <p:nvPr/>
            </p:nvSpPr>
            <p:spPr>
              <a:xfrm>
                <a:off x="-500220" y="1469216"/>
                <a:ext cx="1982197" cy="564776"/>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bIns="0" rtlCol="0" anchor="ctr"/>
              <a:lstStyle/>
              <a:p>
                <a:pPr algn="ctr"/>
                <a:r>
                  <a:rPr kumimoji="1" lang="ja-JP" altLang="en-US" b="1" dirty="0">
                    <a:solidFill>
                      <a:schemeClr val="tx1"/>
                    </a:solidFill>
                  </a:rPr>
                  <a:t>タブレット</a:t>
                </a:r>
              </a:p>
            </p:txBody>
          </p:sp>
          <p:pic>
            <p:nvPicPr>
              <p:cNvPr id="1034" name="Picture 10">
                <a:extLst>
                  <a:ext uri="{FF2B5EF4-FFF2-40B4-BE49-F238E27FC236}">
                    <a16:creationId xmlns:a16="http://schemas.microsoft.com/office/drawing/2014/main" id="{4705621E-A06A-8891-23CA-42359796FC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13" y="2660028"/>
                <a:ext cx="634327" cy="564776"/>
              </a:xfrm>
              <a:prstGeom prst="rect">
                <a:avLst/>
              </a:prstGeom>
              <a:noFill/>
              <a:extLst>
                <a:ext uri="{909E8E84-426E-40DD-AFC4-6F175D3DCCD1}">
                  <a14:hiddenFill xmlns:a14="http://schemas.microsoft.com/office/drawing/2010/main">
                    <a:solidFill>
                      <a:srgbClr val="FFFFFF"/>
                    </a:solidFill>
                  </a14:hiddenFill>
                </a:ext>
              </a:extLst>
            </p:spPr>
          </p:pic>
          <p:cxnSp>
            <p:nvCxnSpPr>
              <p:cNvPr id="31" name="直線コネクタ 30">
                <a:extLst>
                  <a:ext uri="{FF2B5EF4-FFF2-40B4-BE49-F238E27FC236}">
                    <a16:creationId xmlns:a16="http://schemas.microsoft.com/office/drawing/2014/main" id="{8BF11D92-5D8E-302C-0843-F1AFE2D5D35D}"/>
                  </a:ext>
                </a:extLst>
              </p:cNvPr>
              <p:cNvCxnSpPr>
                <a:cxnSpLocks/>
                <a:stCxn id="16" idx="2"/>
                <a:endCxn id="1034" idx="0"/>
              </p:cNvCxnSpPr>
              <p:nvPr/>
            </p:nvCxnSpPr>
            <p:spPr>
              <a:xfrm flipH="1">
                <a:off x="490877" y="2033992"/>
                <a:ext cx="2" cy="626036"/>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pic>
            <p:nvPicPr>
              <p:cNvPr id="1036" name="Picture 12" descr="FastAPI · GitHub">
                <a:extLst>
                  <a:ext uri="{FF2B5EF4-FFF2-40B4-BE49-F238E27FC236}">
                    <a16:creationId xmlns:a16="http://schemas.microsoft.com/office/drawing/2014/main" id="{2073150C-9027-BD6A-9C02-E177219ACB4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3713" y="3363433"/>
                <a:ext cx="640481" cy="640481"/>
              </a:xfrm>
              <a:prstGeom prst="rect">
                <a:avLst/>
              </a:prstGeom>
              <a:noFill/>
              <a:extLst>
                <a:ext uri="{909E8E84-426E-40DD-AFC4-6F175D3DCCD1}">
                  <a14:hiddenFill xmlns:a14="http://schemas.microsoft.com/office/drawing/2010/main">
                    <a:solidFill>
                      <a:srgbClr val="FFFFFF"/>
                    </a:solidFill>
                  </a14:hiddenFill>
                </a:ext>
              </a:extLst>
            </p:spPr>
          </p:pic>
          <p:sp>
            <p:nvSpPr>
              <p:cNvPr id="39" name="正方形/長方形 38">
                <a:extLst>
                  <a:ext uri="{FF2B5EF4-FFF2-40B4-BE49-F238E27FC236}">
                    <a16:creationId xmlns:a16="http://schemas.microsoft.com/office/drawing/2014/main" id="{0F695846-8362-8240-B50C-08094C917219}"/>
                  </a:ext>
                </a:extLst>
              </p:cNvPr>
              <p:cNvSpPr/>
              <p:nvPr/>
            </p:nvSpPr>
            <p:spPr>
              <a:xfrm>
                <a:off x="-662014" y="798923"/>
                <a:ext cx="2346435" cy="46154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0" rIns="0" bIns="0" rtlCol="0" anchor="ctr"/>
              <a:lstStyle/>
              <a:p>
                <a:pPr algn="ctr"/>
                <a:r>
                  <a:rPr kumimoji="1" lang="ja-JP" altLang="en-US" sz="2000" b="1" dirty="0">
                    <a:solidFill>
                      <a:schemeClr val="bg2"/>
                    </a:solidFill>
                  </a:rPr>
                  <a:t>制御部</a:t>
                </a:r>
              </a:p>
            </p:txBody>
          </p:sp>
        </p:grpSp>
        <p:grpSp>
          <p:nvGrpSpPr>
            <p:cNvPr id="46" name="グループ化 45">
              <a:extLst>
                <a:ext uri="{FF2B5EF4-FFF2-40B4-BE49-F238E27FC236}">
                  <a16:creationId xmlns:a16="http://schemas.microsoft.com/office/drawing/2014/main" id="{D7FDA76E-C679-5471-7DE9-729376C2E058}"/>
                </a:ext>
              </a:extLst>
            </p:cNvPr>
            <p:cNvGrpSpPr/>
            <p:nvPr/>
          </p:nvGrpSpPr>
          <p:grpSpPr>
            <a:xfrm>
              <a:off x="6415079" y="798923"/>
              <a:ext cx="2311958" cy="5373276"/>
              <a:chOff x="7399933" y="798923"/>
              <a:chExt cx="2311958" cy="5373276"/>
            </a:xfrm>
          </p:grpSpPr>
          <p:sp>
            <p:nvSpPr>
              <p:cNvPr id="44" name="正方形/長方形 43">
                <a:extLst>
                  <a:ext uri="{FF2B5EF4-FFF2-40B4-BE49-F238E27FC236}">
                    <a16:creationId xmlns:a16="http://schemas.microsoft.com/office/drawing/2014/main" id="{326A0720-9F24-9196-1F68-04D2A15BA614}"/>
                  </a:ext>
                </a:extLst>
              </p:cNvPr>
              <p:cNvSpPr/>
              <p:nvPr/>
            </p:nvSpPr>
            <p:spPr>
              <a:xfrm>
                <a:off x="7399934" y="1257300"/>
                <a:ext cx="2311957" cy="4914899"/>
              </a:xfrm>
              <a:prstGeom prst="rect">
                <a:avLst/>
              </a:prstGeom>
              <a:solidFill>
                <a:schemeClr val="accent6">
                  <a:alpha val="20000"/>
                </a:schemeClr>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81628668-23A0-0AEF-AFC7-DD74C159B1AB}"/>
                  </a:ext>
                </a:extLst>
              </p:cNvPr>
              <p:cNvSpPr/>
              <p:nvPr/>
            </p:nvSpPr>
            <p:spPr>
              <a:xfrm>
                <a:off x="7565241" y="4120500"/>
                <a:ext cx="1982197" cy="564776"/>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bIns="0" rtlCol="0" anchor="ctr"/>
              <a:lstStyle/>
              <a:p>
                <a:pPr algn="ctr"/>
                <a:r>
                  <a:rPr lang="ja-JP" altLang="en-US" b="1" dirty="0">
                    <a:solidFill>
                      <a:schemeClr val="tx1"/>
                    </a:solidFill>
                  </a:rPr>
                  <a:t>表示用デバイス</a:t>
                </a:r>
                <a:endParaRPr kumimoji="1" lang="ja-JP" altLang="en-US" b="1" dirty="0">
                  <a:solidFill>
                    <a:schemeClr val="tx1"/>
                  </a:solidFill>
                </a:endParaRPr>
              </a:p>
            </p:txBody>
          </p:sp>
          <p:sp>
            <p:nvSpPr>
              <p:cNvPr id="17" name="正方形/長方形 16">
                <a:extLst>
                  <a:ext uri="{FF2B5EF4-FFF2-40B4-BE49-F238E27FC236}">
                    <a16:creationId xmlns:a16="http://schemas.microsoft.com/office/drawing/2014/main" id="{F46EF0AE-AA93-16CC-28E1-3856903EF752}"/>
                  </a:ext>
                </a:extLst>
              </p:cNvPr>
              <p:cNvSpPr/>
              <p:nvPr/>
            </p:nvSpPr>
            <p:spPr>
              <a:xfrm>
                <a:off x="7565240" y="1469216"/>
                <a:ext cx="1982197" cy="564776"/>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bIns="0" rtlCol="0" anchor="ctr"/>
              <a:lstStyle/>
              <a:p>
                <a:pPr algn="ctr"/>
                <a:r>
                  <a:rPr lang="ja-JP" altLang="en-US" b="1" dirty="0">
                    <a:solidFill>
                      <a:schemeClr val="tx1"/>
                    </a:solidFill>
                  </a:rPr>
                  <a:t>モニター</a:t>
                </a:r>
                <a:endParaRPr kumimoji="1" lang="ja-JP" altLang="en-US" b="1" dirty="0">
                  <a:solidFill>
                    <a:schemeClr val="tx1"/>
                  </a:solidFill>
                </a:endParaRPr>
              </a:p>
            </p:txBody>
          </p:sp>
          <p:cxnSp>
            <p:nvCxnSpPr>
              <p:cNvPr id="18" name="直線コネクタ 17">
                <a:extLst>
                  <a:ext uri="{FF2B5EF4-FFF2-40B4-BE49-F238E27FC236}">
                    <a16:creationId xmlns:a16="http://schemas.microsoft.com/office/drawing/2014/main" id="{50826E66-73A8-F7C6-ACAD-BD03472385C9}"/>
                  </a:ext>
                </a:extLst>
              </p:cNvPr>
              <p:cNvCxnSpPr>
                <a:cxnSpLocks/>
                <a:stCxn id="17" idx="2"/>
                <a:endCxn id="11" idx="0"/>
              </p:cNvCxnSpPr>
              <p:nvPr/>
            </p:nvCxnSpPr>
            <p:spPr>
              <a:xfrm>
                <a:off x="8556339" y="2033992"/>
                <a:ext cx="1" cy="208650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正方形/長方形 39">
                <a:extLst>
                  <a:ext uri="{FF2B5EF4-FFF2-40B4-BE49-F238E27FC236}">
                    <a16:creationId xmlns:a16="http://schemas.microsoft.com/office/drawing/2014/main" id="{2E4720E2-C43E-EA1C-BF30-3B1A7AB64228}"/>
                  </a:ext>
                </a:extLst>
              </p:cNvPr>
              <p:cNvSpPr/>
              <p:nvPr/>
            </p:nvSpPr>
            <p:spPr>
              <a:xfrm>
                <a:off x="7399933" y="798923"/>
                <a:ext cx="2311957" cy="46154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bIns="0" rtlCol="0" anchor="ctr"/>
              <a:lstStyle/>
              <a:p>
                <a:pPr algn="ctr"/>
                <a:r>
                  <a:rPr lang="ja-JP" altLang="en-US" sz="2000" b="1" dirty="0">
                    <a:solidFill>
                      <a:schemeClr val="bg2"/>
                    </a:solidFill>
                  </a:rPr>
                  <a:t>表示</a:t>
                </a:r>
                <a:r>
                  <a:rPr kumimoji="1" lang="ja-JP" altLang="en-US" sz="2000" b="1" dirty="0">
                    <a:solidFill>
                      <a:schemeClr val="bg2"/>
                    </a:solidFill>
                  </a:rPr>
                  <a:t>部</a:t>
                </a:r>
              </a:p>
            </p:txBody>
          </p:sp>
        </p:grpSp>
        <p:pic>
          <p:nvPicPr>
            <p:cNvPr id="1024" name="Picture 10">
              <a:extLst>
                <a:ext uri="{FF2B5EF4-FFF2-40B4-BE49-F238E27FC236}">
                  <a16:creationId xmlns:a16="http://schemas.microsoft.com/office/drawing/2014/main" id="{BD3B3F6C-7985-FC2E-2A19-24234E8EAC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8502" y="4119281"/>
              <a:ext cx="634327" cy="564776"/>
            </a:xfrm>
            <a:prstGeom prst="rect">
              <a:avLst/>
            </a:prstGeom>
            <a:noFill/>
            <a:extLst>
              <a:ext uri="{909E8E84-426E-40DD-AFC4-6F175D3DCCD1}">
                <a14:hiddenFill xmlns:a14="http://schemas.microsoft.com/office/drawing/2010/main">
                  <a:solidFill>
                    <a:srgbClr val="FFFFFF"/>
                  </a:solidFill>
                </a14:hiddenFill>
              </a:ext>
            </a:extLst>
          </p:spPr>
        </p:pic>
        <p:pic>
          <p:nvPicPr>
            <p:cNvPr id="1028" name="グラフィックス 1027" descr="データベース 単色塗りつぶし">
              <a:extLst>
                <a:ext uri="{FF2B5EF4-FFF2-40B4-BE49-F238E27FC236}">
                  <a16:creationId xmlns:a16="http://schemas.microsoft.com/office/drawing/2014/main" id="{A98C28E9-4E5A-70FD-EA62-5F93ACB8317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792519" y="2942416"/>
              <a:ext cx="914400" cy="914400"/>
            </a:xfrm>
            <a:prstGeom prst="rect">
              <a:avLst/>
            </a:prstGeom>
          </p:spPr>
        </p:pic>
        <p:pic>
          <p:nvPicPr>
            <p:cNvPr id="2054" name="Picture 6" descr="Raspberry Pi財団が2023年9月28日に新製品「Raspberry Pi® 5」を発表、工事設計認証の取得・表示手順完了次第、スイッチサイエンスウェブショップでも販売予定  | 株式会社スイッチサイエンスのプレスリリース">
              <a:extLst>
                <a:ext uri="{FF2B5EF4-FFF2-40B4-BE49-F238E27FC236}">
                  <a16:creationId xmlns:a16="http://schemas.microsoft.com/office/drawing/2014/main" id="{94792DFB-BD00-7C97-E17F-AE1B7DCD10EB}"/>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5033" t="21327" r="4902" b="20000"/>
            <a:stretch/>
          </p:blipFill>
          <p:spPr bwMode="auto">
            <a:xfrm>
              <a:off x="-598373" y="4080289"/>
              <a:ext cx="965825" cy="629183"/>
            </a:xfrm>
            <a:prstGeom prst="rect">
              <a:avLst/>
            </a:prstGeom>
            <a:noFill/>
            <a:ln w="28575">
              <a:noFill/>
            </a:ln>
            <a:extLst>
              <a:ext uri="{909E8E84-426E-40DD-AFC4-6F175D3DCCD1}">
                <a14:hiddenFill xmlns:a14="http://schemas.microsoft.com/office/drawing/2010/main">
                  <a:solidFill>
                    <a:srgbClr val="FFFFFF"/>
                  </a:solidFill>
                </a14:hiddenFill>
              </a:ext>
            </a:extLst>
          </p:spPr>
        </p:pic>
        <p:pic>
          <p:nvPicPr>
            <p:cNvPr id="1030" name="Picture 6" descr="Raspberry Pi財団が2023年9月28日に新製品「Raspberry Pi® 5」を発表、工事設計認証の取得・表示手順完了次第、スイッチサイエンスウェブショップでも販売予定  | 株式会社スイッチサイエンスのプレスリリース">
              <a:extLst>
                <a:ext uri="{FF2B5EF4-FFF2-40B4-BE49-F238E27FC236}">
                  <a16:creationId xmlns:a16="http://schemas.microsoft.com/office/drawing/2014/main" id="{E8EE55AB-316E-D659-6DB7-6809A79CC9BC}"/>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5033" t="21327" r="4902" b="20000"/>
            <a:stretch/>
          </p:blipFill>
          <p:spPr bwMode="auto">
            <a:xfrm>
              <a:off x="8788169" y="4087077"/>
              <a:ext cx="965825" cy="629183"/>
            </a:xfrm>
            <a:prstGeom prst="rect">
              <a:avLst/>
            </a:prstGeom>
            <a:noFill/>
            <a:ln w="28575">
              <a:noFill/>
            </a:ln>
            <a:extLst>
              <a:ext uri="{909E8E84-426E-40DD-AFC4-6F175D3DCCD1}">
                <a14:hiddenFill xmlns:a14="http://schemas.microsoft.com/office/drawing/2010/main">
                  <a:solidFill>
                    <a:srgbClr val="FFFFFF"/>
                  </a:solidFill>
                </a14:hiddenFill>
              </a:ext>
            </a:extLst>
          </p:spPr>
        </p:pic>
        <p:pic>
          <p:nvPicPr>
            <p:cNvPr id="2056" name="Picture 8" descr="SONY ソニー USB対応/ICカードリーダー PaSoRi RC-S380">
              <a:extLst>
                <a:ext uri="{FF2B5EF4-FFF2-40B4-BE49-F238E27FC236}">
                  <a16:creationId xmlns:a16="http://schemas.microsoft.com/office/drawing/2014/main" id="{6F5FA9DA-44DE-2EE4-C26E-8603990390A2}"/>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6400" r="6444"/>
            <a:stretch/>
          </p:blipFill>
          <p:spPr bwMode="auto">
            <a:xfrm>
              <a:off x="-546200" y="5124587"/>
              <a:ext cx="791288" cy="907902"/>
            </a:xfrm>
            <a:prstGeom prst="rect">
              <a:avLst/>
            </a:prstGeom>
            <a:noFill/>
            <a:extLst>
              <a:ext uri="{909E8E84-426E-40DD-AFC4-6F175D3DCCD1}">
                <a14:hiddenFill xmlns:a14="http://schemas.microsoft.com/office/drawing/2010/main">
                  <a:solidFill>
                    <a:srgbClr val="FFFFFF"/>
                  </a:solidFill>
                </a14:hiddenFill>
              </a:ext>
            </a:extLst>
          </p:spPr>
        </p:pic>
        <p:pic>
          <p:nvPicPr>
            <p:cNvPr id="1040" name="図 1039" descr="グラフィカル ユーザー インターフェイス が含まれている画像&#10;&#10;AI によって生成されたコンテンツは間違っている可能性があります。">
              <a:extLst>
                <a:ext uri="{FF2B5EF4-FFF2-40B4-BE49-F238E27FC236}">
                  <a16:creationId xmlns:a16="http://schemas.microsoft.com/office/drawing/2014/main" id="{07084999-77A6-4666-8345-624EED1A2FEC}"/>
                </a:ext>
              </a:extLst>
            </p:cNvPr>
            <p:cNvPicPr>
              <a:picLocks noChangeAspect="1"/>
            </p:cNvPicPr>
            <p:nvPr/>
          </p:nvPicPr>
          <p:blipFill>
            <a:blip r:embed="rId9">
              <a:extLst>
                <a:ext uri="{28A0092B-C50C-407E-A947-70E740481C1C}">
                  <a14:useLocalDpi xmlns:a14="http://schemas.microsoft.com/office/drawing/2010/main" val="0"/>
                </a:ext>
              </a:extLst>
            </a:blip>
            <a:srcRect l="13599" t="26013" r="13399" b="25815"/>
            <a:stretch/>
          </p:blipFill>
          <p:spPr>
            <a:xfrm>
              <a:off x="-631183" y="1432946"/>
              <a:ext cx="965826" cy="637316"/>
            </a:xfrm>
            <a:prstGeom prst="rect">
              <a:avLst/>
            </a:prstGeom>
          </p:spPr>
        </p:pic>
        <p:sp>
          <p:nvSpPr>
            <p:cNvPr id="1041" name="正方形/長方形 1040">
              <a:extLst>
                <a:ext uri="{FF2B5EF4-FFF2-40B4-BE49-F238E27FC236}">
                  <a16:creationId xmlns:a16="http://schemas.microsoft.com/office/drawing/2014/main" id="{E7A62501-26AB-CC1D-E4EF-27F67AC30990}"/>
                </a:ext>
              </a:extLst>
            </p:cNvPr>
            <p:cNvSpPr/>
            <p:nvPr/>
          </p:nvSpPr>
          <p:spPr>
            <a:xfrm>
              <a:off x="-573088" y="1481138"/>
              <a:ext cx="846139" cy="528637"/>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064" name="Picture 16" descr="縦型液晶モニター | パンダスタジオ・レンタル公式サイト">
              <a:extLst>
                <a:ext uri="{FF2B5EF4-FFF2-40B4-BE49-F238E27FC236}">
                  <a16:creationId xmlns:a16="http://schemas.microsoft.com/office/drawing/2014/main" id="{F07991E4-263C-B08D-77F8-FB6F4B2CA270}"/>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26797" t="5288" r="26358" b="3573"/>
            <a:stretch/>
          </p:blipFill>
          <p:spPr bwMode="auto">
            <a:xfrm>
              <a:off x="8924216" y="1188394"/>
              <a:ext cx="693730" cy="1114123"/>
            </a:xfrm>
            <a:prstGeom prst="rect">
              <a:avLst/>
            </a:prstGeom>
            <a:noFill/>
            <a:extLst>
              <a:ext uri="{909E8E84-426E-40DD-AFC4-6F175D3DCCD1}">
                <a14:hiddenFill xmlns:a14="http://schemas.microsoft.com/office/drawing/2010/main">
                  <a:solidFill>
                    <a:srgbClr val="FFFFFF"/>
                  </a:solidFill>
                </a14:hiddenFill>
              </a:ext>
            </a:extLst>
          </p:spPr>
        </p:pic>
        <p:sp>
          <p:nvSpPr>
            <p:cNvPr id="1042" name="正方形/長方形 1041">
              <a:extLst>
                <a:ext uri="{FF2B5EF4-FFF2-40B4-BE49-F238E27FC236}">
                  <a16:creationId xmlns:a16="http://schemas.microsoft.com/office/drawing/2014/main" id="{41508AB2-C96A-3D02-6BCD-3EE70047FCCF}"/>
                </a:ext>
              </a:extLst>
            </p:cNvPr>
            <p:cNvSpPr/>
            <p:nvPr/>
          </p:nvSpPr>
          <p:spPr>
            <a:xfrm rot="5400000">
              <a:off x="8772260" y="1461294"/>
              <a:ext cx="984780" cy="541866"/>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4224053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7" name="グループ化 26">
            <a:extLst>
              <a:ext uri="{FF2B5EF4-FFF2-40B4-BE49-F238E27FC236}">
                <a16:creationId xmlns:a16="http://schemas.microsoft.com/office/drawing/2014/main" id="{46E46C53-64D4-CBE5-16AB-220C7B769C60}"/>
              </a:ext>
            </a:extLst>
          </p:cNvPr>
          <p:cNvGrpSpPr/>
          <p:nvPr/>
        </p:nvGrpSpPr>
        <p:grpSpPr>
          <a:xfrm>
            <a:off x="299947" y="-41850"/>
            <a:ext cx="8544105" cy="6941699"/>
            <a:chOff x="299947" y="-41850"/>
            <a:chExt cx="8544105" cy="6941699"/>
          </a:xfrm>
        </p:grpSpPr>
        <p:grpSp>
          <p:nvGrpSpPr>
            <p:cNvPr id="1057" name="グループ化 1056">
              <a:extLst>
                <a:ext uri="{FF2B5EF4-FFF2-40B4-BE49-F238E27FC236}">
                  <a16:creationId xmlns:a16="http://schemas.microsoft.com/office/drawing/2014/main" id="{D662E677-6A1F-D95E-4D5E-B38BAC288BE9}"/>
                </a:ext>
              </a:extLst>
            </p:cNvPr>
            <p:cNvGrpSpPr/>
            <p:nvPr/>
          </p:nvGrpSpPr>
          <p:grpSpPr>
            <a:xfrm>
              <a:off x="299947" y="-41850"/>
              <a:ext cx="8544105" cy="6941699"/>
              <a:chOff x="-1051105" y="651407"/>
              <a:chExt cx="8544105" cy="6941699"/>
            </a:xfrm>
          </p:grpSpPr>
          <p:sp>
            <p:nvSpPr>
              <p:cNvPr id="1046" name="正方形/長方形 1045">
                <a:extLst>
                  <a:ext uri="{FF2B5EF4-FFF2-40B4-BE49-F238E27FC236}">
                    <a16:creationId xmlns:a16="http://schemas.microsoft.com/office/drawing/2014/main" id="{2C75E6CF-898D-845C-68EF-E3DE42BA0838}"/>
                  </a:ext>
                </a:extLst>
              </p:cNvPr>
              <p:cNvSpPr/>
              <p:nvPr/>
            </p:nvSpPr>
            <p:spPr>
              <a:xfrm>
                <a:off x="-1051105" y="651407"/>
                <a:ext cx="8544105" cy="694169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nvGrpSpPr>
              <p:cNvPr id="6" name="グループ化 5">
                <a:extLst>
                  <a:ext uri="{FF2B5EF4-FFF2-40B4-BE49-F238E27FC236}">
                    <a16:creationId xmlns:a16="http://schemas.microsoft.com/office/drawing/2014/main" id="{5AB298DF-BF0F-0547-3560-10978CC73930}"/>
                  </a:ext>
                </a:extLst>
              </p:cNvPr>
              <p:cNvGrpSpPr/>
              <p:nvPr/>
            </p:nvGrpSpPr>
            <p:grpSpPr>
              <a:xfrm>
                <a:off x="5992490" y="5210769"/>
                <a:ext cx="1058068" cy="814611"/>
                <a:chOff x="4098454" y="2667000"/>
                <a:chExt cx="1502808" cy="1157017"/>
              </a:xfrm>
            </p:grpSpPr>
            <p:pic>
              <p:nvPicPr>
                <p:cNvPr id="4" name="Graphic 23" descr="Amazon DynamoDB service icon.">
                  <a:extLst>
                    <a:ext uri="{FF2B5EF4-FFF2-40B4-BE49-F238E27FC236}">
                      <a16:creationId xmlns:a16="http://schemas.microsoft.com/office/drawing/2014/main" id="{09E7B4FA-F831-E597-6FD7-FEDC0353107C}"/>
                    </a:ext>
                  </a:extLst>
                </p:cNvPr>
                <p:cNvPicPr>
                  <a:picLocks noChangeAspect="1" noChangeArrowheads="1"/>
                </p:cNvPicPr>
                <p:nvPr/>
              </p:nvPicPr>
              <p:blipFill>
                <a:blip r:embed="rId2">
                  <a:extLst>
                    <a:ext uri="{96DAC541-7B7A-43D3-8B79-37D633B846F1}">
                      <asvg:svgBlip xmlns:asvg="http://schemas.microsoft.com/office/drawing/2016/SVG/main" r:embed="rId3"/>
                    </a:ext>
                  </a:extLst>
                </a:blip>
                <a:srcRect/>
                <a:stretch/>
              </p:blipFill>
              <p:spPr bwMode="auto">
                <a:xfrm>
                  <a:off x="4468858" y="2667000"/>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12">
                  <a:extLst>
                    <a:ext uri="{FF2B5EF4-FFF2-40B4-BE49-F238E27FC236}">
                      <a16:creationId xmlns:a16="http://schemas.microsoft.com/office/drawing/2014/main" id="{F6CF9882-5162-9946-A46A-D3F235438CB5}"/>
                    </a:ext>
                  </a:extLst>
                </p:cNvPr>
                <p:cNvSpPr txBox="1">
                  <a:spLocks noChangeArrowheads="1"/>
                </p:cNvSpPr>
                <p:nvPr/>
              </p:nvSpPr>
              <p:spPr bwMode="auto">
                <a:xfrm>
                  <a:off x="4098454" y="3430587"/>
                  <a:ext cx="1502808" cy="393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DynamoDB</a:t>
                  </a:r>
                </a:p>
              </p:txBody>
            </p:sp>
          </p:grpSp>
          <p:grpSp>
            <p:nvGrpSpPr>
              <p:cNvPr id="9" name="グループ化 8">
                <a:extLst>
                  <a:ext uri="{FF2B5EF4-FFF2-40B4-BE49-F238E27FC236}">
                    <a16:creationId xmlns:a16="http://schemas.microsoft.com/office/drawing/2014/main" id="{6B04B9C1-9624-1D93-1123-1C71B77FF4B6}"/>
                  </a:ext>
                </a:extLst>
              </p:cNvPr>
              <p:cNvGrpSpPr/>
              <p:nvPr/>
            </p:nvGrpSpPr>
            <p:grpSpPr>
              <a:xfrm>
                <a:off x="3461969" y="5207081"/>
                <a:ext cx="1117700" cy="998159"/>
                <a:chOff x="2576510" y="1184275"/>
                <a:chExt cx="1587506" cy="1417718"/>
              </a:xfrm>
            </p:grpSpPr>
            <p:pic>
              <p:nvPicPr>
                <p:cNvPr id="7" name="Graphic 7" descr="Amazon API Gateway service icon.">
                  <a:extLst>
                    <a:ext uri="{FF2B5EF4-FFF2-40B4-BE49-F238E27FC236}">
                      <a16:creationId xmlns:a16="http://schemas.microsoft.com/office/drawing/2014/main" id="{B1FA2622-73E8-2E9F-E1F1-C3343C2FDC25}"/>
                    </a:ext>
                  </a:extLst>
                </p:cNvPr>
                <p:cNvPicPr>
                  <a:picLocks noChangeAspect="1" noChangeArrowheads="1"/>
                </p:cNvPicPr>
                <p:nvPr/>
              </p:nvPicPr>
              <p:blipFill>
                <a:blip r:embed="rId4">
                  <a:extLst>
                    <a:ext uri="{96DAC541-7B7A-43D3-8B79-37D633B846F1}">
                      <asvg:svgBlip xmlns:asvg="http://schemas.microsoft.com/office/drawing/2016/SVG/main" r:embed="rId5"/>
                    </a:ext>
                  </a:extLst>
                </a:blip>
                <a:srcRect/>
                <a:stretch/>
              </p:blipFill>
              <p:spPr bwMode="auto">
                <a:xfrm>
                  <a:off x="2989263" y="1184275"/>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9">
                  <a:extLst>
                    <a:ext uri="{FF2B5EF4-FFF2-40B4-BE49-F238E27FC236}">
                      <a16:creationId xmlns:a16="http://schemas.microsoft.com/office/drawing/2014/main" id="{5653BD74-7D9D-B02C-3CE3-42E53CAF68CF}"/>
                    </a:ext>
                  </a:extLst>
                </p:cNvPr>
                <p:cNvSpPr txBox="1">
                  <a:spLocks noChangeArrowheads="1"/>
                </p:cNvSpPr>
                <p:nvPr/>
              </p:nvSpPr>
              <p:spPr bwMode="auto">
                <a:xfrm>
                  <a:off x="2576510" y="1946275"/>
                  <a:ext cx="1587506" cy="655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API Gateway</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(REST API)</a:t>
                  </a:r>
                </a:p>
              </p:txBody>
            </p:sp>
          </p:grpSp>
          <p:grpSp>
            <p:nvGrpSpPr>
              <p:cNvPr id="15" name="グループ化 14">
                <a:extLst>
                  <a:ext uri="{FF2B5EF4-FFF2-40B4-BE49-F238E27FC236}">
                    <a16:creationId xmlns:a16="http://schemas.microsoft.com/office/drawing/2014/main" id="{A79EC33B-4B27-3D2B-38A0-E04750E9315F}"/>
                  </a:ext>
                </a:extLst>
              </p:cNvPr>
              <p:cNvGrpSpPr/>
              <p:nvPr/>
            </p:nvGrpSpPr>
            <p:grpSpPr>
              <a:xfrm>
                <a:off x="4867083" y="5207081"/>
                <a:ext cx="820861" cy="812933"/>
                <a:chOff x="5051089" y="1185069"/>
                <a:chExt cx="1165896" cy="1154637"/>
              </a:xfrm>
            </p:grpSpPr>
            <p:pic>
              <p:nvPicPr>
                <p:cNvPr id="13" name="Graphic 10" descr="AWS Lambda service icon.">
                  <a:extLst>
                    <a:ext uri="{FF2B5EF4-FFF2-40B4-BE49-F238E27FC236}">
                      <a16:creationId xmlns:a16="http://schemas.microsoft.com/office/drawing/2014/main" id="{F419F683-A547-5C64-DFAA-FBD1B4C0FB57}"/>
                    </a:ext>
                  </a:extLst>
                </p:cNvPr>
                <p:cNvPicPr>
                  <a:picLocks noChangeAspect="1" noChangeArrowheads="1"/>
                </p:cNvPicPr>
                <p:nvPr/>
              </p:nvPicPr>
              <p:blipFill>
                <a:blip r:embed="rId6">
                  <a:extLst>
                    <a:ext uri="{96DAC541-7B7A-43D3-8B79-37D633B846F1}">
                      <asvg:svgBlip xmlns:asvg="http://schemas.microsoft.com/office/drawing/2016/SVG/main" r:embed="rId7"/>
                    </a:ext>
                  </a:extLst>
                </a:blip>
                <a:srcRect/>
                <a:stretch/>
              </p:blipFill>
              <p:spPr bwMode="auto">
                <a:xfrm>
                  <a:off x="5246688" y="1185069"/>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Box 20">
                  <a:extLst>
                    <a:ext uri="{FF2B5EF4-FFF2-40B4-BE49-F238E27FC236}">
                      <a16:creationId xmlns:a16="http://schemas.microsoft.com/office/drawing/2014/main" id="{B8551154-B4FE-401F-53FE-0DD7F7C19FA4}"/>
                    </a:ext>
                  </a:extLst>
                </p:cNvPr>
                <p:cNvSpPr txBox="1">
                  <a:spLocks noChangeArrowheads="1"/>
                </p:cNvSpPr>
                <p:nvPr/>
              </p:nvSpPr>
              <p:spPr bwMode="auto">
                <a:xfrm>
                  <a:off x="5051089" y="1946275"/>
                  <a:ext cx="1165896" cy="393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Lambda</a:t>
                  </a:r>
                </a:p>
              </p:txBody>
            </p:sp>
          </p:grpSp>
          <p:grpSp>
            <p:nvGrpSpPr>
              <p:cNvPr id="18" name="グループ化 17">
                <a:extLst>
                  <a:ext uri="{FF2B5EF4-FFF2-40B4-BE49-F238E27FC236}">
                    <a16:creationId xmlns:a16="http://schemas.microsoft.com/office/drawing/2014/main" id="{1666CCCA-2F14-22EC-EDF7-2166FAAC1C0A}"/>
                  </a:ext>
                </a:extLst>
              </p:cNvPr>
              <p:cNvGrpSpPr/>
              <p:nvPr/>
            </p:nvGrpSpPr>
            <p:grpSpPr>
              <a:xfrm>
                <a:off x="2212328" y="1503918"/>
                <a:ext cx="1068518" cy="813493"/>
                <a:chOff x="-6240556" y="-4075450"/>
                <a:chExt cx="1517651" cy="1155431"/>
              </a:xfrm>
            </p:grpSpPr>
            <p:pic>
              <p:nvPicPr>
                <p:cNvPr id="16" name="Graphic 17" descr="Amazon CloudWatch service icon.">
                  <a:extLst>
                    <a:ext uri="{FF2B5EF4-FFF2-40B4-BE49-F238E27FC236}">
                      <a16:creationId xmlns:a16="http://schemas.microsoft.com/office/drawing/2014/main" id="{72D73A54-B7E8-DAA4-D4A2-1039587308F7}"/>
                    </a:ext>
                  </a:extLst>
                </p:cNvPr>
                <p:cNvPicPr>
                  <a:picLocks noChangeAspect="1" noChangeArrowheads="1"/>
                </p:cNvPicPr>
                <p:nvPr/>
              </p:nvPicPr>
              <p:blipFill>
                <a:blip r:embed="rId8">
                  <a:extLst>
                    <a:ext uri="{96DAC541-7B7A-43D3-8B79-37D633B846F1}">
                      <asvg:svgBlip xmlns:asvg="http://schemas.microsoft.com/office/drawing/2016/SVG/main" r:embed="rId9"/>
                    </a:ext>
                  </a:extLst>
                </a:blip>
                <a:srcRect/>
                <a:stretch/>
              </p:blipFill>
              <p:spPr bwMode="auto">
                <a:xfrm>
                  <a:off x="-5862730" y="-4075450"/>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TextBox 9">
                  <a:extLst>
                    <a:ext uri="{FF2B5EF4-FFF2-40B4-BE49-F238E27FC236}">
                      <a16:creationId xmlns:a16="http://schemas.microsoft.com/office/drawing/2014/main" id="{90F4D677-6948-0050-983F-EC882D8E1E5E}"/>
                    </a:ext>
                  </a:extLst>
                </p:cNvPr>
                <p:cNvSpPr txBox="1">
                  <a:spLocks noChangeArrowheads="1"/>
                </p:cNvSpPr>
                <p:nvPr/>
              </p:nvSpPr>
              <p:spPr bwMode="auto">
                <a:xfrm>
                  <a:off x="-6240556" y="-3313450"/>
                  <a:ext cx="1517651" cy="393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CloudWatch</a:t>
                  </a:r>
                </a:p>
              </p:txBody>
            </p:sp>
          </p:grpSp>
          <p:grpSp>
            <p:nvGrpSpPr>
              <p:cNvPr id="21" name="グループ化 20">
                <a:extLst>
                  <a:ext uri="{FF2B5EF4-FFF2-40B4-BE49-F238E27FC236}">
                    <a16:creationId xmlns:a16="http://schemas.microsoft.com/office/drawing/2014/main" id="{0B9551C9-F335-4C5D-149E-83C42C13300A}"/>
                  </a:ext>
                </a:extLst>
              </p:cNvPr>
              <p:cNvGrpSpPr/>
              <p:nvPr/>
            </p:nvGrpSpPr>
            <p:grpSpPr>
              <a:xfrm>
                <a:off x="3752571" y="6519860"/>
                <a:ext cx="536494" cy="813493"/>
                <a:chOff x="7535863" y="1001200"/>
                <a:chExt cx="762000" cy="1155431"/>
              </a:xfrm>
            </p:grpSpPr>
            <p:pic>
              <p:nvPicPr>
                <p:cNvPr id="19" name="Graphic 19" descr="AWS Identity and Access Management (IAM) service icon.">
                  <a:extLst>
                    <a:ext uri="{FF2B5EF4-FFF2-40B4-BE49-F238E27FC236}">
                      <a16:creationId xmlns:a16="http://schemas.microsoft.com/office/drawing/2014/main" id="{456307D8-8FD7-AA78-6FBB-A53FCDB71CE1}"/>
                    </a:ext>
                  </a:extLst>
                </p:cNvPr>
                <p:cNvPicPr>
                  <a:picLocks noChangeAspect="1" noChangeArrowheads="1"/>
                </p:cNvPicPr>
                <p:nvPr/>
              </p:nvPicPr>
              <p:blipFill>
                <a:blip r:embed="rId10">
                  <a:extLst>
                    <a:ext uri="{96DAC541-7B7A-43D3-8B79-37D633B846F1}">
                      <asvg:svgBlip xmlns:asvg="http://schemas.microsoft.com/office/drawing/2016/SVG/main" r:embed="rId11"/>
                    </a:ext>
                  </a:extLst>
                </a:blip>
                <a:srcRect/>
                <a:stretch/>
              </p:blipFill>
              <p:spPr bwMode="auto">
                <a:xfrm>
                  <a:off x="7535863" y="1001200"/>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TextBox 12">
                  <a:extLst>
                    <a:ext uri="{FF2B5EF4-FFF2-40B4-BE49-F238E27FC236}">
                      <a16:creationId xmlns:a16="http://schemas.microsoft.com/office/drawing/2014/main" id="{E4BB1572-2396-71E7-FC15-5B3B9D0E49AA}"/>
                    </a:ext>
                  </a:extLst>
                </p:cNvPr>
                <p:cNvSpPr txBox="1">
                  <a:spLocks noChangeArrowheads="1"/>
                </p:cNvSpPr>
                <p:nvPr/>
              </p:nvSpPr>
              <p:spPr bwMode="auto">
                <a:xfrm>
                  <a:off x="7535863" y="1763200"/>
                  <a:ext cx="758826" cy="393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IAM</a:t>
                  </a:r>
                </a:p>
              </p:txBody>
            </p:sp>
          </p:grpSp>
          <p:grpSp>
            <p:nvGrpSpPr>
              <p:cNvPr id="45" name="グループ化 44">
                <a:extLst>
                  <a:ext uri="{FF2B5EF4-FFF2-40B4-BE49-F238E27FC236}">
                    <a16:creationId xmlns:a16="http://schemas.microsoft.com/office/drawing/2014/main" id="{E0648FB0-1AE6-FE32-341E-47593D472AE9}"/>
                  </a:ext>
                </a:extLst>
              </p:cNvPr>
              <p:cNvGrpSpPr/>
              <p:nvPr/>
            </p:nvGrpSpPr>
            <p:grpSpPr>
              <a:xfrm>
                <a:off x="116646" y="5208434"/>
                <a:ext cx="1605012" cy="998159"/>
                <a:chOff x="170591" y="3160753"/>
                <a:chExt cx="1605012" cy="998159"/>
              </a:xfrm>
            </p:grpSpPr>
            <p:pic>
              <p:nvPicPr>
                <p:cNvPr id="1030" name="Picture 6" descr="Raspberry Pi Docs - Google Play のアプリ">
                  <a:extLst>
                    <a:ext uri="{FF2B5EF4-FFF2-40B4-BE49-F238E27FC236}">
                      <a16:creationId xmlns:a16="http://schemas.microsoft.com/office/drawing/2014/main" id="{8E972A45-4913-C042-F6AD-78EA01352097}"/>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04850" y="3160753"/>
                  <a:ext cx="536494" cy="536494"/>
                </a:xfrm>
                <a:prstGeom prst="rect">
                  <a:avLst/>
                </a:prstGeom>
                <a:noFill/>
                <a:extLst>
                  <a:ext uri="{909E8E84-426E-40DD-AFC4-6F175D3DCCD1}">
                    <a14:hiddenFill xmlns:a14="http://schemas.microsoft.com/office/drawing/2010/main">
                      <a:solidFill>
                        <a:srgbClr val="FFFFFF"/>
                      </a:solidFill>
                    </a14:hiddenFill>
                  </a:ext>
                </a:extLst>
              </p:spPr>
            </p:pic>
            <p:sp>
              <p:nvSpPr>
                <p:cNvPr id="44" name="TextBox 12">
                  <a:extLst>
                    <a:ext uri="{FF2B5EF4-FFF2-40B4-BE49-F238E27FC236}">
                      <a16:creationId xmlns:a16="http://schemas.microsoft.com/office/drawing/2014/main" id="{E4B49D95-EA5B-7CFF-F1E1-9C6FFC632B85}"/>
                    </a:ext>
                  </a:extLst>
                </p:cNvPr>
                <p:cNvSpPr txBox="1">
                  <a:spLocks noChangeArrowheads="1"/>
                </p:cNvSpPr>
                <p:nvPr/>
              </p:nvSpPr>
              <p:spPr bwMode="auto">
                <a:xfrm>
                  <a:off x="170591" y="3697247"/>
                  <a:ext cx="16050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Raspberry Pi 4B</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(172.16.15.8)</a:t>
                  </a:r>
                </a:p>
              </p:txBody>
            </p:sp>
          </p:grpSp>
          <p:sp>
            <p:nvSpPr>
              <p:cNvPr id="47" name="テキスト ボックス 46">
                <a:extLst>
                  <a:ext uri="{FF2B5EF4-FFF2-40B4-BE49-F238E27FC236}">
                    <a16:creationId xmlns:a16="http://schemas.microsoft.com/office/drawing/2014/main" id="{D562318C-86DC-3D61-CA1B-1CC48B1C5AD8}"/>
                  </a:ext>
                </a:extLst>
              </p:cNvPr>
              <p:cNvSpPr txBox="1"/>
              <p:nvPr/>
            </p:nvSpPr>
            <p:spPr>
              <a:xfrm>
                <a:off x="-524297" y="5027594"/>
                <a:ext cx="1162293" cy="276999"/>
              </a:xfrm>
              <a:prstGeom prst="rect">
                <a:avLst/>
              </a:prstGeom>
              <a:noFill/>
            </p:spPr>
            <p:txBody>
              <a:bodyPr wrap="square">
                <a:spAutoFit/>
              </a:body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RC-S380 S</a:t>
                </a:r>
              </a:p>
            </p:txBody>
          </p:sp>
          <p:pic>
            <p:nvPicPr>
              <p:cNvPr id="48" name="図 47" descr="黒い背景と白い文字のロゴ&#10;&#10;AI によって生成されたコンテンツは間違っている可能性があります。">
                <a:extLst>
                  <a:ext uri="{FF2B5EF4-FFF2-40B4-BE49-F238E27FC236}">
                    <a16:creationId xmlns:a16="http://schemas.microsoft.com/office/drawing/2014/main" id="{3CDECD1A-ED82-AA04-1958-B2AAAFA25459}"/>
                  </a:ext>
                </a:extLst>
              </p:cNvPr>
              <p:cNvPicPr>
                <a:picLocks noChangeAspect="1"/>
              </p:cNvPicPr>
              <p:nvPr/>
            </p:nvPicPr>
            <p:blipFill>
              <a:blip r:embed="rId13">
                <a:biLevel thresh="50000"/>
                <a:extLst>
                  <a:ext uri="{28A0092B-C50C-407E-A947-70E740481C1C}">
                    <a14:useLocalDpi xmlns:a14="http://schemas.microsoft.com/office/drawing/2010/main" val="0"/>
                  </a:ext>
                </a:extLst>
              </a:blip>
              <a:srcRect t="19474" b="18132"/>
              <a:stretch/>
            </p:blipFill>
            <p:spPr>
              <a:xfrm flipH="1">
                <a:off x="-888388" y="5251759"/>
                <a:ext cx="1605014" cy="751622"/>
              </a:xfrm>
              <a:prstGeom prst="rect">
                <a:avLst/>
              </a:prstGeom>
            </p:spPr>
          </p:pic>
          <p:cxnSp>
            <p:nvCxnSpPr>
              <p:cNvPr id="56" name="Straight Arrow Connector 74" descr="Up and down pointing vertical arrow.">
                <a:extLst>
                  <a:ext uri="{FF2B5EF4-FFF2-40B4-BE49-F238E27FC236}">
                    <a16:creationId xmlns:a16="http://schemas.microsoft.com/office/drawing/2014/main" id="{E7156486-083C-1C0B-AD6D-8096C6EF27C7}"/>
                  </a:ext>
                </a:extLst>
              </p:cNvPr>
              <p:cNvCxnSpPr>
                <a:cxnSpLocks/>
                <a:stCxn id="1030" idx="3"/>
                <a:endCxn id="7" idx="1"/>
              </p:cNvCxnSpPr>
              <p:nvPr/>
            </p:nvCxnSpPr>
            <p:spPr>
              <a:xfrm flipV="1">
                <a:off x="1187399" y="5475328"/>
                <a:ext cx="2565173" cy="1353"/>
              </a:xfrm>
              <a:prstGeom prst="straightConnector1">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62" name="Straight Arrow Connector 74" descr="Up and down pointing vertical arrow.">
                <a:extLst>
                  <a:ext uri="{FF2B5EF4-FFF2-40B4-BE49-F238E27FC236}">
                    <a16:creationId xmlns:a16="http://schemas.microsoft.com/office/drawing/2014/main" id="{7FA670E1-A810-DFED-88AA-95BC2FA92557}"/>
                  </a:ext>
                </a:extLst>
              </p:cNvPr>
              <p:cNvCxnSpPr>
                <a:cxnSpLocks/>
                <a:stCxn id="7" idx="3"/>
                <a:endCxn id="13" idx="1"/>
              </p:cNvCxnSpPr>
              <p:nvPr/>
            </p:nvCxnSpPr>
            <p:spPr>
              <a:xfrm>
                <a:off x="4289066" y="5475328"/>
                <a:ext cx="715729" cy="0"/>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1025" name="Straight Arrow Connector 74" descr="Up and down pointing vertical arrow.">
                <a:extLst>
                  <a:ext uri="{FF2B5EF4-FFF2-40B4-BE49-F238E27FC236}">
                    <a16:creationId xmlns:a16="http://schemas.microsoft.com/office/drawing/2014/main" id="{3BEADEF6-B9B9-9905-F7A4-3555F9981684}"/>
                  </a:ext>
                </a:extLst>
              </p:cNvPr>
              <p:cNvCxnSpPr>
                <a:cxnSpLocks/>
                <a:stCxn id="13" idx="3"/>
                <a:endCxn id="4" idx="1"/>
              </p:cNvCxnSpPr>
              <p:nvPr/>
            </p:nvCxnSpPr>
            <p:spPr>
              <a:xfrm>
                <a:off x="5541290" y="5475328"/>
                <a:ext cx="711987" cy="3689"/>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grpSp>
            <p:nvGrpSpPr>
              <p:cNvPr id="26" name="グループ化 25">
                <a:extLst>
                  <a:ext uri="{FF2B5EF4-FFF2-40B4-BE49-F238E27FC236}">
                    <a16:creationId xmlns:a16="http://schemas.microsoft.com/office/drawing/2014/main" id="{D1824482-D92A-4124-9B73-9D05C18D17C9}"/>
                  </a:ext>
                </a:extLst>
              </p:cNvPr>
              <p:cNvGrpSpPr/>
              <p:nvPr/>
            </p:nvGrpSpPr>
            <p:grpSpPr>
              <a:xfrm>
                <a:off x="740426" y="6711137"/>
                <a:ext cx="924337" cy="403333"/>
                <a:chOff x="2262291" y="5685876"/>
                <a:chExt cx="924337" cy="403333"/>
              </a:xfrm>
            </p:grpSpPr>
            <p:pic>
              <p:nvPicPr>
                <p:cNvPr id="12" name="図 11" descr="アイコン&#10;&#10;AI によって生成されたコンテンツは間違っている可能性があります。">
                  <a:extLst>
                    <a:ext uri="{FF2B5EF4-FFF2-40B4-BE49-F238E27FC236}">
                      <a16:creationId xmlns:a16="http://schemas.microsoft.com/office/drawing/2014/main" id="{3B5491AF-094D-0C2C-AA50-84E29DBF391A}"/>
                    </a:ext>
                  </a:extLst>
                </p:cNvPr>
                <p:cNvPicPr>
                  <a:picLocks noChangeAspect="1"/>
                </p:cNvPicPr>
                <p:nvPr/>
              </p:nvPicPr>
              <p:blipFill>
                <a:blip r:embed="rId14">
                  <a:extLst>
                    <a:ext uri="{28A0092B-C50C-407E-A947-70E740481C1C}">
                      <a14:useLocalDpi xmlns:a14="http://schemas.microsoft.com/office/drawing/2010/main" val="0"/>
                    </a:ext>
                  </a:extLst>
                </a:blip>
                <a:srcRect l="10553" t="5709" r="9769" b="4466"/>
                <a:stretch/>
              </p:blipFill>
              <p:spPr>
                <a:xfrm>
                  <a:off x="2262291" y="5685876"/>
                  <a:ext cx="357774" cy="403333"/>
                </a:xfrm>
                <a:prstGeom prst="rect">
                  <a:avLst/>
                </a:prstGeom>
              </p:spPr>
            </p:pic>
            <p:sp>
              <p:nvSpPr>
                <p:cNvPr id="23" name="テキスト ボックス 22">
                  <a:extLst>
                    <a:ext uri="{FF2B5EF4-FFF2-40B4-BE49-F238E27FC236}">
                      <a16:creationId xmlns:a16="http://schemas.microsoft.com/office/drawing/2014/main" id="{E2138D15-9117-94F8-7F38-0F944E306336}"/>
                    </a:ext>
                  </a:extLst>
                </p:cNvPr>
                <p:cNvSpPr txBox="1"/>
                <p:nvPr/>
              </p:nvSpPr>
              <p:spPr>
                <a:xfrm>
                  <a:off x="2557071" y="5749042"/>
                  <a:ext cx="629557" cy="276999"/>
                </a:xfrm>
                <a:prstGeom prst="rect">
                  <a:avLst/>
                </a:prstGeom>
                <a:noFill/>
              </p:spPr>
              <p:txBody>
                <a:bodyPr wrap="square">
                  <a:spAutoFit/>
                </a:bodyPr>
                <a:lstStyle/>
                <a:p>
                  <a:r>
                    <a:rPr lang="en-US" altLang="ja-JP" sz="1200" dirty="0"/>
                    <a:t>:3000</a:t>
                  </a:r>
                  <a:endParaRPr lang="ja-JP" altLang="en-US" sz="1200" dirty="0"/>
                </a:p>
              </p:txBody>
            </p:sp>
          </p:grpSp>
          <p:grpSp>
            <p:nvGrpSpPr>
              <p:cNvPr id="25" name="グループ化 24">
                <a:extLst>
                  <a:ext uri="{FF2B5EF4-FFF2-40B4-BE49-F238E27FC236}">
                    <a16:creationId xmlns:a16="http://schemas.microsoft.com/office/drawing/2014/main" id="{D6671060-C272-77FD-703B-2DC5EFD04B30}"/>
                  </a:ext>
                </a:extLst>
              </p:cNvPr>
              <p:cNvGrpSpPr/>
              <p:nvPr/>
            </p:nvGrpSpPr>
            <p:grpSpPr>
              <a:xfrm>
                <a:off x="733065" y="6272196"/>
                <a:ext cx="931698" cy="372497"/>
                <a:chOff x="2254930" y="5246935"/>
                <a:chExt cx="931698" cy="372497"/>
              </a:xfrm>
            </p:grpSpPr>
            <p:pic>
              <p:nvPicPr>
                <p:cNvPr id="11" name="グラフィックス 10">
                  <a:extLst>
                    <a:ext uri="{FF2B5EF4-FFF2-40B4-BE49-F238E27FC236}">
                      <a16:creationId xmlns:a16="http://schemas.microsoft.com/office/drawing/2014/main" id="{576D2C5C-412D-783C-625F-6CA98DD66A4F}"/>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2254930" y="5246935"/>
                  <a:ext cx="372497" cy="372497"/>
                </a:xfrm>
                <a:prstGeom prst="rect">
                  <a:avLst/>
                </a:prstGeom>
              </p:spPr>
            </p:pic>
            <p:sp>
              <p:nvSpPr>
                <p:cNvPr id="24" name="テキスト ボックス 23">
                  <a:extLst>
                    <a:ext uri="{FF2B5EF4-FFF2-40B4-BE49-F238E27FC236}">
                      <a16:creationId xmlns:a16="http://schemas.microsoft.com/office/drawing/2014/main" id="{0F88A0AA-4ACA-1CDB-B05B-152EAEAFCB1A}"/>
                    </a:ext>
                  </a:extLst>
                </p:cNvPr>
                <p:cNvSpPr txBox="1"/>
                <p:nvPr/>
              </p:nvSpPr>
              <p:spPr>
                <a:xfrm>
                  <a:off x="2557071" y="5306333"/>
                  <a:ext cx="629557" cy="276999"/>
                </a:xfrm>
                <a:prstGeom prst="rect">
                  <a:avLst/>
                </a:prstGeom>
                <a:noFill/>
              </p:spPr>
              <p:txBody>
                <a:bodyPr wrap="square">
                  <a:spAutoFit/>
                </a:bodyPr>
                <a:lstStyle/>
                <a:p>
                  <a:r>
                    <a:rPr lang="en-US" altLang="ja-JP" sz="1200" dirty="0"/>
                    <a:t>:8000</a:t>
                  </a:r>
                  <a:endParaRPr lang="ja-JP" altLang="en-US" sz="1200" dirty="0"/>
                </a:p>
              </p:txBody>
            </p:sp>
          </p:grpSp>
          <p:grpSp>
            <p:nvGrpSpPr>
              <p:cNvPr id="34" name="グループ化 33">
                <a:extLst>
                  <a:ext uri="{FF2B5EF4-FFF2-40B4-BE49-F238E27FC236}">
                    <a16:creationId xmlns:a16="http://schemas.microsoft.com/office/drawing/2014/main" id="{96054910-FA8C-C893-DB9A-9C0534BF8E6A}"/>
                  </a:ext>
                </a:extLst>
              </p:cNvPr>
              <p:cNvGrpSpPr/>
              <p:nvPr/>
            </p:nvGrpSpPr>
            <p:grpSpPr>
              <a:xfrm>
                <a:off x="4670180" y="6519860"/>
                <a:ext cx="1211032" cy="802921"/>
                <a:chOff x="3129557" y="4452843"/>
                <a:chExt cx="1211032" cy="802921"/>
              </a:xfrm>
            </p:grpSpPr>
            <p:pic>
              <p:nvPicPr>
                <p:cNvPr id="29" name="Graphic 19" descr="Amazon EventBridge service icon.">
                  <a:extLst>
                    <a:ext uri="{FF2B5EF4-FFF2-40B4-BE49-F238E27FC236}">
                      <a16:creationId xmlns:a16="http://schemas.microsoft.com/office/drawing/2014/main" id="{30D29670-244B-9ECF-0CD7-DAE15F98D42E}"/>
                    </a:ext>
                  </a:extLst>
                </p:cNvPr>
                <p:cNvPicPr>
                  <a:picLocks noChangeAspect="1" noChangeArrowheads="1"/>
                </p:cNvPicPr>
                <p:nvPr/>
              </p:nvPicPr>
              <p:blipFill>
                <a:blip r:embed="rId17">
                  <a:extLst>
                    <a:ext uri="{96DAC541-7B7A-43D3-8B79-37D633B846F1}">
                      <asvg:svgBlip xmlns:asvg="http://schemas.microsoft.com/office/drawing/2016/SVG/main" r:embed="rId18"/>
                    </a:ext>
                  </a:extLst>
                </a:blip>
                <a:srcRect/>
                <a:stretch/>
              </p:blipFill>
              <p:spPr bwMode="auto">
                <a:xfrm>
                  <a:off x="3461744" y="4452843"/>
                  <a:ext cx="538923" cy="538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TextBox 11">
                  <a:extLst>
                    <a:ext uri="{FF2B5EF4-FFF2-40B4-BE49-F238E27FC236}">
                      <a16:creationId xmlns:a16="http://schemas.microsoft.com/office/drawing/2014/main" id="{2761234B-8DD3-7B6E-62CB-C0B7824E8BFA}"/>
                    </a:ext>
                  </a:extLst>
                </p:cNvPr>
                <p:cNvSpPr txBox="1">
                  <a:spLocks noChangeArrowheads="1"/>
                </p:cNvSpPr>
                <p:nvPr/>
              </p:nvSpPr>
              <p:spPr bwMode="auto">
                <a:xfrm>
                  <a:off x="3129557" y="4978765"/>
                  <a:ext cx="121103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err="1">
                      <a:latin typeface="Arial" panose="020B0604020202020204" pitchFamily="34" charset="0"/>
                      <a:ea typeface="Amazon Ember" panose="020B0603020204020204" pitchFamily="34" charset="0"/>
                      <a:cs typeface="Arial" panose="020B0604020202020204" pitchFamily="34" charset="0"/>
                    </a:rPr>
                    <a:t>EventBridge</a:t>
                  </a:r>
                  <a:endParaRPr lang="en-US" altLang="en-US" sz="1200" dirty="0">
                    <a:latin typeface="Arial" panose="020B0604020202020204" pitchFamily="34" charset="0"/>
                    <a:ea typeface="Amazon Ember" panose="020B0603020204020204" pitchFamily="34" charset="0"/>
                    <a:cs typeface="Arial" panose="020B0604020202020204" pitchFamily="34" charset="0"/>
                  </a:endParaRPr>
                </a:p>
              </p:txBody>
            </p:sp>
          </p:grpSp>
          <p:grpSp>
            <p:nvGrpSpPr>
              <p:cNvPr id="1029" name="グループ化 1028">
                <a:extLst>
                  <a:ext uri="{FF2B5EF4-FFF2-40B4-BE49-F238E27FC236}">
                    <a16:creationId xmlns:a16="http://schemas.microsoft.com/office/drawing/2014/main" id="{A783C41D-2586-119E-A749-84993876E474}"/>
                  </a:ext>
                </a:extLst>
              </p:cNvPr>
              <p:cNvGrpSpPr/>
              <p:nvPr/>
            </p:nvGrpSpPr>
            <p:grpSpPr>
              <a:xfrm>
                <a:off x="4579212" y="2771506"/>
                <a:ext cx="1410825" cy="998159"/>
                <a:chOff x="2368342" y="1184275"/>
                <a:chExt cx="2003841" cy="1417718"/>
              </a:xfrm>
            </p:grpSpPr>
            <p:pic>
              <p:nvPicPr>
                <p:cNvPr id="1034" name="Graphic 7" descr="Amazon API Gateway service icon.">
                  <a:extLst>
                    <a:ext uri="{FF2B5EF4-FFF2-40B4-BE49-F238E27FC236}">
                      <a16:creationId xmlns:a16="http://schemas.microsoft.com/office/drawing/2014/main" id="{10C0C143-D207-4D28-CEB1-645CBA78D577}"/>
                    </a:ext>
                  </a:extLst>
                </p:cNvPr>
                <p:cNvPicPr>
                  <a:picLocks noChangeAspect="1" noChangeArrowheads="1"/>
                </p:cNvPicPr>
                <p:nvPr/>
              </p:nvPicPr>
              <p:blipFill>
                <a:blip r:embed="rId4">
                  <a:extLst>
                    <a:ext uri="{96DAC541-7B7A-43D3-8B79-37D633B846F1}">
                      <asvg:svgBlip xmlns:asvg="http://schemas.microsoft.com/office/drawing/2016/SVG/main" r:embed="rId5"/>
                    </a:ext>
                  </a:extLst>
                </a:blip>
                <a:srcRect/>
                <a:stretch/>
              </p:blipFill>
              <p:spPr bwMode="auto">
                <a:xfrm>
                  <a:off x="2989264" y="1184275"/>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6" name="TextBox 9">
                  <a:extLst>
                    <a:ext uri="{FF2B5EF4-FFF2-40B4-BE49-F238E27FC236}">
                      <a16:creationId xmlns:a16="http://schemas.microsoft.com/office/drawing/2014/main" id="{BB6CA220-54BC-C1D3-5F50-78AF9BECCE85}"/>
                    </a:ext>
                  </a:extLst>
                </p:cNvPr>
                <p:cNvSpPr txBox="1">
                  <a:spLocks noChangeArrowheads="1"/>
                </p:cNvSpPr>
                <p:nvPr/>
              </p:nvSpPr>
              <p:spPr bwMode="auto">
                <a:xfrm>
                  <a:off x="2368342" y="1946275"/>
                  <a:ext cx="2003841" cy="655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API Gateway</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(WebSocket)</a:t>
                  </a:r>
                </a:p>
              </p:txBody>
            </p:sp>
          </p:grpSp>
          <p:grpSp>
            <p:nvGrpSpPr>
              <p:cNvPr id="1041" name="グループ化 1040">
                <a:extLst>
                  <a:ext uri="{FF2B5EF4-FFF2-40B4-BE49-F238E27FC236}">
                    <a16:creationId xmlns:a16="http://schemas.microsoft.com/office/drawing/2014/main" id="{B1B1A735-9413-337F-8D47-8FE07CC0A871}"/>
                  </a:ext>
                </a:extLst>
              </p:cNvPr>
              <p:cNvGrpSpPr/>
              <p:nvPr/>
            </p:nvGrpSpPr>
            <p:grpSpPr>
              <a:xfrm>
                <a:off x="6106438" y="2773528"/>
                <a:ext cx="820861" cy="812933"/>
                <a:chOff x="5051089" y="1185069"/>
                <a:chExt cx="1165896" cy="1154637"/>
              </a:xfrm>
            </p:grpSpPr>
            <p:pic>
              <p:nvPicPr>
                <p:cNvPr id="1042" name="Graphic 10" descr="AWS Lambda service icon.">
                  <a:extLst>
                    <a:ext uri="{FF2B5EF4-FFF2-40B4-BE49-F238E27FC236}">
                      <a16:creationId xmlns:a16="http://schemas.microsoft.com/office/drawing/2014/main" id="{E37511FE-9A36-B1D4-BC95-7DA3F4BB6F23}"/>
                    </a:ext>
                  </a:extLst>
                </p:cNvPr>
                <p:cNvPicPr>
                  <a:picLocks noChangeAspect="1" noChangeArrowheads="1"/>
                </p:cNvPicPr>
                <p:nvPr/>
              </p:nvPicPr>
              <p:blipFill>
                <a:blip r:embed="rId6">
                  <a:extLst>
                    <a:ext uri="{96DAC541-7B7A-43D3-8B79-37D633B846F1}">
                      <asvg:svgBlip xmlns:asvg="http://schemas.microsoft.com/office/drawing/2016/SVG/main" r:embed="rId7"/>
                    </a:ext>
                  </a:extLst>
                </a:blip>
                <a:srcRect/>
                <a:stretch/>
              </p:blipFill>
              <p:spPr bwMode="auto">
                <a:xfrm>
                  <a:off x="5246688" y="1185069"/>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3" name="TextBox 20">
                  <a:extLst>
                    <a:ext uri="{FF2B5EF4-FFF2-40B4-BE49-F238E27FC236}">
                      <a16:creationId xmlns:a16="http://schemas.microsoft.com/office/drawing/2014/main" id="{D6A4D275-2021-C18A-0E5B-BF782E8B1EB3}"/>
                    </a:ext>
                  </a:extLst>
                </p:cNvPr>
                <p:cNvSpPr txBox="1">
                  <a:spLocks noChangeArrowheads="1"/>
                </p:cNvSpPr>
                <p:nvPr/>
              </p:nvSpPr>
              <p:spPr bwMode="auto">
                <a:xfrm>
                  <a:off x="5051089" y="1946275"/>
                  <a:ext cx="1165896" cy="393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Lambda</a:t>
                  </a:r>
                </a:p>
              </p:txBody>
            </p:sp>
          </p:grpSp>
          <p:cxnSp>
            <p:nvCxnSpPr>
              <p:cNvPr id="1047" name="Straight Arrow Connector 74" descr="Up and down pointing vertical arrow.">
                <a:extLst>
                  <a:ext uri="{FF2B5EF4-FFF2-40B4-BE49-F238E27FC236}">
                    <a16:creationId xmlns:a16="http://schemas.microsoft.com/office/drawing/2014/main" id="{AF1952EF-9F4E-3A19-9DDB-F27FA1458E80}"/>
                  </a:ext>
                </a:extLst>
              </p:cNvPr>
              <p:cNvCxnSpPr>
                <a:cxnSpLocks/>
                <a:stCxn id="1042" idx="1"/>
                <a:endCxn id="1034" idx="3"/>
              </p:cNvCxnSpPr>
              <p:nvPr/>
            </p:nvCxnSpPr>
            <p:spPr>
              <a:xfrm flipH="1" flipV="1">
                <a:off x="5552872" y="3039753"/>
                <a:ext cx="691279" cy="2022"/>
              </a:xfrm>
              <a:prstGeom prst="straightConnector1">
                <a:avLst/>
              </a:prstGeom>
              <a:ln w="15875">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grpSp>
            <p:nvGrpSpPr>
              <p:cNvPr id="1050" name="グループ化 1049">
                <a:extLst>
                  <a:ext uri="{FF2B5EF4-FFF2-40B4-BE49-F238E27FC236}">
                    <a16:creationId xmlns:a16="http://schemas.microsoft.com/office/drawing/2014/main" id="{8B22BC65-DDB3-9EE3-EAC7-3D17A6875C78}"/>
                  </a:ext>
                </a:extLst>
              </p:cNvPr>
              <p:cNvGrpSpPr/>
              <p:nvPr/>
            </p:nvGrpSpPr>
            <p:grpSpPr>
              <a:xfrm>
                <a:off x="116069" y="2771923"/>
                <a:ext cx="1605012" cy="998159"/>
                <a:chOff x="170591" y="3160753"/>
                <a:chExt cx="1605012" cy="998159"/>
              </a:xfrm>
            </p:grpSpPr>
            <p:pic>
              <p:nvPicPr>
                <p:cNvPr id="1051" name="Picture 6" descr="Raspberry Pi Docs - Google Play のアプリ">
                  <a:extLst>
                    <a:ext uri="{FF2B5EF4-FFF2-40B4-BE49-F238E27FC236}">
                      <a16:creationId xmlns:a16="http://schemas.microsoft.com/office/drawing/2014/main" id="{8BBE8A14-45A7-8C7D-09C9-3F95BE593114}"/>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04850" y="3160753"/>
                  <a:ext cx="536494" cy="536494"/>
                </a:xfrm>
                <a:prstGeom prst="rect">
                  <a:avLst/>
                </a:prstGeom>
                <a:noFill/>
                <a:extLst>
                  <a:ext uri="{909E8E84-426E-40DD-AFC4-6F175D3DCCD1}">
                    <a14:hiddenFill xmlns:a14="http://schemas.microsoft.com/office/drawing/2010/main">
                      <a:solidFill>
                        <a:srgbClr val="FFFFFF"/>
                      </a:solidFill>
                    </a14:hiddenFill>
                  </a:ext>
                </a:extLst>
              </p:spPr>
            </p:pic>
            <p:sp>
              <p:nvSpPr>
                <p:cNvPr id="1052" name="TextBox 12">
                  <a:extLst>
                    <a:ext uri="{FF2B5EF4-FFF2-40B4-BE49-F238E27FC236}">
                      <a16:creationId xmlns:a16="http://schemas.microsoft.com/office/drawing/2014/main" id="{6C922853-5019-C033-CFAF-4453ACD47D19}"/>
                    </a:ext>
                  </a:extLst>
                </p:cNvPr>
                <p:cNvSpPr txBox="1">
                  <a:spLocks noChangeArrowheads="1"/>
                </p:cNvSpPr>
                <p:nvPr/>
              </p:nvSpPr>
              <p:spPr bwMode="auto">
                <a:xfrm>
                  <a:off x="170591" y="3697247"/>
                  <a:ext cx="16050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Raspberry Pi 5</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(172.16.15.7)</a:t>
                  </a:r>
                </a:p>
              </p:txBody>
            </p:sp>
          </p:grpSp>
          <p:cxnSp>
            <p:nvCxnSpPr>
              <p:cNvPr id="3" name="Straight Arrow Connector 74" descr="Up and down pointing vertical arrow.">
                <a:extLst>
                  <a:ext uri="{FF2B5EF4-FFF2-40B4-BE49-F238E27FC236}">
                    <a16:creationId xmlns:a16="http://schemas.microsoft.com/office/drawing/2014/main" id="{4D9E0ED1-8646-6D9D-B3E6-9EFAA6C08ACB}"/>
                  </a:ext>
                </a:extLst>
              </p:cNvPr>
              <p:cNvCxnSpPr>
                <a:cxnSpLocks/>
                <a:stCxn id="55" idx="0"/>
              </p:cNvCxnSpPr>
              <p:nvPr/>
            </p:nvCxnSpPr>
            <p:spPr>
              <a:xfrm flipH="1" flipV="1">
                <a:off x="6586961" y="3586461"/>
                <a:ext cx="2327" cy="1503692"/>
              </a:xfrm>
              <a:prstGeom prst="straightConnector1">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sp>
            <p:nvSpPr>
              <p:cNvPr id="1062" name="TextBox 12">
                <a:extLst>
                  <a:ext uri="{FF2B5EF4-FFF2-40B4-BE49-F238E27FC236}">
                    <a16:creationId xmlns:a16="http://schemas.microsoft.com/office/drawing/2014/main" id="{3B72DB95-09B4-2415-D174-A3F60B89E5E7}"/>
                  </a:ext>
                </a:extLst>
              </p:cNvPr>
              <p:cNvSpPr txBox="1">
                <a:spLocks noChangeArrowheads="1"/>
              </p:cNvSpPr>
              <p:nvPr/>
            </p:nvSpPr>
            <p:spPr bwMode="auto">
              <a:xfrm>
                <a:off x="6573710" y="4217978"/>
                <a:ext cx="730725" cy="276999"/>
              </a:xfrm>
              <a:prstGeom prst="rect">
                <a:avLst/>
              </a:prstGeom>
              <a:noFill/>
              <a:ln>
                <a:noFill/>
              </a:ln>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ja-JP" sz="1200" dirty="0">
                    <a:latin typeface="Arial" panose="020B0604020202020204" pitchFamily="34" charset="0"/>
                    <a:ea typeface="Amazon Ember" panose="020B0603020204020204" pitchFamily="34" charset="0"/>
                    <a:cs typeface="Arial" panose="020B0604020202020204" pitchFamily="34" charset="0"/>
                  </a:rPr>
                  <a:t>Stream</a:t>
                </a:r>
                <a:endParaRPr lang="en-US" altLang="en-US" sz="1200" dirty="0">
                  <a:latin typeface="Arial" panose="020B0604020202020204" pitchFamily="34" charset="0"/>
                  <a:ea typeface="Amazon Ember" panose="020B0603020204020204" pitchFamily="34" charset="0"/>
                  <a:cs typeface="Arial" panose="020B0604020202020204" pitchFamily="34" charset="0"/>
                </a:endParaRPr>
              </a:p>
            </p:txBody>
          </p:sp>
          <p:sp>
            <p:nvSpPr>
              <p:cNvPr id="55" name="楕円 54">
                <a:extLst>
                  <a:ext uri="{FF2B5EF4-FFF2-40B4-BE49-F238E27FC236}">
                    <a16:creationId xmlns:a16="http://schemas.microsoft.com/office/drawing/2014/main" id="{6928FEC2-F68F-924F-28AC-E9C97B7DF375}"/>
                  </a:ext>
                </a:extLst>
              </p:cNvPr>
              <p:cNvSpPr/>
              <p:nvPr/>
            </p:nvSpPr>
            <p:spPr>
              <a:xfrm>
                <a:off x="6545929" y="5090153"/>
                <a:ext cx="86718" cy="86718"/>
              </a:xfrm>
              <a:prstGeom prst="ellipse">
                <a:avLst/>
              </a:prstGeom>
              <a:solidFill>
                <a:srgbClr val="1D1B1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4" name="Rectangle 103" descr="Generic group dashed.">
                <a:extLst>
                  <a:ext uri="{FF2B5EF4-FFF2-40B4-BE49-F238E27FC236}">
                    <a16:creationId xmlns:a16="http://schemas.microsoft.com/office/drawing/2014/main" id="{FCF425FA-CA39-B9F5-D594-ABA78922C3D8}"/>
                  </a:ext>
                </a:extLst>
              </p:cNvPr>
              <p:cNvSpPr/>
              <p:nvPr/>
            </p:nvSpPr>
            <p:spPr>
              <a:xfrm>
                <a:off x="3404426" y="5005111"/>
                <a:ext cx="3643800" cy="1288989"/>
              </a:xfrm>
              <a:prstGeom prst="rect">
                <a:avLst/>
              </a:prstGeom>
              <a:noFill/>
              <a:ln w="15875">
                <a:solidFill>
                  <a:srgbClr val="7D8998"/>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eaLnBrk="1" fontAlgn="auto" hangingPunct="1">
                  <a:spcBef>
                    <a:spcPts val="0"/>
                  </a:spcBef>
                  <a:spcAft>
                    <a:spcPts val="0"/>
                  </a:spcAft>
                  <a:defRPr/>
                </a:pPr>
                <a:endParaRPr lang="en-US" sz="1200" dirty="0">
                  <a:solidFill>
                    <a:schemeClr val="tx1"/>
                  </a:solidFill>
                  <a:latin typeface="Arial" panose="020B0604020202020204" pitchFamily="34" charset="0"/>
                  <a:cs typeface="Arial" panose="020B0604020202020204" pitchFamily="34" charset="0"/>
                </a:endParaRPr>
              </a:p>
            </p:txBody>
          </p:sp>
          <p:sp>
            <p:nvSpPr>
              <p:cNvPr id="1049" name="Rectangle 103" descr="Generic group dashed.">
                <a:extLst>
                  <a:ext uri="{FF2B5EF4-FFF2-40B4-BE49-F238E27FC236}">
                    <a16:creationId xmlns:a16="http://schemas.microsoft.com/office/drawing/2014/main" id="{13FFE55A-89E2-0E7C-DD08-5644E6101532}"/>
                  </a:ext>
                </a:extLst>
              </p:cNvPr>
              <p:cNvSpPr/>
              <p:nvPr/>
            </p:nvSpPr>
            <p:spPr>
              <a:xfrm>
                <a:off x="3404426" y="1378983"/>
                <a:ext cx="3581598" cy="2449834"/>
              </a:xfrm>
              <a:prstGeom prst="rect">
                <a:avLst/>
              </a:prstGeom>
              <a:noFill/>
              <a:ln w="15875">
                <a:solidFill>
                  <a:srgbClr val="7D8998"/>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eaLnBrk="1" fontAlgn="auto" hangingPunct="1">
                  <a:spcBef>
                    <a:spcPts val="0"/>
                  </a:spcBef>
                  <a:spcAft>
                    <a:spcPts val="0"/>
                  </a:spcAft>
                  <a:defRPr/>
                </a:pPr>
                <a:endParaRPr lang="en-US" sz="1200" dirty="0">
                  <a:solidFill>
                    <a:schemeClr val="tx1"/>
                  </a:solidFill>
                  <a:latin typeface="Arial" panose="020B0604020202020204" pitchFamily="34" charset="0"/>
                  <a:cs typeface="Arial" panose="020B0604020202020204" pitchFamily="34" charset="0"/>
                </a:endParaRPr>
              </a:p>
            </p:txBody>
          </p:sp>
          <p:grpSp>
            <p:nvGrpSpPr>
              <p:cNvPr id="39" name="グループ化 38">
                <a:extLst>
                  <a:ext uri="{FF2B5EF4-FFF2-40B4-BE49-F238E27FC236}">
                    <a16:creationId xmlns:a16="http://schemas.microsoft.com/office/drawing/2014/main" id="{29F1CA3B-C79E-E4EC-5FFE-E8482FA4A6AF}"/>
                  </a:ext>
                </a:extLst>
              </p:cNvPr>
              <p:cNvGrpSpPr/>
              <p:nvPr/>
            </p:nvGrpSpPr>
            <p:grpSpPr>
              <a:xfrm>
                <a:off x="3655456" y="2771923"/>
                <a:ext cx="730725" cy="813493"/>
                <a:chOff x="3005693" y="1391828"/>
                <a:chExt cx="730725" cy="813493"/>
              </a:xfrm>
            </p:grpSpPr>
            <p:pic>
              <p:nvPicPr>
                <p:cNvPr id="2" name="Graphic 10" descr="AWS Amplify service icon.">
                  <a:extLst>
                    <a:ext uri="{FF2B5EF4-FFF2-40B4-BE49-F238E27FC236}">
                      <a16:creationId xmlns:a16="http://schemas.microsoft.com/office/drawing/2014/main" id="{A9B21E94-1DB6-1C66-84B0-062E8B767917}"/>
                    </a:ext>
                  </a:extLst>
                </p:cNvPr>
                <p:cNvPicPr>
                  <a:picLocks noChangeAspect="1" noChangeArrowheads="1"/>
                </p:cNvPicPr>
                <p:nvPr/>
              </p:nvPicPr>
              <p:blipFill>
                <a:blip r:embed="rId19">
                  <a:extLst>
                    <a:ext uri="{96DAC541-7B7A-43D3-8B79-37D633B846F1}">
                      <asvg:svgBlip xmlns:asvg="http://schemas.microsoft.com/office/drawing/2016/SVG/main" r:embed="rId20"/>
                    </a:ext>
                  </a:extLst>
                </a:blip>
                <a:srcRect/>
                <a:stretch/>
              </p:blipFill>
              <p:spPr bwMode="auto">
                <a:xfrm>
                  <a:off x="3102809" y="1391828"/>
                  <a:ext cx="536494" cy="536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 name="TextBox 6">
                  <a:extLst>
                    <a:ext uri="{FF2B5EF4-FFF2-40B4-BE49-F238E27FC236}">
                      <a16:creationId xmlns:a16="http://schemas.microsoft.com/office/drawing/2014/main" id="{5B6CD500-A2C2-6A38-B141-81D388F7B8EB}"/>
                    </a:ext>
                  </a:extLst>
                </p:cNvPr>
                <p:cNvSpPr txBox="1">
                  <a:spLocks noChangeArrowheads="1"/>
                </p:cNvSpPr>
                <p:nvPr/>
              </p:nvSpPr>
              <p:spPr bwMode="auto">
                <a:xfrm>
                  <a:off x="3005693" y="1928322"/>
                  <a:ext cx="7307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Amplify</a:t>
                  </a:r>
                </a:p>
              </p:txBody>
            </p:sp>
          </p:grpSp>
          <p:cxnSp>
            <p:nvCxnSpPr>
              <p:cNvPr id="53" name="Straight Arrow Connector 74" descr="Up and down pointing vertical arrow.">
                <a:extLst>
                  <a:ext uri="{FF2B5EF4-FFF2-40B4-BE49-F238E27FC236}">
                    <a16:creationId xmlns:a16="http://schemas.microsoft.com/office/drawing/2014/main" id="{052BF3AE-9BDA-EC1F-E90E-9BF5A5C068AF}"/>
                  </a:ext>
                </a:extLst>
              </p:cNvPr>
              <p:cNvCxnSpPr>
                <a:cxnSpLocks/>
                <a:stCxn id="2" idx="1"/>
                <a:endCxn id="1051" idx="3"/>
              </p:cNvCxnSpPr>
              <p:nvPr/>
            </p:nvCxnSpPr>
            <p:spPr>
              <a:xfrm flipH="1">
                <a:off x="1186822" y="3040170"/>
                <a:ext cx="2565750" cy="0"/>
              </a:xfrm>
              <a:prstGeom prst="straightConnector1">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1027" name="Straight Arrow Connector 74" descr="Up and down pointing vertical arrow.">
                <a:extLst>
                  <a:ext uri="{FF2B5EF4-FFF2-40B4-BE49-F238E27FC236}">
                    <a16:creationId xmlns:a16="http://schemas.microsoft.com/office/drawing/2014/main" id="{2BE34991-300B-46A9-C4A2-EDF0D52DE561}"/>
                  </a:ext>
                </a:extLst>
              </p:cNvPr>
              <p:cNvCxnSpPr>
                <a:cxnSpLocks/>
                <a:stCxn id="7" idx="0"/>
                <a:endCxn id="35" idx="2"/>
              </p:cNvCxnSpPr>
              <p:nvPr/>
            </p:nvCxnSpPr>
            <p:spPr>
              <a:xfrm flipV="1">
                <a:off x="4020819" y="3585416"/>
                <a:ext cx="0" cy="1621665"/>
              </a:xfrm>
              <a:prstGeom prst="straightConnector1">
                <a:avLst/>
              </a:prstGeom>
              <a:ln w="15875">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1048" name="テキスト ボックス 1047">
                <a:extLst>
                  <a:ext uri="{FF2B5EF4-FFF2-40B4-BE49-F238E27FC236}">
                    <a16:creationId xmlns:a16="http://schemas.microsoft.com/office/drawing/2014/main" id="{4CAB4404-ECDB-EA1D-D578-D73233C54B22}"/>
                  </a:ext>
                </a:extLst>
              </p:cNvPr>
              <p:cNvSpPr txBox="1"/>
              <p:nvPr/>
            </p:nvSpPr>
            <p:spPr>
              <a:xfrm>
                <a:off x="3318304" y="1077100"/>
                <a:ext cx="2390492" cy="276999"/>
              </a:xfrm>
              <a:prstGeom prst="rect">
                <a:avLst/>
              </a:prstGeom>
              <a:solidFill>
                <a:srgbClr val="FFFFFF"/>
              </a:solidFill>
            </p:spPr>
            <p:txBody>
              <a:bodyPr wrap="square" rtlCol="0">
                <a:spAutoFit/>
              </a:bodyPr>
              <a:lstStyle/>
              <a:p>
                <a:r>
                  <a:rPr lang="ja-JP" altLang="en-US" sz="1200" b="1" dirty="0">
                    <a:latin typeface="BIZ UDゴシック" panose="020B0400000000000000" pitchFamily="49" charset="-128"/>
                    <a:ea typeface="BIZ UDゴシック" panose="020B0400000000000000" pitchFamily="49" charset="-128"/>
                  </a:rPr>
                  <a:t>ユーザー・在室表示サービス</a:t>
                </a:r>
                <a:endParaRPr kumimoji="1" lang="ja-JP" altLang="en-US" sz="1200" b="1" dirty="0">
                  <a:latin typeface="BIZ UDゴシック" panose="020B0400000000000000" pitchFamily="49" charset="-128"/>
                  <a:ea typeface="BIZ UDゴシック" panose="020B0400000000000000" pitchFamily="49" charset="-128"/>
                </a:endParaRPr>
              </a:p>
            </p:txBody>
          </p:sp>
          <p:sp>
            <p:nvSpPr>
              <p:cNvPr id="1045" name="テキスト ボックス 1044">
                <a:extLst>
                  <a:ext uri="{FF2B5EF4-FFF2-40B4-BE49-F238E27FC236}">
                    <a16:creationId xmlns:a16="http://schemas.microsoft.com/office/drawing/2014/main" id="{8D080CFC-8A0E-090B-01EC-FD4617DC5D0B}"/>
                  </a:ext>
                </a:extLst>
              </p:cNvPr>
              <p:cNvSpPr txBox="1"/>
              <p:nvPr/>
            </p:nvSpPr>
            <p:spPr>
              <a:xfrm>
                <a:off x="3318304" y="4720368"/>
                <a:ext cx="2390492" cy="276999"/>
              </a:xfrm>
              <a:prstGeom prst="rect">
                <a:avLst/>
              </a:prstGeom>
              <a:solidFill>
                <a:srgbClr val="FFFFFF"/>
              </a:solidFill>
            </p:spPr>
            <p:txBody>
              <a:bodyPr wrap="square" rtlCol="0">
                <a:spAutoFit/>
              </a:bodyPr>
              <a:lstStyle/>
              <a:p>
                <a:r>
                  <a:rPr lang="ja-JP" altLang="en-US" sz="1200" b="1" dirty="0">
                    <a:latin typeface="BIZ UDゴシック" panose="020B0400000000000000" pitchFamily="49" charset="-128"/>
                    <a:ea typeface="BIZ UDゴシック" panose="020B0400000000000000" pitchFamily="49" charset="-128"/>
                  </a:rPr>
                  <a:t>ユーザー・在室登録サービス</a:t>
                </a:r>
                <a:endParaRPr kumimoji="1" lang="ja-JP" altLang="en-US" sz="1200" b="1" dirty="0">
                  <a:latin typeface="BIZ UDゴシック" panose="020B0400000000000000" pitchFamily="49" charset="-128"/>
                  <a:ea typeface="BIZ UDゴシック" panose="020B0400000000000000" pitchFamily="49" charset="-128"/>
                </a:endParaRPr>
              </a:p>
            </p:txBody>
          </p:sp>
          <p:cxnSp>
            <p:nvCxnSpPr>
              <p:cNvPr id="37" name="Straight Arrow Connector 74" descr="Up and down pointing vertical arrow.">
                <a:extLst>
                  <a:ext uri="{FF2B5EF4-FFF2-40B4-BE49-F238E27FC236}">
                    <a16:creationId xmlns:a16="http://schemas.microsoft.com/office/drawing/2014/main" id="{D60F5984-BEEB-1D69-FF87-9AC758487B60}"/>
                  </a:ext>
                </a:extLst>
              </p:cNvPr>
              <p:cNvCxnSpPr>
                <a:cxnSpLocks/>
                <a:stCxn id="1034" idx="1"/>
                <a:endCxn id="2" idx="3"/>
              </p:cNvCxnSpPr>
              <p:nvPr/>
            </p:nvCxnSpPr>
            <p:spPr>
              <a:xfrm flipH="1">
                <a:off x="4289066" y="3039753"/>
                <a:ext cx="727313" cy="417"/>
              </a:xfrm>
              <a:prstGeom prst="straightConnector1">
                <a:avLst/>
              </a:prstGeom>
              <a:ln w="15875">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3" name="Straight Arrow Connector 54" descr="Right pointing horizontal arrow.">
                <a:extLst>
                  <a:ext uri="{FF2B5EF4-FFF2-40B4-BE49-F238E27FC236}">
                    <a16:creationId xmlns:a16="http://schemas.microsoft.com/office/drawing/2014/main" id="{33A69D4A-DF3C-AEA3-00AA-C9B96B883614}"/>
                  </a:ext>
                </a:extLst>
              </p:cNvPr>
              <p:cNvCxnSpPr>
                <a:cxnSpLocks/>
                <a:stCxn id="8" idx="2"/>
                <a:endCxn id="19" idx="0"/>
              </p:cNvCxnSpPr>
              <p:nvPr/>
            </p:nvCxnSpPr>
            <p:spPr>
              <a:xfrm flipH="1">
                <a:off x="4020818" y="6205240"/>
                <a:ext cx="1" cy="314620"/>
              </a:xfrm>
              <a:prstGeom prst="straightConnector1">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58" name="Straight Arrow Connector 74" descr="Up and down pointing vertical arrow.">
                <a:extLst>
                  <a:ext uri="{FF2B5EF4-FFF2-40B4-BE49-F238E27FC236}">
                    <a16:creationId xmlns:a16="http://schemas.microsoft.com/office/drawing/2014/main" id="{713D3988-1F16-E739-0947-4126FB8183D7}"/>
                  </a:ext>
                </a:extLst>
              </p:cNvPr>
              <p:cNvCxnSpPr>
                <a:cxnSpLocks/>
                <a:stCxn id="29" idx="0"/>
                <a:endCxn id="14" idx="2"/>
              </p:cNvCxnSpPr>
              <p:nvPr/>
            </p:nvCxnSpPr>
            <p:spPr>
              <a:xfrm flipV="1">
                <a:off x="5271829" y="6020014"/>
                <a:ext cx="5685" cy="499846"/>
              </a:xfrm>
              <a:prstGeom prst="straightConnector1">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grpSp>
            <p:nvGrpSpPr>
              <p:cNvPr id="28" name="グループ化 27">
                <a:extLst>
                  <a:ext uri="{FF2B5EF4-FFF2-40B4-BE49-F238E27FC236}">
                    <a16:creationId xmlns:a16="http://schemas.microsoft.com/office/drawing/2014/main" id="{13359355-8E97-34E2-342C-F7C44F29ED18}"/>
                  </a:ext>
                </a:extLst>
              </p:cNvPr>
              <p:cNvGrpSpPr/>
              <p:nvPr/>
            </p:nvGrpSpPr>
            <p:grpSpPr>
              <a:xfrm>
                <a:off x="2258063" y="3977362"/>
                <a:ext cx="1020292" cy="992557"/>
                <a:chOff x="3864463" y="3839626"/>
                <a:chExt cx="1020292" cy="992557"/>
              </a:xfrm>
            </p:grpSpPr>
            <p:pic>
              <p:nvPicPr>
                <p:cNvPr id="10" name="Graphic 17" descr="Amazon Cognito service icon.">
                  <a:extLst>
                    <a:ext uri="{FF2B5EF4-FFF2-40B4-BE49-F238E27FC236}">
                      <a16:creationId xmlns:a16="http://schemas.microsoft.com/office/drawing/2014/main" id="{7631523D-F343-2CF3-D779-2CEA8054CCA6}"/>
                    </a:ext>
                  </a:extLst>
                </p:cNvPr>
                <p:cNvPicPr>
                  <a:picLocks noChangeAspect="1" noChangeArrowheads="1"/>
                </p:cNvPicPr>
                <p:nvPr/>
              </p:nvPicPr>
              <p:blipFill>
                <a:blip r:embed="rId21">
                  <a:extLst>
                    <a:ext uri="{96DAC541-7B7A-43D3-8B79-37D633B846F1}">
                      <asvg:svgBlip xmlns:asvg="http://schemas.microsoft.com/office/drawing/2016/SVG/main" r:embed="rId22"/>
                    </a:ext>
                  </a:extLst>
                </a:blip>
                <a:srcRect/>
                <a:stretch/>
              </p:blipFill>
              <p:spPr bwMode="auto">
                <a:xfrm>
                  <a:off x="4106362" y="3839626"/>
                  <a:ext cx="536494" cy="536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TextBox 11">
                  <a:extLst>
                    <a:ext uri="{FF2B5EF4-FFF2-40B4-BE49-F238E27FC236}">
                      <a16:creationId xmlns:a16="http://schemas.microsoft.com/office/drawing/2014/main" id="{5EE149C8-5BE0-8EF4-570F-ED9907A6DAE5}"/>
                    </a:ext>
                  </a:extLst>
                </p:cNvPr>
                <p:cNvSpPr txBox="1">
                  <a:spLocks noChangeArrowheads="1"/>
                </p:cNvSpPr>
                <p:nvPr/>
              </p:nvSpPr>
              <p:spPr bwMode="auto">
                <a:xfrm>
                  <a:off x="3864463" y="4370518"/>
                  <a:ext cx="102029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Cognito</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(ID Pool)</a:t>
                  </a:r>
                </a:p>
              </p:txBody>
            </p:sp>
          </p:grpSp>
          <p:cxnSp>
            <p:nvCxnSpPr>
              <p:cNvPr id="36" name="Straight Arrow Connector 74" descr="Up and down pointing vertical arrow.">
                <a:extLst>
                  <a:ext uri="{FF2B5EF4-FFF2-40B4-BE49-F238E27FC236}">
                    <a16:creationId xmlns:a16="http://schemas.microsoft.com/office/drawing/2014/main" id="{6398035C-3E33-7AB2-18C9-3EBA8553B442}"/>
                  </a:ext>
                </a:extLst>
              </p:cNvPr>
              <p:cNvCxnSpPr>
                <a:cxnSpLocks/>
              </p:cNvCxnSpPr>
              <p:nvPr/>
            </p:nvCxnSpPr>
            <p:spPr>
              <a:xfrm>
                <a:off x="6425143" y="3596523"/>
                <a:ext cx="2943" cy="1569570"/>
              </a:xfrm>
              <a:prstGeom prst="straightConnector1">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59" name="Elbow Connector 22" descr="Elbow horizontal arrow pointing right (1).">
                <a:extLst>
                  <a:ext uri="{FF2B5EF4-FFF2-40B4-BE49-F238E27FC236}">
                    <a16:creationId xmlns:a16="http://schemas.microsoft.com/office/drawing/2014/main" id="{157DE0ED-1F88-54AE-E0A3-0AEBFFA6904C}"/>
                  </a:ext>
                </a:extLst>
              </p:cNvPr>
              <p:cNvCxnSpPr>
                <a:cxnSpLocks/>
                <a:stCxn id="10" idx="1"/>
                <a:endCxn id="1030" idx="0"/>
              </p:cNvCxnSpPr>
              <p:nvPr/>
            </p:nvCxnSpPr>
            <p:spPr>
              <a:xfrm rot="10800000" flipV="1">
                <a:off x="919152" y="4245608"/>
                <a:ext cx="1580810" cy="962825"/>
              </a:xfrm>
              <a:prstGeom prst="bentConnector2">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pic>
            <p:nvPicPr>
              <p:cNvPr id="1026" name="Graphic 86" descr="Temporary security credential resource icon for the IAM service.">
                <a:extLst>
                  <a:ext uri="{FF2B5EF4-FFF2-40B4-BE49-F238E27FC236}">
                    <a16:creationId xmlns:a16="http://schemas.microsoft.com/office/drawing/2014/main" id="{967E0BD5-77D8-1DD9-903B-E0992227E4F6}"/>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410731" y="4477651"/>
                <a:ext cx="457200" cy="457200"/>
              </a:xfrm>
              <a:prstGeom prst="rect">
                <a:avLst/>
              </a:prstGeom>
            </p:spPr>
          </p:pic>
          <p:grpSp>
            <p:nvGrpSpPr>
              <p:cNvPr id="1037" name="グループ化 1036">
                <a:extLst>
                  <a:ext uri="{FF2B5EF4-FFF2-40B4-BE49-F238E27FC236}">
                    <a16:creationId xmlns:a16="http://schemas.microsoft.com/office/drawing/2014/main" id="{57918ADA-793B-DC6A-1C60-3C69165C0236}"/>
                  </a:ext>
                </a:extLst>
              </p:cNvPr>
              <p:cNvGrpSpPr/>
              <p:nvPr/>
            </p:nvGrpSpPr>
            <p:grpSpPr>
              <a:xfrm>
                <a:off x="3509554" y="1511119"/>
                <a:ext cx="1020292" cy="992557"/>
                <a:chOff x="3864463" y="3839626"/>
                <a:chExt cx="1020292" cy="992557"/>
              </a:xfrm>
            </p:grpSpPr>
            <p:pic>
              <p:nvPicPr>
                <p:cNvPr id="1038" name="Graphic 17" descr="Amazon Cognito service icon.">
                  <a:extLst>
                    <a:ext uri="{FF2B5EF4-FFF2-40B4-BE49-F238E27FC236}">
                      <a16:creationId xmlns:a16="http://schemas.microsoft.com/office/drawing/2014/main" id="{0B5DEC41-1F8A-3823-B955-1097F5E249EE}"/>
                    </a:ext>
                  </a:extLst>
                </p:cNvPr>
                <p:cNvPicPr>
                  <a:picLocks noChangeAspect="1" noChangeArrowheads="1"/>
                </p:cNvPicPr>
                <p:nvPr/>
              </p:nvPicPr>
              <p:blipFill>
                <a:blip r:embed="rId21">
                  <a:extLst>
                    <a:ext uri="{96DAC541-7B7A-43D3-8B79-37D633B846F1}">
                      <asvg:svgBlip xmlns:asvg="http://schemas.microsoft.com/office/drawing/2016/SVG/main" r:embed="rId22"/>
                    </a:ext>
                  </a:extLst>
                </a:blip>
                <a:srcRect/>
                <a:stretch/>
              </p:blipFill>
              <p:spPr bwMode="auto">
                <a:xfrm>
                  <a:off x="4106362" y="3839626"/>
                  <a:ext cx="536494" cy="536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9" name="TextBox 11">
                  <a:extLst>
                    <a:ext uri="{FF2B5EF4-FFF2-40B4-BE49-F238E27FC236}">
                      <a16:creationId xmlns:a16="http://schemas.microsoft.com/office/drawing/2014/main" id="{978946B5-5CA6-F777-A090-693A1DA5CB02}"/>
                    </a:ext>
                  </a:extLst>
                </p:cNvPr>
                <p:cNvSpPr txBox="1">
                  <a:spLocks noChangeArrowheads="1"/>
                </p:cNvSpPr>
                <p:nvPr/>
              </p:nvSpPr>
              <p:spPr bwMode="auto">
                <a:xfrm>
                  <a:off x="3864463" y="4370518"/>
                  <a:ext cx="102029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Cognito</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(User Pool)</a:t>
                  </a:r>
                </a:p>
              </p:txBody>
            </p:sp>
          </p:grpSp>
          <p:cxnSp>
            <p:nvCxnSpPr>
              <p:cNvPr id="1054" name="Straight Arrow Connector 52" descr="Double pointing horizontal arrow.">
                <a:extLst>
                  <a:ext uri="{FF2B5EF4-FFF2-40B4-BE49-F238E27FC236}">
                    <a16:creationId xmlns:a16="http://schemas.microsoft.com/office/drawing/2014/main" id="{4C083136-5557-9DA7-80A5-0318ED327EBF}"/>
                  </a:ext>
                </a:extLst>
              </p:cNvPr>
              <p:cNvCxnSpPr>
                <a:cxnSpLocks/>
                <a:stCxn id="2" idx="0"/>
                <a:endCxn id="1039" idx="2"/>
              </p:cNvCxnSpPr>
              <p:nvPr/>
            </p:nvCxnSpPr>
            <p:spPr>
              <a:xfrm flipH="1" flipV="1">
                <a:off x="4019700" y="2503676"/>
                <a:ext cx="1119" cy="268247"/>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grpSp>
            <p:nvGrpSpPr>
              <p:cNvPr id="50" name="Group 1" descr="AWS Cloud group with AWS logo.">
                <a:extLst>
                  <a:ext uri="{FF2B5EF4-FFF2-40B4-BE49-F238E27FC236}">
                    <a16:creationId xmlns:a16="http://schemas.microsoft.com/office/drawing/2014/main" id="{53948597-D59A-6B88-C20F-FF750CA056FD}"/>
                  </a:ext>
                </a:extLst>
              </p:cNvPr>
              <p:cNvGrpSpPr/>
              <p:nvPr/>
            </p:nvGrpSpPr>
            <p:grpSpPr>
              <a:xfrm>
                <a:off x="2092110" y="781158"/>
                <a:ext cx="5212325" cy="6710280"/>
                <a:chOff x="355598" y="689580"/>
                <a:chExt cx="5212325" cy="4740652"/>
              </a:xfrm>
            </p:grpSpPr>
            <p:sp>
              <p:nvSpPr>
                <p:cNvPr id="51" name="Rectangle 54">
                  <a:extLst>
                    <a:ext uri="{FF2B5EF4-FFF2-40B4-BE49-F238E27FC236}">
                      <a16:creationId xmlns:a16="http://schemas.microsoft.com/office/drawing/2014/main" id="{B1B1D99C-164E-1BC4-12E5-D739E87CD03A}"/>
                    </a:ext>
                  </a:extLst>
                </p:cNvPr>
                <p:cNvSpPr/>
                <p:nvPr/>
              </p:nvSpPr>
              <p:spPr>
                <a:xfrm>
                  <a:off x="355599" y="689580"/>
                  <a:ext cx="5212324" cy="4740652"/>
                </a:xfrm>
                <a:prstGeom prst="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r>
                    <a:rPr lang="en-US" sz="1200" dirty="0">
                      <a:solidFill>
                        <a:schemeClr val="tx1"/>
                      </a:solidFill>
                      <a:latin typeface="Arial" panose="020B0604020202020204" pitchFamily="34" charset="0"/>
                      <a:cs typeface="Arial" panose="020B0604020202020204" pitchFamily="34" charset="0"/>
                    </a:rPr>
                    <a:t>AWS Cloud</a:t>
                  </a:r>
                </a:p>
              </p:txBody>
            </p:sp>
            <p:pic>
              <p:nvPicPr>
                <p:cNvPr id="52" name="Graphic 55" descr="AWS Cloud group icon with AWS logo.">
                  <a:extLst>
                    <a:ext uri="{FF2B5EF4-FFF2-40B4-BE49-F238E27FC236}">
                      <a16:creationId xmlns:a16="http://schemas.microsoft.com/office/drawing/2014/main" id="{38BAA5F6-20CD-9A5D-94CD-29BB9CADEDB4}"/>
                    </a:ext>
                  </a:extLst>
                </p:cNvPr>
                <p:cNvPicPr>
                  <a:picLocks noChangeAspect="1"/>
                </p:cNvPicPr>
                <p:nvPr/>
              </p:nvPicPr>
              <p:blipFill>
                <a:blip r:embed="rId25">
                  <a:extLst>
                    <a:ext uri="{96DAC541-7B7A-43D3-8B79-37D633B846F1}">
                      <asvg:svgBlip xmlns:asvg="http://schemas.microsoft.com/office/drawing/2016/SVG/main" r:embed="rId26"/>
                    </a:ext>
                  </a:extLst>
                </a:blip>
                <a:srcRect/>
                <a:stretch/>
              </p:blipFill>
              <p:spPr>
                <a:xfrm>
                  <a:off x="355598" y="695923"/>
                  <a:ext cx="419750" cy="287318"/>
                </a:xfrm>
                <a:prstGeom prst="rect">
                  <a:avLst/>
                </a:prstGeom>
              </p:spPr>
            </p:pic>
          </p:grpSp>
        </p:grpSp>
        <p:sp>
          <p:nvSpPr>
            <p:cNvPr id="1063" name="Rectangle 103" descr="Generic group dashed.">
              <a:extLst>
                <a:ext uri="{FF2B5EF4-FFF2-40B4-BE49-F238E27FC236}">
                  <a16:creationId xmlns:a16="http://schemas.microsoft.com/office/drawing/2014/main" id="{335D0284-CE16-0DF5-C704-781A1F9552BD}"/>
                </a:ext>
              </a:extLst>
            </p:cNvPr>
            <p:cNvSpPr/>
            <p:nvPr/>
          </p:nvSpPr>
          <p:spPr>
            <a:xfrm>
              <a:off x="425557" y="1547876"/>
              <a:ext cx="2858730" cy="5246242"/>
            </a:xfrm>
            <a:prstGeom prst="rect">
              <a:avLst/>
            </a:prstGeom>
            <a:noFill/>
            <a:ln w="15875">
              <a:solidFill>
                <a:srgbClr val="7D8998"/>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a:defRPr/>
              </a:pPr>
              <a:r>
                <a:rPr lang="en-US" sz="1200" dirty="0">
                  <a:solidFill>
                    <a:schemeClr val="tx1"/>
                  </a:solidFill>
                  <a:latin typeface="Arial" panose="020B0604020202020204" pitchFamily="34" charset="0"/>
                  <a:cs typeface="Arial" panose="020B0604020202020204" pitchFamily="34" charset="0"/>
                </a:rPr>
                <a:t>Local Env</a:t>
              </a:r>
            </a:p>
          </p:txBody>
        </p:sp>
      </p:grpSp>
    </p:spTree>
    <p:extLst>
      <p:ext uri="{BB962C8B-B14F-4D97-AF65-F5344CB8AC3E}">
        <p14:creationId xmlns:p14="http://schemas.microsoft.com/office/powerpoint/2010/main" val="42168809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477D50A-1ABC-E4C7-A18B-13C8B21236A3}"/>
            </a:ext>
          </a:extLst>
        </p:cNvPr>
        <p:cNvGrpSpPr/>
        <p:nvPr/>
      </p:nvGrpSpPr>
      <p:grpSpPr>
        <a:xfrm>
          <a:off x="0" y="0"/>
          <a:ext cx="0" cy="0"/>
          <a:chOff x="0" y="0"/>
          <a:chExt cx="0" cy="0"/>
        </a:xfrm>
      </p:grpSpPr>
      <p:sp>
        <p:nvSpPr>
          <p:cNvPr id="35" name="正方形/長方形 34">
            <a:extLst>
              <a:ext uri="{FF2B5EF4-FFF2-40B4-BE49-F238E27FC236}">
                <a16:creationId xmlns:a16="http://schemas.microsoft.com/office/drawing/2014/main" id="{909A3B4B-C153-B1A9-4863-45132867BD37}"/>
              </a:ext>
            </a:extLst>
          </p:cNvPr>
          <p:cNvSpPr/>
          <p:nvPr/>
        </p:nvSpPr>
        <p:spPr>
          <a:xfrm>
            <a:off x="-495300" y="837368"/>
            <a:ext cx="10121899" cy="6062481"/>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タイトル 1">
            <a:extLst>
              <a:ext uri="{FF2B5EF4-FFF2-40B4-BE49-F238E27FC236}">
                <a16:creationId xmlns:a16="http://schemas.microsoft.com/office/drawing/2014/main" id="{0F205C73-DDE9-26F1-EA4A-B316D113E126}"/>
              </a:ext>
            </a:extLst>
          </p:cNvPr>
          <p:cNvSpPr>
            <a:spLocks noGrp="1"/>
          </p:cNvSpPr>
          <p:nvPr>
            <p:ph type="title"/>
          </p:nvPr>
        </p:nvSpPr>
        <p:spPr/>
        <p:txBody>
          <a:bodyPr/>
          <a:lstStyle/>
          <a:p>
            <a:r>
              <a:rPr kumimoji="1" lang="ja-JP" altLang="en-US" dirty="0"/>
              <a:t>在室確認システムのアーキテクチャ</a:t>
            </a:r>
          </a:p>
        </p:txBody>
      </p:sp>
      <p:grpSp>
        <p:nvGrpSpPr>
          <p:cNvPr id="230" name="グループ化 229">
            <a:extLst>
              <a:ext uri="{FF2B5EF4-FFF2-40B4-BE49-F238E27FC236}">
                <a16:creationId xmlns:a16="http://schemas.microsoft.com/office/drawing/2014/main" id="{ADD95DC3-4091-42FC-EB6F-7D77CE1CC343}"/>
              </a:ext>
            </a:extLst>
          </p:cNvPr>
          <p:cNvGrpSpPr/>
          <p:nvPr/>
        </p:nvGrpSpPr>
        <p:grpSpPr>
          <a:xfrm>
            <a:off x="5848178" y="4385283"/>
            <a:ext cx="1058068" cy="814611"/>
            <a:chOff x="4098454" y="2667000"/>
            <a:chExt cx="1502808" cy="1157017"/>
          </a:xfrm>
        </p:grpSpPr>
        <p:pic>
          <p:nvPicPr>
            <p:cNvPr id="298" name="Graphic 23" descr="Amazon DynamoDB service icon.">
              <a:extLst>
                <a:ext uri="{FF2B5EF4-FFF2-40B4-BE49-F238E27FC236}">
                  <a16:creationId xmlns:a16="http://schemas.microsoft.com/office/drawing/2014/main" id="{D53441EC-89D1-8821-A0D0-2ED2F87809E2}"/>
                </a:ext>
              </a:extLst>
            </p:cNvPr>
            <p:cNvPicPr>
              <a:picLocks noChangeAspect="1" noChangeArrowheads="1"/>
            </p:cNvPicPr>
            <p:nvPr/>
          </p:nvPicPr>
          <p:blipFill>
            <a:blip r:embed="rId2">
              <a:extLst>
                <a:ext uri="{96DAC541-7B7A-43D3-8B79-37D633B846F1}">
                  <asvg:svgBlip xmlns:asvg="http://schemas.microsoft.com/office/drawing/2016/SVG/main" r:embed="rId3"/>
                </a:ext>
              </a:extLst>
            </a:blip>
            <a:srcRect/>
            <a:stretch/>
          </p:blipFill>
          <p:spPr bwMode="auto">
            <a:xfrm>
              <a:off x="4468858" y="2667000"/>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9" name="TextBox 12">
              <a:extLst>
                <a:ext uri="{FF2B5EF4-FFF2-40B4-BE49-F238E27FC236}">
                  <a16:creationId xmlns:a16="http://schemas.microsoft.com/office/drawing/2014/main" id="{85508754-37E3-FDFA-3166-9CB22B8BDB9B}"/>
                </a:ext>
              </a:extLst>
            </p:cNvPr>
            <p:cNvSpPr txBox="1">
              <a:spLocks noChangeArrowheads="1"/>
            </p:cNvSpPr>
            <p:nvPr/>
          </p:nvSpPr>
          <p:spPr bwMode="auto">
            <a:xfrm>
              <a:off x="4098454" y="3430587"/>
              <a:ext cx="1502808" cy="393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DynamoDB</a:t>
              </a:r>
            </a:p>
          </p:txBody>
        </p:sp>
      </p:grpSp>
      <p:grpSp>
        <p:nvGrpSpPr>
          <p:cNvPr id="231" name="グループ化 230">
            <a:extLst>
              <a:ext uri="{FF2B5EF4-FFF2-40B4-BE49-F238E27FC236}">
                <a16:creationId xmlns:a16="http://schemas.microsoft.com/office/drawing/2014/main" id="{852CA5B2-7587-30F7-595F-80BDD4FB54C5}"/>
              </a:ext>
            </a:extLst>
          </p:cNvPr>
          <p:cNvGrpSpPr/>
          <p:nvPr/>
        </p:nvGrpSpPr>
        <p:grpSpPr>
          <a:xfrm>
            <a:off x="3466020" y="4382693"/>
            <a:ext cx="1117700" cy="998159"/>
            <a:chOff x="2576510" y="1184275"/>
            <a:chExt cx="1587506" cy="1417718"/>
          </a:xfrm>
        </p:grpSpPr>
        <p:pic>
          <p:nvPicPr>
            <p:cNvPr id="296" name="Graphic 7" descr="Amazon API Gateway service icon.">
              <a:extLst>
                <a:ext uri="{FF2B5EF4-FFF2-40B4-BE49-F238E27FC236}">
                  <a16:creationId xmlns:a16="http://schemas.microsoft.com/office/drawing/2014/main" id="{20113165-CC31-F549-C9DC-660D718E2A52}"/>
                </a:ext>
              </a:extLst>
            </p:cNvPr>
            <p:cNvPicPr>
              <a:picLocks noChangeAspect="1" noChangeArrowheads="1"/>
            </p:cNvPicPr>
            <p:nvPr/>
          </p:nvPicPr>
          <p:blipFill>
            <a:blip r:embed="rId4">
              <a:extLst>
                <a:ext uri="{96DAC541-7B7A-43D3-8B79-37D633B846F1}">
                  <asvg:svgBlip xmlns:asvg="http://schemas.microsoft.com/office/drawing/2016/SVG/main" r:embed="rId5"/>
                </a:ext>
              </a:extLst>
            </a:blip>
            <a:srcRect/>
            <a:stretch/>
          </p:blipFill>
          <p:spPr bwMode="auto">
            <a:xfrm>
              <a:off x="2989263" y="1184275"/>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 name="TextBox 9">
              <a:extLst>
                <a:ext uri="{FF2B5EF4-FFF2-40B4-BE49-F238E27FC236}">
                  <a16:creationId xmlns:a16="http://schemas.microsoft.com/office/drawing/2014/main" id="{52A86F12-1DCC-6B77-4EC8-8C936238E6F5}"/>
                </a:ext>
              </a:extLst>
            </p:cNvPr>
            <p:cNvSpPr txBox="1">
              <a:spLocks noChangeArrowheads="1"/>
            </p:cNvSpPr>
            <p:nvPr/>
          </p:nvSpPr>
          <p:spPr bwMode="auto">
            <a:xfrm>
              <a:off x="2576510" y="1946275"/>
              <a:ext cx="1587506" cy="655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API Gateway</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(REST API)</a:t>
              </a:r>
            </a:p>
          </p:txBody>
        </p:sp>
      </p:grpSp>
      <p:grpSp>
        <p:nvGrpSpPr>
          <p:cNvPr id="232" name="グループ化 231">
            <a:extLst>
              <a:ext uri="{FF2B5EF4-FFF2-40B4-BE49-F238E27FC236}">
                <a16:creationId xmlns:a16="http://schemas.microsoft.com/office/drawing/2014/main" id="{E6CB9F2A-41D2-256C-D921-035AD02EB882}"/>
              </a:ext>
            </a:extLst>
          </p:cNvPr>
          <p:cNvGrpSpPr/>
          <p:nvPr/>
        </p:nvGrpSpPr>
        <p:grpSpPr>
          <a:xfrm>
            <a:off x="4794097" y="4382385"/>
            <a:ext cx="820861" cy="812933"/>
            <a:chOff x="5051089" y="1185069"/>
            <a:chExt cx="1165896" cy="1154637"/>
          </a:xfrm>
        </p:grpSpPr>
        <p:pic>
          <p:nvPicPr>
            <p:cNvPr id="294" name="Graphic 10" descr="AWS Lambda service icon.">
              <a:extLst>
                <a:ext uri="{FF2B5EF4-FFF2-40B4-BE49-F238E27FC236}">
                  <a16:creationId xmlns:a16="http://schemas.microsoft.com/office/drawing/2014/main" id="{12B8C079-D3DC-E523-8048-31F670C7CB40}"/>
                </a:ext>
              </a:extLst>
            </p:cNvPr>
            <p:cNvPicPr>
              <a:picLocks noChangeAspect="1" noChangeArrowheads="1"/>
            </p:cNvPicPr>
            <p:nvPr/>
          </p:nvPicPr>
          <p:blipFill>
            <a:blip r:embed="rId6">
              <a:extLst>
                <a:ext uri="{96DAC541-7B7A-43D3-8B79-37D633B846F1}">
                  <asvg:svgBlip xmlns:asvg="http://schemas.microsoft.com/office/drawing/2016/SVG/main" r:embed="rId7"/>
                </a:ext>
              </a:extLst>
            </a:blip>
            <a:srcRect/>
            <a:stretch/>
          </p:blipFill>
          <p:spPr bwMode="auto">
            <a:xfrm>
              <a:off x="5246688" y="1185069"/>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5" name="TextBox 20">
              <a:extLst>
                <a:ext uri="{FF2B5EF4-FFF2-40B4-BE49-F238E27FC236}">
                  <a16:creationId xmlns:a16="http://schemas.microsoft.com/office/drawing/2014/main" id="{F1BD6D8A-51D9-2FF6-7491-24EF0D2FC25A}"/>
                </a:ext>
              </a:extLst>
            </p:cNvPr>
            <p:cNvSpPr txBox="1">
              <a:spLocks noChangeArrowheads="1"/>
            </p:cNvSpPr>
            <p:nvPr/>
          </p:nvSpPr>
          <p:spPr bwMode="auto">
            <a:xfrm>
              <a:off x="5051089" y="1946275"/>
              <a:ext cx="1165896" cy="393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Lambda</a:t>
              </a:r>
            </a:p>
          </p:txBody>
        </p:sp>
      </p:grpSp>
      <p:grpSp>
        <p:nvGrpSpPr>
          <p:cNvPr id="233" name="グループ化 232">
            <a:extLst>
              <a:ext uri="{FF2B5EF4-FFF2-40B4-BE49-F238E27FC236}">
                <a16:creationId xmlns:a16="http://schemas.microsoft.com/office/drawing/2014/main" id="{72829972-CC33-B8CA-3520-6FE0A941FF39}"/>
              </a:ext>
            </a:extLst>
          </p:cNvPr>
          <p:cNvGrpSpPr/>
          <p:nvPr/>
        </p:nvGrpSpPr>
        <p:grpSpPr>
          <a:xfrm>
            <a:off x="6992282" y="1644835"/>
            <a:ext cx="1068518" cy="813493"/>
            <a:chOff x="-6240556" y="-4075450"/>
            <a:chExt cx="1517651" cy="1155431"/>
          </a:xfrm>
        </p:grpSpPr>
        <p:pic>
          <p:nvPicPr>
            <p:cNvPr id="292" name="Graphic 17" descr="Amazon CloudWatch service icon.">
              <a:extLst>
                <a:ext uri="{FF2B5EF4-FFF2-40B4-BE49-F238E27FC236}">
                  <a16:creationId xmlns:a16="http://schemas.microsoft.com/office/drawing/2014/main" id="{D2B81293-8952-3DE9-7E48-E78B98628097}"/>
                </a:ext>
              </a:extLst>
            </p:cNvPr>
            <p:cNvPicPr>
              <a:picLocks noChangeAspect="1" noChangeArrowheads="1"/>
            </p:cNvPicPr>
            <p:nvPr/>
          </p:nvPicPr>
          <p:blipFill>
            <a:blip r:embed="rId8">
              <a:extLst>
                <a:ext uri="{96DAC541-7B7A-43D3-8B79-37D633B846F1}">
                  <asvg:svgBlip xmlns:asvg="http://schemas.microsoft.com/office/drawing/2016/SVG/main" r:embed="rId9"/>
                </a:ext>
              </a:extLst>
            </a:blip>
            <a:srcRect/>
            <a:stretch/>
          </p:blipFill>
          <p:spPr bwMode="auto">
            <a:xfrm>
              <a:off x="-5862730" y="-4075450"/>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3" name="TextBox 9">
              <a:extLst>
                <a:ext uri="{FF2B5EF4-FFF2-40B4-BE49-F238E27FC236}">
                  <a16:creationId xmlns:a16="http://schemas.microsoft.com/office/drawing/2014/main" id="{99BD3347-32FC-D770-9579-3F6FFD024717}"/>
                </a:ext>
              </a:extLst>
            </p:cNvPr>
            <p:cNvSpPr txBox="1">
              <a:spLocks noChangeArrowheads="1"/>
            </p:cNvSpPr>
            <p:nvPr/>
          </p:nvSpPr>
          <p:spPr bwMode="auto">
            <a:xfrm>
              <a:off x="-6240556" y="-3313450"/>
              <a:ext cx="1517651" cy="393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CloudWatch</a:t>
              </a:r>
            </a:p>
          </p:txBody>
        </p:sp>
      </p:grpSp>
      <p:grpSp>
        <p:nvGrpSpPr>
          <p:cNvPr id="234" name="グループ化 233">
            <a:extLst>
              <a:ext uri="{FF2B5EF4-FFF2-40B4-BE49-F238E27FC236}">
                <a16:creationId xmlns:a16="http://schemas.microsoft.com/office/drawing/2014/main" id="{D2D4405B-E9CD-CDFC-0EAB-5A5DAE0E75CE}"/>
              </a:ext>
            </a:extLst>
          </p:cNvPr>
          <p:cNvGrpSpPr/>
          <p:nvPr/>
        </p:nvGrpSpPr>
        <p:grpSpPr>
          <a:xfrm>
            <a:off x="3759633" y="5696629"/>
            <a:ext cx="536494" cy="813493"/>
            <a:chOff x="7535863" y="1001200"/>
            <a:chExt cx="762000" cy="1155431"/>
          </a:xfrm>
        </p:grpSpPr>
        <p:pic>
          <p:nvPicPr>
            <p:cNvPr id="290" name="Graphic 19" descr="AWS Identity and Access Management (IAM) service icon.">
              <a:extLst>
                <a:ext uri="{FF2B5EF4-FFF2-40B4-BE49-F238E27FC236}">
                  <a16:creationId xmlns:a16="http://schemas.microsoft.com/office/drawing/2014/main" id="{87B48340-3429-0967-7E65-5EC22E0C7BA6}"/>
                </a:ext>
              </a:extLst>
            </p:cNvPr>
            <p:cNvPicPr>
              <a:picLocks noChangeAspect="1" noChangeArrowheads="1"/>
            </p:cNvPicPr>
            <p:nvPr/>
          </p:nvPicPr>
          <p:blipFill>
            <a:blip r:embed="rId10">
              <a:extLst>
                <a:ext uri="{96DAC541-7B7A-43D3-8B79-37D633B846F1}">
                  <asvg:svgBlip xmlns:asvg="http://schemas.microsoft.com/office/drawing/2016/SVG/main" r:embed="rId11"/>
                </a:ext>
              </a:extLst>
            </a:blip>
            <a:srcRect/>
            <a:stretch/>
          </p:blipFill>
          <p:spPr bwMode="auto">
            <a:xfrm>
              <a:off x="7535863" y="1001200"/>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1" name="TextBox 12">
              <a:extLst>
                <a:ext uri="{FF2B5EF4-FFF2-40B4-BE49-F238E27FC236}">
                  <a16:creationId xmlns:a16="http://schemas.microsoft.com/office/drawing/2014/main" id="{E21BE2CD-724F-6030-272C-78D53BBA3276}"/>
                </a:ext>
              </a:extLst>
            </p:cNvPr>
            <p:cNvSpPr txBox="1">
              <a:spLocks noChangeArrowheads="1"/>
            </p:cNvSpPr>
            <p:nvPr/>
          </p:nvSpPr>
          <p:spPr bwMode="auto">
            <a:xfrm>
              <a:off x="7535863" y="1763200"/>
              <a:ext cx="758826" cy="393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IAM</a:t>
              </a:r>
            </a:p>
          </p:txBody>
        </p:sp>
      </p:grpSp>
      <p:sp>
        <p:nvSpPr>
          <p:cNvPr id="289" name="TextBox 12">
            <a:extLst>
              <a:ext uri="{FF2B5EF4-FFF2-40B4-BE49-F238E27FC236}">
                <a16:creationId xmlns:a16="http://schemas.microsoft.com/office/drawing/2014/main" id="{CB5388D9-04CF-87B8-6DA9-FB50959A67D7}"/>
              </a:ext>
            </a:extLst>
          </p:cNvPr>
          <p:cNvSpPr txBox="1">
            <a:spLocks noChangeArrowheads="1"/>
          </p:cNvSpPr>
          <p:nvPr/>
        </p:nvSpPr>
        <p:spPr bwMode="auto">
          <a:xfrm>
            <a:off x="650867" y="5001976"/>
            <a:ext cx="16050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Raspberry Pi 4B</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(172.16.15.8)</a:t>
            </a:r>
          </a:p>
        </p:txBody>
      </p:sp>
      <p:sp>
        <p:nvSpPr>
          <p:cNvPr id="236" name="テキスト ボックス 235">
            <a:extLst>
              <a:ext uri="{FF2B5EF4-FFF2-40B4-BE49-F238E27FC236}">
                <a16:creationId xmlns:a16="http://schemas.microsoft.com/office/drawing/2014/main" id="{60A15CD1-44EA-C7BF-F9BC-BBAAEC9F218A}"/>
              </a:ext>
            </a:extLst>
          </p:cNvPr>
          <p:cNvSpPr txBox="1"/>
          <p:nvPr/>
        </p:nvSpPr>
        <p:spPr>
          <a:xfrm>
            <a:off x="21012" y="4303759"/>
            <a:ext cx="1162293" cy="276999"/>
          </a:xfrm>
          <a:prstGeom prst="rect">
            <a:avLst/>
          </a:prstGeom>
          <a:noFill/>
        </p:spPr>
        <p:txBody>
          <a:bodyPr wrap="square">
            <a:spAutoFit/>
          </a:body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RC-S380 S</a:t>
            </a:r>
          </a:p>
        </p:txBody>
      </p:sp>
      <p:pic>
        <p:nvPicPr>
          <p:cNvPr id="237" name="図 236" descr="黒い背景と白い文字のロゴ&#10;&#10;AI によって生成されたコンテンツは間違っている可能性があります。">
            <a:extLst>
              <a:ext uri="{FF2B5EF4-FFF2-40B4-BE49-F238E27FC236}">
                <a16:creationId xmlns:a16="http://schemas.microsoft.com/office/drawing/2014/main" id="{3C98D9F4-5430-C11B-4ACC-564D7AB0A6B9}"/>
              </a:ext>
            </a:extLst>
          </p:cNvPr>
          <p:cNvPicPr>
            <a:picLocks noChangeAspect="1"/>
          </p:cNvPicPr>
          <p:nvPr/>
        </p:nvPicPr>
        <p:blipFill>
          <a:blip r:embed="rId12">
            <a:biLevel thresh="50000"/>
            <a:extLst>
              <a:ext uri="{28A0092B-C50C-407E-A947-70E740481C1C}">
                <a14:useLocalDpi xmlns:a14="http://schemas.microsoft.com/office/drawing/2010/main" val="0"/>
              </a:ext>
            </a:extLst>
          </a:blip>
          <a:srcRect t="19474" b="18132"/>
          <a:stretch/>
        </p:blipFill>
        <p:spPr>
          <a:xfrm flipH="1">
            <a:off x="-363181" y="4508703"/>
            <a:ext cx="1605014" cy="751622"/>
          </a:xfrm>
          <a:prstGeom prst="rect">
            <a:avLst/>
          </a:prstGeom>
        </p:spPr>
      </p:pic>
      <p:cxnSp>
        <p:nvCxnSpPr>
          <p:cNvPr id="238" name="Straight Arrow Connector 74" descr="Up and down pointing vertical arrow.">
            <a:extLst>
              <a:ext uri="{FF2B5EF4-FFF2-40B4-BE49-F238E27FC236}">
                <a16:creationId xmlns:a16="http://schemas.microsoft.com/office/drawing/2014/main" id="{51F0E07D-5B84-6A81-D827-E186836F0124}"/>
              </a:ext>
            </a:extLst>
          </p:cNvPr>
          <p:cNvCxnSpPr>
            <a:cxnSpLocks/>
            <a:endCxn id="296" idx="1"/>
          </p:cNvCxnSpPr>
          <p:nvPr/>
        </p:nvCxnSpPr>
        <p:spPr>
          <a:xfrm>
            <a:off x="1721620" y="4650940"/>
            <a:ext cx="2035003" cy="0"/>
          </a:xfrm>
          <a:prstGeom prst="straightConnector1">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grpSp>
        <p:nvGrpSpPr>
          <p:cNvPr id="241" name="グループ化 240">
            <a:extLst>
              <a:ext uri="{FF2B5EF4-FFF2-40B4-BE49-F238E27FC236}">
                <a16:creationId xmlns:a16="http://schemas.microsoft.com/office/drawing/2014/main" id="{EDB7B32A-EE52-F621-444D-CBF00CE4B7FF}"/>
              </a:ext>
            </a:extLst>
          </p:cNvPr>
          <p:cNvGrpSpPr/>
          <p:nvPr/>
        </p:nvGrpSpPr>
        <p:grpSpPr>
          <a:xfrm>
            <a:off x="994935" y="6087076"/>
            <a:ext cx="924337" cy="403333"/>
            <a:chOff x="2262291" y="5685876"/>
            <a:chExt cx="924337" cy="403333"/>
          </a:xfrm>
        </p:grpSpPr>
        <p:pic>
          <p:nvPicPr>
            <p:cNvPr id="286" name="図 285" descr="アイコン&#10;&#10;AI によって生成されたコンテンツは間違っている可能性があります。">
              <a:extLst>
                <a:ext uri="{FF2B5EF4-FFF2-40B4-BE49-F238E27FC236}">
                  <a16:creationId xmlns:a16="http://schemas.microsoft.com/office/drawing/2014/main" id="{E43C2CF6-F3F7-4187-3B47-6DEB242D413C}"/>
                </a:ext>
              </a:extLst>
            </p:cNvPr>
            <p:cNvPicPr>
              <a:picLocks noChangeAspect="1"/>
            </p:cNvPicPr>
            <p:nvPr/>
          </p:nvPicPr>
          <p:blipFill>
            <a:blip r:embed="rId13">
              <a:extLst>
                <a:ext uri="{28A0092B-C50C-407E-A947-70E740481C1C}">
                  <a14:useLocalDpi xmlns:a14="http://schemas.microsoft.com/office/drawing/2010/main" val="0"/>
                </a:ext>
              </a:extLst>
            </a:blip>
            <a:srcRect l="10553" t="5709" r="9769" b="4466"/>
            <a:stretch/>
          </p:blipFill>
          <p:spPr>
            <a:xfrm>
              <a:off x="2262291" y="5685876"/>
              <a:ext cx="357774" cy="403333"/>
            </a:xfrm>
            <a:prstGeom prst="rect">
              <a:avLst/>
            </a:prstGeom>
          </p:spPr>
        </p:pic>
        <p:sp>
          <p:nvSpPr>
            <p:cNvPr id="287" name="テキスト ボックス 286">
              <a:extLst>
                <a:ext uri="{FF2B5EF4-FFF2-40B4-BE49-F238E27FC236}">
                  <a16:creationId xmlns:a16="http://schemas.microsoft.com/office/drawing/2014/main" id="{0F0CDAE9-C18C-EC7A-E9BB-31739A46AEF2}"/>
                </a:ext>
              </a:extLst>
            </p:cNvPr>
            <p:cNvSpPr txBox="1"/>
            <p:nvPr/>
          </p:nvSpPr>
          <p:spPr>
            <a:xfrm>
              <a:off x="2557071" y="5749042"/>
              <a:ext cx="629557" cy="276999"/>
            </a:xfrm>
            <a:prstGeom prst="rect">
              <a:avLst/>
            </a:prstGeom>
            <a:noFill/>
          </p:spPr>
          <p:txBody>
            <a:bodyPr wrap="square">
              <a:spAutoFit/>
            </a:bodyPr>
            <a:lstStyle/>
            <a:p>
              <a:r>
                <a:rPr lang="en-US" altLang="ja-JP" sz="1200" dirty="0"/>
                <a:t>:3000</a:t>
              </a:r>
              <a:endParaRPr lang="ja-JP" altLang="en-US" sz="1200" dirty="0"/>
            </a:p>
          </p:txBody>
        </p:sp>
      </p:grpSp>
      <p:grpSp>
        <p:nvGrpSpPr>
          <p:cNvPr id="242" name="グループ化 241">
            <a:extLst>
              <a:ext uri="{FF2B5EF4-FFF2-40B4-BE49-F238E27FC236}">
                <a16:creationId xmlns:a16="http://schemas.microsoft.com/office/drawing/2014/main" id="{581F1790-7DF2-5A90-771C-A2EEBDAC2135}"/>
              </a:ext>
            </a:extLst>
          </p:cNvPr>
          <p:cNvGrpSpPr/>
          <p:nvPr/>
        </p:nvGrpSpPr>
        <p:grpSpPr>
          <a:xfrm>
            <a:off x="987574" y="5648135"/>
            <a:ext cx="931698" cy="372497"/>
            <a:chOff x="2254930" y="5246935"/>
            <a:chExt cx="931698" cy="372497"/>
          </a:xfrm>
        </p:grpSpPr>
        <p:pic>
          <p:nvPicPr>
            <p:cNvPr id="284" name="グラフィックス 283">
              <a:extLst>
                <a:ext uri="{FF2B5EF4-FFF2-40B4-BE49-F238E27FC236}">
                  <a16:creationId xmlns:a16="http://schemas.microsoft.com/office/drawing/2014/main" id="{84C113F7-1A69-ACC6-B004-79E3F7131C60}"/>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2254930" y="5246935"/>
              <a:ext cx="372497" cy="372497"/>
            </a:xfrm>
            <a:prstGeom prst="rect">
              <a:avLst/>
            </a:prstGeom>
          </p:spPr>
        </p:pic>
        <p:sp>
          <p:nvSpPr>
            <p:cNvPr id="285" name="テキスト ボックス 284">
              <a:extLst>
                <a:ext uri="{FF2B5EF4-FFF2-40B4-BE49-F238E27FC236}">
                  <a16:creationId xmlns:a16="http://schemas.microsoft.com/office/drawing/2014/main" id="{2FE14E6B-8B7F-DEEB-646C-E20770CB6AAD}"/>
                </a:ext>
              </a:extLst>
            </p:cNvPr>
            <p:cNvSpPr txBox="1"/>
            <p:nvPr/>
          </p:nvSpPr>
          <p:spPr>
            <a:xfrm>
              <a:off x="2557071" y="5306333"/>
              <a:ext cx="629557" cy="276999"/>
            </a:xfrm>
            <a:prstGeom prst="rect">
              <a:avLst/>
            </a:prstGeom>
            <a:noFill/>
          </p:spPr>
          <p:txBody>
            <a:bodyPr wrap="square">
              <a:spAutoFit/>
            </a:bodyPr>
            <a:lstStyle/>
            <a:p>
              <a:r>
                <a:rPr lang="en-US" altLang="ja-JP" sz="1200" dirty="0"/>
                <a:t>:8000</a:t>
              </a:r>
              <a:endParaRPr lang="ja-JP" altLang="en-US" sz="1200" dirty="0"/>
            </a:p>
          </p:txBody>
        </p:sp>
      </p:grpSp>
      <p:grpSp>
        <p:nvGrpSpPr>
          <p:cNvPr id="243" name="グループ化 242">
            <a:extLst>
              <a:ext uri="{FF2B5EF4-FFF2-40B4-BE49-F238E27FC236}">
                <a16:creationId xmlns:a16="http://schemas.microsoft.com/office/drawing/2014/main" id="{B8715241-AE78-EE31-DD44-ECF8F6ED3AAB}"/>
              </a:ext>
            </a:extLst>
          </p:cNvPr>
          <p:cNvGrpSpPr/>
          <p:nvPr/>
        </p:nvGrpSpPr>
        <p:grpSpPr>
          <a:xfrm>
            <a:off x="4599011" y="5692118"/>
            <a:ext cx="1211032" cy="802921"/>
            <a:chOff x="3129557" y="4452843"/>
            <a:chExt cx="1211032" cy="802921"/>
          </a:xfrm>
        </p:grpSpPr>
        <p:pic>
          <p:nvPicPr>
            <p:cNvPr id="282" name="Graphic 19" descr="Amazon EventBridge service icon.">
              <a:extLst>
                <a:ext uri="{FF2B5EF4-FFF2-40B4-BE49-F238E27FC236}">
                  <a16:creationId xmlns:a16="http://schemas.microsoft.com/office/drawing/2014/main" id="{86D262EE-6E4B-58F0-9985-59B100CF2FF3}"/>
                </a:ext>
              </a:extLst>
            </p:cNvPr>
            <p:cNvPicPr>
              <a:picLocks noChangeAspect="1" noChangeArrowheads="1"/>
            </p:cNvPicPr>
            <p:nvPr/>
          </p:nvPicPr>
          <p:blipFill>
            <a:blip r:embed="rId16">
              <a:extLst>
                <a:ext uri="{96DAC541-7B7A-43D3-8B79-37D633B846F1}">
                  <asvg:svgBlip xmlns:asvg="http://schemas.microsoft.com/office/drawing/2016/SVG/main" r:embed="rId17"/>
                </a:ext>
              </a:extLst>
            </a:blip>
            <a:srcRect/>
            <a:stretch/>
          </p:blipFill>
          <p:spPr bwMode="auto">
            <a:xfrm>
              <a:off x="3461744" y="4452843"/>
              <a:ext cx="538923" cy="538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3" name="TextBox 11">
              <a:extLst>
                <a:ext uri="{FF2B5EF4-FFF2-40B4-BE49-F238E27FC236}">
                  <a16:creationId xmlns:a16="http://schemas.microsoft.com/office/drawing/2014/main" id="{7FA34BD1-4FD1-B202-335C-2B4D8328F049}"/>
                </a:ext>
              </a:extLst>
            </p:cNvPr>
            <p:cNvSpPr txBox="1">
              <a:spLocks noChangeArrowheads="1"/>
            </p:cNvSpPr>
            <p:nvPr/>
          </p:nvSpPr>
          <p:spPr bwMode="auto">
            <a:xfrm>
              <a:off x="3129557" y="4978765"/>
              <a:ext cx="121103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err="1">
                  <a:latin typeface="Arial" panose="020B0604020202020204" pitchFamily="34" charset="0"/>
                  <a:ea typeface="Amazon Ember" panose="020B0603020204020204" pitchFamily="34" charset="0"/>
                  <a:cs typeface="Arial" panose="020B0604020202020204" pitchFamily="34" charset="0"/>
                </a:rPr>
                <a:t>EventBridge</a:t>
              </a:r>
              <a:endParaRPr lang="en-US" altLang="en-US" sz="1200" dirty="0">
                <a:latin typeface="Arial" panose="020B0604020202020204" pitchFamily="34" charset="0"/>
                <a:ea typeface="Amazon Ember" panose="020B0603020204020204" pitchFamily="34" charset="0"/>
                <a:cs typeface="Arial" panose="020B0604020202020204" pitchFamily="34" charset="0"/>
              </a:endParaRPr>
            </a:p>
          </p:txBody>
        </p:sp>
      </p:grpSp>
      <p:grpSp>
        <p:nvGrpSpPr>
          <p:cNvPr id="244" name="グループ化 243">
            <a:extLst>
              <a:ext uri="{FF2B5EF4-FFF2-40B4-BE49-F238E27FC236}">
                <a16:creationId xmlns:a16="http://schemas.microsoft.com/office/drawing/2014/main" id="{37A96AB5-BA0C-A0CF-805F-1900965E07FD}"/>
              </a:ext>
            </a:extLst>
          </p:cNvPr>
          <p:cNvGrpSpPr/>
          <p:nvPr/>
        </p:nvGrpSpPr>
        <p:grpSpPr>
          <a:xfrm>
            <a:off x="4494644" y="2647229"/>
            <a:ext cx="1410825" cy="998159"/>
            <a:chOff x="2368342" y="1184275"/>
            <a:chExt cx="2003841" cy="1417718"/>
          </a:xfrm>
        </p:grpSpPr>
        <p:pic>
          <p:nvPicPr>
            <p:cNvPr id="280" name="Graphic 7" descr="Amazon API Gateway service icon.">
              <a:extLst>
                <a:ext uri="{FF2B5EF4-FFF2-40B4-BE49-F238E27FC236}">
                  <a16:creationId xmlns:a16="http://schemas.microsoft.com/office/drawing/2014/main" id="{2C7E818A-7C65-F2B4-AA18-7694D03BF509}"/>
                </a:ext>
              </a:extLst>
            </p:cNvPr>
            <p:cNvPicPr>
              <a:picLocks noChangeAspect="1" noChangeArrowheads="1"/>
            </p:cNvPicPr>
            <p:nvPr/>
          </p:nvPicPr>
          <p:blipFill>
            <a:blip r:embed="rId4">
              <a:extLst>
                <a:ext uri="{96DAC541-7B7A-43D3-8B79-37D633B846F1}">
                  <asvg:svgBlip xmlns:asvg="http://schemas.microsoft.com/office/drawing/2016/SVG/main" r:embed="rId5"/>
                </a:ext>
              </a:extLst>
            </a:blip>
            <a:srcRect/>
            <a:stretch/>
          </p:blipFill>
          <p:spPr bwMode="auto">
            <a:xfrm>
              <a:off x="2989264" y="1184275"/>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1" name="TextBox 9">
              <a:extLst>
                <a:ext uri="{FF2B5EF4-FFF2-40B4-BE49-F238E27FC236}">
                  <a16:creationId xmlns:a16="http://schemas.microsoft.com/office/drawing/2014/main" id="{0A7BF4D9-D0F8-6664-9FFF-4D59C60E6410}"/>
                </a:ext>
              </a:extLst>
            </p:cNvPr>
            <p:cNvSpPr txBox="1">
              <a:spLocks noChangeArrowheads="1"/>
            </p:cNvSpPr>
            <p:nvPr/>
          </p:nvSpPr>
          <p:spPr bwMode="auto">
            <a:xfrm>
              <a:off x="2368342" y="1946275"/>
              <a:ext cx="2003841" cy="655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API Gateway</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(WebSocket)</a:t>
              </a:r>
            </a:p>
          </p:txBody>
        </p:sp>
      </p:grpSp>
      <p:sp>
        <p:nvSpPr>
          <p:cNvPr id="277" name="TextBox 12">
            <a:extLst>
              <a:ext uri="{FF2B5EF4-FFF2-40B4-BE49-F238E27FC236}">
                <a16:creationId xmlns:a16="http://schemas.microsoft.com/office/drawing/2014/main" id="{A620AAAC-C3B8-3911-5D5E-0F1D9957C5BB}"/>
              </a:ext>
            </a:extLst>
          </p:cNvPr>
          <p:cNvSpPr txBox="1">
            <a:spLocks noChangeArrowheads="1"/>
          </p:cNvSpPr>
          <p:nvPr/>
        </p:nvSpPr>
        <p:spPr bwMode="auto">
          <a:xfrm>
            <a:off x="650867" y="3178518"/>
            <a:ext cx="16050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Raspberry Pi 5</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(172.16.15.7)</a:t>
            </a:r>
          </a:p>
        </p:txBody>
      </p:sp>
      <p:sp>
        <p:nvSpPr>
          <p:cNvPr id="251" name="Rectangle 103" descr="Generic group dashed.">
            <a:extLst>
              <a:ext uri="{FF2B5EF4-FFF2-40B4-BE49-F238E27FC236}">
                <a16:creationId xmlns:a16="http://schemas.microsoft.com/office/drawing/2014/main" id="{B98AB8E3-6726-F581-9841-8BAB24A6ED1C}"/>
              </a:ext>
            </a:extLst>
          </p:cNvPr>
          <p:cNvSpPr/>
          <p:nvPr/>
        </p:nvSpPr>
        <p:spPr>
          <a:xfrm>
            <a:off x="3400685" y="4158038"/>
            <a:ext cx="3541821" cy="1348227"/>
          </a:xfrm>
          <a:prstGeom prst="rect">
            <a:avLst/>
          </a:prstGeom>
          <a:noFill/>
          <a:ln w="15875">
            <a:solidFill>
              <a:srgbClr val="7D8998"/>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eaLnBrk="1" fontAlgn="auto" hangingPunct="1">
              <a:spcBef>
                <a:spcPts val="0"/>
              </a:spcBef>
              <a:spcAft>
                <a:spcPts val="0"/>
              </a:spcAft>
              <a:defRPr/>
            </a:pPr>
            <a:endParaRPr lang="en-US" sz="1200" dirty="0">
              <a:solidFill>
                <a:schemeClr val="tx1"/>
              </a:solidFill>
              <a:latin typeface="Arial" panose="020B0604020202020204" pitchFamily="34" charset="0"/>
              <a:cs typeface="Arial" panose="020B0604020202020204" pitchFamily="34" charset="0"/>
            </a:endParaRPr>
          </a:p>
        </p:txBody>
      </p:sp>
      <p:grpSp>
        <p:nvGrpSpPr>
          <p:cNvPr id="253" name="グループ化 252">
            <a:extLst>
              <a:ext uri="{FF2B5EF4-FFF2-40B4-BE49-F238E27FC236}">
                <a16:creationId xmlns:a16="http://schemas.microsoft.com/office/drawing/2014/main" id="{C591E6A5-ADA3-F58A-B715-0675363734EC}"/>
              </a:ext>
            </a:extLst>
          </p:cNvPr>
          <p:cNvGrpSpPr/>
          <p:nvPr/>
        </p:nvGrpSpPr>
        <p:grpSpPr>
          <a:xfrm>
            <a:off x="3661292" y="2645272"/>
            <a:ext cx="730725" cy="813493"/>
            <a:chOff x="3005693" y="1391828"/>
            <a:chExt cx="730725" cy="813493"/>
          </a:xfrm>
        </p:grpSpPr>
        <p:pic>
          <p:nvPicPr>
            <p:cNvPr id="274" name="Graphic 10" descr="AWS Amplify service icon.">
              <a:extLst>
                <a:ext uri="{FF2B5EF4-FFF2-40B4-BE49-F238E27FC236}">
                  <a16:creationId xmlns:a16="http://schemas.microsoft.com/office/drawing/2014/main" id="{F07D5A4B-1257-E64D-776A-1541F26E3852}"/>
                </a:ext>
              </a:extLst>
            </p:cNvPr>
            <p:cNvPicPr>
              <a:picLocks noChangeAspect="1" noChangeArrowheads="1"/>
            </p:cNvPicPr>
            <p:nvPr/>
          </p:nvPicPr>
          <p:blipFill>
            <a:blip r:embed="rId18">
              <a:extLst>
                <a:ext uri="{96DAC541-7B7A-43D3-8B79-37D633B846F1}">
                  <asvg:svgBlip xmlns:asvg="http://schemas.microsoft.com/office/drawing/2016/SVG/main" r:embed="rId19"/>
                </a:ext>
              </a:extLst>
            </a:blip>
            <a:srcRect/>
            <a:stretch/>
          </p:blipFill>
          <p:spPr bwMode="auto">
            <a:xfrm>
              <a:off x="3102809" y="1391828"/>
              <a:ext cx="536494" cy="536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5" name="TextBox 6">
              <a:extLst>
                <a:ext uri="{FF2B5EF4-FFF2-40B4-BE49-F238E27FC236}">
                  <a16:creationId xmlns:a16="http://schemas.microsoft.com/office/drawing/2014/main" id="{AAF2F866-AD89-DB71-AC69-472D0AE73DA1}"/>
                </a:ext>
              </a:extLst>
            </p:cNvPr>
            <p:cNvSpPr txBox="1">
              <a:spLocks noChangeArrowheads="1"/>
            </p:cNvSpPr>
            <p:nvPr/>
          </p:nvSpPr>
          <p:spPr bwMode="auto">
            <a:xfrm>
              <a:off x="3005693" y="1928322"/>
              <a:ext cx="7307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Amplify</a:t>
              </a:r>
            </a:p>
          </p:txBody>
        </p:sp>
      </p:grpSp>
      <p:grpSp>
        <p:nvGrpSpPr>
          <p:cNvPr id="261" name="グループ化 260">
            <a:extLst>
              <a:ext uri="{FF2B5EF4-FFF2-40B4-BE49-F238E27FC236}">
                <a16:creationId xmlns:a16="http://schemas.microsoft.com/office/drawing/2014/main" id="{9B8E3B1A-FFD0-0DAD-D0CA-4AEE8EE9ABF3}"/>
              </a:ext>
            </a:extLst>
          </p:cNvPr>
          <p:cNvGrpSpPr/>
          <p:nvPr/>
        </p:nvGrpSpPr>
        <p:grpSpPr>
          <a:xfrm>
            <a:off x="2589468" y="5683375"/>
            <a:ext cx="1020292" cy="992557"/>
            <a:chOff x="3864463" y="3839626"/>
            <a:chExt cx="1020292" cy="992557"/>
          </a:xfrm>
        </p:grpSpPr>
        <p:pic>
          <p:nvPicPr>
            <p:cNvPr id="272" name="Graphic 17" descr="Amazon Cognito service icon.">
              <a:extLst>
                <a:ext uri="{FF2B5EF4-FFF2-40B4-BE49-F238E27FC236}">
                  <a16:creationId xmlns:a16="http://schemas.microsoft.com/office/drawing/2014/main" id="{1C3C9DAB-EA9A-94A3-411B-0C59073A4A05}"/>
                </a:ext>
              </a:extLst>
            </p:cNvPr>
            <p:cNvPicPr>
              <a:picLocks noChangeAspect="1" noChangeArrowheads="1"/>
            </p:cNvPicPr>
            <p:nvPr/>
          </p:nvPicPr>
          <p:blipFill>
            <a:blip r:embed="rId20">
              <a:extLst>
                <a:ext uri="{96DAC541-7B7A-43D3-8B79-37D633B846F1}">
                  <asvg:svgBlip xmlns:asvg="http://schemas.microsoft.com/office/drawing/2016/SVG/main" r:embed="rId21"/>
                </a:ext>
              </a:extLst>
            </a:blip>
            <a:srcRect/>
            <a:stretch/>
          </p:blipFill>
          <p:spPr bwMode="auto">
            <a:xfrm>
              <a:off x="4106362" y="3839626"/>
              <a:ext cx="536494" cy="536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3" name="TextBox 11">
              <a:extLst>
                <a:ext uri="{FF2B5EF4-FFF2-40B4-BE49-F238E27FC236}">
                  <a16:creationId xmlns:a16="http://schemas.microsoft.com/office/drawing/2014/main" id="{E90A919D-0D95-D98B-B884-82F8879FEA6D}"/>
                </a:ext>
              </a:extLst>
            </p:cNvPr>
            <p:cNvSpPr txBox="1">
              <a:spLocks noChangeArrowheads="1"/>
            </p:cNvSpPr>
            <p:nvPr/>
          </p:nvSpPr>
          <p:spPr bwMode="auto">
            <a:xfrm>
              <a:off x="3864463" y="4370518"/>
              <a:ext cx="102029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Cognito</a:t>
              </a: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(ID Pool)</a:t>
              </a:r>
            </a:p>
          </p:txBody>
        </p:sp>
      </p:grpSp>
      <p:cxnSp>
        <p:nvCxnSpPr>
          <p:cNvPr id="263" name="Elbow Connector 22" descr="Elbow horizontal arrow pointing right (1).">
            <a:extLst>
              <a:ext uri="{FF2B5EF4-FFF2-40B4-BE49-F238E27FC236}">
                <a16:creationId xmlns:a16="http://schemas.microsoft.com/office/drawing/2014/main" id="{3A76F2C6-8BA0-41F2-C95D-1F3365E963CB}"/>
              </a:ext>
            </a:extLst>
          </p:cNvPr>
          <p:cNvCxnSpPr>
            <a:cxnSpLocks/>
            <a:stCxn id="272" idx="0"/>
          </p:cNvCxnSpPr>
          <p:nvPr/>
        </p:nvCxnSpPr>
        <p:spPr>
          <a:xfrm rot="16200000" flipV="1">
            <a:off x="1974111" y="4557872"/>
            <a:ext cx="866319" cy="1384688"/>
          </a:xfrm>
          <a:prstGeom prst="bentConnector2">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pic>
        <p:nvPicPr>
          <p:cNvPr id="264" name="Graphic 86" descr="Temporary security credential resource icon for the IAM service.">
            <a:extLst>
              <a:ext uri="{FF2B5EF4-FFF2-40B4-BE49-F238E27FC236}">
                <a16:creationId xmlns:a16="http://schemas.microsoft.com/office/drawing/2014/main" id="{7147E7F8-990B-0A60-8BDD-112AB45F7F7A}"/>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2607487" y="5053261"/>
            <a:ext cx="416212" cy="416212"/>
          </a:xfrm>
          <a:prstGeom prst="rect">
            <a:avLst/>
          </a:prstGeom>
        </p:spPr>
      </p:pic>
      <p:grpSp>
        <p:nvGrpSpPr>
          <p:cNvPr id="265" name="グループ化 264">
            <a:extLst>
              <a:ext uri="{FF2B5EF4-FFF2-40B4-BE49-F238E27FC236}">
                <a16:creationId xmlns:a16="http://schemas.microsoft.com/office/drawing/2014/main" id="{5F54B292-2D67-2C97-7125-2B64CB2C1B70}"/>
              </a:ext>
            </a:extLst>
          </p:cNvPr>
          <p:cNvGrpSpPr/>
          <p:nvPr/>
        </p:nvGrpSpPr>
        <p:grpSpPr>
          <a:xfrm>
            <a:off x="4689910" y="1644835"/>
            <a:ext cx="1020292" cy="992557"/>
            <a:chOff x="3864463" y="3839626"/>
            <a:chExt cx="1020292" cy="992557"/>
          </a:xfrm>
        </p:grpSpPr>
        <p:pic>
          <p:nvPicPr>
            <p:cNvPr id="270" name="Graphic 17" descr="Amazon Cognito service icon.">
              <a:extLst>
                <a:ext uri="{FF2B5EF4-FFF2-40B4-BE49-F238E27FC236}">
                  <a16:creationId xmlns:a16="http://schemas.microsoft.com/office/drawing/2014/main" id="{152BE2B1-3C0E-AA72-7C6E-4955C7299DC3}"/>
                </a:ext>
              </a:extLst>
            </p:cNvPr>
            <p:cNvPicPr>
              <a:picLocks noChangeAspect="1" noChangeArrowheads="1"/>
            </p:cNvPicPr>
            <p:nvPr/>
          </p:nvPicPr>
          <p:blipFill>
            <a:blip r:embed="rId20">
              <a:extLst>
                <a:ext uri="{96DAC541-7B7A-43D3-8B79-37D633B846F1}">
                  <asvg:svgBlip xmlns:asvg="http://schemas.microsoft.com/office/drawing/2016/SVG/main" r:embed="rId21"/>
                </a:ext>
              </a:extLst>
            </a:blip>
            <a:srcRect/>
            <a:stretch/>
          </p:blipFill>
          <p:spPr bwMode="auto">
            <a:xfrm>
              <a:off x="4106362" y="3839626"/>
              <a:ext cx="536494" cy="536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1" name="TextBox 11">
              <a:extLst>
                <a:ext uri="{FF2B5EF4-FFF2-40B4-BE49-F238E27FC236}">
                  <a16:creationId xmlns:a16="http://schemas.microsoft.com/office/drawing/2014/main" id="{5E18C5F6-12A7-7BA8-F4D2-B8EA3778809D}"/>
                </a:ext>
              </a:extLst>
            </p:cNvPr>
            <p:cNvSpPr txBox="1">
              <a:spLocks noChangeArrowheads="1"/>
            </p:cNvSpPr>
            <p:nvPr/>
          </p:nvSpPr>
          <p:spPr bwMode="auto">
            <a:xfrm>
              <a:off x="3864463" y="4370518"/>
              <a:ext cx="102029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Cognito (User Pool)</a:t>
              </a:r>
            </a:p>
          </p:txBody>
        </p:sp>
      </p:grpSp>
      <p:grpSp>
        <p:nvGrpSpPr>
          <p:cNvPr id="267" name="Group 1" descr="AWS Cloud group with AWS logo.">
            <a:extLst>
              <a:ext uri="{FF2B5EF4-FFF2-40B4-BE49-F238E27FC236}">
                <a16:creationId xmlns:a16="http://schemas.microsoft.com/office/drawing/2014/main" id="{98BAD96E-4012-AFC3-6CF0-0D8A591FD276}"/>
              </a:ext>
            </a:extLst>
          </p:cNvPr>
          <p:cNvGrpSpPr/>
          <p:nvPr/>
        </p:nvGrpSpPr>
        <p:grpSpPr>
          <a:xfrm>
            <a:off x="2472231" y="924652"/>
            <a:ext cx="5699967" cy="5830550"/>
            <a:chOff x="355598" y="688154"/>
            <a:chExt cx="5699967" cy="3748799"/>
          </a:xfrm>
        </p:grpSpPr>
        <p:sp>
          <p:nvSpPr>
            <p:cNvPr id="268" name="Rectangle 54">
              <a:extLst>
                <a:ext uri="{FF2B5EF4-FFF2-40B4-BE49-F238E27FC236}">
                  <a16:creationId xmlns:a16="http://schemas.microsoft.com/office/drawing/2014/main" id="{7558D158-A246-F254-ACB9-069C7A91AB27}"/>
                </a:ext>
              </a:extLst>
            </p:cNvPr>
            <p:cNvSpPr/>
            <p:nvPr/>
          </p:nvSpPr>
          <p:spPr>
            <a:xfrm>
              <a:off x="355598" y="689579"/>
              <a:ext cx="5699967" cy="3747374"/>
            </a:xfrm>
            <a:prstGeom prst="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r>
                <a:rPr lang="en-US" sz="1200" dirty="0">
                  <a:solidFill>
                    <a:schemeClr val="tx1"/>
                  </a:solidFill>
                  <a:latin typeface="Arial" panose="020B0604020202020204" pitchFamily="34" charset="0"/>
                  <a:cs typeface="Arial" panose="020B0604020202020204" pitchFamily="34" charset="0"/>
                </a:rPr>
                <a:t>AWS Cloud</a:t>
              </a:r>
            </a:p>
          </p:txBody>
        </p:sp>
        <p:pic>
          <p:nvPicPr>
            <p:cNvPr id="269" name="Graphic 55" descr="AWS Cloud group icon with AWS logo.">
              <a:extLst>
                <a:ext uri="{FF2B5EF4-FFF2-40B4-BE49-F238E27FC236}">
                  <a16:creationId xmlns:a16="http://schemas.microsoft.com/office/drawing/2014/main" id="{ECD7309F-6469-5F66-B789-FDAE99BBE32C}"/>
                </a:ext>
              </a:extLst>
            </p:cNvPr>
            <p:cNvPicPr>
              <a:picLocks noChangeAspect="1"/>
            </p:cNvPicPr>
            <p:nvPr/>
          </p:nvPicPr>
          <p:blipFill>
            <a:blip r:embed="rId24">
              <a:extLst>
                <a:ext uri="{96DAC541-7B7A-43D3-8B79-37D633B846F1}">
                  <asvg:svgBlip xmlns:asvg="http://schemas.microsoft.com/office/drawing/2016/SVG/main" r:embed="rId25"/>
                </a:ext>
              </a:extLst>
            </a:blip>
            <a:srcRect/>
            <a:stretch/>
          </p:blipFill>
          <p:spPr>
            <a:xfrm>
              <a:off x="355598" y="688154"/>
              <a:ext cx="419750" cy="270535"/>
            </a:xfrm>
            <a:prstGeom prst="rect">
              <a:avLst/>
            </a:prstGeom>
          </p:spPr>
        </p:pic>
      </p:grpSp>
      <p:sp>
        <p:nvSpPr>
          <p:cNvPr id="228" name="Rectangle 103" descr="Generic group dashed.">
            <a:extLst>
              <a:ext uri="{FF2B5EF4-FFF2-40B4-BE49-F238E27FC236}">
                <a16:creationId xmlns:a16="http://schemas.microsoft.com/office/drawing/2014/main" id="{E958D70F-E8E1-3871-30CF-F61BF23928BD}"/>
              </a:ext>
            </a:extLst>
          </p:cNvPr>
          <p:cNvSpPr/>
          <p:nvPr/>
        </p:nvSpPr>
        <p:spPr>
          <a:xfrm>
            <a:off x="-365819" y="2075537"/>
            <a:ext cx="2621698" cy="1720079"/>
          </a:xfrm>
          <a:prstGeom prst="rect">
            <a:avLst/>
          </a:prstGeom>
          <a:noFill/>
          <a:ln w="15875">
            <a:solidFill>
              <a:srgbClr val="7D8998"/>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a:defRPr/>
            </a:pPr>
            <a:r>
              <a:rPr lang="ja-JP" altLang="en-US" sz="1200" dirty="0">
                <a:solidFill>
                  <a:schemeClr val="tx1"/>
                </a:solidFill>
                <a:latin typeface="Arial" panose="020B0604020202020204" pitchFamily="34" charset="0"/>
                <a:cs typeface="Arial" panose="020B0604020202020204" pitchFamily="34" charset="0"/>
              </a:rPr>
              <a:t>教員部屋（</a:t>
            </a:r>
            <a:r>
              <a:rPr lang="en-US" altLang="ja-JP" sz="1200" dirty="0">
                <a:solidFill>
                  <a:schemeClr val="tx1"/>
                </a:solidFill>
                <a:latin typeface="Arial" panose="020B0604020202020204" pitchFamily="34" charset="0"/>
                <a:cs typeface="Arial" panose="020B0604020202020204" pitchFamily="34" charset="0"/>
              </a:rPr>
              <a:t>J1404</a:t>
            </a:r>
            <a:r>
              <a:rPr lang="ja-JP" altLang="en-US" sz="1200" dirty="0">
                <a:solidFill>
                  <a:schemeClr val="tx1"/>
                </a:solidFill>
                <a:latin typeface="Arial" panose="020B0604020202020204" pitchFamily="34" charset="0"/>
                <a:cs typeface="Arial" panose="020B0604020202020204" pitchFamily="34" charset="0"/>
              </a:rPr>
              <a:t>）</a:t>
            </a:r>
            <a:endParaRPr lang="en-US" sz="1200" dirty="0">
              <a:solidFill>
                <a:schemeClr val="tx1"/>
              </a:solidFill>
              <a:latin typeface="Arial" panose="020B0604020202020204" pitchFamily="34" charset="0"/>
              <a:cs typeface="Arial" panose="020B0604020202020204" pitchFamily="34" charset="0"/>
            </a:endParaRPr>
          </a:p>
        </p:txBody>
      </p:sp>
      <p:pic>
        <p:nvPicPr>
          <p:cNvPr id="302" name="グラフィックス 301">
            <a:extLst>
              <a:ext uri="{FF2B5EF4-FFF2-40B4-BE49-F238E27FC236}">
                <a16:creationId xmlns:a16="http://schemas.microsoft.com/office/drawing/2014/main" id="{1CAC9B29-1D01-1009-CF65-767A73952390}"/>
              </a:ext>
            </a:extLst>
          </p:cNvPr>
          <p:cNvPicPr>
            <a:picLocks noChangeAspect="1"/>
          </p:cNvPicPr>
          <p:nvPr/>
        </p:nvPicPr>
        <p:blipFill>
          <a:blip r:embed="rId26">
            <a:grayscl/>
            <a:extLst>
              <a:ext uri="{96DAC541-7B7A-43D3-8B79-37D633B846F1}">
                <asvg:svgBlip xmlns:asvg="http://schemas.microsoft.com/office/drawing/2016/SVG/main" r:embed="rId27"/>
              </a:ext>
            </a:extLst>
          </a:blip>
          <a:srcRect l="25148" t="16203" r="25948" b="16205"/>
          <a:stretch/>
        </p:blipFill>
        <p:spPr>
          <a:xfrm>
            <a:off x="-26345" y="2508789"/>
            <a:ext cx="580096" cy="801769"/>
          </a:xfrm>
          <a:prstGeom prst="rect">
            <a:avLst/>
          </a:prstGeom>
        </p:spPr>
      </p:pic>
      <p:cxnSp>
        <p:nvCxnSpPr>
          <p:cNvPr id="303" name="Straight Arrow Connector 100">
            <a:extLst>
              <a:ext uri="{FF2B5EF4-FFF2-40B4-BE49-F238E27FC236}">
                <a16:creationId xmlns:a16="http://schemas.microsoft.com/office/drawing/2014/main" id="{B05EC30C-9F8C-9CE9-786E-BE933CFF7842}"/>
              </a:ext>
            </a:extLst>
          </p:cNvPr>
          <p:cNvCxnSpPr>
            <a:cxnSpLocks/>
            <a:stCxn id="302" idx="3"/>
          </p:cNvCxnSpPr>
          <p:nvPr/>
        </p:nvCxnSpPr>
        <p:spPr>
          <a:xfrm>
            <a:off x="553751" y="2909674"/>
            <a:ext cx="631375" cy="597"/>
          </a:xfrm>
          <a:prstGeom prst="straightConnector1">
            <a:avLst/>
          </a:prstGeom>
          <a:ln w="19050">
            <a:solidFill>
              <a:schemeClr val="tx1"/>
            </a:solidFill>
            <a:headEnd type="none" w="med" len="sm"/>
            <a:tailEnd type="none" w="med" len="sm"/>
          </a:ln>
        </p:spPr>
        <p:style>
          <a:lnRef idx="1">
            <a:schemeClr val="accent1"/>
          </a:lnRef>
          <a:fillRef idx="0">
            <a:schemeClr val="accent1"/>
          </a:fillRef>
          <a:effectRef idx="0">
            <a:schemeClr val="accent1"/>
          </a:effectRef>
          <a:fontRef idx="minor">
            <a:schemeClr val="tx1"/>
          </a:fontRef>
        </p:style>
      </p:cxnSp>
      <p:sp>
        <p:nvSpPr>
          <p:cNvPr id="306" name="Rectangle 103" descr="Generic group dashed.">
            <a:extLst>
              <a:ext uri="{FF2B5EF4-FFF2-40B4-BE49-F238E27FC236}">
                <a16:creationId xmlns:a16="http://schemas.microsoft.com/office/drawing/2014/main" id="{0162F77B-4B85-2688-2370-D7046C14CDF9}"/>
              </a:ext>
            </a:extLst>
          </p:cNvPr>
          <p:cNvSpPr/>
          <p:nvPr/>
        </p:nvSpPr>
        <p:spPr>
          <a:xfrm>
            <a:off x="-365819" y="3933107"/>
            <a:ext cx="2615365" cy="2822096"/>
          </a:xfrm>
          <a:prstGeom prst="rect">
            <a:avLst/>
          </a:prstGeom>
          <a:noFill/>
          <a:ln w="15875">
            <a:solidFill>
              <a:srgbClr val="7D8998"/>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a:defRPr/>
            </a:pPr>
            <a:r>
              <a:rPr lang="ja-JP" altLang="en-US" sz="1200" dirty="0">
                <a:solidFill>
                  <a:schemeClr val="tx1"/>
                </a:solidFill>
                <a:latin typeface="Arial" panose="020B0604020202020204" pitchFamily="34" charset="0"/>
                <a:cs typeface="Arial" panose="020B0604020202020204" pitchFamily="34" charset="0"/>
              </a:rPr>
              <a:t>学生部屋（</a:t>
            </a:r>
            <a:r>
              <a:rPr lang="en-US" altLang="ja-JP" sz="1200" dirty="0">
                <a:solidFill>
                  <a:schemeClr val="tx1"/>
                </a:solidFill>
                <a:latin typeface="Arial" panose="020B0604020202020204" pitchFamily="34" charset="0"/>
                <a:cs typeface="Arial" panose="020B0604020202020204" pitchFamily="34" charset="0"/>
              </a:rPr>
              <a:t>J1401</a:t>
            </a:r>
            <a:r>
              <a:rPr lang="ja-JP" altLang="en-US" sz="1200" dirty="0">
                <a:solidFill>
                  <a:schemeClr val="tx1"/>
                </a:solidFill>
                <a:latin typeface="Arial" panose="020B0604020202020204" pitchFamily="34" charset="0"/>
                <a:cs typeface="Arial" panose="020B0604020202020204" pitchFamily="34" charset="0"/>
              </a:rPr>
              <a:t>）</a:t>
            </a:r>
            <a:endParaRPr lang="en-US" sz="1200" dirty="0">
              <a:solidFill>
                <a:schemeClr val="tx1"/>
              </a:solidFill>
              <a:latin typeface="Arial" panose="020B0604020202020204" pitchFamily="34" charset="0"/>
              <a:cs typeface="Arial" panose="020B0604020202020204" pitchFamily="34" charset="0"/>
            </a:endParaRPr>
          </a:p>
        </p:txBody>
      </p:sp>
      <p:pic>
        <p:nvPicPr>
          <p:cNvPr id="307" name="グラフィックス 306">
            <a:extLst>
              <a:ext uri="{FF2B5EF4-FFF2-40B4-BE49-F238E27FC236}">
                <a16:creationId xmlns:a16="http://schemas.microsoft.com/office/drawing/2014/main" id="{407621FD-9BAA-CDE8-5A94-4055511D4E2F}"/>
              </a:ext>
            </a:extLst>
          </p:cNvPr>
          <p:cNvPicPr>
            <a:picLocks noChangeAspect="1"/>
          </p:cNvPicPr>
          <p:nvPr/>
        </p:nvPicPr>
        <p:blipFill>
          <a:blip r:embed="rId26">
            <a:grayscl/>
            <a:extLst>
              <a:ext uri="{96DAC541-7B7A-43D3-8B79-37D633B846F1}">
                <asvg:svgBlip xmlns:asvg="http://schemas.microsoft.com/office/drawing/2016/SVG/main" r:embed="rId27"/>
              </a:ext>
            </a:extLst>
          </a:blip>
          <a:srcRect l="25148" t="16203" r="25948" b="16205"/>
          <a:stretch/>
        </p:blipFill>
        <p:spPr>
          <a:xfrm rot="16200000">
            <a:off x="-13946" y="5874413"/>
            <a:ext cx="599552" cy="828660"/>
          </a:xfrm>
          <a:prstGeom prst="rect">
            <a:avLst/>
          </a:prstGeom>
        </p:spPr>
      </p:pic>
      <p:cxnSp>
        <p:nvCxnSpPr>
          <p:cNvPr id="329" name="Straight Arrow Connector 52" descr="Double pointing horizontal arrow.">
            <a:extLst>
              <a:ext uri="{FF2B5EF4-FFF2-40B4-BE49-F238E27FC236}">
                <a16:creationId xmlns:a16="http://schemas.microsoft.com/office/drawing/2014/main" id="{94FE2D40-A79C-7A59-B125-AE4931273856}"/>
              </a:ext>
            </a:extLst>
          </p:cNvPr>
          <p:cNvCxnSpPr>
            <a:cxnSpLocks/>
            <a:stCxn id="290" idx="0"/>
            <a:endCxn id="297" idx="2"/>
          </p:cNvCxnSpPr>
          <p:nvPr/>
        </p:nvCxnSpPr>
        <p:spPr>
          <a:xfrm flipH="1" flipV="1">
            <a:off x="4024870" y="5380852"/>
            <a:ext cx="3010" cy="315777"/>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335" name="Straight Arrow Connector 52" descr="Double pointing horizontal arrow.">
            <a:extLst>
              <a:ext uri="{FF2B5EF4-FFF2-40B4-BE49-F238E27FC236}">
                <a16:creationId xmlns:a16="http://schemas.microsoft.com/office/drawing/2014/main" id="{1B785497-3F1F-2EFE-2887-ADBF5488DEE6}"/>
              </a:ext>
            </a:extLst>
          </p:cNvPr>
          <p:cNvCxnSpPr>
            <a:cxnSpLocks/>
            <a:stCxn id="282" idx="0"/>
            <a:endCxn id="295" idx="2"/>
          </p:cNvCxnSpPr>
          <p:nvPr/>
        </p:nvCxnSpPr>
        <p:spPr>
          <a:xfrm flipV="1">
            <a:off x="5200660" y="5195318"/>
            <a:ext cx="3868" cy="496800"/>
          </a:xfrm>
          <a:prstGeom prst="straightConnector1">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341" name="Straight Arrow Connector 52" descr="Double pointing horizontal arrow.">
            <a:extLst>
              <a:ext uri="{FF2B5EF4-FFF2-40B4-BE49-F238E27FC236}">
                <a16:creationId xmlns:a16="http://schemas.microsoft.com/office/drawing/2014/main" id="{A94C8DD0-3E2F-3F92-8D7B-8C666623FC03}"/>
              </a:ext>
            </a:extLst>
          </p:cNvPr>
          <p:cNvCxnSpPr>
            <a:cxnSpLocks/>
            <a:stCxn id="274" idx="3"/>
            <a:endCxn id="280" idx="1"/>
          </p:cNvCxnSpPr>
          <p:nvPr/>
        </p:nvCxnSpPr>
        <p:spPr>
          <a:xfrm>
            <a:off x="4294902" y="2913519"/>
            <a:ext cx="636909" cy="1957"/>
          </a:xfrm>
          <a:prstGeom prst="straightConnector1">
            <a:avLst/>
          </a:prstGeom>
          <a:ln w="15875">
            <a:solidFill>
              <a:schemeClr val="tx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grpSp>
        <p:nvGrpSpPr>
          <p:cNvPr id="345" name="グループ化 344">
            <a:extLst>
              <a:ext uri="{FF2B5EF4-FFF2-40B4-BE49-F238E27FC236}">
                <a16:creationId xmlns:a16="http://schemas.microsoft.com/office/drawing/2014/main" id="{DDD93199-0393-A6A0-B978-F49A476E7AD6}"/>
              </a:ext>
            </a:extLst>
          </p:cNvPr>
          <p:cNvGrpSpPr/>
          <p:nvPr/>
        </p:nvGrpSpPr>
        <p:grpSpPr>
          <a:xfrm>
            <a:off x="5966781" y="2645832"/>
            <a:ext cx="820861" cy="812933"/>
            <a:chOff x="5051089" y="1185069"/>
            <a:chExt cx="1165896" cy="1154637"/>
          </a:xfrm>
        </p:grpSpPr>
        <p:pic>
          <p:nvPicPr>
            <p:cNvPr id="346" name="Graphic 10" descr="AWS Lambda service icon.">
              <a:extLst>
                <a:ext uri="{FF2B5EF4-FFF2-40B4-BE49-F238E27FC236}">
                  <a16:creationId xmlns:a16="http://schemas.microsoft.com/office/drawing/2014/main" id="{802B3B02-4D0B-B20F-C150-6D9D3EF2A351}"/>
                </a:ext>
              </a:extLst>
            </p:cNvPr>
            <p:cNvPicPr>
              <a:picLocks noChangeAspect="1" noChangeArrowheads="1"/>
            </p:cNvPicPr>
            <p:nvPr/>
          </p:nvPicPr>
          <p:blipFill>
            <a:blip r:embed="rId6">
              <a:extLst>
                <a:ext uri="{96DAC541-7B7A-43D3-8B79-37D633B846F1}">
                  <asvg:svgBlip xmlns:asvg="http://schemas.microsoft.com/office/drawing/2016/SVG/main" r:embed="rId7"/>
                </a:ext>
              </a:extLst>
            </a:blip>
            <a:srcRect/>
            <a:stretch/>
          </p:blipFill>
          <p:spPr bwMode="auto">
            <a:xfrm>
              <a:off x="5246688" y="1185069"/>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7" name="TextBox 20">
              <a:extLst>
                <a:ext uri="{FF2B5EF4-FFF2-40B4-BE49-F238E27FC236}">
                  <a16:creationId xmlns:a16="http://schemas.microsoft.com/office/drawing/2014/main" id="{A3A47909-E1A4-B871-4D67-1299ECCDDE95}"/>
                </a:ext>
              </a:extLst>
            </p:cNvPr>
            <p:cNvSpPr txBox="1">
              <a:spLocks noChangeArrowheads="1"/>
            </p:cNvSpPr>
            <p:nvPr/>
          </p:nvSpPr>
          <p:spPr bwMode="auto">
            <a:xfrm>
              <a:off x="5051089" y="1946275"/>
              <a:ext cx="1165896" cy="393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Lambda</a:t>
              </a:r>
            </a:p>
          </p:txBody>
        </p:sp>
      </p:grpSp>
      <p:cxnSp>
        <p:nvCxnSpPr>
          <p:cNvPr id="348" name="Straight Arrow Connector 52" descr="Double pointing horizontal arrow.">
            <a:extLst>
              <a:ext uri="{FF2B5EF4-FFF2-40B4-BE49-F238E27FC236}">
                <a16:creationId xmlns:a16="http://schemas.microsoft.com/office/drawing/2014/main" id="{57D8AD9C-015B-05AB-D84A-33EC102D7E11}"/>
              </a:ext>
            </a:extLst>
          </p:cNvPr>
          <p:cNvCxnSpPr>
            <a:cxnSpLocks/>
            <a:stCxn id="280" idx="3"/>
            <a:endCxn id="346" idx="1"/>
          </p:cNvCxnSpPr>
          <p:nvPr/>
        </p:nvCxnSpPr>
        <p:spPr>
          <a:xfrm flipV="1">
            <a:off x="5468305" y="2914079"/>
            <a:ext cx="636189" cy="1397"/>
          </a:xfrm>
          <a:prstGeom prst="straightConnector1">
            <a:avLst/>
          </a:prstGeom>
          <a:ln w="15875">
            <a:solidFill>
              <a:schemeClr val="tx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grpSp>
        <p:nvGrpSpPr>
          <p:cNvPr id="361" name="グループ化 360">
            <a:extLst>
              <a:ext uri="{FF2B5EF4-FFF2-40B4-BE49-F238E27FC236}">
                <a16:creationId xmlns:a16="http://schemas.microsoft.com/office/drawing/2014/main" id="{267C532E-391F-318B-CB94-0893F882275B}"/>
              </a:ext>
            </a:extLst>
          </p:cNvPr>
          <p:cNvGrpSpPr/>
          <p:nvPr/>
        </p:nvGrpSpPr>
        <p:grpSpPr>
          <a:xfrm>
            <a:off x="6341556" y="3458765"/>
            <a:ext cx="71896" cy="901612"/>
            <a:chOff x="6937330" y="3141097"/>
            <a:chExt cx="71896" cy="901612"/>
          </a:xfrm>
        </p:grpSpPr>
        <p:cxnSp>
          <p:nvCxnSpPr>
            <p:cNvPr id="354" name="Straight Arrow Connector 52" descr="Double pointing horizontal arrow.">
              <a:extLst>
                <a:ext uri="{FF2B5EF4-FFF2-40B4-BE49-F238E27FC236}">
                  <a16:creationId xmlns:a16="http://schemas.microsoft.com/office/drawing/2014/main" id="{52D0EE16-6E77-8272-FCB9-49F45DA0DC73}"/>
                </a:ext>
              </a:extLst>
            </p:cNvPr>
            <p:cNvCxnSpPr>
              <a:cxnSpLocks/>
              <a:stCxn id="360" idx="0"/>
              <a:endCxn id="347" idx="2"/>
            </p:cNvCxnSpPr>
            <p:nvPr/>
          </p:nvCxnSpPr>
          <p:spPr>
            <a:xfrm flipH="1" flipV="1">
              <a:off x="6972986" y="3141097"/>
              <a:ext cx="292" cy="829716"/>
            </a:xfrm>
            <a:prstGeom prst="straightConnector1">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sp>
          <p:nvSpPr>
            <p:cNvPr id="360" name="楕円 359">
              <a:extLst>
                <a:ext uri="{FF2B5EF4-FFF2-40B4-BE49-F238E27FC236}">
                  <a16:creationId xmlns:a16="http://schemas.microsoft.com/office/drawing/2014/main" id="{D16BDE18-8A06-B57B-4762-A3518F531355}"/>
                </a:ext>
              </a:extLst>
            </p:cNvPr>
            <p:cNvSpPr/>
            <p:nvPr/>
          </p:nvSpPr>
          <p:spPr>
            <a:xfrm>
              <a:off x="6937330" y="3970813"/>
              <a:ext cx="71896" cy="71896"/>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62" name="TextBox 9">
            <a:extLst>
              <a:ext uri="{FF2B5EF4-FFF2-40B4-BE49-F238E27FC236}">
                <a16:creationId xmlns:a16="http://schemas.microsoft.com/office/drawing/2014/main" id="{3F0C70A6-4005-AECC-55F8-0685BCD70D14}"/>
              </a:ext>
            </a:extLst>
          </p:cNvPr>
          <p:cNvSpPr txBox="1">
            <a:spLocks noChangeArrowheads="1"/>
          </p:cNvSpPr>
          <p:nvPr/>
        </p:nvSpPr>
        <p:spPr bwMode="auto">
          <a:xfrm>
            <a:off x="6329508" y="3789686"/>
            <a:ext cx="76250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Stream</a:t>
            </a:r>
          </a:p>
        </p:txBody>
      </p:sp>
      <p:cxnSp>
        <p:nvCxnSpPr>
          <p:cNvPr id="369" name="Straight Arrow Connector 52" descr="Double pointing horizontal arrow.">
            <a:extLst>
              <a:ext uri="{FF2B5EF4-FFF2-40B4-BE49-F238E27FC236}">
                <a16:creationId xmlns:a16="http://schemas.microsoft.com/office/drawing/2014/main" id="{24D7A225-87DC-5112-E071-AB635A169657}"/>
              </a:ext>
            </a:extLst>
          </p:cNvPr>
          <p:cNvCxnSpPr>
            <a:cxnSpLocks/>
            <a:stCxn id="274" idx="1"/>
          </p:cNvCxnSpPr>
          <p:nvPr/>
        </p:nvCxnSpPr>
        <p:spPr>
          <a:xfrm flipH="1" flipV="1">
            <a:off x="1721620" y="2910271"/>
            <a:ext cx="2036788" cy="3248"/>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372" name="Straight Arrow Connector 52" descr="Double pointing horizontal arrow.">
            <a:extLst>
              <a:ext uri="{FF2B5EF4-FFF2-40B4-BE49-F238E27FC236}">
                <a16:creationId xmlns:a16="http://schemas.microsoft.com/office/drawing/2014/main" id="{CC914FF9-7AA9-6D32-910A-FC0DA4A8965D}"/>
              </a:ext>
            </a:extLst>
          </p:cNvPr>
          <p:cNvCxnSpPr>
            <a:cxnSpLocks/>
            <a:stCxn id="286" idx="1"/>
            <a:endCxn id="307" idx="2"/>
          </p:cNvCxnSpPr>
          <p:nvPr/>
        </p:nvCxnSpPr>
        <p:spPr>
          <a:xfrm flipH="1">
            <a:off x="700160" y="6288743"/>
            <a:ext cx="294775" cy="0"/>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sp>
        <p:nvSpPr>
          <p:cNvPr id="380" name="Rectangle 103" descr="Generic group dashed.">
            <a:extLst>
              <a:ext uri="{FF2B5EF4-FFF2-40B4-BE49-F238E27FC236}">
                <a16:creationId xmlns:a16="http://schemas.microsoft.com/office/drawing/2014/main" id="{1BB28FA8-E344-4F37-F092-44CFAB34DFA3}"/>
              </a:ext>
            </a:extLst>
          </p:cNvPr>
          <p:cNvSpPr/>
          <p:nvPr/>
        </p:nvSpPr>
        <p:spPr>
          <a:xfrm>
            <a:off x="3400685" y="1552760"/>
            <a:ext cx="3541821" cy="2158934"/>
          </a:xfrm>
          <a:prstGeom prst="rect">
            <a:avLst/>
          </a:prstGeom>
          <a:noFill/>
          <a:ln w="15875">
            <a:solidFill>
              <a:srgbClr val="7D8998"/>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eaLnBrk="1" fontAlgn="auto" hangingPunct="1">
              <a:spcBef>
                <a:spcPts val="0"/>
              </a:spcBef>
              <a:spcAft>
                <a:spcPts val="0"/>
              </a:spcAft>
              <a:defRPr/>
            </a:pPr>
            <a:endParaRPr lang="en-US" sz="1200" dirty="0">
              <a:solidFill>
                <a:schemeClr val="tx1"/>
              </a:solidFill>
              <a:latin typeface="Arial" panose="020B0604020202020204" pitchFamily="34" charset="0"/>
              <a:cs typeface="Arial" panose="020B0604020202020204" pitchFamily="34" charset="0"/>
            </a:endParaRPr>
          </a:p>
        </p:txBody>
      </p:sp>
      <p:sp>
        <p:nvSpPr>
          <p:cNvPr id="256" name="テキスト ボックス 255">
            <a:extLst>
              <a:ext uri="{FF2B5EF4-FFF2-40B4-BE49-F238E27FC236}">
                <a16:creationId xmlns:a16="http://schemas.microsoft.com/office/drawing/2014/main" id="{86042DF5-FEAE-EE63-F96D-703D104C31F5}"/>
              </a:ext>
            </a:extLst>
          </p:cNvPr>
          <p:cNvSpPr txBox="1"/>
          <p:nvPr/>
        </p:nvSpPr>
        <p:spPr>
          <a:xfrm>
            <a:off x="3299398" y="1260339"/>
            <a:ext cx="2390492" cy="276999"/>
          </a:xfrm>
          <a:prstGeom prst="rect">
            <a:avLst/>
          </a:prstGeom>
          <a:solidFill>
            <a:schemeClr val="bg2"/>
          </a:solidFill>
        </p:spPr>
        <p:txBody>
          <a:bodyPr wrap="square" rtlCol="0">
            <a:spAutoFit/>
          </a:bodyPr>
          <a:lstStyle/>
          <a:p>
            <a:r>
              <a:rPr lang="ja-JP" altLang="en-US" sz="1200" b="1" dirty="0">
                <a:latin typeface="BIZ UDゴシック" panose="020B0400000000000000" pitchFamily="49" charset="-128"/>
                <a:ea typeface="BIZ UDゴシック" panose="020B0400000000000000" pitchFamily="49" charset="-128"/>
              </a:rPr>
              <a:t>ユーザー・在室表示サービス</a:t>
            </a:r>
            <a:endParaRPr kumimoji="1" lang="ja-JP" altLang="en-US" sz="1200" b="1" dirty="0">
              <a:latin typeface="BIZ UDゴシック" panose="020B0400000000000000" pitchFamily="49" charset="-128"/>
              <a:ea typeface="BIZ UDゴシック" panose="020B0400000000000000" pitchFamily="49" charset="-128"/>
            </a:endParaRPr>
          </a:p>
        </p:txBody>
      </p:sp>
      <p:cxnSp>
        <p:nvCxnSpPr>
          <p:cNvPr id="388" name="Elbow Connector 22" descr="Elbow horizontal arrow pointing right (1).">
            <a:extLst>
              <a:ext uri="{FF2B5EF4-FFF2-40B4-BE49-F238E27FC236}">
                <a16:creationId xmlns:a16="http://schemas.microsoft.com/office/drawing/2014/main" id="{C1B3B5A1-024C-BBD5-A74C-12554FBD4996}"/>
              </a:ext>
            </a:extLst>
          </p:cNvPr>
          <p:cNvCxnSpPr>
            <a:cxnSpLocks/>
            <a:stCxn id="270" idx="1"/>
            <a:endCxn id="274" idx="0"/>
          </p:cNvCxnSpPr>
          <p:nvPr/>
        </p:nvCxnSpPr>
        <p:spPr>
          <a:xfrm rot="10800000" flipV="1">
            <a:off x="4026655" y="1913082"/>
            <a:ext cx="905154" cy="732190"/>
          </a:xfrm>
          <a:prstGeom prst="bentConnector2">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391" name="Elbow Connector 22" descr="Elbow horizontal arrow pointing right (1).">
            <a:extLst>
              <a:ext uri="{FF2B5EF4-FFF2-40B4-BE49-F238E27FC236}">
                <a16:creationId xmlns:a16="http://schemas.microsoft.com/office/drawing/2014/main" id="{9A351FAE-289F-6783-4EC6-266D58510790}"/>
              </a:ext>
            </a:extLst>
          </p:cNvPr>
          <p:cNvCxnSpPr>
            <a:cxnSpLocks/>
            <a:stCxn id="274" idx="0"/>
            <a:endCxn id="270" idx="1"/>
          </p:cNvCxnSpPr>
          <p:nvPr/>
        </p:nvCxnSpPr>
        <p:spPr>
          <a:xfrm rot="5400000" flipH="1" flipV="1">
            <a:off x="4113137" y="1826600"/>
            <a:ext cx="732190" cy="905154"/>
          </a:xfrm>
          <a:prstGeom prst="bentConnector2">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394" name="Elbow Connector 22" descr="Elbow horizontal arrow pointing right (1).">
            <a:extLst>
              <a:ext uri="{FF2B5EF4-FFF2-40B4-BE49-F238E27FC236}">
                <a16:creationId xmlns:a16="http://schemas.microsoft.com/office/drawing/2014/main" id="{3BE613E1-269A-CBA3-1975-A8AC2DB14ACC}"/>
              </a:ext>
            </a:extLst>
          </p:cNvPr>
          <p:cNvCxnSpPr>
            <a:cxnSpLocks/>
            <a:endCxn id="272" idx="0"/>
          </p:cNvCxnSpPr>
          <p:nvPr/>
        </p:nvCxnSpPr>
        <p:spPr>
          <a:xfrm>
            <a:off x="1725616" y="4817404"/>
            <a:ext cx="1373998" cy="865971"/>
          </a:xfrm>
          <a:prstGeom prst="bentConnector2">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pic>
        <p:nvPicPr>
          <p:cNvPr id="403" name="Picture 2" descr="Raspberry icon - Free download on Iconfinder">
            <a:extLst>
              <a:ext uri="{FF2B5EF4-FFF2-40B4-BE49-F238E27FC236}">
                <a16:creationId xmlns:a16="http://schemas.microsoft.com/office/drawing/2014/main" id="{86B17E70-0EFE-97AD-9B76-4BF77EF09F9E}"/>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1188428" y="4471085"/>
            <a:ext cx="544810" cy="544810"/>
          </a:xfrm>
          <a:prstGeom prst="rect">
            <a:avLst/>
          </a:prstGeom>
          <a:noFill/>
          <a:extLst>
            <a:ext uri="{909E8E84-426E-40DD-AFC4-6F175D3DCCD1}">
              <a14:hiddenFill xmlns:a14="http://schemas.microsoft.com/office/drawing/2010/main">
                <a:solidFill>
                  <a:srgbClr val="FFFFFF"/>
                </a:solidFill>
              </a14:hiddenFill>
            </a:ext>
          </a:extLst>
        </p:spPr>
      </p:pic>
      <p:pic>
        <p:nvPicPr>
          <p:cNvPr id="404" name="Picture 2" descr="Raspberry icon - Free download on Iconfinder">
            <a:extLst>
              <a:ext uri="{FF2B5EF4-FFF2-40B4-BE49-F238E27FC236}">
                <a16:creationId xmlns:a16="http://schemas.microsoft.com/office/drawing/2014/main" id="{85C30306-002E-F138-44EE-631F1BEF295C}"/>
              </a:ext>
            </a:extLst>
          </p:cNvPr>
          <p:cNvPicPr>
            <a:picLocks noChangeAspect="1" noChangeArrowheads="1"/>
          </p:cNvPicPr>
          <p:nvPr/>
        </p:nvPicPr>
        <p:blipFill>
          <a:blip r:embed="rId28">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188428" y="2641704"/>
            <a:ext cx="544810" cy="544810"/>
          </a:xfrm>
          <a:prstGeom prst="rect">
            <a:avLst/>
          </a:prstGeom>
          <a:noFill/>
          <a:extLst>
            <a:ext uri="{909E8E84-426E-40DD-AFC4-6F175D3DCCD1}">
              <a14:hiddenFill xmlns:a14="http://schemas.microsoft.com/office/drawing/2010/main">
                <a:solidFill>
                  <a:srgbClr val="FFFFFF"/>
                </a:solidFill>
              </a14:hiddenFill>
            </a:ext>
          </a:extLst>
        </p:spPr>
      </p:pic>
      <p:cxnSp>
        <p:nvCxnSpPr>
          <p:cNvPr id="3" name="Straight Arrow Connector 52" descr="Double pointing horizontal arrow.">
            <a:extLst>
              <a:ext uri="{FF2B5EF4-FFF2-40B4-BE49-F238E27FC236}">
                <a16:creationId xmlns:a16="http://schemas.microsoft.com/office/drawing/2014/main" id="{468D0B43-ACB6-CAF9-032A-615E8241C3D8}"/>
              </a:ext>
            </a:extLst>
          </p:cNvPr>
          <p:cNvCxnSpPr>
            <a:cxnSpLocks/>
            <a:stCxn id="275" idx="2"/>
            <a:endCxn id="296" idx="0"/>
          </p:cNvCxnSpPr>
          <p:nvPr/>
        </p:nvCxnSpPr>
        <p:spPr>
          <a:xfrm flipH="1">
            <a:off x="4024870" y="3458765"/>
            <a:ext cx="1785" cy="923928"/>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sp>
        <p:nvSpPr>
          <p:cNvPr id="257" name="テキスト ボックス 256">
            <a:extLst>
              <a:ext uri="{FF2B5EF4-FFF2-40B4-BE49-F238E27FC236}">
                <a16:creationId xmlns:a16="http://schemas.microsoft.com/office/drawing/2014/main" id="{221145FC-2DA0-F95F-C757-60C3937E6BEC}"/>
              </a:ext>
            </a:extLst>
          </p:cNvPr>
          <p:cNvSpPr txBox="1"/>
          <p:nvPr/>
        </p:nvSpPr>
        <p:spPr>
          <a:xfrm>
            <a:off x="3303919" y="3860479"/>
            <a:ext cx="2390492" cy="276999"/>
          </a:xfrm>
          <a:prstGeom prst="rect">
            <a:avLst/>
          </a:prstGeom>
          <a:solidFill>
            <a:schemeClr val="bg2"/>
          </a:solidFill>
        </p:spPr>
        <p:txBody>
          <a:bodyPr wrap="square" rtlCol="0">
            <a:spAutoFit/>
          </a:bodyPr>
          <a:lstStyle/>
          <a:p>
            <a:r>
              <a:rPr lang="ja-JP" altLang="en-US" sz="1200" b="1" dirty="0">
                <a:latin typeface="BIZ UDゴシック" panose="020B0400000000000000" pitchFamily="49" charset="-128"/>
                <a:ea typeface="BIZ UDゴシック" panose="020B0400000000000000" pitchFamily="49" charset="-128"/>
              </a:rPr>
              <a:t>ユーザー・在室登録サービス</a:t>
            </a:r>
            <a:endParaRPr kumimoji="1" lang="ja-JP" altLang="en-US" sz="1200" b="1" dirty="0">
              <a:latin typeface="BIZ UDゴシック" panose="020B0400000000000000" pitchFamily="49" charset="-128"/>
              <a:ea typeface="BIZ UDゴシック" panose="020B0400000000000000" pitchFamily="49" charset="-128"/>
            </a:endParaRPr>
          </a:p>
        </p:txBody>
      </p:sp>
      <p:cxnSp>
        <p:nvCxnSpPr>
          <p:cNvPr id="6" name="Straight Arrow Connector 52" descr="Double pointing horizontal arrow.">
            <a:extLst>
              <a:ext uri="{FF2B5EF4-FFF2-40B4-BE49-F238E27FC236}">
                <a16:creationId xmlns:a16="http://schemas.microsoft.com/office/drawing/2014/main" id="{61E41ED9-74B6-1F6F-C5E9-30EE6EDD7B3A}"/>
              </a:ext>
            </a:extLst>
          </p:cNvPr>
          <p:cNvCxnSpPr>
            <a:cxnSpLocks/>
            <a:stCxn id="296" idx="3"/>
            <a:endCxn id="294" idx="1"/>
          </p:cNvCxnSpPr>
          <p:nvPr/>
        </p:nvCxnSpPr>
        <p:spPr>
          <a:xfrm flipV="1">
            <a:off x="4293117" y="4650632"/>
            <a:ext cx="638693" cy="308"/>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10" name="Straight Arrow Connector 52" descr="Double pointing horizontal arrow.">
            <a:extLst>
              <a:ext uri="{FF2B5EF4-FFF2-40B4-BE49-F238E27FC236}">
                <a16:creationId xmlns:a16="http://schemas.microsoft.com/office/drawing/2014/main" id="{DEA3A483-BA5C-892A-7495-3829E4268DB2}"/>
              </a:ext>
            </a:extLst>
          </p:cNvPr>
          <p:cNvCxnSpPr>
            <a:cxnSpLocks/>
            <a:stCxn id="294" idx="3"/>
            <a:endCxn id="298" idx="1"/>
          </p:cNvCxnSpPr>
          <p:nvPr/>
        </p:nvCxnSpPr>
        <p:spPr>
          <a:xfrm>
            <a:off x="5468304" y="4650632"/>
            <a:ext cx="640661" cy="2899"/>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grpSp>
        <p:nvGrpSpPr>
          <p:cNvPr id="7" name="グループ化 6">
            <a:extLst>
              <a:ext uri="{FF2B5EF4-FFF2-40B4-BE49-F238E27FC236}">
                <a16:creationId xmlns:a16="http://schemas.microsoft.com/office/drawing/2014/main" id="{6890CCB9-75A0-FCF3-FF6C-A8C339606297}"/>
              </a:ext>
            </a:extLst>
          </p:cNvPr>
          <p:cNvGrpSpPr/>
          <p:nvPr/>
        </p:nvGrpSpPr>
        <p:grpSpPr>
          <a:xfrm>
            <a:off x="6950714" y="5695293"/>
            <a:ext cx="1159862" cy="813482"/>
            <a:chOff x="8378933" y="1900498"/>
            <a:chExt cx="1159862" cy="813482"/>
          </a:xfrm>
        </p:grpSpPr>
        <p:pic>
          <p:nvPicPr>
            <p:cNvPr id="4" name="Graphic 18" descr="Amazon Simple Email Service (Amazon SES) service icon.">
              <a:extLst>
                <a:ext uri="{FF2B5EF4-FFF2-40B4-BE49-F238E27FC236}">
                  <a16:creationId xmlns:a16="http://schemas.microsoft.com/office/drawing/2014/main" id="{DAF178DE-2F6A-5649-B89B-2E59E8D9DA6D}"/>
                </a:ext>
              </a:extLst>
            </p:cNvPr>
            <p:cNvPicPr>
              <a:picLocks noChangeAspect="1" noChangeArrowheads="1"/>
            </p:cNvPicPr>
            <p:nvPr/>
          </p:nvPicPr>
          <p:blipFill>
            <a:blip r:embed="rId29">
              <a:extLst>
                <a:ext uri="{96DAC541-7B7A-43D3-8B79-37D633B846F1}">
                  <asvg:svgBlip xmlns:asvg="http://schemas.microsoft.com/office/drawing/2016/SVG/main" r:embed="rId30"/>
                </a:ext>
              </a:extLst>
            </a:blip>
            <a:srcRect/>
            <a:stretch/>
          </p:blipFill>
          <p:spPr bwMode="auto">
            <a:xfrm>
              <a:off x="8693142" y="1900498"/>
              <a:ext cx="531444" cy="531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12">
              <a:extLst>
                <a:ext uri="{FF2B5EF4-FFF2-40B4-BE49-F238E27FC236}">
                  <a16:creationId xmlns:a16="http://schemas.microsoft.com/office/drawing/2014/main" id="{10C4CD40-4436-A4A5-BED6-7DBBFD13E710}"/>
                </a:ext>
              </a:extLst>
            </p:cNvPr>
            <p:cNvSpPr txBox="1">
              <a:spLocks noChangeArrowheads="1"/>
            </p:cNvSpPr>
            <p:nvPr/>
          </p:nvSpPr>
          <p:spPr bwMode="auto">
            <a:xfrm>
              <a:off x="8378933" y="2436981"/>
              <a:ext cx="115986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Amazon SES</a:t>
              </a:r>
            </a:p>
          </p:txBody>
        </p:sp>
      </p:grpSp>
      <p:grpSp>
        <p:nvGrpSpPr>
          <p:cNvPr id="8" name="グループ化 7">
            <a:extLst>
              <a:ext uri="{FF2B5EF4-FFF2-40B4-BE49-F238E27FC236}">
                <a16:creationId xmlns:a16="http://schemas.microsoft.com/office/drawing/2014/main" id="{D4CB2B04-5105-702F-418A-38B97A8CB3E4}"/>
              </a:ext>
            </a:extLst>
          </p:cNvPr>
          <p:cNvGrpSpPr/>
          <p:nvPr/>
        </p:nvGrpSpPr>
        <p:grpSpPr>
          <a:xfrm>
            <a:off x="5971014" y="5692145"/>
            <a:ext cx="820861" cy="812933"/>
            <a:chOff x="5051089" y="1185069"/>
            <a:chExt cx="1165896" cy="1154637"/>
          </a:xfrm>
        </p:grpSpPr>
        <p:pic>
          <p:nvPicPr>
            <p:cNvPr id="9" name="Graphic 10" descr="AWS Lambda service icon.">
              <a:extLst>
                <a:ext uri="{FF2B5EF4-FFF2-40B4-BE49-F238E27FC236}">
                  <a16:creationId xmlns:a16="http://schemas.microsoft.com/office/drawing/2014/main" id="{25D7EB9B-2F80-4F16-F6E9-92607F476B50}"/>
                </a:ext>
              </a:extLst>
            </p:cNvPr>
            <p:cNvPicPr>
              <a:picLocks noChangeAspect="1" noChangeArrowheads="1"/>
            </p:cNvPicPr>
            <p:nvPr/>
          </p:nvPicPr>
          <p:blipFill>
            <a:blip r:embed="rId6">
              <a:extLst>
                <a:ext uri="{96DAC541-7B7A-43D3-8B79-37D633B846F1}">
                  <asvg:svgBlip xmlns:asvg="http://schemas.microsoft.com/office/drawing/2016/SVG/main" r:embed="rId7"/>
                </a:ext>
              </a:extLst>
            </a:blip>
            <a:srcRect/>
            <a:stretch/>
          </p:blipFill>
          <p:spPr bwMode="auto">
            <a:xfrm>
              <a:off x="5246688" y="1185069"/>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20">
              <a:extLst>
                <a:ext uri="{FF2B5EF4-FFF2-40B4-BE49-F238E27FC236}">
                  <a16:creationId xmlns:a16="http://schemas.microsoft.com/office/drawing/2014/main" id="{19B1C8E7-C93C-8AB9-0914-E8309678612A}"/>
                </a:ext>
              </a:extLst>
            </p:cNvPr>
            <p:cNvSpPr txBox="1">
              <a:spLocks noChangeArrowheads="1"/>
            </p:cNvSpPr>
            <p:nvPr/>
          </p:nvSpPr>
          <p:spPr bwMode="auto">
            <a:xfrm>
              <a:off x="5051089" y="1946275"/>
              <a:ext cx="1165896" cy="393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Lambda</a:t>
              </a:r>
            </a:p>
          </p:txBody>
        </p:sp>
      </p:grpSp>
      <p:cxnSp>
        <p:nvCxnSpPr>
          <p:cNvPr id="15" name="Straight Arrow Connector 52" descr="Double pointing horizontal arrow.">
            <a:extLst>
              <a:ext uri="{FF2B5EF4-FFF2-40B4-BE49-F238E27FC236}">
                <a16:creationId xmlns:a16="http://schemas.microsoft.com/office/drawing/2014/main" id="{F58B8614-01CF-7DBC-6031-09E582E1FC8D}"/>
              </a:ext>
            </a:extLst>
          </p:cNvPr>
          <p:cNvCxnSpPr>
            <a:cxnSpLocks/>
            <a:stCxn id="282" idx="3"/>
            <a:endCxn id="9" idx="1"/>
          </p:cNvCxnSpPr>
          <p:nvPr/>
        </p:nvCxnSpPr>
        <p:spPr>
          <a:xfrm flipV="1">
            <a:off x="5470121" y="5960392"/>
            <a:ext cx="638606" cy="1188"/>
          </a:xfrm>
          <a:prstGeom prst="straightConnector1">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18" name="Straight Arrow Connector 52" descr="Double pointing horizontal arrow.">
            <a:extLst>
              <a:ext uri="{FF2B5EF4-FFF2-40B4-BE49-F238E27FC236}">
                <a16:creationId xmlns:a16="http://schemas.microsoft.com/office/drawing/2014/main" id="{7079C03A-6E11-790A-9ADA-D276566456A4}"/>
              </a:ext>
            </a:extLst>
          </p:cNvPr>
          <p:cNvCxnSpPr>
            <a:cxnSpLocks/>
            <a:stCxn id="9" idx="3"/>
            <a:endCxn id="4" idx="1"/>
          </p:cNvCxnSpPr>
          <p:nvPr/>
        </p:nvCxnSpPr>
        <p:spPr>
          <a:xfrm>
            <a:off x="6645221" y="5960392"/>
            <a:ext cx="619702" cy="623"/>
          </a:xfrm>
          <a:prstGeom prst="straightConnector1">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24" name="Straight Arrow Connector 52" descr="Double pointing horizontal arrow.">
            <a:extLst>
              <a:ext uri="{FF2B5EF4-FFF2-40B4-BE49-F238E27FC236}">
                <a16:creationId xmlns:a16="http://schemas.microsoft.com/office/drawing/2014/main" id="{E16D1E10-D44C-61EE-3772-86625C4383E1}"/>
              </a:ext>
            </a:extLst>
          </p:cNvPr>
          <p:cNvCxnSpPr>
            <a:cxnSpLocks/>
            <a:stCxn id="9" idx="0"/>
            <a:endCxn id="299" idx="2"/>
          </p:cNvCxnSpPr>
          <p:nvPr/>
        </p:nvCxnSpPr>
        <p:spPr>
          <a:xfrm flipV="1">
            <a:off x="6376974" y="5199894"/>
            <a:ext cx="238" cy="492251"/>
          </a:xfrm>
          <a:prstGeom prst="straightConnector1">
            <a:avLst/>
          </a:prstGeom>
          <a:ln w="158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pic>
        <p:nvPicPr>
          <p:cNvPr id="27" name="Graphic 6" descr="Email resource icon for Amazon SES service.">
            <a:extLst>
              <a:ext uri="{FF2B5EF4-FFF2-40B4-BE49-F238E27FC236}">
                <a16:creationId xmlns:a16="http://schemas.microsoft.com/office/drawing/2014/main" id="{FCF8977F-0C06-28BD-273F-96452574E3F7}"/>
              </a:ext>
            </a:extLst>
          </p:cNvPr>
          <p:cNvPicPr>
            <a:picLocks noChangeAspect="1" noChangeArrowheads="1"/>
          </p:cNvPicPr>
          <p:nvPr/>
        </p:nvPicPr>
        <p:blipFill>
          <a:blip r:embed="rId31">
            <a:extLst>
              <a:ext uri="{96DAC541-7B7A-43D3-8B79-37D633B846F1}">
                <asvg:svgBlip xmlns:asvg="http://schemas.microsoft.com/office/drawing/2016/SVG/main" r:embed="rId32"/>
              </a:ext>
            </a:extLst>
          </a:blip>
          <a:srcRect/>
          <a:stretch/>
        </p:blipFill>
        <p:spPr bwMode="auto">
          <a:xfrm>
            <a:off x="8636120" y="5351417"/>
            <a:ext cx="320526" cy="320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8" name="Straight Arrow Connector 52" descr="Double pointing horizontal arrow.">
            <a:extLst>
              <a:ext uri="{FF2B5EF4-FFF2-40B4-BE49-F238E27FC236}">
                <a16:creationId xmlns:a16="http://schemas.microsoft.com/office/drawing/2014/main" id="{8EEF6BE9-206F-5771-2DA0-6B1A1E197ECA}"/>
              </a:ext>
            </a:extLst>
          </p:cNvPr>
          <p:cNvCxnSpPr>
            <a:cxnSpLocks/>
            <a:stCxn id="4" idx="3"/>
          </p:cNvCxnSpPr>
          <p:nvPr/>
        </p:nvCxnSpPr>
        <p:spPr>
          <a:xfrm>
            <a:off x="7796367" y="5961015"/>
            <a:ext cx="1734546" cy="0"/>
          </a:xfrm>
          <a:prstGeom prst="straightConnector1">
            <a:avLst/>
          </a:prstGeom>
          <a:ln w="158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sp>
        <p:nvSpPr>
          <p:cNvPr id="32" name="テキスト ボックス 31">
            <a:extLst>
              <a:ext uri="{FF2B5EF4-FFF2-40B4-BE49-F238E27FC236}">
                <a16:creationId xmlns:a16="http://schemas.microsoft.com/office/drawing/2014/main" id="{53CA9F04-95CE-4D3E-F996-D2B9B6300FA1}"/>
              </a:ext>
            </a:extLst>
          </p:cNvPr>
          <p:cNvSpPr txBox="1"/>
          <p:nvPr/>
        </p:nvSpPr>
        <p:spPr>
          <a:xfrm>
            <a:off x="8222170" y="5476700"/>
            <a:ext cx="1308743" cy="461665"/>
          </a:xfrm>
          <a:prstGeom prst="rect">
            <a:avLst/>
          </a:prstGeom>
          <a:noFill/>
        </p:spPr>
        <p:txBody>
          <a:bodyPr wrap="square" rtlCol="0">
            <a:spAutoFit/>
          </a:bodyPr>
          <a:lstStyle/>
          <a:p>
            <a:r>
              <a:rPr lang="en-US" altLang="ja-JP" sz="1200" dirty="0">
                <a:latin typeface="Arial" panose="020B0604020202020204" pitchFamily="34" charset="0"/>
                <a:cs typeface="Arial" panose="020B0604020202020204" pitchFamily="34" charset="0"/>
              </a:rPr>
              <a:t>To: XX</a:t>
            </a:r>
            <a:r>
              <a:rPr kumimoji="1" lang="en-US" altLang="ja-JP" sz="1200" dirty="0">
                <a:latin typeface="Arial" panose="020B0604020202020204" pitchFamily="34" charset="0"/>
                <a:cs typeface="Arial" panose="020B0604020202020204" pitchFamily="34" charset="0"/>
              </a:rPr>
              <a:t>@minelab.jp</a:t>
            </a:r>
            <a:endParaRPr kumimoji="1" lang="ja-JP" alt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886839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32" name="グループ化 31">
            <a:extLst>
              <a:ext uri="{FF2B5EF4-FFF2-40B4-BE49-F238E27FC236}">
                <a16:creationId xmlns:a16="http://schemas.microsoft.com/office/drawing/2014/main" id="{1AAF1145-8701-BEF5-A702-62D2E8EA3591}"/>
              </a:ext>
            </a:extLst>
          </p:cNvPr>
          <p:cNvGrpSpPr/>
          <p:nvPr/>
        </p:nvGrpSpPr>
        <p:grpSpPr>
          <a:xfrm>
            <a:off x="-366058" y="495482"/>
            <a:ext cx="9876116" cy="5867036"/>
            <a:chOff x="-366058" y="495482"/>
            <a:chExt cx="9876116" cy="5867036"/>
          </a:xfrm>
        </p:grpSpPr>
        <p:sp>
          <p:nvSpPr>
            <p:cNvPr id="30" name="正方形/長方形 29">
              <a:extLst>
                <a:ext uri="{FF2B5EF4-FFF2-40B4-BE49-F238E27FC236}">
                  <a16:creationId xmlns:a16="http://schemas.microsoft.com/office/drawing/2014/main" id="{B924CB04-8095-993E-900D-2181F9845BD0}"/>
                </a:ext>
              </a:extLst>
            </p:cNvPr>
            <p:cNvSpPr/>
            <p:nvPr/>
          </p:nvSpPr>
          <p:spPr>
            <a:xfrm>
              <a:off x="-366058" y="495482"/>
              <a:ext cx="9876116" cy="586703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31" name="グループ化 30">
              <a:extLst>
                <a:ext uri="{FF2B5EF4-FFF2-40B4-BE49-F238E27FC236}">
                  <a16:creationId xmlns:a16="http://schemas.microsoft.com/office/drawing/2014/main" id="{63D70306-4225-AE99-BEBC-6DE4B4E262A4}"/>
                </a:ext>
              </a:extLst>
            </p:cNvPr>
            <p:cNvGrpSpPr/>
            <p:nvPr/>
          </p:nvGrpSpPr>
          <p:grpSpPr>
            <a:xfrm>
              <a:off x="380999" y="632011"/>
              <a:ext cx="8382001" cy="5593977"/>
              <a:chOff x="380999" y="632011"/>
              <a:chExt cx="8382001" cy="5593977"/>
            </a:xfrm>
          </p:grpSpPr>
          <p:pic>
            <p:nvPicPr>
              <p:cNvPr id="3" name="図 2" descr="屋内, コンピュータ が含まれている画像&#10;&#10;AI によって生成されたコンテンツは間違っている可能性があります。">
                <a:extLst>
                  <a:ext uri="{FF2B5EF4-FFF2-40B4-BE49-F238E27FC236}">
                    <a16:creationId xmlns:a16="http://schemas.microsoft.com/office/drawing/2014/main" id="{340436E4-3557-97A2-E115-0E37B1ECF3E9}"/>
                  </a:ext>
                </a:extLst>
              </p:cNvPr>
              <p:cNvPicPr>
                <a:picLocks noChangeAspect="1"/>
              </p:cNvPicPr>
              <p:nvPr/>
            </p:nvPicPr>
            <p:blipFill>
              <a:blip r:embed="rId2">
                <a:extLst>
                  <a:ext uri="{28A0092B-C50C-407E-A947-70E740481C1C}">
                    <a14:useLocalDpi xmlns:a14="http://schemas.microsoft.com/office/drawing/2010/main" val="0"/>
                  </a:ext>
                </a:extLst>
              </a:blip>
              <a:srcRect t="11242" b="7189"/>
              <a:stretch/>
            </p:blipFill>
            <p:spPr>
              <a:xfrm>
                <a:off x="1999669" y="632011"/>
                <a:ext cx="5144661" cy="5593977"/>
              </a:xfrm>
              <a:prstGeom prst="rect">
                <a:avLst/>
              </a:prstGeom>
            </p:spPr>
          </p:pic>
          <p:sp>
            <p:nvSpPr>
              <p:cNvPr id="4" name="正方形/長方形 3">
                <a:extLst>
                  <a:ext uri="{FF2B5EF4-FFF2-40B4-BE49-F238E27FC236}">
                    <a16:creationId xmlns:a16="http://schemas.microsoft.com/office/drawing/2014/main" id="{58CD6F14-BB9C-3C89-9813-DD534A1CB0CF}"/>
                  </a:ext>
                </a:extLst>
              </p:cNvPr>
              <p:cNvSpPr/>
              <p:nvPr/>
            </p:nvSpPr>
            <p:spPr>
              <a:xfrm>
                <a:off x="380999" y="1030940"/>
                <a:ext cx="2465834" cy="780927"/>
              </a:xfrm>
              <a:prstGeom prst="rect">
                <a:avLst/>
              </a:prstGeom>
              <a:solidFill>
                <a:schemeClr val="bg2">
                  <a:lumMod val="95000"/>
                </a:schemeClr>
              </a:solidFill>
              <a:ln w="381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lIns="0" rIns="0" bIns="0" rtlCol="0" anchor="ctr"/>
              <a:lstStyle/>
              <a:p>
                <a:pPr algn="ctr"/>
                <a:r>
                  <a:rPr kumimoji="1" lang="ja-JP" altLang="en-US" dirty="0"/>
                  <a:t>①制御</a:t>
                </a:r>
                <a:r>
                  <a:rPr lang="ja-JP" altLang="en-US" dirty="0"/>
                  <a:t>用</a:t>
                </a:r>
                <a:r>
                  <a:rPr kumimoji="1" lang="ja-JP" altLang="en-US" dirty="0"/>
                  <a:t>デバイス</a:t>
                </a:r>
                <a:endParaRPr kumimoji="1" lang="en-US" altLang="ja-JP" dirty="0"/>
              </a:p>
              <a:p>
                <a:pPr algn="ctr"/>
                <a:r>
                  <a:rPr lang="ja-JP" altLang="en-US" dirty="0"/>
                  <a:t>（</a:t>
                </a:r>
                <a:r>
                  <a:rPr lang="en-US" altLang="ja-JP" dirty="0"/>
                  <a:t>Raspberry Pi 4B</a:t>
                </a:r>
                <a:r>
                  <a:rPr lang="ja-JP" altLang="en-US" dirty="0"/>
                  <a:t>）</a:t>
                </a:r>
                <a:endParaRPr kumimoji="1" lang="ja-JP" altLang="en-US" dirty="0"/>
              </a:p>
            </p:txBody>
          </p:sp>
          <p:cxnSp>
            <p:nvCxnSpPr>
              <p:cNvPr id="7" name="直線コネクタ 6">
                <a:extLst>
                  <a:ext uri="{FF2B5EF4-FFF2-40B4-BE49-F238E27FC236}">
                    <a16:creationId xmlns:a16="http://schemas.microsoft.com/office/drawing/2014/main" id="{D4508078-1A50-2602-F1E6-CE922E2C0E1B}"/>
                  </a:ext>
                </a:extLst>
              </p:cNvPr>
              <p:cNvCxnSpPr>
                <a:cxnSpLocks/>
                <a:stCxn id="4" idx="3"/>
              </p:cNvCxnSpPr>
              <p:nvPr/>
            </p:nvCxnSpPr>
            <p:spPr>
              <a:xfrm>
                <a:off x="2846833" y="1421404"/>
                <a:ext cx="1005500" cy="0"/>
              </a:xfrm>
              <a:prstGeom prst="line">
                <a:avLst/>
              </a:prstGeom>
              <a:ln w="57150">
                <a:solidFill>
                  <a:schemeClr val="bg2"/>
                </a:solidFill>
                <a:tailEnd type="oval"/>
              </a:ln>
            </p:spPr>
            <p:style>
              <a:lnRef idx="1">
                <a:schemeClr val="accent1"/>
              </a:lnRef>
              <a:fillRef idx="0">
                <a:schemeClr val="accent1"/>
              </a:fillRef>
              <a:effectRef idx="0">
                <a:schemeClr val="accent1"/>
              </a:effectRef>
              <a:fontRef idx="minor">
                <a:schemeClr val="tx1"/>
              </a:fontRef>
            </p:style>
          </p:cxnSp>
          <p:sp>
            <p:nvSpPr>
              <p:cNvPr id="12" name="正方形/長方形 11">
                <a:extLst>
                  <a:ext uri="{FF2B5EF4-FFF2-40B4-BE49-F238E27FC236}">
                    <a16:creationId xmlns:a16="http://schemas.microsoft.com/office/drawing/2014/main" id="{25434FAB-4031-93C7-DEFC-EB0FA59EBABD}"/>
                  </a:ext>
                </a:extLst>
              </p:cNvPr>
              <p:cNvSpPr/>
              <p:nvPr/>
            </p:nvSpPr>
            <p:spPr>
              <a:xfrm>
                <a:off x="914399" y="2859180"/>
                <a:ext cx="1932434" cy="484095"/>
              </a:xfrm>
              <a:prstGeom prst="rect">
                <a:avLst/>
              </a:prstGeom>
              <a:solidFill>
                <a:schemeClr val="bg2">
                  <a:lumMod val="95000"/>
                </a:schemeClr>
              </a:solidFill>
              <a:ln w="381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lIns="0" rIns="0" bIns="0" rtlCol="0" anchor="ctr"/>
              <a:lstStyle/>
              <a:p>
                <a:pPr algn="ctr"/>
                <a:r>
                  <a:rPr lang="ja-JP" altLang="en-US" dirty="0"/>
                  <a:t>②操作画面</a:t>
                </a:r>
                <a:endParaRPr kumimoji="1" lang="ja-JP" altLang="en-US" dirty="0"/>
              </a:p>
            </p:txBody>
          </p:sp>
          <p:cxnSp>
            <p:nvCxnSpPr>
              <p:cNvPr id="13" name="直線コネクタ 12">
                <a:extLst>
                  <a:ext uri="{FF2B5EF4-FFF2-40B4-BE49-F238E27FC236}">
                    <a16:creationId xmlns:a16="http://schemas.microsoft.com/office/drawing/2014/main" id="{891A04ED-1676-4237-882D-B70F6B961926}"/>
                  </a:ext>
                </a:extLst>
              </p:cNvPr>
              <p:cNvCxnSpPr>
                <a:cxnSpLocks/>
                <a:stCxn id="12" idx="3"/>
              </p:cNvCxnSpPr>
              <p:nvPr/>
            </p:nvCxnSpPr>
            <p:spPr>
              <a:xfrm>
                <a:off x="2846833" y="3101228"/>
                <a:ext cx="1202653" cy="454772"/>
              </a:xfrm>
              <a:prstGeom prst="line">
                <a:avLst/>
              </a:prstGeom>
              <a:ln w="57150">
                <a:solidFill>
                  <a:schemeClr val="bg2"/>
                </a:solidFill>
                <a:tailEnd type="oval"/>
              </a:ln>
            </p:spPr>
            <p:style>
              <a:lnRef idx="1">
                <a:schemeClr val="accent1"/>
              </a:lnRef>
              <a:fillRef idx="0">
                <a:schemeClr val="accent1"/>
              </a:fillRef>
              <a:effectRef idx="0">
                <a:schemeClr val="accent1"/>
              </a:effectRef>
              <a:fontRef idx="minor">
                <a:schemeClr val="tx1"/>
              </a:fontRef>
            </p:style>
          </p:cxnSp>
          <p:sp>
            <p:nvSpPr>
              <p:cNvPr id="19" name="正方形/長方形 18">
                <a:extLst>
                  <a:ext uri="{FF2B5EF4-FFF2-40B4-BE49-F238E27FC236}">
                    <a16:creationId xmlns:a16="http://schemas.microsoft.com/office/drawing/2014/main" id="{4FA48967-A544-D267-3331-F1E0D331E98F}"/>
                  </a:ext>
                </a:extLst>
              </p:cNvPr>
              <p:cNvSpPr/>
              <p:nvPr/>
            </p:nvSpPr>
            <p:spPr>
              <a:xfrm>
                <a:off x="6401690" y="2859180"/>
                <a:ext cx="2361310" cy="484095"/>
              </a:xfrm>
              <a:prstGeom prst="rect">
                <a:avLst/>
              </a:prstGeom>
              <a:solidFill>
                <a:schemeClr val="bg2">
                  <a:lumMod val="95000"/>
                </a:schemeClr>
              </a:solidFill>
              <a:ln w="381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lIns="0" rIns="0" bIns="0" rtlCol="0" anchor="ctr"/>
              <a:lstStyle/>
              <a:p>
                <a:pPr algn="ctr"/>
                <a:r>
                  <a:rPr kumimoji="1" lang="ja-JP" altLang="en-US" dirty="0"/>
                  <a:t>③</a:t>
                </a:r>
                <a:r>
                  <a:rPr kumimoji="1" lang="en-US" altLang="ja-JP" dirty="0"/>
                  <a:t>IC</a:t>
                </a:r>
                <a:r>
                  <a:rPr kumimoji="1" lang="ja-JP" altLang="en-US" dirty="0"/>
                  <a:t>カード読み取り部</a:t>
                </a:r>
                <a:endParaRPr kumimoji="1" lang="en-US" altLang="ja-JP" dirty="0"/>
              </a:p>
            </p:txBody>
          </p:sp>
          <p:cxnSp>
            <p:nvCxnSpPr>
              <p:cNvPr id="20" name="直線コネクタ 19">
                <a:extLst>
                  <a:ext uri="{FF2B5EF4-FFF2-40B4-BE49-F238E27FC236}">
                    <a16:creationId xmlns:a16="http://schemas.microsoft.com/office/drawing/2014/main" id="{31E3AFCE-AD5C-6728-D849-B83F0681D3A2}"/>
                  </a:ext>
                </a:extLst>
              </p:cNvPr>
              <p:cNvCxnSpPr>
                <a:cxnSpLocks/>
                <a:stCxn id="19" idx="1"/>
              </p:cNvCxnSpPr>
              <p:nvPr/>
            </p:nvCxnSpPr>
            <p:spPr>
              <a:xfrm flipH="1">
                <a:off x="5733143" y="3101228"/>
                <a:ext cx="668547" cy="242047"/>
              </a:xfrm>
              <a:prstGeom prst="line">
                <a:avLst/>
              </a:prstGeom>
              <a:ln w="57150">
                <a:solidFill>
                  <a:schemeClr val="bg2"/>
                </a:solidFill>
                <a:tailEnd type="ova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4097907984"/>
      </p:ext>
    </p:extLst>
  </p:cSld>
  <p:clrMapOvr>
    <a:masterClrMapping/>
  </p:clrMapOvr>
</p:sld>
</file>

<file path=ppt/theme/theme1.xml><?xml version="1.0" encoding="utf-8"?>
<a:theme xmlns:a="http://schemas.openxmlformats.org/drawingml/2006/main" name="スライドマスター">
  <a:themeElements>
    <a:clrScheme name="ユーザー定義 2">
      <a:dk1>
        <a:srgbClr val="44546A"/>
      </a:dk1>
      <a:lt1>
        <a:srgbClr val="1D1B12"/>
      </a:lt1>
      <a:dk2>
        <a:srgbClr val="FFFFFF"/>
      </a:dk2>
      <a:lt2>
        <a:srgbClr val="E7E6E6"/>
      </a:lt2>
      <a:accent1>
        <a:srgbClr val="29567B"/>
      </a:accent1>
      <a:accent2>
        <a:srgbClr val="43BDC1"/>
      </a:accent2>
      <a:accent3>
        <a:srgbClr val="87C143"/>
      </a:accent3>
      <a:accent4>
        <a:srgbClr val="FFFF00"/>
      </a:accent4>
      <a:accent5>
        <a:srgbClr val="EA9A32"/>
      </a:accent5>
      <a:accent6>
        <a:srgbClr val="C30F15"/>
      </a:accent6>
      <a:hlink>
        <a:srgbClr val="0563C1"/>
      </a:hlink>
      <a:folHlink>
        <a:srgbClr val="954F72"/>
      </a:folHlink>
    </a:clrScheme>
    <a:fontScheme name="ユーザー定義 2">
      <a:majorFont>
        <a:latin typeface="メイリオ"/>
        <a:ea typeface="メイリオ"/>
        <a:cs typeface=""/>
      </a:majorFont>
      <a:minorFont>
        <a:latin typeface="メイリオ"/>
        <a:ea typeface="メイリオ"/>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22025</TotalTime>
  <Words>7443</Words>
  <Application>Microsoft Office PowerPoint</Application>
  <PresentationFormat>画面に合わせる (4:3)</PresentationFormat>
  <Paragraphs>1891</Paragraphs>
  <Slides>33</Slides>
  <Notes>12</Notes>
  <HiddenSlides>4</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33</vt:i4>
      </vt:variant>
    </vt:vector>
  </HeadingPairs>
  <TitlesOfParts>
    <vt:vector size="39" baseType="lpstr">
      <vt:lpstr>BIZ UDゴシック</vt:lpstr>
      <vt:lpstr>メイリオ</vt:lpstr>
      <vt:lpstr>游ゴシック</vt:lpstr>
      <vt:lpstr>Arial</vt:lpstr>
      <vt:lpstr>Wingdings</vt:lpstr>
      <vt:lpstr>スライドマスター</vt:lpstr>
      <vt:lpstr>在室確認システム</vt:lpstr>
      <vt:lpstr>在室確認システムの全体概要</vt:lpstr>
      <vt:lpstr>在室確認システムのアーキテクチャ</vt:lpstr>
      <vt:lpstr>使用したAWSサービス一覧</vt:lpstr>
      <vt:lpstr>使用したAWSサービス一覧</vt:lpstr>
      <vt:lpstr>在室確認システムのアーキテクチャ</vt:lpstr>
      <vt:lpstr>在室確認システムのアーキテクチャ</vt:lpstr>
      <vt:lpstr>在室確認システムのアーキテクチャ</vt:lpstr>
      <vt:lpstr>在室確認システムのアーキテクチャ</vt:lpstr>
      <vt:lpstr>在室確認システムのアーキテクチャ</vt:lpstr>
      <vt:lpstr>在室確認システムのアーキテクチャ</vt:lpstr>
      <vt:lpstr>在室確認システムのアーキテクチャ</vt:lpstr>
      <vt:lpstr>在室確認システムのアーキテクチャ</vt:lpstr>
      <vt:lpstr>在室確認システムのアーキテクチャ</vt:lpstr>
      <vt:lpstr>在室確認システムのアーキテクチャ</vt:lpstr>
      <vt:lpstr>在室確認システムのアーキテクチャ</vt:lpstr>
      <vt:lpstr>在室確認システムのアーキテクチャ</vt:lpstr>
      <vt:lpstr>在室確認システム – 制御デバイス</vt:lpstr>
      <vt:lpstr>在室確認システム – 制御デバイス</vt:lpstr>
      <vt:lpstr>在室確認システム – 制御デバイス</vt:lpstr>
      <vt:lpstr>在室確認システム – 制御デバイス</vt:lpstr>
      <vt:lpstr>在室確認システム – 制御デバイス</vt:lpstr>
      <vt:lpstr>在室確認システム – 制御デバイス</vt:lpstr>
      <vt:lpstr>在室確認システム – 制御デバイス</vt:lpstr>
      <vt:lpstr>在室確認システム – 制御デバイス</vt:lpstr>
      <vt:lpstr>在室確認システム – 制御デバイス</vt:lpstr>
      <vt:lpstr>在室確認システム – 制御デバイス</vt:lpstr>
      <vt:lpstr>在室確認システム – 制御デバイス</vt:lpstr>
      <vt:lpstr>在室確認システム – 制御デバイス</vt:lpstr>
      <vt:lpstr>PowerPoint プレゼンテーション</vt:lpstr>
      <vt:lpstr>PowerPoint プレゼンテーション</vt:lpstr>
      <vt:lpstr>在室確認システムのアーキテクチャ</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document</dc:title>
  <dc:creator>原田 海斗</dc:creator>
  <cp:lastModifiedBy>海斗 原田</cp:lastModifiedBy>
  <cp:revision>4704</cp:revision>
  <dcterms:created xsi:type="dcterms:W3CDTF">2023-01-15T15:40:39Z</dcterms:created>
  <dcterms:modified xsi:type="dcterms:W3CDTF">2026-03-09T04:42:03Z</dcterms:modified>
</cp:coreProperties>
</file>